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Đặt khung nghiên cứu ngay từ đầu: bài trình bày trả lời CÂU HỎI 'Khởi tạo tham số ảnh hưởng thế nào đến lan truyền gradient và khả năng hội tụ của mạng sâu?' — không chỉ giảng lại công thức.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hỏi nghiên cứu đóng khung toàn bài: 'Khởi tạo tham số ảnh hưởng thế nào đến lan truyền gradient và khả năng hội tụ của mạng sâu?'. Ba câu hỏi con: (1) Backprop tính gradient thế nào, (2) vì sao mạng sâu gặp vanishing/exploding, (3) Zero/Random/Xavier/He ảnh hưởng thế nào tới huấn luyện.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dành nhiều thời gian cho calculus cơ bản — chỉ nhắc lại đúng 1 slide, đủ để làm nền cho gradient/chain rule sau đây.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chính xác: gradient chỉ hướng TĂNG nhanh nhất của Loss — không phải hướng giảm. Gradient Descent phải đi NGƯỢC gradient (−∇L) để giảm Loss. Đây là điểm hay bị phát biểu sai/rút gọn quá mức.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Gradient Descent là QUY TẮC CẬP NHẬT dùng gradient đã có — khác với Backpropagation (thuật toán TÍNH gradient) — sẽ làm rõ phân biệt này ở slide Multi-layer Backpropagation.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Tránh phát biểu tuyệt đối 'forward không liên quan gì tới gradient' — chính xác hơn: forward pass chưa TÍNH gradient, nhưng nó tạo ra (và lưu lại) mọi thứ backward pass cần dùng để tính gradient (đây là điều PyTorch autograd làm ngầm khi xây computational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Chain rule đa biến là nội dung toán học cốt lõi của Backpropagation. Ví dụ ở đây là trường hợp scalar để dễ hình dung — trong mạng thực tế, phép nhân đạo hàm cục bộ tổng quát thành vector-Jacobian product (VJP), điều PyTorch autograd tự động hoá.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tối giản để 'chạy tay' toàn bộ chain rule 2 bước — mũi tên đỏ đứt nét minh hoạ dòng chảy NGƯỢC của backward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Cầu nối cực kỳ quan trọng: lớp gần input có gradient là tích của NHIỀU Jacobian/weight transformation nhất — vì sao vanishing/exploding luôn nặng nhất ở các lớp đầu. Box Forward/Backward/Optimizer làm rõ ranh giới hay bị nhầm: Backpropagation là thuật toán TÍNH gradient; Gradient Descent (trong Optimizer) mới là quy tắc DÙNG gradient đó để update parameter — hai bước tách biệt, Backprop không tự sửa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Minh hoạ trực quan bằng thanh giảm dần (ví dụ đơn giản hoá 1 số vô hướng). Trong thực tế, cơ chế là TÍCH của nhiều Jacobian/weight matrix liên tục co norm — không phải chỉ 'đạo hàm &lt; 1'. Số liệu thực nghiệm cho trường hợp này ở phần Demo (Experiment 1&amp;2, Depth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mặt của cùng một đồng xu' với slide trước — cùng cơ chế tích luỹ qua nhiều lớp, chỉ khác việc norm gradient bị co lại hay khuếch đại. Tránh nói đơn giản hoá 'chỉ khác dấu của (đạo hàm−1)' — thực tế là hành vi của TÍCH nhiều ma trận/Jacobian, không phải một số vô hướng duy nhất. Experiment 3 (Random large, std=1.0) sẽ tái hiện đúng hiện tượng này bằng số liệu thật (train loss = 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Số liệu lấy từ results/logs/deep_demo_zero.json — 10 hidden layer, ReLU, Fashion-MNIST 5000/1000/2000, seed=42 — CÙNG kiến trúc dùng xuyên suốt phần Demo (Slide 18 trở đi), khác với lưới thực nghiệm chính 6-layer/Sigmoid (run_zero_sigmoid.json) vốn chỉ dùng cho báo cáo LaTeX. Gradient RMS lớp ẩn thứ nhất (gần input nhất) đo được đúng bằng 0.0 tại bước khởi tạo. Phân biệt quan trọng: đây là hidden units KHÔNG PHÁ ĐƯỢC symmetry (failure to break symmetry) — chúng bắt đầu giống nhau và tiếp tục nhận gradient/update giống nhau — chứ không phải 'symmetry breaking' (cụm này mang nghĩa ngược lại, tránh dùng). Vấn đề symmetry là của WEIGHT; bias không gây đối xứng giữa các unit nên vẫn có thể khởi tạo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Bắc cầu trực tiếp sang Xavier/He: cả hai đều là cách CHỌN ĐÚNG variance thay vì chọn tuỳ tiện. Lưu ý quan trọng: kết luận 'std lớn → exploding' quan sát được trong experiment này là hành vi của mạng ReLU cụ thể; với sigmoid/tanh, std quá lớn còn có thể đẩy pre-activation vào vùng bão hoà, khiến derivative gần 0 và gây vanishing thay vì exploding.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Cố tình KHÔNG đưa số test accuracy vào slide lý thuyết này — deck từng có 3 con số Xavier accuracy khác nhau ở 3 slide (6-layer main grid, 10-layer single-seed, 10-layer 5-seed) gây khó hiểu. Toàn bộ số liệu thực nghiệm dồn về đúng 1 nơi: phần Demo/Experimental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Cố tình KHÔNG đưa số test accuracy vào slide lý thuyết này (lý do: xem note ở slide Xavier). ReLU output có mean khác 0 (không zero-centered) — 'second moment' (E[a²]) chính xác hơn 'variance' (Var(a)=E[a²]-E[a]²) khi mô tả đại lượng He initialization thực sự kiểm soát, nhưng ở mức trình bày này dùng 'variance/scale' cho dễ hiểu là chấp nhận được. Với Leaky ReLU, gain = sqrt(2/(1+a²)) phụ thuộc negative slope a — không dùng nguyên công thức 2/n_in nếu a≠0.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Trung thực: hàng Orthogonal chỉ mang tính lý thuyết/tham khảo, KHÔNG có thực nghiệm đi kèm trong project này — tránh ngộ nhận đã test đủ 5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cầu nối ngắn gọn, không đi sâu derivation — chốt lại 'chuyện gì đang cố được giải quyết' trước khi sang phần Demo thực nghiệm kiểm chứng. Cả hai đại lượng Var(a), Var(δ) đều được phân tích TẠI THỜI ĐIỂM khởi tạo (initialization-time analysis), không phải cam kết cho suốt quá trình training. Tránh wording quá đơn giản 'Xavier cân bằng cả hai, He ưu tiên forward' — chính xác hơn: Xavier suy ra một điểm dung hoà liên quan tới cả fan-in và fan-out; He/Kaiming điều chỉnh scale variance riêng cho rectifier nonlinearity (ReLU) — phép điều chỉnh này xuất phát từ phân tích forward nhưng cùng một scale đó cũng ảnh hưởng tới backward signal, không phải He 'chỉ' lo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Đóng khung demo như một MINI RESEARCH EXPERIMENT thay vì chỉ 'train CNN rồi show accuracy' — đúng tinh thần đề xuất: cùng kiến trúc/optimizer/dataset, chỉ đổi initialization. Reproducibility: PyTorch 2.x, chạy CPU, seed set qua torch.manual_seed + torch.use_deterministic_algorithms(warn_only=True); DataLoader dùng torch.Generator riêng cùng seed nên thứ tự batch cũng được kiểm soát (không chỉ init/model). Với multi-seed, seed=42..46 set cho MỌI nguồn ngẫu nhiên (Python random, NumPy, torch, DataLoader) qua cùng hàm set_seed() — không chỉ riêng phần khởi tạo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chỉ đo accuracy — 4 nhóm metric cho phép PHÂN BIỆT nguyên nhân thất bại (vanishing vs. exploding vs. overfitting) thay vì chỉ thấy 'model tệ'. Thứ tự đọc kết quả ưu tiên: activation variance → gradient scale → training loss → test accuracy (accuracy là bằng chứng GIÁN TIẾP nhất, dễ bị nhiễu bởi nhiều yếu tố khác ngoài initialization). Sửa nhất quán thuật ngữ: mọi nơi trong deck đều dùng 'Gradient RMS' đúng với công thức grad.pow(2).mean().sqrt() (= norm/sqrt(n_elements)), không dùng '.norm()' thô.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Số liệu lấy trực tiếp từ results/logs/deep_demo_zero.json và deep_demo_random_normal.json (10 hidden layer, ReLU, 15 epoch, seed=42) — không làm tròn/che giấu: cả hai đều test_acc=10.0%, đúng mức đoán ngẫu nhiên của bài toán 10 lớp. QUAN TRỌNG — tránh gộp hai cơ chế: (1) Zero-init thất bại vì các hidden unit bắt đầu giống hệt nhau và tiếp tục nhận gradient/update giống nhau suốt training — chúng KHÔNG PHÁ ĐƯỢC SYMMETRY (đúng là 'failure to break symmetry'; KHÔNG BAO GIỜ viết 'symmetry breaking' vì cụm đó mang nghĩa ngược lại). (2) Random nhỏ thất bại vì vanishing gradient — cơ chế co scale lặp lại qua nhiều lớp, hoàn toàn khác symmetry. Cả hai cho gradient ~0 trong setup NÀY, nhưng nguyên nhân độc lập.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Số liệu thật từ results/logs/deep_demo_random_large.json — không phải minh hoạ lý thuyết. Lưu ý về độ chính xác: gradient RMS 1.87×10⁷ được đo CHÍNH XÁC trên batch đầu tiên, TRƯỚC khi có update nào (bằng chứng trực tiếp, đáng tin cậy nhất). Ngược lại, 'train loss = NaN' là giá trị TRUNG BÌNH cả epoch 1 (nhiều batch) — log hiện tại không tách được NaN xuất hiện từ batch nào cụ thể trong epoch 1, nên dùng wording 'trong epoch 1' thay vì khẳng định 'ngay từ batch đầu tiên'. Cũng cần phân biệt: NaN là TRIỆU CHỨNG của mất ổn định số học (numerical instability) ở bước sau, không phải ĐỊNH NGHĨA của exploding gradient — bằng chứng trực tiếp cho exploding vẫn là gradient RMS đo được, không phải bản thân NaN. Đối lập rõ ràng với Experiment 1&amp;2 (vanishing): trong setup này, cả hai thái cực (std quá nhỏ / quá lớn) của cùng một sai lầm 'không scale theo fan_in' đều khiến mạng không học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Số liệu thật từ results/logs/multiseed_xavier_he.json + results/tables/multiseed_xavier_he_summary.csv (5 seed độc lập {42..46}, cùng kiến trúc 10 hidden layer). pp = percentage points (điểm phần trăm) — giải thích khi nói lần đầu nếu khán giả không quen. Đây là điểm chỉnh sửa quan trọng: 1 seed duy nhất KHÔNG đủ để nói 'Xavier tốt hơn He' hay ngược lại. Về wording: ĐÂY KHÔNG PHẢI một kiểm định thống kê chính thức (không có hypothesis test/confidence interval), và chỉ show mean±std KHÔNG PHẢI show toàn bộ distribution — vì vậy không nói 'hai distribution overlap', mà nói đúng là 'khoảng mean±1std chồng lấn' / 'run-to-run variability lớn so với chênh lệch mean' (đã in nguyên văn 5 giá trị mỗi seed trong code block phía trên để minh bạch). Về gradient RMS: He lớn hơn Xavier một cách nhất quán ở cả 5 seed — nhưng PHẢI nói thêm 'gradient RMS lớn hơn không tự động nghĩa là optimization tốt hơn'; điều quan trọng là tránh collapse/explosion bệnh lý, không phải gradient càng lớn càng tốt. Không suy rộng thành 'He luôn cho gradient tốt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Biểu đồ tổng hợp cả 5 đường cùng lúc — hình ảnh 'ăn điểm' đầu tiên vì gói gọn toàn bộ câu chuyện demo trong 1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một trong những visualization quan trọng nhất của toàn bộ demo vì thể hiện TRỰC TIẾP gradient flow qua từng layer, không qua trung gian (khác với accuracy — bằng chứng gián tiếp, chịu ảnh hưởng của nhiều yếu tố khác). Mỗi ô là một số liệu thật (RMS = grad.pow(2).mean().sqrt()), không phải minh hoạ cách điệu, đo trên đúng 1 mini-batch (batch đầu tiên) TRƯỚC update tham số nào — không phải trung bình suốt quá trình training, cần nói rõ nếu bị hỏi. Vì các cấu hình trong slide này đều dùng CÙNG seed=42 (bao gồm cả DataLoader generator), CÙNG batch đầu tiên được dùng cho mọi scheme — loại bỏ một nguồn nhiễu (batch sampling) khi so sánh giữa các scheme. Lưu ý: 3 màu (xanh/vàng/đỏ) là mô tả trực quan theo thang màu liên tục, KHÔNG phải một ngưỡng (threshold) toán học được định nghĩa chính thức cho 'vùng ổn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Bổ sung quan trọng: Heatmap slide trước chứng minh initialization ảnh hưởng BACKWARD (gradient); slide này chứng minh THÊM rằng cùng cơ chế cũng chi phối FORWARD (activation) — đúng như slide Synthesis đã nêu (Var(a) ổn định ở forward, Var(δ) ổn định ở backward — cả hai đều là phân tích TẠI THỜI ĐIỂM khởi tạo). Không vẽ Zero-init vì mọi activation của nó đúng bằng 0 (không biểu diễn được trên thang log). Lưu ý chính xác: ReLU output có mean khác 0 (không zero-centered), nên 'second moment' E[a²] mô tả đúng hơn đại lượng mà He initialization thực sự kiểm soát so với 'variance' Var(a)=E[a²]-E[a]² thuần tuý — ở đây vẫn dùng Var(a) (numpy .var(), đã trừ mean) cho nhất quán với code, chỉ cần lưu ý sự khác biệt khi bị hỏi sâu. Đã KIỂM TRA số liệu trước khi viết bullet: Xavier layer1→10 giảm từ 0.619 xuống 0.00157 (~395×) — SUY GIẢM THẬT, không phẳng; He layer1→10 đổi từ 0.720 lên 0.932 (~0.77-1.3×) — mới thực sự gần phẳng. Số liệu thật từ results/logs/deep_demo_*.json, field initial_activation_stats.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Số liệu thật từ results/logs/depth_experiment_v2.json. Tránh phát biểu phổ quát kiểu "He ổn định ở mọi độ sâu" hay "Xavier thất bại" — đây là quan sát TRONG setup thực nghiệm cụ thể (MLP, ReLU, Fashion-MNIST). He duy trì gradient RMS cùng bậc độ lớn xuyên suốt (kể cả L=50: grad_rms≈1.08e-2) nhưng test accuracy vẫn dao động (L=12: 32.6%, L=20: 53.6%, L=50: 19.6%). Về nhãn 'overfitting' tại L=12: chỉ gọi đúng tên khi có bằng chứng train tốt/test kém — ở đây train loss=0.456 (thấp, khớp tốt) trong khi test loss=5.41 (cao, gấp hơn 10 lần) — khoảng cách train/test rõ ràng này là căn cứ cho nhãn overfitting, không phải chỉ suy đoán từ test accuracy thấp. Insight quan trọng nhất: stable gradient flow là điều kiện quan trọng cho optimization ổn định, nhưng KHÔNG phải điều kiện đủ để model generalize tốt.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ánh xạ trực tiếp từ CSV thật, kể cả NaN của Random-large — trung thực khoa học, không che giấu kết quả thất bại. Test accuracy KHÔNG phải bằng chứng duy nhất cho initialization — nó là chỉ số gián tiếp nhất trong 4 nhóm metric (Activation variance, Gradient RMS, Training loss, rồi mới đến Accuracy). Cột 'Gradient behavior' đổi từ 'Ổn định' (quá categorical) sang 'Không vanish/explode rõ rệt' — hàng Xavier và He CÙNG nhãn này chỉ đúng tại độ sâu 10 layer của bảng này; slide Depth Experiment cho thấy Xavier suy giảm gradient theo độ sâu rõ hơn He khi kiến trúc sâu hơn — không suy rộng nhãn này sang mọi độ sâu.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Limitations trước Conclusion — chuẩn mini research presentation, không che giấu giới hạn phạm vi. Nếu bị hỏi 'vậy kết luận có generalize không' — đây chính là slide để trả lời trung thực: kết luận đúng TRONG phạm vi đã khảo sát (MLP/ReLU/Fashion-MNIST subset/SGD cố định), chưa chắc đúng ở quy mô/kiến trúc/optimizer khác.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Flow tổng kết toàn bộ mạch trình bày. Đã thêm 1 câu trả lời TRỰC TIẾP câu hỏi nghiên cứu (đặt ra ở Slide 2) trước khi liệt kê 4 takeaway — tránh để giảng viên phải tự suy ra câu trả lời. Takeaway #1 nhấn mạnh giá trị THUẬT TOÁN của Backpropagation (reverse-mode autodiff, tái sử dụng đạo hàm cục bộ — hiệu quả đặc biệt khi 1 scalar loss phụ thuộc hàng triệu tham số) — không hạ thấp thành 'chỉ là chain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giới thiệu ngắn, KHÔNG đi sâu — tránh lệch trọng tâm khỏi Backprop + Initialization là chủ đề chính của báo cáo.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nguồn, mỗi nguồn tương ứng trực tiếp với một thành phần lý thuyết/thực nghiệm THỰC SỰ được dùng trong bài (Rumelhart=Backprop gốc, LeCun=Efficient BackProp/input scaling, Glorot&amp;Bengio=Xavier, He=Kaiming/He-init, Goodfellow=textbook nền tảng chung, Xiao=dataset Fashion-MNIST, Paszke=PyTorch/autograd). Đã bỏ Bishop/Adam/ELU/SELU khỏi danh sách trước đó vì các chủ đề này KHÔNG được thảo luận ở bất kỳ slide nào trong deck — reference list nên phản ánh đúng nội dung thực sự dùng, không cố giữ số lượng nguồn.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13E"/>
        </a:solidFill>
      </p:bgPr>
    </p:bg>
    <p:spTree>
      <p:nvGrpSpPr>
        <p:cNvPr id="1" name=""/>
        <p:cNvGrpSpPr/>
        <p:nvPr/>
      </p:nvGrpSpPr>
      <p:grpSpPr>
        <a:xfrm>
          <a:off x="0" y="0"/>
          <a:ext cx="0" cy="0"/>
          <a:chOff x="0" y="0"/>
          <a:chExt cx="0" cy="0"/>
        </a:xfrm>
      </p:grpSpPr>
      <p:sp>
        <p:nvSpPr>
          <p:cNvPr id="2" name="Shape 0"/>
          <p:cNvSpPr/>
          <p:nvPr/>
        </p:nvSpPr>
        <p:spPr>
          <a:xfrm flipV="1">
            <a:off x="7863840" y="1965960"/>
            <a:ext cx="1234440" cy="566928"/>
          </a:xfrm>
          <a:prstGeom prst="line">
            <a:avLst/>
          </a:prstGeom>
          <a:noFill/>
          <a:ln w="6350">
            <a:solidFill>
              <a:srgbClr val="3A4A70">
                <a:alpha val="45000"/>
              </a:srgbClr>
            </a:solidFill>
            <a:prstDash val="solid"/>
          </a:ln>
        </p:spPr>
      </p:sp>
      <p:sp>
        <p:nvSpPr>
          <p:cNvPr id="3" name="Shape 1"/>
          <p:cNvSpPr/>
          <p:nvPr/>
        </p:nvSpPr>
        <p:spPr>
          <a:xfrm>
            <a:off x="7863840" y="2532888"/>
            <a:ext cx="1234440" cy="0"/>
          </a:xfrm>
          <a:prstGeom prst="line">
            <a:avLst/>
          </a:prstGeom>
          <a:noFill/>
          <a:ln w="6350">
            <a:solidFill>
              <a:srgbClr val="3A4A70">
                <a:alpha val="45000"/>
              </a:srgbClr>
            </a:solidFill>
            <a:prstDash val="solid"/>
          </a:ln>
        </p:spPr>
      </p:sp>
      <p:sp>
        <p:nvSpPr>
          <p:cNvPr id="4" name="Shape 2"/>
          <p:cNvSpPr/>
          <p:nvPr/>
        </p:nvSpPr>
        <p:spPr>
          <a:xfrm>
            <a:off x="7863840" y="2532888"/>
            <a:ext cx="1234440" cy="566928"/>
          </a:xfrm>
          <a:prstGeom prst="line">
            <a:avLst/>
          </a:prstGeom>
          <a:noFill/>
          <a:ln w="6350">
            <a:solidFill>
              <a:srgbClr val="3A4A70">
                <a:alpha val="45000"/>
              </a:srgbClr>
            </a:solidFill>
            <a:prstDash val="solid"/>
          </a:ln>
        </p:spPr>
      </p:sp>
      <p:sp>
        <p:nvSpPr>
          <p:cNvPr id="5" name="Shape 3"/>
          <p:cNvSpPr/>
          <p:nvPr/>
        </p:nvSpPr>
        <p:spPr>
          <a:xfrm>
            <a:off x="7863840" y="2532888"/>
            <a:ext cx="1234440" cy="1133856"/>
          </a:xfrm>
          <a:prstGeom prst="line">
            <a:avLst/>
          </a:prstGeom>
          <a:noFill/>
          <a:ln w="6350">
            <a:solidFill>
              <a:srgbClr val="3A4A70">
                <a:alpha val="45000"/>
              </a:srgbClr>
            </a:solidFill>
            <a:prstDash val="solid"/>
          </a:ln>
        </p:spPr>
      </p:sp>
      <p:sp>
        <p:nvSpPr>
          <p:cNvPr id="6" name="Shape 4"/>
          <p:cNvSpPr/>
          <p:nvPr/>
        </p:nvSpPr>
        <p:spPr>
          <a:xfrm>
            <a:off x="7863840" y="2532888"/>
            <a:ext cx="1234440" cy="1700784"/>
          </a:xfrm>
          <a:prstGeom prst="line">
            <a:avLst/>
          </a:prstGeom>
          <a:noFill/>
          <a:ln w="6350">
            <a:solidFill>
              <a:srgbClr val="3A4A70">
                <a:alpha val="45000"/>
              </a:srgbClr>
            </a:solidFill>
            <a:prstDash val="solid"/>
          </a:ln>
        </p:spPr>
      </p:sp>
      <p:sp>
        <p:nvSpPr>
          <p:cNvPr id="7" name="Shape 5"/>
          <p:cNvSpPr/>
          <p:nvPr/>
        </p:nvSpPr>
        <p:spPr>
          <a:xfrm>
            <a:off x="7863840" y="2532888"/>
            <a:ext cx="1234440" cy="2267712"/>
          </a:xfrm>
          <a:prstGeom prst="line">
            <a:avLst/>
          </a:prstGeom>
          <a:noFill/>
          <a:ln w="6350">
            <a:solidFill>
              <a:srgbClr val="3A4A70">
                <a:alpha val="45000"/>
              </a:srgbClr>
            </a:solidFill>
            <a:prstDash val="solid"/>
          </a:ln>
        </p:spPr>
      </p:sp>
      <p:sp>
        <p:nvSpPr>
          <p:cNvPr id="8" name="Shape 6"/>
          <p:cNvSpPr/>
          <p:nvPr/>
        </p:nvSpPr>
        <p:spPr>
          <a:xfrm flipV="1">
            <a:off x="7863840" y="1965960"/>
            <a:ext cx="1234440" cy="1133856"/>
          </a:xfrm>
          <a:prstGeom prst="line">
            <a:avLst/>
          </a:prstGeom>
          <a:noFill/>
          <a:ln w="6350">
            <a:solidFill>
              <a:srgbClr val="3A4A70">
                <a:alpha val="45000"/>
              </a:srgbClr>
            </a:solidFill>
            <a:prstDash val="solid"/>
          </a:ln>
        </p:spPr>
      </p:sp>
      <p:sp>
        <p:nvSpPr>
          <p:cNvPr id="9" name="Shape 7"/>
          <p:cNvSpPr/>
          <p:nvPr/>
        </p:nvSpPr>
        <p:spPr>
          <a:xfrm flipV="1">
            <a:off x="7863840" y="2532888"/>
            <a:ext cx="1234440" cy="566928"/>
          </a:xfrm>
          <a:prstGeom prst="line">
            <a:avLst/>
          </a:prstGeom>
          <a:noFill/>
          <a:ln w="6350">
            <a:solidFill>
              <a:srgbClr val="3A4A70">
                <a:alpha val="45000"/>
              </a:srgbClr>
            </a:solidFill>
            <a:prstDash val="solid"/>
          </a:ln>
        </p:spPr>
      </p:sp>
      <p:sp>
        <p:nvSpPr>
          <p:cNvPr id="10" name="Shape 8"/>
          <p:cNvSpPr/>
          <p:nvPr/>
        </p:nvSpPr>
        <p:spPr>
          <a:xfrm flipV="1">
            <a:off x="7863840" y="3099816"/>
            <a:ext cx="1234440" cy="0"/>
          </a:xfrm>
          <a:prstGeom prst="line">
            <a:avLst/>
          </a:prstGeom>
          <a:noFill/>
          <a:ln w="6350">
            <a:solidFill>
              <a:srgbClr val="3A4A70">
                <a:alpha val="45000"/>
              </a:srgbClr>
            </a:solidFill>
            <a:prstDash val="solid"/>
          </a:ln>
        </p:spPr>
      </p:sp>
      <p:sp>
        <p:nvSpPr>
          <p:cNvPr id="11" name="Shape 9"/>
          <p:cNvSpPr/>
          <p:nvPr/>
        </p:nvSpPr>
        <p:spPr>
          <a:xfrm>
            <a:off x="7863840" y="3099816"/>
            <a:ext cx="1234440" cy="566928"/>
          </a:xfrm>
          <a:prstGeom prst="line">
            <a:avLst/>
          </a:prstGeom>
          <a:noFill/>
          <a:ln w="6350">
            <a:solidFill>
              <a:srgbClr val="3A4A70">
                <a:alpha val="45000"/>
              </a:srgbClr>
            </a:solidFill>
            <a:prstDash val="solid"/>
          </a:ln>
        </p:spPr>
      </p:sp>
      <p:sp>
        <p:nvSpPr>
          <p:cNvPr id="12" name="Shape 10"/>
          <p:cNvSpPr/>
          <p:nvPr/>
        </p:nvSpPr>
        <p:spPr>
          <a:xfrm>
            <a:off x="7863840" y="3099816"/>
            <a:ext cx="1234440" cy="1133856"/>
          </a:xfrm>
          <a:prstGeom prst="line">
            <a:avLst/>
          </a:prstGeom>
          <a:noFill/>
          <a:ln w="6350">
            <a:solidFill>
              <a:srgbClr val="3A4A70">
                <a:alpha val="45000"/>
              </a:srgbClr>
            </a:solidFill>
            <a:prstDash val="solid"/>
          </a:ln>
        </p:spPr>
      </p:sp>
      <p:sp>
        <p:nvSpPr>
          <p:cNvPr id="13" name="Shape 11"/>
          <p:cNvSpPr/>
          <p:nvPr/>
        </p:nvSpPr>
        <p:spPr>
          <a:xfrm>
            <a:off x="7863840" y="3099816"/>
            <a:ext cx="1234440" cy="1700784"/>
          </a:xfrm>
          <a:prstGeom prst="line">
            <a:avLst/>
          </a:prstGeom>
          <a:noFill/>
          <a:ln w="6350">
            <a:solidFill>
              <a:srgbClr val="3A4A70">
                <a:alpha val="45000"/>
              </a:srgbClr>
            </a:solidFill>
            <a:prstDash val="solid"/>
          </a:ln>
        </p:spPr>
      </p:sp>
      <p:sp>
        <p:nvSpPr>
          <p:cNvPr id="14" name="Shape 12"/>
          <p:cNvSpPr/>
          <p:nvPr/>
        </p:nvSpPr>
        <p:spPr>
          <a:xfrm flipV="1">
            <a:off x="7863840" y="1965960"/>
            <a:ext cx="1234440" cy="1700784"/>
          </a:xfrm>
          <a:prstGeom prst="line">
            <a:avLst/>
          </a:prstGeom>
          <a:noFill/>
          <a:ln w="6350">
            <a:solidFill>
              <a:srgbClr val="3A4A70">
                <a:alpha val="45000"/>
              </a:srgbClr>
            </a:solidFill>
            <a:prstDash val="solid"/>
          </a:ln>
        </p:spPr>
      </p:sp>
      <p:sp>
        <p:nvSpPr>
          <p:cNvPr id="15" name="Shape 13"/>
          <p:cNvSpPr/>
          <p:nvPr/>
        </p:nvSpPr>
        <p:spPr>
          <a:xfrm flipV="1">
            <a:off x="7863840" y="2532888"/>
            <a:ext cx="1234440" cy="1133856"/>
          </a:xfrm>
          <a:prstGeom prst="line">
            <a:avLst/>
          </a:prstGeom>
          <a:noFill/>
          <a:ln w="6350">
            <a:solidFill>
              <a:srgbClr val="3A4A70">
                <a:alpha val="45000"/>
              </a:srgbClr>
            </a:solidFill>
            <a:prstDash val="solid"/>
          </a:ln>
        </p:spPr>
      </p:sp>
      <p:sp>
        <p:nvSpPr>
          <p:cNvPr id="16" name="Shape 14"/>
          <p:cNvSpPr/>
          <p:nvPr/>
        </p:nvSpPr>
        <p:spPr>
          <a:xfrm flipV="1">
            <a:off x="7863840" y="3099816"/>
            <a:ext cx="1234440" cy="566928"/>
          </a:xfrm>
          <a:prstGeom prst="line">
            <a:avLst/>
          </a:prstGeom>
          <a:noFill/>
          <a:ln w="6350">
            <a:solidFill>
              <a:srgbClr val="3A4A70">
                <a:alpha val="45000"/>
              </a:srgbClr>
            </a:solidFill>
            <a:prstDash val="solid"/>
          </a:ln>
        </p:spPr>
      </p:sp>
      <p:sp>
        <p:nvSpPr>
          <p:cNvPr id="17" name="Shape 15"/>
          <p:cNvSpPr/>
          <p:nvPr/>
        </p:nvSpPr>
        <p:spPr>
          <a:xfrm>
            <a:off x="7863840" y="3666744"/>
            <a:ext cx="1234440" cy="0"/>
          </a:xfrm>
          <a:prstGeom prst="line">
            <a:avLst/>
          </a:prstGeom>
          <a:noFill/>
          <a:ln w="6350">
            <a:solidFill>
              <a:srgbClr val="3A4A70">
                <a:alpha val="45000"/>
              </a:srgbClr>
            </a:solidFill>
            <a:prstDash val="solid"/>
          </a:ln>
        </p:spPr>
      </p:sp>
      <p:sp>
        <p:nvSpPr>
          <p:cNvPr id="18" name="Shape 16"/>
          <p:cNvSpPr/>
          <p:nvPr/>
        </p:nvSpPr>
        <p:spPr>
          <a:xfrm>
            <a:off x="7863840" y="3666744"/>
            <a:ext cx="1234440" cy="566928"/>
          </a:xfrm>
          <a:prstGeom prst="line">
            <a:avLst/>
          </a:prstGeom>
          <a:noFill/>
          <a:ln w="6350">
            <a:solidFill>
              <a:srgbClr val="3A4A70">
                <a:alpha val="45000"/>
              </a:srgbClr>
            </a:solidFill>
            <a:prstDash val="solid"/>
          </a:ln>
        </p:spPr>
      </p:sp>
      <p:sp>
        <p:nvSpPr>
          <p:cNvPr id="19" name="Shape 17"/>
          <p:cNvSpPr/>
          <p:nvPr/>
        </p:nvSpPr>
        <p:spPr>
          <a:xfrm>
            <a:off x="7863840" y="3666744"/>
            <a:ext cx="1234440" cy="1133856"/>
          </a:xfrm>
          <a:prstGeom prst="line">
            <a:avLst/>
          </a:prstGeom>
          <a:noFill/>
          <a:ln w="6350">
            <a:solidFill>
              <a:srgbClr val="3A4A70">
                <a:alpha val="45000"/>
              </a:srgbClr>
            </a:solidFill>
            <a:prstDash val="solid"/>
          </a:ln>
        </p:spPr>
      </p:sp>
      <p:sp>
        <p:nvSpPr>
          <p:cNvPr id="20" name="Shape 18"/>
          <p:cNvSpPr/>
          <p:nvPr/>
        </p:nvSpPr>
        <p:spPr>
          <a:xfrm flipV="1">
            <a:off x="7863840" y="1965960"/>
            <a:ext cx="1234440" cy="2267712"/>
          </a:xfrm>
          <a:prstGeom prst="line">
            <a:avLst/>
          </a:prstGeom>
          <a:noFill/>
          <a:ln w="6350">
            <a:solidFill>
              <a:srgbClr val="3A4A70">
                <a:alpha val="45000"/>
              </a:srgbClr>
            </a:solidFill>
            <a:prstDash val="solid"/>
          </a:ln>
        </p:spPr>
      </p:sp>
      <p:sp>
        <p:nvSpPr>
          <p:cNvPr id="21" name="Shape 19"/>
          <p:cNvSpPr/>
          <p:nvPr/>
        </p:nvSpPr>
        <p:spPr>
          <a:xfrm flipV="1">
            <a:off x="7863840" y="2532888"/>
            <a:ext cx="1234440" cy="1700784"/>
          </a:xfrm>
          <a:prstGeom prst="line">
            <a:avLst/>
          </a:prstGeom>
          <a:noFill/>
          <a:ln w="6350">
            <a:solidFill>
              <a:srgbClr val="3A4A70">
                <a:alpha val="45000"/>
              </a:srgbClr>
            </a:solidFill>
            <a:prstDash val="solid"/>
          </a:ln>
        </p:spPr>
      </p:sp>
      <p:sp>
        <p:nvSpPr>
          <p:cNvPr id="22" name="Shape 20"/>
          <p:cNvSpPr/>
          <p:nvPr/>
        </p:nvSpPr>
        <p:spPr>
          <a:xfrm flipV="1">
            <a:off x="7863840" y="3099816"/>
            <a:ext cx="1234440" cy="1133856"/>
          </a:xfrm>
          <a:prstGeom prst="line">
            <a:avLst/>
          </a:prstGeom>
          <a:noFill/>
          <a:ln w="6350">
            <a:solidFill>
              <a:srgbClr val="3A4A70">
                <a:alpha val="45000"/>
              </a:srgbClr>
            </a:solidFill>
            <a:prstDash val="solid"/>
          </a:ln>
        </p:spPr>
      </p:sp>
      <p:sp>
        <p:nvSpPr>
          <p:cNvPr id="23" name="Shape 21"/>
          <p:cNvSpPr/>
          <p:nvPr/>
        </p:nvSpPr>
        <p:spPr>
          <a:xfrm flipV="1">
            <a:off x="7863840" y="3666744"/>
            <a:ext cx="1234440" cy="566928"/>
          </a:xfrm>
          <a:prstGeom prst="line">
            <a:avLst/>
          </a:prstGeom>
          <a:noFill/>
          <a:ln w="6350">
            <a:solidFill>
              <a:srgbClr val="3A4A70">
                <a:alpha val="45000"/>
              </a:srgbClr>
            </a:solidFill>
            <a:prstDash val="solid"/>
          </a:ln>
        </p:spPr>
      </p:sp>
      <p:sp>
        <p:nvSpPr>
          <p:cNvPr id="24" name="Shape 22"/>
          <p:cNvSpPr/>
          <p:nvPr/>
        </p:nvSpPr>
        <p:spPr>
          <a:xfrm>
            <a:off x="7863840" y="4233672"/>
            <a:ext cx="1234440" cy="0"/>
          </a:xfrm>
          <a:prstGeom prst="line">
            <a:avLst/>
          </a:prstGeom>
          <a:noFill/>
          <a:ln w="6350">
            <a:solidFill>
              <a:srgbClr val="3A4A70">
                <a:alpha val="45000"/>
              </a:srgbClr>
            </a:solidFill>
            <a:prstDash val="solid"/>
          </a:ln>
        </p:spPr>
      </p:sp>
      <p:sp>
        <p:nvSpPr>
          <p:cNvPr id="25" name="Shape 23"/>
          <p:cNvSpPr/>
          <p:nvPr/>
        </p:nvSpPr>
        <p:spPr>
          <a:xfrm>
            <a:off x="7863840" y="4233672"/>
            <a:ext cx="1234440" cy="566928"/>
          </a:xfrm>
          <a:prstGeom prst="line">
            <a:avLst/>
          </a:prstGeom>
          <a:noFill/>
          <a:ln w="6350">
            <a:solidFill>
              <a:srgbClr val="3A4A70">
                <a:alpha val="45000"/>
              </a:srgbClr>
            </a:solidFill>
            <a:prstDash val="solid"/>
          </a:ln>
        </p:spPr>
      </p:sp>
      <p:sp>
        <p:nvSpPr>
          <p:cNvPr id="26" name="Shape 24"/>
          <p:cNvSpPr/>
          <p:nvPr/>
        </p:nvSpPr>
        <p:spPr>
          <a:xfrm>
            <a:off x="9098280" y="1965960"/>
            <a:ext cx="1234440" cy="0"/>
          </a:xfrm>
          <a:prstGeom prst="line">
            <a:avLst/>
          </a:prstGeom>
          <a:noFill/>
          <a:ln w="6350">
            <a:solidFill>
              <a:srgbClr val="3A4A70">
                <a:alpha val="45000"/>
              </a:srgbClr>
            </a:solidFill>
            <a:prstDash val="solid"/>
          </a:ln>
        </p:spPr>
      </p:sp>
      <p:sp>
        <p:nvSpPr>
          <p:cNvPr id="27" name="Shape 25"/>
          <p:cNvSpPr/>
          <p:nvPr/>
        </p:nvSpPr>
        <p:spPr>
          <a:xfrm>
            <a:off x="9098280" y="1965960"/>
            <a:ext cx="1234440" cy="566928"/>
          </a:xfrm>
          <a:prstGeom prst="line">
            <a:avLst/>
          </a:prstGeom>
          <a:noFill/>
          <a:ln w="6350">
            <a:solidFill>
              <a:srgbClr val="3A4A70">
                <a:alpha val="45000"/>
              </a:srgbClr>
            </a:solidFill>
            <a:prstDash val="solid"/>
          </a:ln>
        </p:spPr>
      </p:sp>
      <p:sp>
        <p:nvSpPr>
          <p:cNvPr id="28" name="Shape 26"/>
          <p:cNvSpPr/>
          <p:nvPr/>
        </p:nvSpPr>
        <p:spPr>
          <a:xfrm>
            <a:off x="9098280" y="1965960"/>
            <a:ext cx="1234440" cy="1133856"/>
          </a:xfrm>
          <a:prstGeom prst="line">
            <a:avLst/>
          </a:prstGeom>
          <a:noFill/>
          <a:ln w="6350">
            <a:solidFill>
              <a:srgbClr val="3A4A70">
                <a:alpha val="45000"/>
              </a:srgbClr>
            </a:solidFill>
            <a:prstDash val="solid"/>
          </a:ln>
        </p:spPr>
      </p:sp>
      <p:sp>
        <p:nvSpPr>
          <p:cNvPr id="29" name="Shape 27"/>
          <p:cNvSpPr/>
          <p:nvPr/>
        </p:nvSpPr>
        <p:spPr>
          <a:xfrm>
            <a:off x="9098280" y="1965960"/>
            <a:ext cx="1234440" cy="1700784"/>
          </a:xfrm>
          <a:prstGeom prst="line">
            <a:avLst/>
          </a:prstGeom>
          <a:noFill/>
          <a:ln w="6350">
            <a:solidFill>
              <a:srgbClr val="3A4A70">
                <a:alpha val="45000"/>
              </a:srgbClr>
            </a:solidFill>
            <a:prstDash val="solid"/>
          </a:ln>
        </p:spPr>
      </p:sp>
      <p:sp>
        <p:nvSpPr>
          <p:cNvPr id="30" name="Shape 28"/>
          <p:cNvSpPr/>
          <p:nvPr/>
        </p:nvSpPr>
        <p:spPr>
          <a:xfrm>
            <a:off x="9098280" y="1965960"/>
            <a:ext cx="1234440" cy="2267712"/>
          </a:xfrm>
          <a:prstGeom prst="line">
            <a:avLst/>
          </a:prstGeom>
          <a:noFill/>
          <a:ln w="6350">
            <a:solidFill>
              <a:srgbClr val="3A4A70">
                <a:alpha val="45000"/>
              </a:srgbClr>
            </a:solidFill>
            <a:prstDash val="solid"/>
          </a:ln>
        </p:spPr>
      </p:sp>
      <p:sp>
        <p:nvSpPr>
          <p:cNvPr id="31" name="Shape 29"/>
          <p:cNvSpPr/>
          <p:nvPr/>
        </p:nvSpPr>
        <p:spPr>
          <a:xfrm>
            <a:off x="9098280" y="1965960"/>
            <a:ext cx="1234440" cy="2834640"/>
          </a:xfrm>
          <a:prstGeom prst="line">
            <a:avLst/>
          </a:prstGeom>
          <a:noFill/>
          <a:ln w="6350">
            <a:solidFill>
              <a:srgbClr val="3A4A70">
                <a:alpha val="45000"/>
              </a:srgbClr>
            </a:solidFill>
            <a:prstDash val="solid"/>
          </a:ln>
        </p:spPr>
      </p:sp>
      <p:sp>
        <p:nvSpPr>
          <p:cNvPr id="32" name="Shape 30"/>
          <p:cNvSpPr/>
          <p:nvPr/>
        </p:nvSpPr>
        <p:spPr>
          <a:xfrm flipV="1">
            <a:off x="9098280" y="1965960"/>
            <a:ext cx="1234440" cy="566928"/>
          </a:xfrm>
          <a:prstGeom prst="line">
            <a:avLst/>
          </a:prstGeom>
          <a:noFill/>
          <a:ln w="6350">
            <a:solidFill>
              <a:srgbClr val="3A4A70">
                <a:alpha val="45000"/>
              </a:srgbClr>
            </a:solidFill>
            <a:prstDash val="solid"/>
          </a:ln>
        </p:spPr>
      </p:sp>
      <p:sp>
        <p:nvSpPr>
          <p:cNvPr id="33" name="Shape 31"/>
          <p:cNvSpPr/>
          <p:nvPr/>
        </p:nvSpPr>
        <p:spPr>
          <a:xfrm>
            <a:off x="9098280" y="2532888"/>
            <a:ext cx="1234440" cy="0"/>
          </a:xfrm>
          <a:prstGeom prst="line">
            <a:avLst/>
          </a:prstGeom>
          <a:noFill/>
          <a:ln w="6350">
            <a:solidFill>
              <a:srgbClr val="3A4A70">
                <a:alpha val="45000"/>
              </a:srgbClr>
            </a:solidFill>
            <a:prstDash val="solid"/>
          </a:ln>
        </p:spPr>
      </p:sp>
      <p:sp>
        <p:nvSpPr>
          <p:cNvPr id="34" name="Shape 32"/>
          <p:cNvSpPr/>
          <p:nvPr/>
        </p:nvSpPr>
        <p:spPr>
          <a:xfrm>
            <a:off x="9098280" y="2532888"/>
            <a:ext cx="1234440" cy="566928"/>
          </a:xfrm>
          <a:prstGeom prst="line">
            <a:avLst/>
          </a:prstGeom>
          <a:noFill/>
          <a:ln w="6350">
            <a:solidFill>
              <a:srgbClr val="3A4A70">
                <a:alpha val="45000"/>
              </a:srgbClr>
            </a:solidFill>
            <a:prstDash val="solid"/>
          </a:ln>
        </p:spPr>
      </p:sp>
      <p:sp>
        <p:nvSpPr>
          <p:cNvPr id="35" name="Shape 33"/>
          <p:cNvSpPr/>
          <p:nvPr/>
        </p:nvSpPr>
        <p:spPr>
          <a:xfrm>
            <a:off x="9098280" y="2532888"/>
            <a:ext cx="1234440" cy="1133856"/>
          </a:xfrm>
          <a:prstGeom prst="line">
            <a:avLst/>
          </a:prstGeom>
          <a:noFill/>
          <a:ln w="6350">
            <a:solidFill>
              <a:srgbClr val="3A4A70">
                <a:alpha val="45000"/>
              </a:srgbClr>
            </a:solidFill>
            <a:prstDash val="solid"/>
          </a:ln>
        </p:spPr>
      </p:sp>
      <p:sp>
        <p:nvSpPr>
          <p:cNvPr id="36" name="Shape 34"/>
          <p:cNvSpPr/>
          <p:nvPr/>
        </p:nvSpPr>
        <p:spPr>
          <a:xfrm>
            <a:off x="9098280" y="2532888"/>
            <a:ext cx="1234440" cy="1700784"/>
          </a:xfrm>
          <a:prstGeom prst="line">
            <a:avLst/>
          </a:prstGeom>
          <a:noFill/>
          <a:ln w="6350">
            <a:solidFill>
              <a:srgbClr val="3A4A70">
                <a:alpha val="45000"/>
              </a:srgbClr>
            </a:solidFill>
            <a:prstDash val="solid"/>
          </a:ln>
        </p:spPr>
      </p:sp>
      <p:sp>
        <p:nvSpPr>
          <p:cNvPr id="37" name="Shape 35"/>
          <p:cNvSpPr/>
          <p:nvPr/>
        </p:nvSpPr>
        <p:spPr>
          <a:xfrm>
            <a:off x="9098280" y="2532888"/>
            <a:ext cx="1234440" cy="2267712"/>
          </a:xfrm>
          <a:prstGeom prst="line">
            <a:avLst/>
          </a:prstGeom>
          <a:noFill/>
          <a:ln w="6350">
            <a:solidFill>
              <a:srgbClr val="3A4A70">
                <a:alpha val="45000"/>
              </a:srgbClr>
            </a:solidFill>
            <a:prstDash val="solid"/>
          </a:ln>
        </p:spPr>
      </p:sp>
      <p:sp>
        <p:nvSpPr>
          <p:cNvPr id="38" name="Shape 36"/>
          <p:cNvSpPr/>
          <p:nvPr/>
        </p:nvSpPr>
        <p:spPr>
          <a:xfrm flipV="1">
            <a:off x="9098280" y="1965960"/>
            <a:ext cx="1234440" cy="1133856"/>
          </a:xfrm>
          <a:prstGeom prst="line">
            <a:avLst/>
          </a:prstGeom>
          <a:noFill/>
          <a:ln w="6350">
            <a:solidFill>
              <a:srgbClr val="3A4A70">
                <a:alpha val="45000"/>
              </a:srgbClr>
            </a:solidFill>
            <a:prstDash val="solid"/>
          </a:ln>
        </p:spPr>
      </p:sp>
      <p:sp>
        <p:nvSpPr>
          <p:cNvPr id="39" name="Shape 37"/>
          <p:cNvSpPr/>
          <p:nvPr/>
        </p:nvSpPr>
        <p:spPr>
          <a:xfrm flipV="1">
            <a:off x="9098280" y="2532888"/>
            <a:ext cx="1234440" cy="566928"/>
          </a:xfrm>
          <a:prstGeom prst="line">
            <a:avLst/>
          </a:prstGeom>
          <a:noFill/>
          <a:ln w="6350">
            <a:solidFill>
              <a:srgbClr val="3A4A70">
                <a:alpha val="45000"/>
              </a:srgbClr>
            </a:solidFill>
            <a:prstDash val="solid"/>
          </a:ln>
        </p:spPr>
      </p:sp>
      <p:sp>
        <p:nvSpPr>
          <p:cNvPr id="40" name="Shape 38"/>
          <p:cNvSpPr/>
          <p:nvPr/>
        </p:nvSpPr>
        <p:spPr>
          <a:xfrm>
            <a:off x="9098280" y="3099816"/>
            <a:ext cx="1234440" cy="0"/>
          </a:xfrm>
          <a:prstGeom prst="line">
            <a:avLst/>
          </a:prstGeom>
          <a:noFill/>
          <a:ln w="6350">
            <a:solidFill>
              <a:srgbClr val="3A4A70">
                <a:alpha val="45000"/>
              </a:srgbClr>
            </a:solidFill>
            <a:prstDash val="solid"/>
          </a:ln>
        </p:spPr>
      </p:sp>
      <p:sp>
        <p:nvSpPr>
          <p:cNvPr id="41" name="Shape 39"/>
          <p:cNvSpPr/>
          <p:nvPr/>
        </p:nvSpPr>
        <p:spPr>
          <a:xfrm>
            <a:off x="9098280" y="3099816"/>
            <a:ext cx="1234440" cy="566928"/>
          </a:xfrm>
          <a:prstGeom prst="line">
            <a:avLst/>
          </a:prstGeom>
          <a:noFill/>
          <a:ln w="6350">
            <a:solidFill>
              <a:srgbClr val="3A4A70">
                <a:alpha val="45000"/>
              </a:srgbClr>
            </a:solidFill>
            <a:prstDash val="solid"/>
          </a:ln>
        </p:spPr>
      </p:sp>
      <p:sp>
        <p:nvSpPr>
          <p:cNvPr id="42" name="Shape 40"/>
          <p:cNvSpPr/>
          <p:nvPr/>
        </p:nvSpPr>
        <p:spPr>
          <a:xfrm>
            <a:off x="9098280" y="3099816"/>
            <a:ext cx="1234440" cy="1133856"/>
          </a:xfrm>
          <a:prstGeom prst="line">
            <a:avLst/>
          </a:prstGeom>
          <a:noFill/>
          <a:ln w="6350">
            <a:solidFill>
              <a:srgbClr val="3A4A70">
                <a:alpha val="45000"/>
              </a:srgbClr>
            </a:solidFill>
            <a:prstDash val="solid"/>
          </a:ln>
        </p:spPr>
      </p:sp>
      <p:sp>
        <p:nvSpPr>
          <p:cNvPr id="43" name="Shape 41"/>
          <p:cNvSpPr/>
          <p:nvPr/>
        </p:nvSpPr>
        <p:spPr>
          <a:xfrm>
            <a:off x="9098280" y="3099816"/>
            <a:ext cx="1234440" cy="1700784"/>
          </a:xfrm>
          <a:prstGeom prst="line">
            <a:avLst/>
          </a:prstGeom>
          <a:noFill/>
          <a:ln w="6350">
            <a:solidFill>
              <a:srgbClr val="3A4A70">
                <a:alpha val="45000"/>
              </a:srgbClr>
            </a:solidFill>
            <a:prstDash val="solid"/>
          </a:ln>
        </p:spPr>
      </p:sp>
      <p:sp>
        <p:nvSpPr>
          <p:cNvPr id="44" name="Shape 42"/>
          <p:cNvSpPr/>
          <p:nvPr/>
        </p:nvSpPr>
        <p:spPr>
          <a:xfrm flipV="1">
            <a:off x="9098280" y="1965960"/>
            <a:ext cx="1234440" cy="1700784"/>
          </a:xfrm>
          <a:prstGeom prst="line">
            <a:avLst/>
          </a:prstGeom>
          <a:noFill/>
          <a:ln w="6350">
            <a:solidFill>
              <a:srgbClr val="3A4A70">
                <a:alpha val="45000"/>
              </a:srgbClr>
            </a:solidFill>
            <a:prstDash val="solid"/>
          </a:ln>
        </p:spPr>
      </p:sp>
      <p:sp>
        <p:nvSpPr>
          <p:cNvPr id="45" name="Shape 43"/>
          <p:cNvSpPr/>
          <p:nvPr/>
        </p:nvSpPr>
        <p:spPr>
          <a:xfrm flipV="1">
            <a:off x="9098280" y="2532888"/>
            <a:ext cx="1234440" cy="1133856"/>
          </a:xfrm>
          <a:prstGeom prst="line">
            <a:avLst/>
          </a:prstGeom>
          <a:noFill/>
          <a:ln w="6350">
            <a:solidFill>
              <a:srgbClr val="3A4A70">
                <a:alpha val="45000"/>
              </a:srgbClr>
            </a:solidFill>
            <a:prstDash val="solid"/>
          </a:ln>
        </p:spPr>
      </p:sp>
      <p:sp>
        <p:nvSpPr>
          <p:cNvPr id="46" name="Shape 44"/>
          <p:cNvSpPr/>
          <p:nvPr/>
        </p:nvSpPr>
        <p:spPr>
          <a:xfrm flipV="1">
            <a:off x="9098280" y="3099816"/>
            <a:ext cx="1234440" cy="566928"/>
          </a:xfrm>
          <a:prstGeom prst="line">
            <a:avLst/>
          </a:prstGeom>
          <a:noFill/>
          <a:ln w="6350">
            <a:solidFill>
              <a:srgbClr val="3A4A70">
                <a:alpha val="45000"/>
              </a:srgbClr>
            </a:solidFill>
            <a:prstDash val="solid"/>
          </a:ln>
        </p:spPr>
      </p:sp>
      <p:sp>
        <p:nvSpPr>
          <p:cNvPr id="47" name="Shape 45"/>
          <p:cNvSpPr/>
          <p:nvPr/>
        </p:nvSpPr>
        <p:spPr>
          <a:xfrm>
            <a:off x="9098280" y="3666744"/>
            <a:ext cx="1234440" cy="0"/>
          </a:xfrm>
          <a:prstGeom prst="line">
            <a:avLst/>
          </a:prstGeom>
          <a:noFill/>
          <a:ln w="6350">
            <a:solidFill>
              <a:srgbClr val="3A4A70">
                <a:alpha val="45000"/>
              </a:srgbClr>
            </a:solidFill>
            <a:prstDash val="solid"/>
          </a:ln>
        </p:spPr>
      </p:sp>
      <p:sp>
        <p:nvSpPr>
          <p:cNvPr id="48" name="Shape 46"/>
          <p:cNvSpPr/>
          <p:nvPr/>
        </p:nvSpPr>
        <p:spPr>
          <a:xfrm>
            <a:off x="9098280" y="3666744"/>
            <a:ext cx="1234440" cy="566928"/>
          </a:xfrm>
          <a:prstGeom prst="line">
            <a:avLst/>
          </a:prstGeom>
          <a:noFill/>
          <a:ln w="6350">
            <a:solidFill>
              <a:srgbClr val="3A4A70">
                <a:alpha val="45000"/>
              </a:srgbClr>
            </a:solidFill>
            <a:prstDash val="solid"/>
          </a:ln>
        </p:spPr>
      </p:sp>
      <p:sp>
        <p:nvSpPr>
          <p:cNvPr id="49" name="Shape 47"/>
          <p:cNvSpPr/>
          <p:nvPr/>
        </p:nvSpPr>
        <p:spPr>
          <a:xfrm>
            <a:off x="9098280" y="3666744"/>
            <a:ext cx="1234440" cy="1133856"/>
          </a:xfrm>
          <a:prstGeom prst="line">
            <a:avLst/>
          </a:prstGeom>
          <a:noFill/>
          <a:ln w="6350">
            <a:solidFill>
              <a:srgbClr val="3A4A70">
                <a:alpha val="45000"/>
              </a:srgbClr>
            </a:solidFill>
            <a:prstDash val="solid"/>
          </a:ln>
        </p:spPr>
      </p:sp>
      <p:sp>
        <p:nvSpPr>
          <p:cNvPr id="50" name="Shape 48"/>
          <p:cNvSpPr/>
          <p:nvPr/>
        </p:nvSpPr>
        <p:spPr>
          <a:xfrm flipV="1">
            <a:off x="9098280" y="1965960"/>
            <a:ext cx="1234440" cy="2267712"/>
          </a:xfrm>
          <a:prstGeom prst="line">
            <a:avLst/>
          </a:prstGeom>
          <a:noFill/>
          <a:ln w="6350">
            <a:solidFill>
              <a:srgbClr val="3A4A70">
                <a:alpha val="45000"/>
              </a:srgbClr>
            </a:solidFill>
            <a:prstDash val="solid"/>
          </a:ln>
        </p:spPr>
      </p:sp>
      <p:sp>
        <p:nvSpPr>
          <p:cNvPr id="51" name="Shape 49"/>
          <p:cNvSpPr/>
          <p:nvPr/>
        </p:nvSpPr>
        <p:spPr>
          <a:xfrm flipV="1">
            <a:off x="9098280" y="2532888"/>
            <a:ext cx="1234440" cy="1700784"/>
          </a:xfrm>
          <a:prstGeom prst="line">
            <a:avLst/>
          </a:prstGeom>
          <a:noFill/>
          <a:ln w="6350">
            <a:solidFill>
              <a:srgbClr val="3A4A70">
                <a:alpha val="45000"/>
              </a:srgbClr>
            </a:solidFill>
            <a:prstDash val="solid"/>
          </a:ln>
        </p:spPr>
      </p:sp>
      <p:sp>
        <p:nvSpPr>
          <p:cNvPr id="52" name="Shape 50"/>
          <p:cNvSpPr/>
          <p:nvPr/>
        </p:nvSpPr>
        <p:spPr>
          <a:xfrm flipV="1">
            <a:off x="9098280" y="3099816"/>
            <a:ext cx="1234440" cy="1133856"/>
          </a:xfrm>
          <a:prstGeom prst="line">
            <a:avLst/>
          </a:prstGeom>
          <a:noFill/>
          <a:ln w="6350">
            <a:solidFill>
              <a:srgbClr val="3A4A70">
                <a:alpha val="45000"/>
              </a:srgbClr>
            </a:solidFill>
            <a:prstDash val="solid"/>
          </a:ln>
        </p:spPr>
      </p:sp>
      <p:sp>
        <p:nvSpPr>
          <p:cNvPr id="53" name="Shape 51"/>
          <p:cNvSpPr/>
          <p:nvPr/>
        </p:nvSpPr>
        <p:spPr>
          <a:xfrm flipV="1">
            <a:off x="9098280" y="3666744"/>
            <a:ext cx="1234440" cy="566928"/>
          </a:xfrm>
          <a:prstGeom prst="line">
            <a:avLst/>
          </a:prstGeom>
          <a:noFill/>
          <a:ln w="6350">
            <a:solidFill>
              <a:srgbClr val="3A4A70">
                <a:alpha val="45000"/>
              </a:srgbClr>
            </a:solidFill>
            <a:prstDash val="solid"/>
          </a:ln>
        </p:spPr>
      </p:sp>
      <p:sp>
        <p:nvSpPr>
          <p:cNvPr id="54" name="Shape 52"/>
          <p:cNvSpPr/>
          <p:nvPr/>
        </p:nvSpPr>
        <p:spPr>
          <a:xfrm>
            <a:off x="9098280" y="4233672"/>
            <a:ext cx="1234440" cy="0"/>
          </a:xfrm>
          <a:prstGeom prst="line">
            <a:avLst/>
          </a:prstGeom>
          <a:noFill/>
          <a:ln w="6350">
            <a:solidFill>
              <a:srgbClr val="3A4A70">
                <a:alpha val="45000"/>
              </a:srgbClr>
            </a:solidFill>
            <a:prstDash val="solid"/>
          </a:ln>
        </p:spPr>
      </p:sp>
      <p:sp>
        <p:nvSpPr>
          <p:cNvPr id="55" name="Shape 53"/>
          <p:cNvSpPr/>
          <p:nvPr/>
        </p:nvSpPr>
        <p:spPr>
          <a:xfrm>
            <a:off x="9098280" y="4233672"/>
            <a:ext cx="1234440" cy="566928"/>
          </a:xfrm>
          <a:prstGeom prst="line">
            <a:avLst/>
          </a:prstGeom>
          <a:noFill/>
          <a:ln w="6350">
            <a:solidFill>
              <a:srgbClr val="3A4A70">
                <a:alpha val="45000"/>
              </a:srgbClr>
            </a:solidFill>
            <a:prstDash val="solid"/>
          </a:ln>
        </p:spPr>
      </p:sp>
      <p:sp>
        <p:nvSpPr>
          <p:cNvPr id="56" name="Shape 54"/>
          <p:cNvSpPr/>
          <p:nvPr/>
        </p:nvSpPr>
        <p:spPr>
          <a:xfrm flipV="1">
            <a:off x="9098280" y="1965960"/>
            <a:ext cx="1234440" cy="2834640"/>
          </a:xfrm>
          <a:prstGeom prst="line">
            <a:avLst/>
          </a:prstGeom>
          <a:noFill/>
          <a:ln w="6350">
            <a:solidFill>
              <a:srgbClr val="3A4A70">
                <a:alpha val="45000"/>
              </a:srgbClr>
            </a:solidFill>
            <a:prstDash val="solid"/>
          </a:ln>
        </p:spPr>
      </p:sp>
      <p:sp>
        <p:nvSpPr>
          <p:cNvPr id="57" name="Shape 55"/>
          <p:cNvSpPr/>
          <p:nvPr/>
        </p:nvSpPr>
        <p:spPr>
          <a:xfrm flipV="1">
            <a:off x="9098280" y="2532888"/>
            <a:ext cx="1234440" cy="2267712"/>
          </a:xfrm>
          <a:prstGeom prst="line">
            <a:avLst/>
          </a:prstGeom>
          <a:noFill/>
          <a:ln w="6350">
            <a:solidFill>
              <a:srgbClr val="3A4A70">
                <a:alpha val="45000"/>
              </a:srgbClr>
            </a:solidFill>
            <a:prstDash val="solid"/>
          </a:ln>
        </p:spPr>
      </p:sp>
      <p:sp>
        <p:nvSpPr>
          <p:cNvPr id="58" name="Shape 56"/>
          <p:cNvSpPr/>
          <p:nvPr/>
        </p:nvSpPr>
        <p:spPr>
          <a:xfrm flipV="1">
            <a:off x="9098280" y="3099816"/>
            <a:ext cx="1234440" cy="1700784"/>
          </a:xfrm>
          <a:prstGeom prst="line">
            <a:avLst/>
          </a:prstGeom>
          <a:noFill/>
          <a:ln w="6350">
            <a:solidFill>
              <a:srgbClr val="3A4A70">
                <a:alpha val="45000"/>
              </a:srgbClr>
            </a:solidFill>
            <a:prstDash val="solid"/>
          </a:ln>
        </p:spPr>
      </p:sp>
      <p:sp>
        <p:nvSpPr>
          <p:cNvPr id="59" name="Shape 57"/>
          <p:cNvSpPr/>
          <p:nvPr/>
        </p:nvSpPr>
        <p:spPr>
          <a:xfrm flipV="1">
            <a:off x="9098280" y="3666744"/>
            <a:ext cx="1234440" cy="1133856"/>
          </a:xfrm>
          <a:prstGeom prst="line">
            <a:avLst/>
          </a:prstGeom>
          <a:noFill/>
          <a:ln w="6350">
            <a:solidFill>
              <a:srgbClr val="3A4A70">
                <a:alpha val="45000"/>
              </a:srgbClr>
            </a:solidFill>
            <a:prstDash val="solid"/>
          </a:ln>
        </p:spPr>
      </p:sp>
      <p:sp>
        <p:nvSpPr>
          <p:cNvPr id="60" name="Shape 58"/>
          <p:cNvSpPr/>
          <p:nvPr/>
        </p:nvSpPr>
        <p:spPr>
          <a:xfrm flipV="1">
            <a:off x="9098280" y="4233672"/>
            <a:ext cx="1234440" cy="566928"/>
          </a:xfrm>
          <a:prstGeom prst="line">
            <a:avLst/>
          </a:prstGeom>
          <a:noFill/>
          <a:ln w="6350">
            <a:solidFill>
              <a:srgbClr val="3A4A70">
                <a:alpha val="45000"/>
              </a:srgbClr>
            </a:solidFill>
            <a:prstDash val="solid"/>
          </a:ln>
        </p:spPr>
      </p:sp>
      <p:sp>
        <p:nvSpPr>
          <p:cNvPr id="61" name="Shape 59"/>
          <p:cNvSpPr/>
          <p:nvPr/>
        </p:nvSpPr>
        <p:spPr>
          <a:xfrm>
            <a:off x="9098280" y="4800600"/>
            <a:ext cx="1234440" cy="0"/>
          </a:xfrm>
          <a:prstGeom prst="line">
            <a:avLst/>
          </a:prstGeom>
          <a:noFill/>
          <a:ln w="6350">
            <a:solidFill>
              <a:srgbClr val="3A4A70">
                <a:alpha val="45000"/>
              </a:srgbClr>
            </a:solidFill>
            <a:prstDash val="solid"/>
          </a:ln>
        </p:spPr>
      </p:sp>
      <p:sp>
        <p:nvSpPr>
          <p:cNvPr id="62" name="Shape 60"/>
          <p:cNvSpPr/>
          <p:nvPr/>
        </p:nvSpPr>
        <p:spPr>
          <a:xfrm>
            <a:off x="10332720" y="1965960"/>
            <a:ext cx="1234440" cy="850392"/>
          </a:xfrm>
          <a:prstGeom prst="line">
            <a:avLst/>
          </a:prstGeom>
          <a:noFill/>
          <a:ln w="6350">
            <a:solidFill>
              <a:srgbClr val="3A4A70">
                <a:alpha val="45000"/>
              </a:srgbClr>
            </a:solidFill>
            <a:prstDash val="solid"/>
          </a:ln>
        </p:spPr>
      </p:sp>
      <p:sp>
        <p:nvSpPr>
          <p:cNvPr id="63" name="Shape 61"/>
          <p:cNvSpPr/>
          <p:nvPr/>
        </p:nvSpPr>
        <p:spPr>
          <a:xfrm>
            <a:off x="10332720" y="1965960"/>
            <a:ext cx="1234440" cy="1417320"/>
          </a:xfrm>
          <a:prstGeom prst="line">
            <a:avLst/>
          </a:prstGeom>
          <a:noFill/>
          <a:ln w="6350">
            <a:solidFill>
              <a:srgbClr val="3A4A70">
                <a:alpha val="45000"/>
              </a:srgbClr>
            </a:solidFill>
            <a:prstDash val="solid"/>
          </a:ln>
        </p:spPr>
      </p:sp>
      <p:sp>
        <p:nvSpPr>
          <p:cNvPr id="64" name="Shape 62"/>
          <p:cNvSpPr/>
          <p:nvPr/>
        </p:nvSpPr>
        <p:spPr>
          <a:xfrm>
            <a:off x="10332720" y="1965960"/>
            <a:ext cx="1234440" cy="1984248"/>
          </a:xfrm>
          <a:prstGeom prst="line">
            <a:avLst/>
          </a:prstGeom>
          <a:noFill/>
          <a:ln w="6350">
            <a:solidFill>
              <a:srgbClr val="3A4A70">
                <a:alpha val="45000"/>
              </a:srgbClr>
            </a:solidFill>
            <a:prstDash val="solid"/>
          </a:ln>
        </p:spPr>
      </p:sp>
      <p:sp>
        <p:nvSpPr>
          <p:cNvPr id="65" name="Shape 63"/>
          <p:cNvSpPr/>
          <p:nvPr/>
        </p:nvSpPr>
        <p:spPr>
          <a:xfrm>
            <a:off x="10332720" y="2532888"/>
            <a:ext cx="1234440" cy="283464"/>
          </a:xfrm>
          <a:prstGeom prst="line">
            <a:avLst/>
          </a:prstGeom>
          <a:noFill/>
          <a:ln w="6350">
            <a:solidFill>
              <a:srgbClr val="3A4A70">
                <a:alpha val="45000"/>
              </a:srgbClr>
            </a:solidFill>
            <a:prstDash val="solid"/>
          </a:ln>
        </p:spPr>
      </p:sp>
      <p:sp>
        <p:nvSpPr>
          <p:cNvPr id="66" name="Shape 64"/>
          <p:cNvSpPr/>
          <p:nvPr/>
        </p:nvSpPr>
        <p:spPr>
          <a:xfrm>
            <a:off x="10332720" y="2532888"/>
            <a:ext cx="1234440" cy="850392"/>
          </a:xfrm>
          <a:prstGeom prst="line">
            <a:avLst/>
          </a:prstGeom>
          <a:noFill/>
          <a:ln w="6350">
            <a:solidFill>
              <a:srgbClr val="3A4A70">
                <a:alpha val="45000"/>
              </a:srgbClr>
            </a:solidFill>
            <a:prstDash val="solid"/>
          </a:ln>
        </p:spPr>
      </p:sp>
      <p:sp>
        <p:nvSpPr>
          <p:cNvPr id="67" name="Shape 65"/>
          <p:cNvSpPr/>
          <p:nvPr/>
        </p:nvSpPr>
        <p:spPr>
          <a:xfrm>
            <a:off x="10332720" y="2532888"/>
            <a:ext cx="1234440" cy="1417320"/>
          </a:xfrm>
          <a:prstGeom prst="line">
            <a:avLst/>
          </a:prstGeom>
          <a:noFill/>
          <a:ln w="6350">
            <a:solidFill>
              <a:srgbClr val="3A4A70">
                <a:alpha val="45000"/>
              </a:srgbClr>
            </a:solidFill>
            <a:prstDash val="solid"/>
          </a:ln>
        </p:spPr>
      </p:sp>
      <p:sp>
        <p:nvSpPr>
          <p:cNvPr id="68" name="Shape 66"/>
          <p:cNvSpPr/>
          <p:nvPr/>
        </p:nvSpPr>
        <p:spPr>
          <a:xfrm flipV="1">
            <a:off x="10332720" y="2816352"/>
            <a:ext cx="1234440" cy="283464"/>
          </a:xfrm>
          <a:prstGeom prst="line">
            <a:avLst/>
          </a:prstGeom>
          <a:noFill/>
          <a:ln w="6350">
            <a:solidFill>
              <a:srgbClr val="3A4A70">
                <a:alpha val="45000"/>
              </a:srgbClr>
            </a:solidFill>
            <a:prstDash val="solid"/>
          </a:ln>
        </p:spPr>
      </p:sp>
      <p:sp>
        <p:nvSpPr>
          <p:cNvPr id="69" name="Shape 67"/>
          <p:cNvSpPr/>
          <p:nvPr/>
        </p:nvSpPr>
        <p:spPr>
          <a:xfrm>
            <a:off x="10332720" y="3099816"/>
            <a:ext cx="1234440" cy="283464"/>
          </a:xfrm>
          <a:prstGeom prst="line">
            <a:avLst/>
          </a:prstGeom>
          <a:noFill/>
          <a:ln w="6350">
            <a:solidFill>
              <a:srgbClr val="3A4A70">
                <a:alpha val="45000"/>
              </a:srgbClr>
            </a:solidFill>
            <a:prstDash val="solid"/>
          </a:ln>
        </p:spPr>
      </p:sp>
      <p:sp>
        <p:nvSpPr>
          <p:cNvPr id="70" name="Shape 68"/>
          <p:cNvSpPr/>
          <p:nvPr/>
        </p:nvSpPr>
        <p:spPr>
          <a:xfrm>
            <a:off x="10332720" y="3099816"/>
            <a:ext cx="1234440" cy="850392"/>
          </a:xfrm>
          <a:prstGeom prst="line">
            <a:avLst/>
          </a:prstGeom>
          <a:noFill/>
          <a:ln w="6350">
            <a:solidFill>
              <a:srgbClr val="3A4A70">
                <a:alpha val="45000"/>
              </a:srgbClr>
            </a:solidFill>
            <a:prstDash val="solid"/>
          </a:ln>
        </p:spPr>
      </p:sp>
      <p:sp>
        <p:nvSpPr>
          <p:cNvPr id="71" name="Shape 69"/>
          <p:cNvSpPr/>
          <p:nvPr/>
        </p:nvSpPr>
        <p:spPr>
          <a:xfrm flipV="1">
            <a:off x="10332720" y="2816352"/>
            <a:ext cx="1234440" cy="850392"/>
          </a:xfrm>
          <a:prstGeom prst="line">
            <a:avLst/>
          </a:prstGeom>
          <a:noFill/>
          <a:ln w="6350">
            <a:solidFill>
              <a:srgbClr val="3A4A70">
                <a:alpha val="45000"/>
              </a:srgbClr>
            </a:solidFill>
            <a:prstDash val="solid"/>
          </a:ln>
        </p:spPr>
      </p:sp>
      <p:sp>
        <p:nvSpPr>
          <p:cNvPr id="72" name="Shape 70"/>
          <p:cNvSpPr/>
          <p:nvPr/>
        </p:nvSpPr>
        <p:spPr>
          <a:xfrm flipV="1">
            <a:off x="10332720" y="3383280"/>
            <a:ext cx="1234440" cy="283464"/>
          </a:xfrm>
          <a:prstGeom prst="line">
            <a:avLst/>
          </a:prstGeom>
          <a:noFill/>
          <a:ln w="6350">
            <a:solidFill>
              <a:srgbClr val="3A4A70">
                <a:alpha val="45000"/>
              </a:srgbClr>
            </a:solidFill>
            <a:prstDash val="solid"/>
          </a:ln>
        </p:spPr>
      </p:sp>
      <p:sp>
        <p:nvSpPr>
          <p:cNvPr id="73" name="Shape 71"/>
          <p:cNvSpPr/>
          <p:nvPr/>
        </p:nvSpPr>
        <p:spPr>
          <a:xfrm>
            <a:off x="10332720" y="3666744"/>
            <a:ext cx="1234440" cy="283464"/>
          </a:xfrm>
          <a:prstGeom prst="line">
            <a:avLst/>
          </a:prstGeom>
          <a:noFill/>
          <a:ln w="6350">
            <a:solidFill>
              <a:srgbClr val="3A4A70">
                <a:alpha val="45000"/>
              </a:srgbClr>
            </a:solidFill>
            <a:prstDash val="solid"/>
          </a:ln>
        </p:spPr>
      </p:sp>
      <p:sp>
        <p:nvSpPr>
          <p:cNvPr id="74" name="Shape 72"/>
          <p:cNvSpPr/>
          <p:nvPr/>
        </p:nvSpPr>
        <p:spPr>
          <a:xfrm flipV="1">
            <a:off x="10332720" y="2816352"/>
            <a:ext cx="1234440" cy="1417320"/>
          </a:xfrm>
          <a:prstGeom prst="line">
            <a:avLst/>
          </a:prstGeom>
          <a:noFill/>
          <a:ln w="6350">
            <a:solidFill>
              <a:srgbClr val="3A4A70">
                <a:alpha val="45000"/>
              </a:srgbClr>
            </a:solidFill>
            <a:prstDash val="solid"/>
          </a:ln>
        </p:spPr>
      </p:sp>
      <p:sp>
        <p:nvSpPr>
          <p:cNvPr id="75" name="Shape 73"/>
          <p:cNvSpPr/>
          <p:nvPr/>
        </p:nvSpPr>
        <p:spPr>
          <a:xfrm flipV="1">
            <a:off x="10332720" y="3383280"/>
            <a:ext cx="1234440" cy="850392"/>
          </a:xfrm>
          <a:prstGeom prst="line">
            <a:avLst/>
          </a:prstGeom>
          <a:noFill/>
          <a:ln w="6350">
            <a:solidFill>
              <a:srgbClr val="3A4A70">
                <a:alpha val="45000"/>
              </a:srgbClr>
            </a:solidFill>
            <a:prstDash val="solid"/>
          </a:ln>
        </p:spPr>
      </p:sp>
      <p:sp>
        <p:nvSpPr>
          <p:cNvPr id="76" name="Shape 74"/>
          <p:cNvSpPr/>
          <p:nvPr/>
        </p:nvSpPr>
        <p:spPr>
          <a:xfrm flipV="1">
            <a:off x="10332720" y="3950208"/>
            <a:ext cx="1234440" cy="283464"/>
          </a:xfrm>
          <a:prstGeom prst="line">
            <a:avLst/>
          </a:prstGeom>
          <a:noFill/>
          <a:ln w="6350">
            <a:solidFill>
              <a:srgbClr val="3A4A70">
                <a:alpha val="45000"/>
              </a:srgbClr>
            </a:solidFill>
            <a:prstDash val="solid"/>
          </a:ln>
        </p:spPr>
      </p:sp>
      <p:sp>
        <p:nvSpPr>
          <p:cNvPr id="77" name="Shape 75"/>
          <p:cNvSpPr/>
          <p:nvPr/>
        </p:nvSpPr>
        <p:spPr>
          <a:xfrm flipV="1">
            <a:off x="10332720" y="2816352"/>
            <a:ext cx="1234440" cy="1984248"/>
          </a:xfrm>
          <a:prstGeom prst="line">
            <a:avLst/>
          </a:prstGeom>
          <a:noFill/>
          <a:ln w="6350">
            <a:solidFill>
              <a:srgbClr val="3A4A70">
                <a:alpha val="45000"/>
              </a:srgbClr>
            </a:solidFill>
            <a:prstDash val="solid"/>
          </a:ln>
        </p:spPr>
      </p:sp>
      <p:sp>
        <p:nvSpPr>
          <p:cNvPr id="78" name="Shape 76"/>
          <p:cNvSpPr/>
          <p:nvPr/>
        </p:nvSpPr>
        <p:spPr>
          <a:xfrm flipV="1">
            <a:off x="10332720" y="3383280"/>
            <a:ext cx="1234440" cy="1417320"/>
          </a:xfrm>
          <a:prstGeom prst="line">
            <a:avLst/>
          </a:prstGeom>
          <a:noFill/>
          <a:ln w="6350">
            <a:solidFill>
              <a:srgbClr val="3A4A70">
                <a:alpha val="45000"/>
              </a:srgbClr>
            </a:solidFill>
            <a:prstDash val="solid"/>
          </a:ln>
        </p:spPr>
      </p:sp>
      <p:sp>
        <p:nvSpPr>
          <p:cNvPr id="79" name="Shape 77"/>
          <p:cNvSpPr/>
          <p:nvPr/>
        </p:nvSpPr>
        <p:spPr>
          <a:xfrm flipV="1">
            <a:off x="10332720" y="3950208"/>
            <a:ext cx="1234440" cy="850392"/>
          </a:xfrm>
          <a:prstGeom prst="line">
            <a:avLst/>
          </a:prstGeom>
          <a:noFill/>
          <a:ln w="6350">
            <a:solidFill>
              <a:srgbClr val="3A4A70">
                <a:alpha val="45000"/>
              </a:srgbClr>
            </a:solidFill>
            <a:prstDash val="solid"/>
          </a:ln>
        </p:spPr>
      </p:sp>
      <p:sp>
        <p:nvSpPr>
          <p:cNvPr id="80" name="Shape 78"/>
          <p:cNvSpPr/>
          <p:nvPr/>
        </p:nvSpPr>
        <p:spPr>
          <a:xfrm>
            <a:off x="7795260" y="2464308"/>
            <a:ext cx="137160" cy="137160"/>
          </a:xfrm>
          <a:prstGeom prst="ellipse">
            <a:avLst/>
          </a:prstGeom>
          <a:solidFill>
            <a:srgbClr val="6FA3E0">
              <a:alpha val="65000"/>
            </a:srgbClr>
          </a:solidFill>
          <a:ln w="9525">
            <a:solidFill>
              <a:srgbClr val="8FA3C9">
                <a:alpha val="60000"/>
              </a:srgbClr>
            </a:solidFill>
            <a:prstDash val="solid"/>
          </a:ln>
        </p:spPr>
      </p:sp>
      <p:sp>
        <p:nvSpPr>
          <p:cNvPr id="81" name="Shape 79"/>
          <p:cNvSpPr/>
          <p:nvPr/>
        </p:nvSpPr>
        <p:spPr>
          <a:xfrm>
            <a:off x="7795260" y="3031236"/>
            <a:ext cx="137160" cy="137160"/>
          </a:xfrm>
          <a:prstGeom prst="ellipse">
            <a:avLst/>
          </a:prstGeom>
          <a:solidFill>
            <a:srgbClr val="6FA3E0">
              <a:alpha val="65000"/>
            </a:srgbClr>
          </a:solidFill>
          <a:ln w="9525">
            <a:solidFill>
              <a:srgbClr val="8FA3C9">
                <a:alpha val="60000"/>
              </a:srgbClr>
            </a:solidFill>
            <a:prstDash val="solid"/>
          </a:ln>
        </p:spPr>
      </p:sp>
      <p:sp>
        <p:nvSpPr>
          <p:cNvPr id="82" name="Shape 80"/>
          <p:cNvSpPr/>
          <p:nvPr/>
        </p:nvSpPr>
        <p:spPr>
          <a:xfrm>
            <a:off x="7795260" y="3598164"/>
            <a:ext cx="137160" cy="137160"/>
          </a:xfrm>
          <a:prstGeom prst="ellipse">
            <a:avLst/>
          </a:prstGeom>
          <a:solidFill>
            <a:srgbClr val="6FA3E0">
              <a:alpha val="65000"/>
            </a:srgbClr>
          </a:solidFill>
          <a:ln w="9525">
            <a:solidFill>
              <a:srgbClr val="8FA3C9">
                <a:alpha val="60000"/>
              </a:srgbClr>
            </a:solidFill>
            <a:prstDash val="solid"/>
          </a:ln>
        </p:spPr>
      </p:sp>
      <p:sp>
        <p:nvSpPr>
          <p:cNvPr id="83" name="Shape 81"/>
          <p:cNvSpPr/>
          <p:nvPr/>
        </p:nvSpPr>
        <p:spPr>
          <a:xfrm>
            <a:off x="7795260" y="4165092"/>
            <a:ext cx="137160" cy="137160"/>
          </a:xfrm>
          <a:prstGeom prst="ellipse">
            <a:avLst/>
          </a:prstGeom>
          <a:solidFill>
            <a:srgbClr val="6FA3E0">
              <a:alpha val="65000"/>
            </a:srgbClr>
          </a:solidFill>
          <a:ln w="9525">
            <a:solidFill>
              <a:srgbClr val="8FA3C9">
                <a:alpha val="60000"/>
              </a:srgbClr>
            </a:solidFill>
            <a:prstDash val="solid"/>
          </a:ln>
        </p:spPr>
      </p:sp>
      <p:sp>
        <p:nvSpPr>
          <p:cNvPr id="84" name="Shape 82"/>
          <p:cNvSpPr/>
          <p:nvPr/>
        </p:nvSpPr>
        <p:spPr>
          <a:xfrm>
            <a:off x="9029700" y="1897380"/>
            <a:ext cx="137160" cy="137160"/>
          </a:xfrm>
          <a:prstGeom prst="ellipse">
            <a:avLst/>
          </a:prstGeom>
          <a:solidFill>
            <a:srgbClr val="6FA3E0">
              <a:alpha val="65000"/>
            </a:srgbClr>
          </a:solidFill>
          <a:ln w="9525">
            <a:solidFill>
              <a:srgbClr val="8FA3C9">
                <a:alpha val="60000"/>
              </a:srgbClr>
            </a:solidFill>
            <a:prstDash val="solid"/>
          </a:ln>
        </p:spPr>
      </p:sp>
      <p:sp>
        <p:nvSpPr>
          <p:cNvPr id="85" name="Shape 83"/>
          <p:cNvSpPr/>
          <p:nvPr/>
        </p:nvSpPr>
        <p:spPr>
          <a:xfrm>
            <a:off x="9029700" y="2464308"/>
            <a:ext cx="137160" cy="137160"/>
          </a:xfrm>
          <a:prstGeom prst="ellipse">
            <a:avLst/>
          </a:prstGeom>
          <a:solidFill>
            <a:srgbClr val="6FA3E0">
              <a:alpha val="65000"/>
            </a:srgbClr>
          </a:solidFill>
          <a:ln w="9525">
            <a:solidFill>
              <a:srgbClr val="8FA3C9">
                <a:alpha val="60000"/>
              </a:srgbClr>
            </a:solidFill>
            <a:prstDash val="solid"/>
          </a:ln>
        </p:spPr>
      </p:sp>
      <p:sp>
        <p:nvSpPr>
          <p:cNvPr id="86" name="Shape 84"/>
          <p:cNvSpPr/>
          <p:nvPr/>
        </p:nvSpPr>
        <p:spPr>
          <a:xfrm>
            <a:off x="9029700" y="3031236"/>
            <a:ext cx="137160" cy="137160"/>
          </a:xfrm>
          <a:prstGeom prst="ellipse">
            <a:avLst/>
          </a:prstGeom>
          <a:solidFill>
            <a:srgbClr val="6FA3E0">
              <a:alpha val="65000"/>
            </a:srgbClr>
          </a:solidFill>
          <a:ln w="9525">
            <a:solidFill>
              <a:srgbClr val="8FA3C9">
                <a:alpha val="60000"/>
              </a:srgbClr>
            </a:solidFill>
            <a:prstDash val="solid"/>
          </a:ln>
        </p:spPr>
      </p:sp>
      <p:sp>
        <p:nvSpPr>
          <p:cNvPr id="87" name="Shape 85"/>
          <p:cNvSpPr/>
          <p:nvPr/>
        </p:nvSpPr>
        <p:spPr>
          <a:xfrm>
            <a:off x="9029700" y="3598164"/>
            <a:ext cx="137160" cy="137160"/>
          </a:xfrm>
          <a:prstGeom prst="ellipse">
            <a:avLst/>
          </a:prstGeom>
          <a:solidFill>
            <a:srgbClr val="6FA3E0">
              <a:alpha val="65000"/>
            </a:srgbClr>
          </a:solidFill>
          <a:ln w="9525">
            <a:solidFill>
              <a:srgbClr val="8FA3C9">
                <a:alpha val="60000"/>
              </a:srgbClr>
            </a:solidFill>
            <a:prstDash val="solid"/>
          </a:ln>
        </p:spPr>
      </p:sp>
      <p:sp>
        <p:nvSpPr>
          <p:cNvPr id="88" name="Shape 86"/>
          <p:cNvSpPr/>
          <p:nvPr/>
        </p:nvSpPr>
        <p:spPr>
          <a:xfrm>
            <a:off x="9029700" y="4165092"/>
            <a:ext cx="137160" cy="137160"/>
          </a:xfrm>
          <a:prstGeom prst="ellipse">
            <a:avLst/>
          </a:prstGeom>
          <a:solidFill>
            <a:srgbClr val="6FA3E0">
              <a:alpha val="65000"/>
            </a:srgbClr>
          </a:solidFill>
          <a:ln w="9525">
            <a:solidFill>
              <a:srgbClr val="8FA3C9">
                <a:alpha val="60000"/>
              </a:srgbClr>
            </a:solidFill>
            <a:prstDash val="solid"/>
          </a:ln>
        </p:spPr>
      </p:sp>
      <p:sp>
        <p:nvSpPr>
          <p:cNvPr id="89" name="Shape 87"/>
          <p:cNvSpPr/>
          <p:nvPr/>
        </p:nvSpPr>
        <p:spPr>
          <a:xfrm>
            <a:off x="9029700" y="4732020"/>
            <a:ext cx="137160" cy="137160"/>
          </a:xfrm>
          <a:prstGeom prst="ellipse">
            <a:avLst/>
          </a:prstGeom>
          <a:solidFill>
            <a:srgbClr val="6FA3E0">
              <a:alpha val="65000"/>
            </a:srgbClr>
          </a:solidFill>
          <a:ln w="9525">
            <a:solidFill>
              <a:srgbClr val="8FA3C9">
                <a:alpha val="60000"/>
              </a:srgbClr>
            </a:solidFill>
            <a:prstDash val="solid"/>
          </a:ln>
        </p:spPr>
      </p:sp>
      <p:sp>
        <p:nvSpPr>
          <p:cNvPr id="90" name="Shape 88"/>
          <p:cNvSpPr/>
          <p:nvPr/>
        </p:nvSpPr>
        <p:spPr>
          <a:xfrm>
            <a:off x="10264140" y="1897380"/>
            <a:ext cx="137160" cy="137160"/>
          </a:xfrm>
          <a:prstGeom prst="ellipse">
            <a:avLst/>
          </a:prstGeom>
          <a:solidFill>
            <a:srgbClr val="6FA3E0">
              <a:alpha val="65000"/>
            </a:srgbClr>
          </a:solidFill>
          <a:ln w="9525">
            <a:solidFill>
              <a:srgbClr val="8FA3C9">
                <a:alpha val="60000"/>
              </a:srgbClr>
            </a:solidFill>
            <a:prstDash val="solid"/>
          </a:ln>
        </p:spPr>
      </p:sp>
      <p:sp>
        <p:nvSpPr>
          <p:cNvPr id="91" name="Shape 89"/>
          <p:cNvSpPr/>
          <p:nvPr/>
        </p:nvSpPr>
        <p:spPr>
          <a:xfrm>
            <a:off x="10264140" y="2464308"/>
            <a:ext cx="137160" cy="137160"/>
          </a:xfrm>
          <a:prstGeom prst="ellipse">
            <a:avLst/>
          </a:prstGeom>
          <a:solidFill>
            <a:srgbClr val="6FA3E0">
              <a:alpha val="65000"/>
            </a:srgbClr>
          </a:solidFill>
          <a:ln w="9525">
            <a:solidFill>
              <a:srgbClr val="8FA3C9">
                <a:alpha val="60000"/>
              </a:srgbClr>
            </a:solidFill>
            <a:prstDash val="solid"/>
          </a:ln>
        </p:spPr>
      </p:sp>
      <p:sp>
        <p:nvSpPr>
          <p:cNvPr id="92" name="Shape 90"/>
          <p:cNvSpPr/>
          <p:nvPr/>
        </p:nvSpPr>
        <p:spPr>
          <a:xfrm>
            <a:off x="10264140" y="3031236"/>
            <a:ext cx="137160" cy="137160"/>
          </a:xfrm>
          <a:prstGeom prst="ellipse">
            <a:avLst/>
          </a:prstGeom>
          <a:solidFill>
            <a:srgbClr val="6FA3E0">
              <a:alpha val="65000"/>
            </a:srgbClr>
          </a:solidFill>
          <a:ln w="9525">
            <a:solidFill>
              <a:srgbClr val="8FA3C9">
                <a:alpha val="60000"/>
              </a:srgbClr>
            </a:solidFill>
            <a:prstDash val="solid"/>
          </a:ln>
        </p:spPr>
      </p:sp>
      <p:sp>
        <p:nvSpPr>
          <p:cNvPr id="93" name="Shape 91"/>
          <p:cNvSpPr/>
          <p:nvPr/>
        </p:nvSpPr>
        <p:spPr>
          <a:xfrm>
            <a:off x="10264140" y="3598164"/>
            <a:ext cx="137160" cy="137160"/>
          </a:xfrm>
          <a:prstGeom prst="ellipse">
            <a:avLst/>
          </a:prstGeom>
          <a:solidFill>
            <a:srgbClr val="6FA3E0">
              <a:alpha val="65000"/>
            </a:srgbClr>
          </a:solidFill>
          <a:ln w="9525">
            <a:solidFill>
              <a:srgbClr val="8FA3C9">
                <a:alpha val="60000"/>
              </a:srgbClr>
            </a:solidFill>
            <a:prstDash val="solid"/>
          </a:ln>
        </p:spPr>
      </p:sp>
      <p:sp>
        <p:nvSpPr>
          <p:cNvPr id="94" name="Shape 92"/>
          <p:cNvSpPr/>
          <p:nvPr/>
        </p:nvSpPr>
        <p:spPr>
          <a:xfrm>
            <a:off x="10264140" y="4165092"/>
            <a:ext cx="137160" cy="137160"/>
          </a:xfrm>
          <a:prstGeom prst="ellipse">
            <a:avLst/>
          </a:prstGeom>
          <a:solidFill>
            <a:srgbClr val="6FA3E0">
              <a:alpha val="65000"/>
            </a:srgbClr>
          </a:solidFill>
          <a:ln w="9525">
            <a:solidFill>
              <a:srgbClr val="8FA3C9">
                <a:alpha val="60000"/>
              </a:srgbClr>
            </a:solidFill>
            <a:prstDash val="solid"/>
          </a:ln>
        </p:spPr>
      </p:sp>
      <p:sp>
        <p:nvSpPr>
          <p:cNvPr id="95" name="Shape 93"/>
          <p:cNvSpPr/>
          <p:nvPr/>
        </p:nvSpPr>
        <p:spPr>
          <a:xfrm>
            <a:off x="10264140" y="4732020"/>
            <a:ext cx="137160" cy="137160"/>
          </a:xfrm>
          <a:prstGeom prst="ellipse">
            <a:avLst/>
          </a:prstGeom>
          <a:solidFill>
            <a:srgbClr val="6FA3E0">
              <a:alpha val="65000"/>
            </a:srgbClr>
          </a:solidFill>
          <a:ln w="9525">
            <a:solidFill>
              <a:srgbClr val="8FA3C9">
                <a:alpha val="60000"/>
              </a:srgbClr>
            </a:solidFill>
            <a:prstDash val="solid"/>
          </a:ln>
        </p:spPr>
      </p:sp>
      <p:sp>
        <p:nvSpPr>
          <p:cNvPr id="96" name="Shape 94"/>
          <p:cNvSpPr/>
          <p:nvPr/>
        </p:nvSpPr>
        <p:spPr>
          <a:xfrm>
            <a:off x="11498580" y="2747772"/>
            <a:ext cx="137160" cy="137160"/>
          </a:xfrm>
          <a:prstGeom prst="ellipse">
            <a:avLst/>
          </a:prstGeom>
          <a:solidFill>
            <a:srgbClr val="6FA3E0">
              <a:alpha val="65000"/>
            </a:srgbClr>
          </a:solidFill>
          <a:ln w="9525">
            <a:solidFill>
              <a:srgbClr val="8FA3C9">
                <a:alpha val="60000"/>
              </a:srgbClr>
            </a:solidFill>
            <a:prstDash val="solid"/>
          </a:ln>
        </p:spPr>
      </p:sp>
      <p:sp>
        <p:nvSpPr>
          <p:cNvPr id="97" name="Shape 95"/>
          <p:cNvSpPr/>
          <p:nvPr/>
        </p:nvSpPr>
        <p:spPr>
          <a:xfrm>
            <a:off x="11498580" y="3314700"/>
            <a:ext cx="137160" cy="137160"/>
          </a:xfrm>
          <a:prstGeom prst="ellipse">
            <a:avLst/>
          </a:prstGeom>
          <a:solidFill>
            <a:srgbClr val="6FA3E0">
              <a:alpha val="65000"/>
            </a:srgbClr>
          </a:solidFill>
          <a:ln w="9525">
            <a:solidFill>
              <a:srgbClr val="8FA3C9">
                <a:alpha val="60000"/>
              </a:srgbClr>
            </a:solidFill>
            <a:prstDash val="solid"/>
          </a:ln>
        </p:spPr>
      </p:sp>
      <p:sp>
        <p:nvSpPr>
          <p:cNvPr id="98" name="Shape 96"/>
          <p:cNvSpPr/>
          <p:nvPr/>
        </p:nvSpPr>
        <p:spPr>
          <a:xfrm>
            <a:off x="11498580" y="3881628"/>
            <a:ext cx="137160" cy="137160"/>
          </a:xfrm>
          <a:prstGeom prst="ellipse">
            <a:avLst/>
          </a:prstGeom>
          <a:solidFill>
            <a:srgbClr val="6FA3E0">
              <a:alpha val="65000"/>
            </a:srgbClr>
          </a:solidFill>
          <a:ln w="9525">
            <a:solidFill>
              <a:srgbClr val="8FA3C9">
                <a:alpha val="60000"/>
              </a:srgbClr>
            </a:solidFill>
            <a:prstDash val="solid"/>
          </a:ln>
        </p:spPr>
      </p:sp>
      <p:sp>
        <p:nvSpPr>
          <p:cNvPr id="99" name="Text 97"/>
          <p:cNvSpPr txBox="1"/>
          <p:nvPr/>
        </p:nvSpPr>
        <p:spPr>
          <a:xfrm>
            <a:off x="640080" y="1965960"/>
            <a:ext cx="10911535"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Backpropagation &amp; Parameter Initialization</a:t>
            </a:r>
            <a:endParaRPr lang="en-US" sz="3400" dirty="0"/>
          </a:p>
        </p:txBody>
      </p:sp>
      <p:sp>
        <p:nvSpPr>
          <p:cNvPr id="100" name="Text 98"/>
          <p:cNvSpPr txBox="1"/>
          <p:nvPr/>
        </p:nvSpPr>
        <p:spPr>
          <a:xfrm>
            <a:off x="640080" y="2788920"/>
            <a:ext cx="10911535" cy="548640"/>
          </a:xfrm>
          <a:prstGeom prst="rect">
            <a:avLst/>
          </a:prstGeom>
          <a:noFill/>
          <a:ln/>
        </p:spPr>
        <p:txBody>
          <a:bodyPr wrap="square" lIns="0" tIns="0" rIns="0" bIns="0" rtlCol="0" anchor="ctr"/>
          <a:lstStyle/>
          <a:p>
            <a:pPr algn="ctr" indent="0" marL="0">
              <a:buNone/>
            </a:pPr>
            <a:r>
              <a:rPr lang="en-US" sz="2200" dirty="0">
                <a:solidFill>
                  <a:srgbClr val="FFFFFF"/>
                </a:solidFill>
                <a:latin typeface="Cambria" pitchFamily="34" charset="0"/>
                <a:ea typeface="Cambria" pitchFamily="34" charset="-122"/>
                <a:cs typeface="Cambria" pitchFamily="34" charset="-120"/>
              </a:rPr>
              <a:t>in Deep Neural Networks</a:t>
            </a:r>
            <a:endParaRPr lang="en-US" sz="2200" dirty="0"/>
          </a:p>
        </p:txBody>
      </p:sp>
      <p:sp>
        <p:nvSpPr>
          <p:cNvPr id="101" name="Text 99"/>
          <p:cNvSpPr txBox="1"/>
          <p:nvPr/>
        </p:nvSpPr>
        <p:spPr>
          <a:xfrm>
            <a:off x="640080" y="3520440"/>
            <a:ext cx="10911535" cy="457200"/>
          </a:xfrm>
          <a:prstGeom prst="rect">
            <a:avLst/>
          </a:prstGeom>
          <a:noFill/>
          <a:ln/>
        </p:spPr>
        <p:txBody>
          <a:bodyPr wrap="square" lIns="0" tIns="0" rIns="0" bIns="0" rtlCol="0" anchor="ctr"/>
          <a:lstStyle/>
          <a:p>
            <a:pPr algn="ctr" indent="0" marL="0">
              <a:buNone/>
            </a:pPr>
            <a:r>
              <a:rPr lang="en-US" sz="1500" i="1" dirty="0">
                <a:solidFill>
                  <a:srgbClr val="CADCFC"/>
                </a:solidFill>
                <a:latin typeface="Calibri" pitchFamily="34" charset="0"/>
                <a:ea typeface="Calibri" pitchFamily="34" charset="-122"/>
                <a:cs typeface="Calibri" pitchFamily="34" charset="-120"/>
              </a:rPr>
              <a:t>How gradients and initialization determine whether a neural network can learn</a:t>
            </a:r>
            <a:endParaRPr lang="en-US" sz="1500" dirty="0"/>
          </a:p>
        </p:txBody>
      </p:sp>
      <p:sp>
        <p:nvSpPr>
          <p:cNvPr id="102" name="Shape 100"/>
          <p:cNvSpPr/>
          <p:nvPr/>
        </p:nvSpPr>
        <p:spPr>
          <a:xfrm>
            <a:off x="5272888" y="4160520"/>
            <a:ext cx="1645920" cy="0"/>
          </a:xfrm>
          <a:prstGeom prst="line">
            <a:avLst/>
          </a:prstGeom>
          <a:noFill/>
          <a:ln w="25400">
            <a:solidFill>
              <a:srgbClr val="285AB4"/>
            </a:solidFill>
            <a:prstDash val="solid"/>
          </a:ln>
        </p:spPr>
      </p:sp>
      <p:sp>
        <p:nvSpPr>
          <p:cNvPr id="103" name="Text 101"/>
          <p:cNvSpPr txBox="1"/>
          <p:nvPr/>
        </p:nvSpPr>
        <p:spPr>
          <a:xfrm>
            <a:off x="640080" y="4389120"/>
            <a:ext cx="10911535" cy="365760"/>
          </a:xfrm>
          <a:prstGeom prst="rect">
            <a:avLst/>
          </a:prstGeom>
          <a:noFill/>
          <a:ln/>
        </p:spPr>
        <p:txBody>
          <a:bodyPr wrap="square" lIns="0" tIns="0" rIns="0" bIns="0" rtlCol="0" anchor="ctr"/>
          <a:lstStyle/>
          <a:p>
            <a:pPr algn="ctr" indent="0" marL="0">
              <a:buNone/>
            </a:pPr>
            <a:r>
              <a:rPr lang="en-US" sz="1250" dirty="0">
                <a:solidFill>
                  <a:srgbClr val="8FA3C9"/>
                </a:solidFill>
                <a:latin typeface="Calibri" pitchFamily="34" charset="0"/>
                <a:ea typeface="Calibri" pitchFamily="34" charset="-122"/>
                <a:cs typeface="Calibri" pitchFamily="34" charset="-120"/>
              </a:rPr>
              <a:t>Đạo hàm &amp; Khởi tạo trong Deep Learning — Backpropagation và Parameter Initialization</a:t>
            </a:r>
            <a:endParaRPr lang="en-US" sz="1250" dirty="0"/>
          </a:p>
        </p:txBody>
      </p:sp>
      <p:sp>
        <p:nvSpPr>
          <p:cNvPr id="104" name="Text 102"/>
          <p:cNvSpPr txBox="1"/>
          <p:nvPr/>
        </p:nvSpPr>
        <p:spPr>
          <a:xfrm>
            <a:off x="640080" y="5943600"/>
            <a:ext cx="10911535" cy="365760"/>
          </a:xfrm>
          <a:prstGeom prst="rect">
            <a:avLst/>
          </a:prstGeom>
          <a:noFill/>
          <a:ln/>
        </p:spPr>
        <p:txBody>
          <a:bodyPr wrap="square" lIns="0" tIns="0" rIns="0" bIns="0" rtlCol="0" anchor="ctr"/>
          <a:lstStyle/>
          <a:p>
            <a:pPr algn="ctr" indent="0" marL="0">
              <a:buNone/>
            </a:pPr>
            <a:r>
              <a:rPr lang="en-US" sz="1300" dirty="0">
                <a:solidFill>
                  <a:srgbClr val="8FA3C9"/>
                </a:solidFill>
                <a:latin typeface="Calibri" pitchFamily="34" charset="0"/>
                <a:ea typeface="Calibri" pitchFamily="34" charset="-122"/>
                <a:cs typeface="Calibri" pitchFamily="34" charset="-120"/>
              </a:rPr>
              <a:t>Bùi Đức Quân · Học phần Deep Learning (Thạc sĩ) · Tháng 9,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MOTIVATION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How does a 50-layer network learn?</a:t>
            </a:r>
            <a:endParaRPr lang="en-US" sz="2900" dirty="0"/>
          </a:p>
        </p:txBody>
      </p:sp>
      <p:sp>
        <p:nvSpPr>
          <p:cNvPr id="4" name="Shape 2"/>
          <p:cNvSpPr/>
          <p:nvPr/>
        </p:nvSpPr>
        <p:spPr>
          <a:xfrm>
            <a:off x="4907128" y="1783080"/>
            <a:ext cx="2377440" cy="502920"/>
          </a:xfrm>
          <a:prstGeom prst="roundRect">
            <a:avLst>
              <a:gd name="adj" fmla="val 10909"/>
            </a:avLst>
          </a:prstGeom>
          <a:solidFill>
            <a:srgbClr val="F1F4F9"/>
          </a:solidFill>
          <a:ln w="15875">
            <a:solidFill>
              <a:srgbClr val="D9DEE8"/>
            </a:solidFill>
            <a:prstDash val="solid"/>
          </a:ln>
        </p:spPr>
      </p:sp>
      <p:sp>
        <p:nvSpPr>
          <p:cNvPr id="5" name="Text 3"/>
          <p:cNvSpPr txBox="1"/>
          <p:nvPr/>
        </p:nvSpPr>
        <p:spPr>
          <a:xfrm>
            <a:off x="4907128" y="1783080"/>
            <a:ext cx="2377440" cy="502920"/>
          </a:xfrm>
          <a:prstGeom prst="rect">
            <a:avLst/>
          </a:prstGeom>
          <a:noFill/>
          <a:ln/>
        </p:spPr>
        <p:txBody>
          <a:bodyPr wrap="square" lIns="0" tIns="0" rIns="0" bIns="0" rtlCol="0" anchor="ctr"/>
          <a:lstStyle/>
          <a:p>
            <a:pPr algn="ctr" indent="0" marL="0">
              <a:buNone/>
            </a:pPr>
            <a:r>
              <a:rPr lang="en-US" sz="1350" dirty="0">
                <a:solidFill>
                  <a:srgbClr val="1A2238"/>
                </a:solidFill>
                <a:latin typeface="Cambria Math" pitchFamily="34" charset="0"/>
                <a:ea typeface="Cambria Math" pitchFamily="34" charset="-122"/>
                <a:cs typeface="Cambria Math" pitchFamily="34" charset="-120"/>
              </a:rPr>
              <a:t>Input</a:t>
            </a:r>
            <a:endParaRPr lang="en-US" sz="1350" dirty="0"/>
          </a:p>
        </p:txBody>
      </p:sp>
      <p:sp>
        <p:nvSpPr>
          <p:cNvPr id="6" name="Shape 4"/>
          <p:cNvSpPr/>
          <p:nvPr/>
        </p:nvSpPr>
        <p:spPr>
          <a:xfrm>
            <a:off x="6095848" y="2286000"/>
            <a:ext cx="0" cy="292608"/>
          </a:xfrm>
          <a:prstGeom prst="line">
            <a:avLst/>
          </a:prstGeom>
          <a:noFill/>
          <a:ln w="25400">
            <a:solidFill>
              <a:srgbClr val="285AB4"/>
            </a:solidFill>
            <a:prstDash val="solid"/>
            <a:tailEnd type="triangle"/>
          </a:ln>
        </p:spPr>
      </p:sp>
      <p:sp>
        <p:nvSpPr>
          <p:cNvPr id="7" name="Shape 5"/>
          <p:cNvSpPr/>
          <p:nvPr/>
        </p:nvSpPr>
        <p:spPr>
          <a:xfrm>
            <a:off x="4907128" y="2578608"/>
            <a:ext cx="2377440" cy="502920"/>
          </a:xfrm>
          <a:prstGeom prst="roundRect">
            <a:avLst>
              <a:gd name="adj" fmla="val 10909"/>
            </a:avLst>
          </a:prstGeom>
          <a:solidFill>
            <a:srgbClr val="F1F4F9"/>
          </a:solidFill>
          <a:ln w="15875">
            <a:solidFill>
              <a:srgbClr val="D9DEE8"/>
            </a:solidFill>
            <a:prstDash val="solid"/>
          </a:ln>
        </p:spPr>
      </p:sp>
      <p:sp>
        <p:nvSpPr>
          <p:cNvPr id="8" name="Text 6"/>
          <p:cNvSpPr txBox="1"/>
          <p:nvPr/>
        </p:nvSpPr>
        <p:spPr>
          <a:xfrm>
            <a:off x="4907128" y="2578608"/>
            <a:ext cx="2377440" cy="502920"/>
          </a:xfrm>
          <a:prstGeom prst="rect">
            <a:avLst/>
          </a:prstGeom>
          <a:noFill/>
          <a:ln/>
        </p:spPr>
        <p:txBody>
          <a:bodyPr wrap="square" lIns="0" tIns="0" rIns="0" bIns="0" rtlCol="0" anchor="ctr"/>
          <a:lstStyle/>
          <a:p>
            <a:pPr algn="ctr" indent="0" marL="0">
              <a:buNone/>
            </a:pPr>
            <a:r>
              <a:rPr lang="en-US" sz="1350" dirty="0">
                <a:solidFill>
                  <a:srgbClr val="1A2238"/>
                </a:solidFill>
                <a:latin typeface="Cambria Math" pitchFamily="34" charset="0"/>
                <a:ea typeface="Cambria Math" pitchFamily="34" charset="-122"/>
                <a:cs typeface="Cambria Math" pitchFamily="34" charset="-120"/>
              </a:rPr>
              <a:t>Layer 1</a:t>
            </a:r>
            <a:endParaRPr lang="en-US" sz="1350" dirty="0"/>
          </a:p>
        </p:txBody>
      </p:sp>
      <p:sp>
        <p:nvSpPr>
          <p:cNvPr id="9" name="Shape 7"/>
          <p:cNvSpPr/>
          <p:nvPr/>
        </p:nvSpPr>
        <p:spPr>
          <a:xfrm>
            <a:off x="6095848" y="3081528"/>
            <a:ext cx="0" cy="292608"/>
          </a:xfrm>
          <a:prstGeom prst="line">
            <a:avLst/>
          </a:prstGeom>
          <a:noFill/>
          <a:ln w="25400">
            <a:solidFill>
              <a:srgbClr val="285AB4"/>
            </a:solidFill>
            <a:prstDash val="solid"/>
            <a:tailEnd type="triangle"/>
          </a:ln>
        </p:spPr>
      </p:sp>
      <p:sp>
        <p:nvSpPr>
          <p:cNvPr id="10" name="Shape 8"/>
          <p:cNvSpPr/>
          <p:nvPr/>
        </p:nvSpPr>
        <p:spPr>
          <a:xfrm>
            <a:off x="4907128" y="3374136"/>
            <a:ext cx="2377440" cy="502920"/>
          </a:xfrm>
          <a:prstGeom prst="roundRect">
            <a:avLst>
              <a:gd name="adj" fmla="val 10909"/>
            </a:avLst>
          </a:prstGeom>
          <a:solidFill>
            <a:srgbClr val="F1F4F9"/>
          </a:solidFill>
          <a:ln w="15875">
            <a:solidFill>
              <a:srgbClr val="D9DEE8"/>
            </a:solidFill>
            <a:prstDash val="solid"/>
          </a:ln>
        </p:spPr>
      </p:sp>
      <p:sp>
        <p:nvSpPr>
          <p:cNvPr id="11" name="Text 9"/>
          <p:cNvSpPr txBox="1"/>
          <p:nvPr/>
        </p:nvSpPr>
        <p:spPr>
          <a:xfrm>
            <a:off x="4907128" y="3374136"/>
            <a:ext cx="2377440" cy="502920"/>
          </a:xfrm>
          <a:prstGeom prst="rect">
            <a:avLst/>
          </a:prstGeom>
          <a:noFill/>
          <a:ln/>
        </p:spPr>
        <p:txBody>
          <a:bodyPr wrap="square" lIns="0" tIns="0" rIns="0" bIns="0" rtlCol="0" anchor="ctr"/>
          <a:lstStyle/>
          <a:p>
            <a:pPr algn="ctr" indent="0" marL="0">
              <a:buNone/>
            </a:pPr>
            <a:r>
              <a:rPr lang="en-US" sz="1350" dirty="0">
                <a:solidFill>
                  <a:srgbClr val="1A2238"/>
                </a:solidFill>
                <a:latin typeface="Cambria Math" pitchFamily="34" charset="0"/>
                <a:ea typeface="Cambria Math" pitchFamily="34" charset="-122"/>
                <a:cs typeface="Cambria Math" pitchFamily="34" charset="-120"/>
              </a:rPr>
              <a:t>Layer 2</a:t>
            </a:r>
            <a:endParaRPr lang="en-US" sz="1350" dirty="0"/>
          </a:p>
        </p:txBody>
      </p:sp>
      <p:sp>
        <p:nvSpPr>
          <p:cNvPr id="12" name="Shape 10"/>
          <p:cNvSpPr/>
          <p:nvPr/>
        </p:nvSpPr>
        <p:spPr>
          <a:xfrm>
            <a:off x="6095848" y="3877056"/>
            <a:ext cx="0" cy="292608"/>
          </a:xfrm>
          <a:prstGeom prst="line">
            <a:avLst/>
          </a:prstGeom>
          <a:noFill/>
          <a:ln w="25400">
            <a:solidFill>
              <a:srgbClr val="285AB4"/>
            </a:solidFill>
            <a:prstDash val="solid"/>
            <a:tailEnd type="triangle"/>
          </a:ln>
        </p:spPr>
      </p:sp>
      <p:sp>
        <p:nvSpPr>
          <p:cNvPr id="13" name="Shape 11"/>
          <p:cNvSpPr/>
          <p:nvPr/>
        </p:nvSpPr>
        <p:spPr>
          <a:xfrm>
            <a:off x="4907128" y="4169664"/>
            <a:ext cx="2377440" cy="502920"/>
          </a:xfrm>
          <a:prstGeom prst="roundRect">
            <a:avLst>
              <a:gd name="adj" fmla="val 10909"/>
            </a:avLst>
          </a:prstGeom>
          <a:solidFill>
            <a:srgbClr val="F1F4F9"/>
          </a:solidFill>
          <a:ln w="15875">
            <a:solidFill>
              <a:srgbClr val="D9DEE8"/>
            </a:solidFill>
            <a:prstDash val="solid"/>
          </a:ln>
        </p:spPr>
      </p:sp>
      <p:sp>
        <p:nvSpPr>
          <p:cNvPr id="14" name="Text 12"/>
          <p:cNvSpPr txBox="1"/>
          <p:nvPr/>
        </p:nvSpPr>
        <p:spPr>
          <a:xfrm>
            <a:off x="4907128" y="4169664"/>
            <a:ext cx="2377440" cy="502920"/>
          </a:xfrm>
          <a:prstGeom prst="rect">
            <a:avLst/>
          </a:prstGeom>
          <a:noFill/>
          <a:ln/>
        </p:spPr>
        <p:txBody>
          <a:bodyPr wrap="square" lIns="0" tIns="0" rIns="0" bIns="0" rtlCol="0" anchor="ctr"/>
          <a:lstStyle/>
          <a:p>
            <a:pPr algn="ctr" indent="0" marL="0">
              <a:buNone/>
            </a:pPr>
            <a:r>
              <a:rPr lang="en-US" sz="1350" dirty="0">
                <a:solidFill>
                  <a:srgbClr val="1A2238"/>
                </a:solidFill>
                <a:latin typeface="Cambria Math" pitchFamily="34" charset="0"/>
                <a:ea typeface="Cambria Math" pitchFamily="34" charset="-122"/>
                <a:cs typeface="Cambria Math" pitchFamily="34" charset="-120"/>
              </a:rPr>
              <a:t>...</a:t>
            </a:r>
            <a:endParaRPr lang="en-US" sz="1350" dirty="0"/>
          </a:p>
        </p:txBody>
      </p:sp>
      <p:sp>
        <p:nvSpPr>
          <p:cNvPr id="15" name="Shape 13"/>
          <p:cNvSpPr/>
          <p:nvPr/>
        </p:nvSpPr>
        <p:spPr>
          <a:xfrm>
            <a:off x="6095848" y="4672584"/>
            <a:ext cx="0" cy="292608"/>
          </a:xfrm>
          <a:prstGeom prst="line">
            <a:avLst/>
          </a:prstGeom>
          <a:noFill/>
          <a:ln w="25400">
            <a:solidFill>
              <a:srgbClr val="285AB4"/>
            </a:solidFill>
            <a:prstDash val="solid"/>
            <a:tailEnd type="triangle"/>
          </a:ln>
        </p:spPr>
      </p:sp>
      <p:sp>
        <p:nvSpPr>
          <p:cNvPr id="16" name="Shape 14"/>
          <p:cNvSpPr/>
          <p:nvPr/>
        </p:nvSpPr>
        <p:spPr>
          <a:xfrm>
            <a:off x="4907128" y="4965192"/>
            <a:ext cx="2377440" cy="502920"/>
          </a:xfrm>
          <a:prstGeom prst="roundRect">
            <a:avLst>
              <a:gd name="adj" fmla="val 10909"/>
            </a:avLst>
          </a:prstGeom>
          <a:solidFill>
            <a:srgbClr val="F1F4F9"/>
          </a:solidFill>
          <a:ln w="15875">
            <a:solidFill>
              <a:srgbClr val="D9DEE8"/>
            </a:solidFill>
            <a:prstDash val="solid"/>
          </a:ln>
        </p:spPr>
      </p:sp>
      <p:sp>
        <p:nvSpPr>
          <p:cNvPr id="17" name="Text 15"/>
          <p:cNvSpPr txBox="1"/>
          <p:nvPr/>
        </p:nvSpPr>
        <p:spPr>
          <a:xfrm>
            <a:off x="4907128" y="4965192"/>
            <a:ext cx="2377440" cy="502920"/>
          </a:xfrm>
          <a:prstGeom prst="rect">
            <a:avLst/>
          </a:prstGeom>
          <a:noFill/>
          <a:ln/>
        </p:spPr>
        <p:txBody>
          <a:bodyPr wrap="square" lIns="0" tIns="0" rIns="0" bIns="0" rtlCol="0" anchor="ctr"/>
          <a:lstStyle/>
          <a:p>
            <a:pPr algn="ctr" indent="0" marL="0">
              <a:buNone/>
            </a:pPr>
            <a:r>
              <a:rPr lang="en-US" sz="1350" dirty="0">
                <a:solidFill>
                  <a:srgbClr val="1A2238"/>
                </a:solidFill>
                <a:latin typeface="Cambria Math" pitchFamily="34" charset="0"/>
                <a:ea typeface="Cambria Math" pitchFamily="34" charset="-122"/>
                <a:cs typeface="Cambria Math" pitchFamily="34" charset="-120"/>
              </a:rPr>
              <a:t>Layer 50</a:t>
            </a:r>
            <a:endParaRPr lang="en-US" sz="1350" dirty="0"/>
          </a:p>
        </p:txBody>
      </p:sp>
      <p:sp>
        <p:nvSpPr>
          <p:cNvPr id="18" name="Shape 16"/>
          <p:cNvSpPr/>
          <p:nvPr/>
        </p:nvSpPr>
        <p:spPr>
          <a:xfrm>
            <a:off x="6095848" y="5468112"/>
            <a:ext cx="0" cy="292608"/>
          </a:xfrm>
          <a:prstGeom prst="line">
            <a:avLst/>
          </a:prstGeom>
          <a:noFill/>
          <a:ln w="25400">
            <a:solidFill>
              <a:srgbClr val="285AB4"/>
            </a:solidFill>
            <a:prstDash val="solid"/>
            <a:tailEnd type="triangle"/>
          </a:ln>
        </p:spPr>
      </p:sp>
      <p:sp>
        <p:nvSpPr>
          <p:cNvPr id="19" name="Shape 17"/>
          <p:cNvSpPr/>
          <p:nvPr/>
        </p:nvSpPr>
        <p:spPr>
          <a:xfrm>
            <a:off x="4907128" y="5760720"/>
            <a:ext cx="2377440" cy="502920"/>
          </a:xfrm>
          <a:prstGeom prst="roundRect">
            <a:avLst>
              <a:gd name="adj" fmla="val 10909"/>
            </a:avLst>
          </a:prstGeom>
          <a:solidFill>
            <a:srgbClr val="FBEEEC"/>
          </a:solidFill>
          <a:ln w="15875">
            <a:solidFill>
              <a:srgbClr val="BE3C32"/>
            </a:solidFill>
            <a:prstDash val="solid"/>
          </a:ln>
        </p:spPr>
      </p:sp>
      <p:sp>
        <p:nvSpPr>
          <p:cNvPr id="20" name="Text 18"/>
          <p:cNvSpPr txBox="1"/>
          <p:nvPr/>
        </p:nvSpPr>
        <p:spPr>
          <a:xfrm>
            <a:off x="4907128" y="5760720"/>
            <a:ext cx="2377440" cy="502920"/>
          </a:xfrm>
          <a:prstGeom prst="rect">
            <a:avLst/>
          </a:prstGeom>
          <a:noFill/>
          <a:ln/>
        </p:spPr>
        <p:txBody>
          <a:bodyPr wrap="square" lIns="0" tIns="0" rIns="0" bIns="0" rtlCol="0" anchor="ctr"/>
          <a:lstStyle/>
          <a:p>
            <a:pPr algn="ctr" indent="0" marL="0">
              <a:buNone/>
            </a:pPr>
            <a:r>
              <a:rPr lang="en-US" sz="1350" dirty="0">
                <a:solidFill>
                  <a:srgbClr val="1A2238"/>
                </a:solidFill>
                <a:latin typeface="Cambria Math" pitchFamily="34" charset="0"/>
                <a:ea typeface="Cambria Math" pitchFamily="34" charset="-122"/>
                <a:cs typeface="Cambria Math" pitchFamily="34" charset="-120"/>
              </a:rPr>
              <a:t>Loss</a:t>
            </a:r>
            <a:endParaRPr lang="en-US" sz="1350" dirty="0"/>
          </a:p>
        </p:txBody>
      </p:sp>
      <p:sp>
        <p:nvSpPr>
          <p:cNvPr id="21" name="Text 19"/>
          <p:cNvSpPr txBox="1"/>
          <p:nvPr/>
        </p:nvSpPr>
        <p:spPr>
          <a:xfrm>
            <a:off x="640080" y="1737360"/>
            <a:ext cx="3931920" cy="731520"/>
          </a:xfrm>
          <a:prstGeom prst="rect">
            <a:avLst/>
          </a:prstGeom>
          <a:noFill/>
          <a:ln/>
        </p:spPr>
        <p:txBody>
          <a:bodyPr wrap="square" lIns="0" tIns="0" rIns="0" bIns="0" rtlCol="0" anchor="ctr"/>
          <a:lstStyle/>
          <a:p>
            <a:pPr indent="0" marL="0">
              <a:buNone/>
            </a:pPr>
            <a:r>
              <a:rPr lang="en-US" sz="1500" i="1" dirty="0">
                <a:solidFill>
                  <a:srgbClr val="1A2238"/>
                </a:solidFill>
                <a:latin typeface="Calibri" pitchFamily="34" charset="0"/>
                <a:ea typeface="Calibri" pitchFamily="34" charset="-122"/>
                <a:cs typeface="Calibri" pitchFamily="34" charset="-120"/>
              </a:rPr>
              <a:t>How does Layer 1 know how it should change?</a:t>
            </a:r>
            <a:endParaRPr lang="en-US" sz="1500" dirty="0"/>
          </a:p>
        </p:txBody>
      </p:sp>
      <p:sp>
        <p:nvSpPr>
          <p:cNvPr id="22" name="Text 20"/>
          <p:cNvSpPr txBox="1"/>
          <p:nvPr/>
        </p:nvSpPr>
        <p:spPr>
          <a:xfrm>
            <a:off x="640080" y="2560320"/>
            <a:ext cx="3931920" cy="457200"/>
          </a:xfrm>
          <a:prstGeom prst="rect">
            <a:avLst/>
          </a:prstGeom>
          <a:noFill/>
          <a:ln/>
        </p:spPr>
        <p:txBody>
          <a:bodyPr wrap="square" lIns="0" tIns="0" rIns="0" bIns="0" rtlCol="0" anchor="ctr"/>
          <a:lstStyle/>
          <a:p>
            <a:pPr indent="0" marL="0">
              <a:buNone/>
            </a:pPr>
            <a:r>
              <a:rPr lang="en-US" sz="1700" b="1" dirty="0">
                <a:solidFill>
                  <a:srgbClr val="285AB4"/>
                </a:solidFill>
                <a:latin typeface="Cambria" pitchFamily="34" charset="0"/>
                <a:ea typeface="Cambria" pitchFamily="34" charset="-122"/>
                <a:cs typeface="Cambria" pitchFamily="34" charset="-120"/>
              </a:rPr>
              <a:t>⇒ Backpropagation</a:t>
            </a:r>
            <a:endParaRPr lang="en-US" sz="1700" dirty="0"/>
          </a:p>
        </p:txBody>
      </p:sp>
      <p:sp>
        <p:nvSpPr>
          <p:cNvPr id="23" name="Text 21"/>
          <p:cNvSpPr txBox="1"/>
          <p:nvPr/>
        </p:nvSpPr>
        <p:spPr>
          <a:xfrm>
            <a:off x="7619695" y="3977640"/>
            <a:ext cx="3931920" cy="457200"/>
          </a:xfrm>
          <a:prstGeom prst="rect">
            <a:avLst/>
          </a:prstGeom>
          <a:noFill/>
          <a:ln/>
        </p:spPr>
        <p:txBody>
          <a:bodyPr wrap="square" lIns="0" tIns="0" rIns="0" bIns="0" rtlCol="0" anchor="ctr"/>
          <a:lstStyle/>
          <a:p>
            <a:pPr indent="0" marL="0">
              <a:buNone/>
            </a:pPr>
            <a:r>
              <a:rPr lang="en-US" sz="1500" i="1" dirty="0">
                <a:solidFill>
                  <a:srgbClr val="1A2238"/>
                </a:solidFill>
                <a:latin typeface="Calibri" pitchFamily="34" charset="0"/>
                <a:ea typeface="Calibri" pitchFamily="34" charset="-122"/>
                <a:cs typeface="Calibri" pitchFamily="34" charset="-120"/>
              </a:rPr>
              <a:t>But then a new problem appears:</a:t>
            </a:r>
            <a:endParaRPr lang="en-US" sz="1500" dirty="0"/>
          </a:p>
        </p:txBody>
      </p:sp>
      <p:sp>
        <p:nvSpPr>
          <p:cNvPr id="24" name="Text 22"/>
          <p:cNvSpPr txBox="1"/>
          <p:nvPr/>
        </p:nvSpPr>
        <p:spPr>
          <a:xfrm>
            <a:off x="7619695" y="4526280"/>
            <a:ext cx="3931920" cy="914400"/>
          </a:xfrm>
          <a:prstGeom prst="rect">
            <a:avLst/>
          </a:prstGeom>
          <a:noFill/>
          <a:ln/>
        </p:spPr>
        <p:txBody>
          <a:bodyPr wrap="square" lIns="0" tIns="0" rIns="0" bIns="0" rtlCol="0" anchor="ctr"/>
          <a:lstStyle/>
          <a:p>
            <a:pPr indent="0" marL="0">
              <a:buNone/>
            </a:pPr>
            <a:r>
              <a:rPr lang="en-US" sz="1800" b="1" dirty="0">
                <a:solidFill>
                  <a:srgbClr val="BE3C32"/>
                </a:solidFill>
                <a:latin typeface="Cambria Math" pitchFamily="34" charset="0"/>
                <a:ea typeface="Cambria Math" pitchFamily="34" charset="-122"/>
                <a:cs typeface="Cambria Math" pitchFamily="34" charset="-120"/>
              </a:rPr>
              <a:t>gradient → 0 ?</a:t>
            </a:r>
            <a:endParaRPr lang="en-US" sz="1800" dirty="0"/>
          </a:p>
          <a:p>
            <a:pPr indent="0" marL="0">
              <a:buNone/>
            </a:pPr>
            <a:r>
              <a:rPr lang="en-US" sz="1800" b="1" dirty="0">
                <a:solidFill>
                  <a:srgbClr val="BE3C32"/>
                </a:solidFill>
                <a:latin typeface="Cambria Math" pitchFamily="34" charset="0"/>
                <a:ea typeface="Cambria Math" pitchFamily="34" charset="-122"/>
                <a:cs typeface="Cambria Math" pitchFamily="34" charset="-120"/>
              </a:rPr>
              <a:t>gradient → ∞ ?</a:t>
            </a:r>
            <a:endParaRPr lang="en-US" sz="1800" dirty="0"/>
          </a:p>
        </p:txBody>
      </p:sp>
      <p:sp>
        <p:nvSpPr>
          <p:cNvPr id="25" name="Text 23"/>
          <p:cNvSpPr txBox="1"/>
          <p:nvPr/>
        </p:nvSpPr>
        <p:spPr>
          <a:xfrm>
            <a:off x="7619695" y="5577840"/>
            <a:ext cx="3931920" cy="457200"/>
          </a:xfrm>
          <a:prstGeom prst="rect">
            <a:avLst/>
          </a:prstGeom>
          <a:noFill/>
          <a:ln/>
        </p:spPr>
        <p:txBody>
          <a:bodyPr wrap="square" lIns="0" tIns="0" rIns="0" bIns="0" rtlCol="0" anchor="ctr"/>
          <a:lstStyle/>
          <a:p>
            <a:pPr indent="0" marL="0">
              <a:buNone/>
            </a:pPr>
            <a:r>
              <a:rPr lang="en-US" sz="1700" b="1" dirty="0">
                <a:solidFill>
                  <a:srgbClr val="C68A2E"/>
                </a:solidFill>
                <a:latin typeface="Cambria" pitchFamily="34" charset="0"/>
                <a:ea typeface="Cambria" pitchFamily="34" charset="-122"/>
                <a:cs typeface="Cambria" pitchFamily="34" charset="-120"/>
              </a:rPr>
              <a:t>⇒ Parameter Initialization</a:t>
            </a:r>
            <a:endParaRPr lang="en-US" sz="1700" dirty="0"/>
          </a:p>
        </p:txBody>
      </p:sp>
      <p:sp>
        <p:nvSpPr>
          <p:cNvPr id="26" name="Text 24"/>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2/31</a:t>
            </a:r>
            <a:endParaRPr lang="en-US" sz="900" dirty="0"/>
          </a:p>
        </p:txBody>
      </p:sp>
      <p:sp>
        <p:nvSpPr>
          <p:cNvPr id="27" name="Shape 25"/>
          <p:cNvSpPr/>
          <p:nvPr/>
        </p:nvSpPr>
        <p:spPr>
          <a:xfrm>
            <a:off x="595503" y="6459093"/>
            <a:ext cx="89154" cy="89154"/>
          </a:xfrm>
          <a:prstGeom prst="ellipse">
            <a:avLst/>
          </a:prstGeom>
          <a:solidFill>
            <a:srgbClr val="285AB4"/>
          </a:solidFill>
          <a:ln/>
        </p:spPr>
      </p:sp>
      <p:sp>
        <p:nvSpPr>
          <p:cNvPr id="28" name="Shape 26"/>
          <p:cNvSpPr/>
          <p:nvPr/>
        </p:nvSpPr>
        <p:spPr>
          <a:xfrm>
            <a:off x="829818" y="6473952"/>
            <a:ext cx="59436" cy="59436"/>
          </a:xfrm>
          <a:prstGeom prst="ellipse">
            <a:avLst/>
          </a:prstGeom>
          <a:solidFill>
            <a:srgbClr val="D9DEE8"/>
          </a:solidFill>
          <a:ln/>
        </p:spPr>
      </p:sp>
      <p:sp>
        <p:nvSpPr>
          <p:cNvPr id="29" name="Shape 27"/>
          <p:cNvSpPr/>
          <p:nvPr/>
        </p:nvSpPr>
        <p:spPr>
          <a:xfrm>
            <a:off x="1049274" y="6473952"/>
            <a:ext cx="59436" cy="59436"/>
          </a:xfrm>
          <a:prstGeom prst="ellipse">
            <a:avLst/>
          </a:prstGeom>
          <a:solidFill>
            <a:srgbClr val="D9DEE8"/>
          </a:solidFill>
          <a:ln/>
        </p:spPr>
      </p:sp>
      <p:sp>
        <p:nvSpPr>
          <p:cNvPr id="30" name="Shape 28"/>
          <p:cNvSpPr/>
          <p:nvPr/>
        </p:nvSpPr>
        <p:spPr>
          <a:xfrm>
            <a:off x="1268730" y="6473952"/>
            <a:ext cx="59436" cy="59436"/>
          </a:xfrm>
          <a:prstGeom prst="ellipse">
            <a:avLst/>
          </a:prstGeom>
          <a:solidFill>
            <a:srgbClr val="D9DEE8"/>
          </a:solidFill>
          <a:ln/>
        </p:spPr>
      </p:sp>
      <p:sp>
        <p:nvSpPr>
          <p:cNvPr id="31" name="Text 29"/>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MOTIVATION &amp; MATH</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FOUNDATIONS</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Derivative</a:t>
            </a:r>
            <a:endParaRPr lang="en-US" sz="2900" dirty="0"/>
          </a:p>
        </p:txBody>
      </p:sp>
      <p:sp>
        <p:nvSpPr>
          <p:cNvPr id="4" name="Shape 2"/>
          <p:cNvSpPr/>
          <p:nvPr/>
        </p:nvSpPr>
        <p:spPr>
          <a:xfrm>
            <a:off x="640080" y="1783080"/>
            <a:ext cx="10911535" cy="777240"/>
          </a:xfrm>
          <a:prstGeom prst="roundRect">
            <a:avLst>
              <a:gd name="adj" fmla="val 9412"/>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5" name="Text 3"/>
          <p:cNvSpPr txBox="1"/>
          <p:nvPr/>
        </p:nvSpPr>
        <p:spPr>
          <a:xfrm>
            <a:off x="868680" y="1783080"/>
            <a:ext cx="10454335" cy="777240"/>
          </a:xfrm>
          <a:prstGeom prst="rect">
            <a:avLst/>
          </a:prstGeom>
          <a:noFill/>
          <a:ln/>
        </p:spPr>
        <p:txBody>
          <a:bodyPr wrap="square" lIns="0" tIns="0" rIns="0" bIns="0" rtlCol="0" anchor="ctr"/>
          <a:lstStyle/>
          <a:p>
            <a:pPr algn="ctr" indent="0" marL="0">
              <a:buNone/>
            </a:pPr>
            <a:r>
              <a:rPr lang="en-US" sz="1900" dirty="0">
                <a:solidFill>
                  <a:srgbClr val="16213E"/>
                </a:solidFill>
                <a:latin typeface="Cambria Math" pitchFamily="34" charset="0"/>
                <a:ea typeface="Cambria Math" pitchFamily="34" charset="-122"/>
                <a:cs typeface="Cambria Math" pitchFamily="34" charset="-120"/>
              </a:rPr>
              <a:t>f'(x) = lim_{h→0} [f(x+h) − f(x)] / h</a:t>
            </a:r>
            <a:endParaRPr lang="en-US" sz="1900" dirty="0"/>
          </a:p>
        </p:txBody>
      </p:sp>
      <p:sp>
        <p:nvSpPr>
          <p:cNvPr id="6" name="Text 4"/>
          <p:cNvSpPr txBox="1"/>
          <p:nvPr/>
        </p:nvSpPr>
        <p:spPr>
          <a:xfrm>
            <a:off x="640080" y="2834640"/>
            <a:ext cx="10911535" cy="2377440"/>
          </a:xfrm>
          <a:prstGeom prst="rect">
            <a:avLst/>
          </a:prstGeom>
          <a:noFill/>
          <a:ln/>
        </p:spPr>
        <p:txBody>
          <a:bodyPr wrap="square" lIns="0" tIns="0" rIns="0" bIns="0" rtlCol="0" anchor="t"/>
          <a:lstStyle/>
          <a:p>
            <a:pPr marL="228600" indent="-228600">
              <a:spcAft>
                <a:spcPts val="1400"/>
              </a:spcAft>
              <a:buSzPct val="100000"/>
              <a:buChar char="▪"/>
            </a:pPr>
            <a:r>
              <a:rPr lang="en-US" sz="1700" dirty="0">
                <a:solidFill>
                  <a:srgbClr val="1A2238"/>
                </a:solidFill>
                <a:latin typeface="Calibri" pitchFamily="34" charset="0"/>
                <a:ea typeface="Calibri" pitchFamily="34" charset="-122"/>
                <a:cs typeface="Calibri" pitchFamily="34" charset="-120"/>
              </a:rPr>
              <a:t>Derivative đo mức độ thay đổi của output khi input thay đổi một lượng nhỏ</a:t>
            </a:r>
            <a:endParaRPr lang="en-US" sz="1700" dirty="0"/>
          </a:p>
          <a:p>
            <a:pPr marL="228600" indent="-228600">
              <a:spcAft>
                <a:spcPts val="1400"/>
              </a:spcAft>
              <a:buSzPct val="100000"/>
              <a:buChar char="▪"/>
            </a:pPr>
            <a:r>
              <a:rPr lang="en-US" sz="1700" dirty="0">
                <a:solidFill>
                  <a:srgbClr val="1A2238"/>
                </a:solidFill>
                <a:latin typeface="Calibri" pitchFamily="34" charset="0"/>
                <a:ea typeface="Calibri" pitchFamily="34" charset="-122"/>
                <a:cs typeface="Calibri" pitchFamily="34" charset="-120"/>
              </a:rPr>
              <a:t>Ví dụ: f(x) = x²  ⇒  f′(x) = 2x</a:t>
            </a:r>
            <a:endParaRPr lang="en-US" sz="1700" dirty="0"/>
          </a:p>
          <a:p>
            <a:pPr marL="228600" indent="-228600">
              <a:spcAft>
                <a:spcPts val="1400"/>
              </a:spcAft>
              <a:buSzPct val="100000"/>
              <a:buChar char="▪"/>
            </a:pPr>
            <a:r>
              <a:rPr lang="en-US" sz="1700" dirty="0">
                <a:solidFill>
                  <a:srgbClr val="1A2238"/>
                </a:solidFill>
                <a:latin typeface="Calibri" pitchFamily="34" charset="0"/>
                <a:ea typeface="Calibri" pitchFamily="34" charset="-122"/>
                <a:cs typeface="Calibri" pitchFamily="34" charset="-120"/>
              </a:rPr>
              <a:t>Đây là viên gạch nền tảng duy nhất cần nhớ — mọi thứ sau đây (gradient, chain rule, backprop) chỉ là ÁP DỤNG CÓ HỆ THỐNG của khái niệm này</a:t>
            </a:r>
            <a:endParaRPr lang="en-US" sz="1700" dirty="0"/>
          </a:p>
        </p:txBody>
      </p:sp>
      <p:sp>
        <p:nvSpPr>
          <p:cNvPr id="7" name="Text 5"/>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3/31</a:t>
            </a:r>
            <a:endParaRPr lang="en-US" sz="900" dirty="0"/>
          </a:p>
        </p:txBody>
      </p:sp>
      <p:sp>
        <p:nvSpPr>
          <p:cNvPr id="8" name="Shape 6"/>
          <p:cNvSpPr/>
          <p:nvPr/>
        </p:nvSpPr>
        <p:spPr>
          <a:xfrm>
            <a:off x="595503" y="6459093"/>
            <a:ext cx="89154" cy="89154"/>
          </a:xfrm>
          <a:prstGeom prst="ellipse">
            <a:avLst/>
          </a:prstGeom>
          <a:solidFill>
            <a:srgbClr val="285AB4"/>
          </a:solidFill>
          <a:ln/>
        </p:spPr>
      </p:sp>
      <p:sp>
        <p:nvSpPr>
          <p:cNvPr id="9" name="Shape 7"/>
          <p:cNvSpPr/>
          <p:nvPr/>
        </p:nvSpPr>
        <p:spPr>
          <a:xfrm>
            <a:off x="829818" y="6473952"/>
            <a:ext cx="59436" cy="59436"/>
          </a:xfrm>
          <a:prstGeom prst="ellipse">
            <a:avLst/>
          </a:prstGeom>
          <a:solidFill>
            <a:srgbClr val="D9DEE8"/>
          </a:solidFill>
          <a:ln/>
        </p:spPr>
      </p:sp>
      <p:sp>
        <p:nvSpPr>
          <p:cNvPr id="10" name="Shape 8"/>
          <p:cNvSpPr/>
          <p:nvPr/>
        </p:nvSpPr>
        <p:spPr>
          <a:xfrm>
            <a:off x="1049274" y="6473952"/>
            <a:ext cx="59436" cy="59436"/>
          </a:xfrm>
          <a:prstGeom prst="ellipse">
            <a:avLst/>
          </a:prstGeom>
          <a:solidFill>
            <a:srgbClr val="D9DEE8"/>
          </a:solidFill>
          <a:ln/>
        </p:spPr>
      </p:sp>
      <p:sp>
        <p:nvSpPr>
          <p:cNvPr id="11" name="Shape 9"/>
          <p:cNvSpPr/>
          <p:nvPr/>
        </p:nvSpPr>
        <p:spPr>
          <a:xfrm>
            <a:off x="1268730" y="6473952"/>
            <a:ext cx="59436" cy="59436"/>
          </a:xfrm>
          <a:prstGeom prst="ellipse">
            <a:avLst/>
          </a:prstGeom>
          <a:solidFill>
            <a:srgbClr val="D9DEE8"/>
          </a:solidFill>
          <a:ln/>
        </p:spPr>
      </p:sp>
      <p:sp>
        <p:nvSpPr>
          <p:cNvPr id="12" name="Text 10"/>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MOTIVATION &amp; MATH</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FOUNDATIONS</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Partial Derivative &amp; Gradient</a:t>
            </a:r>
            <a:endParaRPr lang="en-US" sz="2900" dirty="0"/>
          </a:p>
        </p:txBody>
      </p:sp>
      <p:sp>
        <p:nvSpPr>
          <p:cNvPr id="4" name="Text 2"/>
          <p:cNvSpPr txBox="1"/>
          <p:nvPr/>
        </p:nvSpPr>
        <p:spPr>
          <a:xfrm>
            <a:off x="640080" y="1828800"/>
            <a:ext cx="5669280" cy="3291840"/>
          </a:xfrm>
          <a:prstGeom prst="rect">
            <a:avLst/>
          </a:prstGeom>
          <a:noFill/>
          <a:ln/>
        </p:spPr>
        <p:txBody>
          <a:bodyPr wrap="square" lIns="0" tIns="0" rIns="0" bIns="0" rtlCol="0" anchor="t"/>
          <a:lstStyle/>
          <a:p>
            <a:pPr marL="228600" indent="-228600">
              <a:spcAft>
                <a:spcPts val="1200"/>
              </a:spcAft>
              <a:buSzPct val="100000"/>
              <a:buChar char="▪"/>
            </a:pPr>
            <a:r>
              <a:rPr lang="en-US" sz="1550" dirty="0">
                <a:solidFill>
                  <a:srgbClr val="1A2238"/>
                </a:solidFill>
                <a:latin typeface="Calibri" pitchFamily="34" charset="0"/>
                <a:ea typeface="Calibri" pitchFamily="34" charset="-122"/>
                <a:cs typeface="Calibri" pitchFamily="34" charset="-120"/>
              </a:rPr>
              <a:t>Deep Learning có hàng triệu tham số: L(w₁, w₂, ..., wₙ)</a:t>
            </a:r>
            <a:endParaRPr lang="en-US" sz="1550" dirty="0"/>
          </a:p>
          <a:p>
            <a:pPr marL="228600" indent="-228600">
              <a:spcAft>
                <a:spcPts val="1200"/>
              </a:spcAft>
              <a:buSzPct val="100000"/>
              <a:buChar char="▪"/>
            </a:pPr>
            <a:r>
              <a:rPr lang="en-US" sz="1550" dirty="0">
                <a:solidFill>
                  <a:srgbClr val="1A2238"/>
                </a:solidFill>
                <a:latin typeface="Calibri" pitchFamily="34" charset="0"/>
                <a:ea typeface="Calibri" pitchFamily="34" charset="-122"/>
                <a:cs typeface="Calibri" pitchFamily="34" charset="-120"/>
              </a:rPr>
              <a:t>Gradient = vector gồm TẤT CẢ đạo hàm riêng, một cho mỗi tham số</a:t>
            </a:r>
            <a:endParaRPr lang="en-US" sz="1550" dirty="0"/>
          </a:p>
          <a:p>
            <a:pPr marL="228600" indent="-228600">
              <a:spcAft>
                <a:spcPts val="1200"/>
              </a:spcAft>
              <a:buSzPct val="100000"/>
              <a:buChar char="▪"/>
            </a:pPr>
            <a:r>
              <a:rPr lang="en-US" sz="1550" dirty="0">
                <a:solidFill>
                  <a:srgbClr val="1A2238"/>
                </a:solidFill>
                <a:latin typeface="Calibri" pitchFamily="34" charset="0"/>
                <a:ea typeface="Calibri" pitchFamily="34" charset="-122"/>
                <a:cs typeface="Calibri" pitchFamily="34" charset="-120"/>
              </a:rPr>
              <a:t>∇L chỉ HƯỚNG TĂNG nhanh nhất của Loss trong không gian tham số</a:t>
            </a:r>
            <a:endParaRPr lang="en-US" sz="1550" dirty="0"/>
          </a:p>
          <a:p>
            <a:pPr marL="228600" indent="-228600">
              <a:spcAft>
                <a:spcPts val="1200"/>
              </a:spcAft>
              <a:buSzPct val="100000"/>
              <a:buChar char="▪"/>
            </a:pPr>
            <a:r>
              <a:rPr lang="en-US" sz="1550" dirty="0">
                <a:solidFill>
                  <a:srgbClr val="1A2238"/>
                </a:solidFill>
                <a:latin typeface="Calibri" pitchFamily="34" charset="0"/>
                <a:ea typeface="Calibri" pitchFamily="34" charset="-122"/>
                <a:cs typeface="Calibri" pitchFamily="34" charset="-120"/>
              </a:rPr>
              <a:t>Gradient Descent cập nhật theo hướng NGƯỢC gradient (−∇L) — hướng giảm nhanh nhất cục bộ</a:t>
            </a:r>
            <a:endParaRPr lang="en-US" sz="1550" dirty="0"/>
          </a:p>
        </p:txBody>
      </p:sp>
      <p:sp>
        <p:nvSpPr>
          <p:cNvPr id="5" name="Shape 3"/>
          <p:cNvSpPr/>
          <p:nvPr/>
        </p:nvSpPr>
        <p:spPr>
          <a:xfrm>
            <a:off x="6675120" y="2103120"/>
            <a:ext cx="4876495" cy="2377440"/>
          </a:xfrm>
          <a:prstGeom prst="roundRect">
            <a:avLst>
              <a:gd name="adj" fmla="val 3077"/>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6" name="Text 4"/>
          <p:cNvSpPr txBox="1"/>
          <p:nvPr/>
        </p:nvSpPr>
        <p:spPr>
          <a:xfrm>
            <a:off x="6903720" y="2103120"/>
            <a:ext cx="4419295" cy="2377440"/>
          </a:xfrm>
          <a:prstGeom prst="rect">
            <a:avLst/>
          </a:prstGeom>
          <a:noFill/>
          <a:ln/>
        </p:spPr>
        <p:txBody>
          <a:bodyPr wrap="square" lIns="0" tIns="0" rIns="0" bIns="0" rtlCol="0" anchor="ctr"/>
          <a:lstStyle/>
          <a:p>
            <a:pPr algn="ctr" indent="0" marL="0">
              <a:buNone/>
            </a:pPr>
            <a:r>
              <a:rPr lang="en-US" sz="1700" dirty="0">
                <a:solidFill>
                  <a:srgbClr val="16213E"/>
                </a:solidFill>
                <a:latin typeface="Cambria Math" pitchFamily="34" charset="0"/>
                <a:ea typeface="Cambria Math" pitchFamily="34" charset="-122"/>
                <a:cs typeface="Cambria Math" pitchFamily="34" charset="-120"/>
              </a:rPr>
              <a:t>∇L = [ ∂L/∂w₁ ; ∂L/∂w₂ ; ... ; ∂L/∂wₙ ]</a:t>
            </a:r>
            <a:endParaRPr lang="en-US" sz="1700" dirty="0"/>
          </a:p>
        </p:txBody>
      </p:sp>
      <p:sp>
        <p:nvSpPr>
          <p:cNvPr id="7" name="Text 5"/>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4/31</a:t>
            </a:r>
            <a:endParaRPr lang="en-US" sz="900" dirty="0"/>
          </a:p>
        </p:txBody>
      </p:sp>
      <p:sp>
        <p:nvSpPr>
          <p:cNvPr id="8" name="Shape 6"/>
          <p:cNvSpPr/>
          <p:nvPr/>
        </p:nvSpPr>
        <p:spPr>
          <a:xfrm>
            <a:off x="595503" y="6459093"/>
            <a:ext cx="89154" cy="89154"/>
          </a:xfrm>
          <a:prstGeom prst="ellipse">
            <a:avLst/>
          </a:prstGeom>
          <a:solidFill>
            <a:srgbClr val="285AB4"/>
          </a:solidFill>
          <a:ln/>
        </p:spPr>
      </p:sp>
      <p:sp>
        <p:nvSpPr>
          <p:cNvPr id="9" name="Shape 7"/>
          <p:cNvSpPr/>
          <p:nvPr/>
        </p:nvSpPr>
        <p:spPr>
          <a:xfrm>
            <a:off x="829818" y="6473952"/>
            <a:ext cx="59436" cy="59436"/>
          </a:xfrm>
          <a:prstGeom prst="ellipse">
            <a:avLst/>
          </a:prstGeom>
          <a:solidFill>
            <a:srgbClr val="D9DEE8"/>
          </a:solidFill>
          <a:ln/>
        </p:spPr>
      </p:sp>
      <p:sp>
        <p:nvSpPr>
          <p:cNvPr id="10" name="Shape 8"/>
          <p:cNvSpPr/>
          <p:nvPr/>
        </p:nvSpPr>
        <p:spPr>
          <a:xfrm>
            <a:off x="1049274" y="6473952"/>
            <a:ext cx="59436" cy="59436"/>
          </a:xfrm>
          <a:prstGeom prst="ellipse">
            <a:avLst/>
          </a:prstGeom>
          <a:solidFill>
            <a:srgbClr val="D9DEE8"/>
          </a:solidFill>
          <a:ln/>
        </p:spPr>
      </p:sp>
      <p:sp>
        <p:nvSpPr>
          <p:cNvPr id="11" name="Shape 9"/>
          <p:cNvSpPr/>
          <p:nvPr/>
        </p:nvSpPr>
        <p:spPr>
          <a:xfrm>
            <a:off x="1268730" y="6473952"/>
            <a:ext cx="59436" cy="59436"/>
          </a:xfrm>
          <a:prstGeom prst="ellipse">
            <a:avLst/>
          </a:prstGeom>
          <a:solidFill>
            <a:srgbClr val="D9DEE8"/>
          </a:solidFill>
          <a:ln/>
        </p:spPr>
      </p:sp>
      <p:sp>
        <p:nvSpPr>
          <p:cNvPr id="12" name="Text 10"/>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MOTIVATION &amp; MATH</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FOUNDATIONS</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Gradient Descent</a:t>
            </a:r>
            <a:endParaRPr lang="en-US" sz="2900" dirty="0"/>
          </a:p>
        </p:txBody>
      </p:sp>
      <p:sp>
        <p:nvSpPr>
          <p:cNvPr id="4" name="Shape 2"/>
          <p:cNvSpPr/>
          <p:nvPr/>
        </p:nvSpPr>
        <p:spPr>
          <a:xfrm>
            <a:off x="640080" y="1783080"/>
            <a:ext cx="10911535" cy="777240"/>
          </a:xfrm>
          <a:prstGeom prst="roundRect">
            <a:avLst>
              <a:gd name="adj" fmla="val 9412"/>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5" name="Text 3"/>
          <p:cNvSpPr txBox="1"/>
          <p:nvPr/>
        </p:nvSpPr>
        <p:spPr>
          <a:xfrm>
            <a:off x="868680" y="1783080"/>
            <a:ext cx="10454335" cy="777240"/>
          </a:xfrm>
          <a:prstGeom prst="rect">
            <a:avLst/>
          </a:prstGeom>
          <a:noFill/>
          <a:ln/>
        </p:spPr>
        <p:txBody>
          <a:bodyPr wrap="square" lIns="0" tIns="0" rIns="0" bIns="0" rtlCol="0" anchor="ctr"/>
          <a:lstStyle/>
          <a:p>
            <a:pPr algn="ctr" indent="0" marL="0">
              <a:buNone/>
            </a:pPr>
            <a:r>
              <a:rPr lang="en-US" sz="1700" dirty="0">
                <a:solidFill>
                  <a:srgbClr val="16213E"/>
                </a:solidFill>
                <a:latin typeface="Cambria Math" pitchFamily="34" charset="0"/>
                <a:ea typeface="Cambria Math" pitchFamily="34" charset="-122"/>
                <a:cs typeface="Cambria Math" pitchFamily="34" charset="-120"/>
              </a:rPr>
              <a:t>w_new = w_old − η · ∂L/∂w          (dạng vector: θ_new = θ_old − η∇_θL)</a:t>
            </a:r>
            <a:endParaRPr lang="en-US" sz="1700" dirty="0"/>
          </a:p>
        </p:txBody>
      </p:sp>
      <p:sp>
        <p:nvSpPr>
          <p:cNvPr id="6" name="Text 4"/>
          <p:cNvSpPr txBox="1"/>
          <p:nvPr/>
        </p:nvSpPr>
        <p:spPr>
          <a:xfrm>
            <a:off x="640080" y="2834640"/>
            <a:ext cx="10911535" cy="2926080"/>
          </a:xfrm>
          <a:prstGeom prst="rect">
            <a:avLst/>
          </a:prstGeom>
          <a:noFill/>
          <a:ln/>
        </p:spPr>
        <p:txBody>
          <a:bodyPr wrap="square" lIns="0" tIns="0" rIns="0" bIns="0" rtlCol="0" anchor="t"/>
          <a:lstStyle/>
          <a:p>
            <a:pPr marL="228600" indent="-228600">
              <a:spcAft>
                <a:spcPts val="1200"/>
              </a:spcAft>
              <a:buSzPct val="100000"/>
              <a:buChar char="▪"/>
            </a:pPr>
            <a:r>
              <a:rPr lang="en-US" sz="1550" dirty="0">
                <a:solidFill>
                  <a:srgbClr val="1A2238"/>
                </a:solidFill>
                <a:latin typeface="Calibri" pitchFamily="34" charset="0"/>
                <a:ea typeface="Calibri" pitchFamily="34" charset="-122"/>
                <a:cs typeface="Calibri" pitchFamily="34" charset="-120"/>
              </a:rPr>
              <a:t>w — parameter cần cập nhật (θ — toàn bộ vector tham số)</a:t>
            </a:r>
            <a:endParaRPr lang="en-US" sz="1550" dirty="0"/>
          </a:p>
          <a:p>
            <a:pPr marL="228600" indent="-228600">
              <a:spcAft>
                <a:spcPts val="1200"/>
              </a:spcAft>
              <a:buSzPct val="100000"/>
              <a:buChar char="▪"/>
            </a:pPr>
            <a:r>
              <a:rPr lang="en-US" sz="1550" dirty="0">
                <a:solidFill>
                  <a:srgbClr val="1A2238"/>
                </a:solidFill>
                <a:latin typeface="Calibri" pitchFamily="34" charset="0"/>
                <a:ea typeface="Calibri" pitchFamily="34" charset="-122"/>
                <a:cs typeface="Calibri" pitchFamily="34" charset="-120"/>
              </a:rPr>
              <a:t>η (learning rate) — bước nhảy mỗi lần cập nhật</a:t>
            </a:r>
            <a:endParaRPr lang="en-US" sz="1550" dirty="0"/>
          </a:p>
          <a:p>
            <a:pPr marL="228600" indent="-228600">
              <a:spcAft>
                <a:spcPts val="1200"/>
              </a:spcAft>
              <a:buSzPct val="100000"/>
              <a:buChar char="▪"/>
            </a:pPr>
            <a:r>
              <a:rPr lang="en-US" sz="1550" dirty="0">
                <a:solidFill>
                  <a:srgbClr val="1A2238"/>
                </a:solidFill>
                <a:latin typeface="Calibri" pitchFamily="34" charset="0"/>
                <a:ea typeface="Calibri" pitchFamily="34" charset="-122"/>
                <a:cs typeface="Calibri" pitchFamily="34" charset="-120"/>
              </a:rPr>
              <a:t>L — loss function cần tối thiểu hoá</a:t>
            </a:r>
            <a:endParaRPr lang="en-US" sz="1550" dirty="0"/>
          </a:p>
          <a:p>
            <a:pPr marL="228600" indent="-228600">
              <a:spcAft>
                <a:spcPts val="1200"/>
              </a:spcAft>
              <a:buSzPct val="100000"/>
              <a:buChar char="▪"/>
            </a:pPr>
            <a:r>
              <a:rPr lang="en-US" sz="1550" dirty="0">
                <a:solidFill>
                  <a:srgbClr val="1A2238"/>
                </a:solidFill>
                <a:latin typeface="Calibri" pitchFamily="34" charset="0"/>
                <a:ea typeface="Calibri" pitchFamily="34" charset="-122"/>
                <a:cs typeface="Calibri" pitchFamily="34" charset="-120"/>
              </a:rPr>
              <a:t>Dấu trừ là bắt buộc: −∇L mới là hướng GIẢM, vì ∇L tự nó chỉ hướng tăng — trực giác: quả bóng lăn xuống 'loss landscape' theo hướng ngược gradient</a:t>
            </a:r>
            <a:endParaRPr lang="en-US" sz="1550" dirty="0"/>
          </a:p>
        </p:txBody>
      </p:sp>
      <p:sp>
        <p:nvSpPr>
          <p:cNvPr id="7" name="Text 5"/>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5/31</a:t>
            </a:r>
            <a:endParaRPr lang="en-US" sz="900" dirty="0"/>
          </a:p>
        </p:txBody>
      </p:sp>
      <p:sp>
        <p:nvSpPr>
          <p:cNvPr id="8" name="Shape 6"/>
          <p:cNvSpPr/>
          <p:nvPr/>
        </p:nvSpPr>
        <p:spPr>
          <a:xfrm>
            <a:off x="595503" y="6459093"/>
            <a:ext cx="89154" cy="89154"/>
          </a:xfrm>
          <a:prstGeom prst="ellipse">
            <a:avLst/>
          </a:prstGeom>
          <a:solidFill>
            <a:srgbClr val="285AB4"/>
          </a:solidFill>
          <a:ln/>
        </p:spPr>
      </p:sp>
      <p:sp>
        <p:nvSpPr>
          <p:cNvPr id="9" name="Shape 7"/>
          <p:cNvSpPr/>
          <p:nvPr/>
        </p:nvSpPr>
        <p:spPr>
          <a:xfrm>
            <a:off x="829818" y="6473952"/>
            <a:ext cx="59436" cy="59436"/>
          </a:xfrm>
          <a:prstGeom prst="ellipse">
            <a:avLst/>
          </a:prstGeom>
          <a:solidFill>
            <a:srgbClr val="D9DEE8"/>
          </a:solidFill>
          <a:ln/>
        </p:spPr>
      </p:sp>
      <p:sp>
        <p:nvSpPr>
          <p:cNvPr id="10" name="Shape 8"/>
          <p:cNvSpPr/>
          <p:nvPr/>
        </p:nvSpPr>
        <p:spPr>
          <a:xfrm>
            <a:off x="1049274" y="6473952"/>
            <a:ext cx="59436" cy="59436"/>
          </a:xfrm>
          <a:prstGeom prst="ellipse">
            <a:avLst/>
          </a:prstGeom>
          <a:solidFill>
            <a:srgbClr val="D9DEE8"/>
          </a:solidFill>
          <a:ln/>
        </p:spPr>
      </p:sp>
      <p:sp>
        <p:nvSpPr>
          <p:cNvPr id="11" name="Shape 9"/>
          <p:cNvSpPr/>
          <p:nvPr/>
        </p:nvSpPr>
        <p:spPr>
          <a:xfrm>
            <a:off x="1268730" y="6473952"/>
            <a:ext cx="59436" cy="59436"/>
          </a:xfrm>
          <a:prstGeom prst="ellipse">
            <a:avLst/>
          </a:prstGeom>
          <a:solidFill>
            <a:srgbClr val="D9DEE8"/>
          </a:solidFill>
          <a:ln/>
        </p:spPr>
      </p:sp>
      <p:sp>
        <p:nvSpPr>
          <p:cNvPr id="12" name="Text 10"/>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MOTIVATION &amp; MATH</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NEURAL NETWORK</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Forward Propagation</a:t>
            </a:r>
            <a:endParaRPr lang="en-US" sz="2900" dirty="0"/>
          </a:p>
        </p:txBody>
      </p:sp>
      <p:sp>
        <p:nvSpPr>
          <p:cNvPr id="4" name="Shape 2"/>
          <p:cNvSpPr/>
          <p:nvPr/>
        </p:nvSpPr>
        <p:spPr>
          <a:xfrm>
            <a:off x="914400" y="1554480"/>
            <a:ext cx="1188720" cy="457200"/>
          </a:xfrm>
          <a:prstGeom prst="roundRect">
            <a:avLst>
              <a:gd name="adj" fmla="val 12000"/>
            </a:avLst>
          </a:prstGeom>
          <a:solidFill>
            <a:srgbClr val="F1F4F9"/>
          </a:solidFill>
          <a:ln w="15875">
            <a:solidFill>
              <a:srgbClr val="1A2238"/>
            </a:solidFill>
            <a:prstDash val="solid"/>
          </a:ln>
        </p:spPr>
      </p:sp>
      <p:sp>
        <p:nvSpPr>
          <p:cNvPr id="5" name="Text 3"/>
          <p:cNvSpPr txBox="1"/>
          <p:nvPr/>
        </p:nvSpPr>
        <p:spPr>
          <a:xfrm>
            <a:off x="914400" y="1554480"/>
            <a:ext cx="1188720" cy="457200"/>
          </a:xfrm>
          <a:prstGeom prst="rect">
            <a:avLst/>
          </a:prstGeom>
          <a:noFill/>
          <a:ln/>
        </p:spPr>
        <p:txBody>
          <a:bodyPr wrap="square" lIns="0" tIns="0" rIns="0" bIns="0" rtlCol="0" anchor="ctr"/>
          <a:lstStyle/>
          <a:p>
            <a:pPr algn="ctr" indent="0" marL="0">
              <a:buNone/>
            </a:pPr>
            <a:r>
              <a:rPr lang="en-US" sz="1300" dirty="0">
                <a:solidFill>
                  <a:srgbClr val="1A2238"/>
                </a:solidFill>
                <a:latin typeface="Cambria Math" pitchFamily="34" charset="0"/>
                <a:ea typeface="Cambria Math" pitchFamily="34" charset="-122"/>
                <a:cs typeface="Cambria Math" pitchFamily="34" charset="-120"/>
              </a:rPr>
              <a:t>x₁</a:t>
            </a:r>
            <a:endParaRPr lang="en-US" sz="1300" dirty="0"/>
          </a:p>
        </p:txBody>
      </p:sp>
      <p:sp>
        <p:nvSpPr>
          <p:cNvPr id="6" name="Shape 4"/>
          <p:cNvSpPr/>
          <p:nvPr/>
        </p:nvSpPr>
        <p:spPr>
          <a:xfrm>
            <a:off x="914400" y="2377440"/>
            <a:ext cx="1188720" cy="457200"/>
          </a:xfrm>
          <a:prstGeom prst="roundRect">
            <a:avLst>
              <a:gd name="adj" fmla="val 12000"/>
            </a:avLst>
          </a:prstGeom>
          <a:solidFill>
            <a:srgbClr val="F1F4F9"/>
          </a:solidFill>
          <a:ln w="15875">
            <a:solidFill>
              <a:srgbClr val="1A2238"/>
            </a:solidFill>
            <a:prstDash val="solid"/>
          </a:ln>
        </p:spPr>
      </p:sp>
      <p:sp>
        <p:nvSpPr>
          <p:cNvPr id="7" name="Text 5"/>
          <p:cNvSpPr txBox="1"/>
          <p:nvPr/>
        </p:nvSpPr>
        <p:spPr>
          <a:xfrm>
            <a:off x="914400" y="2377440"/>
            <a:ext cx="1188720" cy="457200"/>
          </a:xfrm>
          <a:prstGeom prst="rect">
            <a:avLst/>
          </a:prstGeom>
          <a:noFill/>
          <a:ln/>
        </p:spPr>
        <p:txBody>
          <a:bodyPr wrap="square" lIns="0" tIns="0" rIns="0" bIns="0" rtlCol="0" anchor="ctr"/>
          <a:lstStyle/>
          <a:p>
            <a:pPr algn="ctr" indent="0" marL="0">
              <a:buNone/>
            </a:pPr>
            <a:r>
              <a:rPr lang="en-US" sz="1300" dirty="0">
                <a:solidFill>
                  <a:srgbClr val="1A2238"/>
                </a:solidFill>
                <a:latin typeface="Cambria Math" pitchFamily="34" charset="0"/>
                <a:ea typeface="Cambria Math" pitchFamily="34" charset="-122"/>
                <a:cs typeface="Cambria Math" pitchFamily="34" charset="-120"/>
              </a:rPr>
              <a:t>x₂</a:t>
            </a:r>
            <a:endParaRPr lang="en-US" sz="1300" dirty="0"/>
          </a:p>
        </p:txBody>
      </p:sp>
      <p:sp>
        <p:nvSpPr>
          <p:cNvPr id="8" name="Shape 6"/>
          <p:cNvSpPr/>
          <p:nvPr/>
        </p:nvSpPr>
        <p:spPr>
          <a:xfrm>
            <a:off x="3291840" y="1965960"/>
            <a:ext cx="1188720" cy="548640"/>
          </a:xfrm>
          <a:prstGeom prst="roundRect">
            <a:avLst>
              <a:gd name="adj" fmla="val 10000"/>
            </a:avLst>
          </a:prstGeom>
          <a:solidFill>
            <a:srgbClr val="EAF0FB"/>
          </a:solidFill>
          <a:ln w="15875">
            <a:solidFill>
              <a:srgbClr val="285AB4"/>
            </a:solidFill>
            <a:prstDash val="solid"/>
          </a:ln>
        </p:spPr>
      </p:sp>
      <p:sp>
        <p:nvSpPr>
          <p:cNvPr id="9" name="Text 7"/>
          <p:cNvSpPr txBox="1"/>
          <p:nvPr/>
        </p:nvSpPr>
        <p:spPr>
          <a:xfrm>
            <a:off x="3291840" y="1965960"/>
            <a:ext cx="1188720" cy="548640"/>
          </a:xfrm>
          <a:prstGeom prst="rect">
            <a:avLst/>
          </a:prstGeom>
          <a:noFill/>
          <a:ln/>
        </p:spPr>
        <p:txBody>
          <a:bodyPr wrap="square" lIns="0" tIns="0" rIns="0" bIns="0" rtlCol="0" anchor="ctr"/>
          <a:lstStyle/>
          <a:p>
            <a:pPr algn="ctr" indent="0" marL="0">
              <a:buNone/>
            </a:pPr>
            <a:r>
              <a:rPr lang="en-US" sz="1300" dirty="0">
                <a:solidFill>
                  <a:srgbClr val="1A2238"/>
                </a:solidFill>
                <a:latin typeface="Cambria Math" pitchFamily="34" charset="0"/>
                <a:ea typeface="Cambria Math" pitchFamily="34" charset="-122"/>
                <a:cs typeface="Cambria Math" pitchFamily="34" charset="-120"/>
              </a:rPr>
              <a:t>z</a:t>
            </a:r>
            <a:endParaRPr lang="en-US" sz="1300" dirty="0"/>
          </a:p>
        </p:txBody>
      </p:sp>
      <p:sp>
        <p:nvSpPr>
          <p:cNvPr id="10" name="Shape 8"/>
          <p:cNvSpPr/>
          <p:nvPr/>
        </p:nvSpPr>
        <p:spPr>
          <a:xfrm>
            <a:off x="5303520" y="1965960"/>
            <a:ext cx="1554480" cy="548640"/>
          </a:xfrm>
          <a:prstGeom prst="roundRect">
            <a:avLst>
              <a:gd name="adj" fmla="val 10000"/>
            </a:avLst>
          </a:prstGeom>
          <a:solidFill>
            <a:srgbClr val="EAF0FB"/>
          </a:solidFill>
          <a:ln w="15875">
            <a:solidFill>
              <a:srgbClr val="285AB4"/>
            </a:solidFill>
            <a:prstDash val="solid"/>
          </a:ln>
        </p:spPr>
      </p:sp>
      <p:sp>
        <p:nvSpPr>
          <p:cNvPr id="11" name="Text 9"/>
          <p:cNvSpPr txBox="1"/>
          <p:nvPr/>
        </p:nvSpPr>
        <p:spPr>
          <a:xfrm>
            <a:off x="5303520" y="1965960"/>
            <a:ext cx="1554480" cy="548640"/>
          </a:xfrm>
          <a:prstGeom prst="rect">
            <a:avLst/>
          </a:prstGeom>
          <a:noFill/>
          <a:ln/>
        </p:spPr>
        <p:txBody>
          <a:bodyPr wrap="square" lIns="0" tIns="0" rIns="0" bIns="0" rtlCol="0" anchor="ctr"/>
          <a:lstStyle/>
          <a:p>
            <a:pPr algn="ctr" indent="0" marL="0">
              <a:buNone/>
            </a:pPr>
            <a:r>
              <a:rPr lang="en-US" sz="1200" dirty="0">
                <a:solidFill>
                  <a:srgbClr val="1A2238"/>
                </a:solidFill>
                <a:latin typeface="Cambria Math" pitchFamily="34" charset="0"/>
                <a:ea typeface="Cambria Math" pitchFamily="34" charset="-122"/>
                <a:cs typeface="Cambria Math" pitchFamily="34" charset="-120"/>
              </a:rPr>
              <a:t>activation</a:t>
            </a:r>
            <a:endParaRPr lang="en-US" sz="1200" dirty="0"/>
          </a:p>
        </p:txBody>
      </p:sp>
      <p:sp>
        <p:nvSpPr>
          <p:cNvPr id="12" name="Shape 10"/>
          <p:cNvSpPr/>
          <p:nvPr/>
        </p:nvSpPr>
        <p:spPr>
          <a:xfrm>
            <a:off x="7498080" y="1965960"/>
            <a:ext cx="1188720" cy="548640"/>
          </a:xfrm>
          <a:prstGeom prst="roundRect">
            <a:avLst>
              <a:gd name="adj" fmla="val 10000"/>
            </a:avLst>
          </a:prstGeom>
          <a:solidFill>
            <a:srgbClr val="FBEEEC"/>
          </a:solidFill>
          <a:ln w="15875">
            <a:solidFill>
              <a:srgbClr val="BE3C32"/>
            </a:solidFill>
            <a:prstDash val="solid"/>
          </a:ln>
        </p:spPr>
      </p:sp>
      <p:sp>
        <p:nvSpPr>
          <p:cNvPr id="13" name="Text 11"/>
          <p:cNvSpPr txBox="1"/>
          <p:nvPr/>
        </p:nvSpPr>
        <p:spPr>
          <a:xfrm>
            <a:off x="7498080" y="1965960"/>
            <a:ext cx="1188720" cy="548640"/>
          </a:xfrm>
          <a:prstGeom prst="rect">
            <a:avLst/>
          </a:prstGeom>
          <a:noFill/>
          <a:ln/>
        </p:spPr>
        <p:txBody>
          <a:bodyPr wrap="square" lIns="0" tIns="0" rIns="0" bIns="0" rtlCol="0" anchor="ctr"/>
          <a:lstStyle/>
          <a:p>
            <a:pPr algn="ctr" indent="0" marL="0">
              <a:buNone/>
            </a:pPr>
            <a:r>
              <a:rPr lang="en-US" sz="1300" dirty="0">
                <a:solidFill>
                  <a:srgbClr val="1A2238"/>
                </a:solidFill>
                <a:latin typeface="Cambria Math" pitchFamily="34" charset="0"/>
                <a:ea typeface="Cambria Math" pitchFamily="34" charset="-122"/>
                <a:cs typeface="Cambria Math" pitchFamily="34" charset="-120"/>
              </a:rPr>
              <a:t>ŷ → L</a:t>
            </a:r>
            <a:endParaRPr lang="en-US" sz="1300" dirty="0"/>
          </a:p>
        </p:txBody>
      </p:sp>
      <p:sp>
        <p:nvSpPr>
          <p:cNvPr id="14" name="Shape 12"/>
          <p:cNvSpPr/>
          <p:nvPr/>
        </p:nvSpPr>
        <p:spPr>
          <a:xfrm>
            <a:off x="2103120" y="1783080"/>
            <a:ext cx="1188720" cy="457200"/>
          </a:xfrm>
          <a:prstGeom prst="line">
            <a:avLst/>
          </a:prstGeom>
          <a:noFill/>
          <a:ln w="22225">
            <a:solidFill>
              <a:srgbClr val="285AB4"/>
            </a:solidFill>
            <a:prstDash val="solid"/>
            <a:tailEnd type="triangle"/>
          </a:ln>
        </p:spPr>
      </p:sp>
      <p:sp>
        <p:nvSpPr>
          <p:cNvPr id="15" name="Shape 13"/>
          <p:cNvSpPr/>
          <p:nvPr/>
        </p:nvSpPr>
        <p:spPr>
          <a:xfrm>
            <a:off x="2103120" y="2240280"/>
            <a:ext cx="1188720" cy="365760"/>
          </a:xfrm>
          <a:prstGeom prst="line">
            <a:avLst/>
          </a:prstGeom>
          <a:noFill/>
          <a:ln w="22225">
            <a:solidFill>
              <a:srgbClr val="285AB4"/>
            </a:solidFill>
            <a:prstDash val="solid"/>
            <a:headEnd type="triangle"/>
          </a:ln>
        </p:spPr>
      </p:sp>
      <p:sp>
        <p:nvSpPr>
          <p:cNvPr id="16" name="Shape 14"/>
          <p:cNvSpPr/>
          <p:nvPr/>
        </p:nvSpPr>
        <p:spPr>
          <a:xfrm>
            <a:off x="4480560" y="2240280"/>
            <a:ext cx="822960" cy="0"/>
          </a:xfrm>
          <a:prstGeom prst="line">
            <a:avLst/>
          </a:prstGeom>
          <a:noFill/>
          <a:ln w="22225">
            <a:solidFill>
              <a:srgbClr val="285AB4"/>
            </a:solidFill>
            <a:prstDash val="solid"/>
            <a:tailEnd type="triangle"/>
          </a:ln>
        </p:spPr>
      </p:sp>
      <p:sp>
        <p:nvSpPr>
          <p:cNvPr id="17" name="Shape 15"/>
          <p:cNvSpPr/>
          <p:nvPr/>
        </p:nvSpPr>
        <p:spPr>
          <a:xfrm>
            <a:off x="6858000" y="2240280"/>
            <a:ext cx="640080" cy="0"/>
          </a:xfrm>
          <a:prstGeom prst="line">
            <a:avLst/>
          </a:prstGeom>
          <a:noFill/>
          <a:ln w="22225">
            <a:solidFill>
              <a:srgbClr val="285AB4"/>
            </a:solidFill>
            <a:prstDash val="solid"/>
            <a:tailEnd type="triangle"/>
          </a:ln>
        </p:spPr>
      </p:sp>
      <p:sp>
        <p:nvSpPr>
          <p:cNvPr id="18" name="Shape 16"/>
          <p:cNvSpPr/>
          <p:nvPr/>
        </p:nvSpPr>
        <p:spPr>
          <a:xfrm>
            <a:off x="640080" y="3383280"/>
            <a:ext cx="10911535" cy="777240"/>
          </a:xfrm>
          <a:prstGeom prst="roundRect">
            <a:avLst>
              <a:gd name="adj" fmla="val 9412"/>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19" name="Text 17"/>
          <p:cNvSpPr txBox="1"/>
          <p:nvPr/>
        </p:nvSpPr>
        <p:spPr>
          <a:xfrm>
            <a:off x="868680" y="3383280"/>
            <a:ext cx="10454335" cy="777240"/>
          </a:xfrm>
          <a:prstGeom prst="rect">
            <a:avLst/>
          </a:prstGeom>
          <a:noFill/>
          <a:ln/>
        </p:spPr>
        <p:txBody>
          <a:bodyPr wrap="square" lIns="0" tIns="0" rIns="0" bIns="0" rtlCol="0" anchor="ctr"/>
          <a:lstStyle/>
          <a:p>
            <a:pPr algn="ctr" indent="0" marL="0">
              <a:buNone/>
            </a:pPr>
            <a:r>
              <a:rPr lang="en-US" sz="1700" dirty="0">
                <a:solidFill>
                  <a:srgbClr val="16213E"/>
                </a:solidFill>
                <a:latin typeface="Cambria Math" pitchFamily="34" charset="0"/>
                <a:ea typeface="Cambria Math" pitchFamily="34" charset="-122"/>
                <a:cs typeface="Cambria Math" pitchFamily="34" charset="-120"/>
              </a:rPr>
              <a:t>z = w₁x₁ + w₂x₂ + b        a = f(z)        L = L(a, y)</a:t>
            </a:r>
            <a:endParaRPr lang="en-US" sz="1700" dirty="0"/>
          </a:p>
        </p:txBody>
      </p:sp>
      <p:sp>
        <p:nvSpPr>
          <p:cNvPr id="20" name="Text 18"/>
          <p:cNvSpPr txBox="1"/>
          <p:nvPr/>
        </p:nvSpPr>
        <p:spPr>
          <a:xfrm>
            <a:off x="640080" y="4480560"/>
            <a:ext cx="10911535" cy="146304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2238"/>
                </a:solidFill>
                <a:latin typeface="Calibri" pitchFamily="34" charset="0"/>
                <a:ea typeface="Calibri" pitchFamily="34" charset="-122"/>
                <a:cs typeface="Calibri" pitchFamily="34" charset="-120"/>
              </a:rPr>
              <a:t>Forward pass CHƯA tính parameter gradients — nó tính output VÀ lưu lại các intermediate values/computational graph mà backward pass cần để tính gradient</a:t>
            </a:r>
            <a:endParaRPr lang="en-US" sz="1500" dirty="0"/>
          </a:p>
          <a:p>
            <a:pPr marL="228600" indent="-228600">
              <a:spcAft>
                <a:spcPts val="1000"/>
              </a:spcAft>
              <a:buSzPct val="100000"/>
              <a:buChar char="▪"/>
            </a:pPr>
            <a:r>
              <a:rPr lang="en-US" sz="1500" dirty="0">
                <a:solidFill>
                  <a:srgbClr val="1A2238"/>
                </a:solidFill>
                <a:latin typeface="Calibri" pitchFamily="34" charset="0"/>
                <a:ea typeface="Calibri" pitchFamily="34" charset="-122"/>
                <a:cs typeface="Calibri" pitchFamily="34" charset="-120"/>
              </a:rPr>
              <a:t>Mục tiêu cuối cùng: tính được ∂L/∂w₁ (và mọi tham số khác) để cập nhật bằng Gradient Descent</a:t>
            </a:r>
            <a:endParaRPr lang="en-US" sz="1500" dirty="0"/>
          </a:p>
        </p:txBody>
      </p:sp>
      <p:sp>
        <p:nvSpPr>
          <p:cNvPr id="21" name="Text 19"/>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6/31</a:t>
            </a:r>
            <a:endParaRPr lang="en-US" sz="900" dirty="0"/>
          </a:p>
        </p:txBody>
      </p:sp>
      <p:sp>
        <p:nvSpPr>
          <p:cNvPr id="22" name="Shape 20"/>
          <p:cNvSpPr/>
          <p:nvPr/>
        </p:nvSpPr>
        <p:spPr>
          <a:xfrm>
            <a:off x="595503" y="6459093"/>
            <a:ext cx="89154" cy="89154"/>
          </a:xfrm>
          <a:prstGeom prst="ellipse">
            <a:avLst/>
          </a:prstGeom>
          <a:solidFill>
            <a:srgbClr val="285AB4"/>
          </a:solidFill>
          <a:ln/>
        </p:spPr>
      </p:sp>
      <p:sp>
        <p:nvSpPr>
          <p:cNvPr id="23" name="Shape 21"/>
          <p:cNvSpPr/>
          <p:nvPr/>
        </p:nvSpPr>
        <p:spPr>
          <a:xfrm>
            <a:off x="829818" y="6473952"/>
            <a:ext cx="59436" cy="59436"/>
          </a:xfrm>
          <a:prstGeom prst="ellipse">
            <a:avLst/>
          </a:prstGeom>
          <a:solidFill>
            <a:srgbClr val="D9DEE8"/>
          </a:solidFill>
          <a:ln/>
        </p:spPr>
      </p:sp>
      <p:sp>
        <p:nvSpPr>
          <p:cNvPr id="24" name="Shape 22"/>
          <p:cNvSpPr/>
          <p:nvPr/>
        </p:nvSpPr>
        <p:spPr>
          <a:xfrm>
            <a:off x="1049274" y="6473952"/>
            <a:ext cx="59436" cy="59436"/>
          </a:xfrm>
          <a:prstGeom prst="ellipse">
            <a:avLst/>
          </a:prstGeom>
          <a:solidFill>
            <a:srgbClr val="D9DEE8"/>
          </a:solidFill>
          <a:ln/>
        </p:spPr>
      </p:sp>
      <p:sp>
        <p:nvSpPr>
          <p:cNvPr id="25" name="Shape 23"/>
          <p:cNvSpPr/>
          <p:nvPr/>
        </p:nvSpPr>
        <p:spPr>
          <a:xfrm>
            <a:off x="1268730" y="6473952"/>
            <a:ext cx="59436" cy="59436"/>
          </a:xfrm>
          <a:prstGeom prst="ellipse">
            <a:avLst/>
          </a:prstGeom>
          <a:solidFill>
            <a:srgbClr val="D9DEE8"/>
          </a:solidFill>
          <a:ln/>
        </p:spPr>
      </p:sp>
      <p:sp>
        <p:nvSpPr>
          <p:cNvPr id="26" name="Text 24"/>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MOTIVATION &amp; MATH</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BACKPROPAGATION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Chain Rule — trái tim của Backpropagation</a:t>
            </a:r>
            <a:endParaRPr lang="en-US" sz="2900" dirty="0"/>
          </a:p>
        </p:txBody>
      </p:sp>
      <p:sp>
        <p:nvSpPr>
          <p:cNvPr id="4" name="Shape 2"/>
          <p:cNvSpPr/>
          <p:nvPr/>
        </p:nvSpPr>
        <p:spPr>
          <a:xfrm>
            <a:off x="1554480" y="1828800"/>
            <a:ext cx="1463040" cy="502920"/>
          </a:xfrm>
          <a:prstGeom prst="roundRect">
            <a:avLst>
              <a:gd name="adj" fmla="val 10909"/>
            </a:avLst>
          </a:prstGeom>
          <a:solidFill>
            <a:srgbClr val="F1F4F9"/>
          </a:solidFill>
          <a:ln w="15875">
            <a:solidFill>
              <a:srgbClr val="D9DEE8"/>
            </a:solidFill>
            <a:prstDash val="solid"/>
          </a:ln>
        </p:spPr>
      </p:sp>
      <p:sp>
        <p:nvSpPr>
          <p:cNvPr id="5" name="Text 3"/>
          <p:cNvSpPr txBox="1"/>
          <p:nvPr/>
        </p:nvSpPr>
        <p:spPr>
          <a:xfrm>
            <a:off x="1554480" y="1828800"/>
            <a:ext cx="1463040" cy="502920"/>
          </a:xfrm>
          <a:prstGeom prst="rect">
            <a:avLst/>
          </a:prstGeom>
          <a:noFill/>
          <a:ln/>
        </p:spPr>
        <p:txBody>
          <a:bodyPr wrap="square" lIns="0" tIns="0" rIns="0" bIns="0" rtlCol="0" anchor="ctr"/>
          <a:lstStyle/>
          <a:p>
            <a:pPr algn="ctr" indent="0" marL="0">
              <a:buNone/>
            </a:pPr>
            <a:r>
              <a:rPr lang="en-US" sz="1300" dirty="0">
                <a:solidFill>
                  <a:srgbClr val="1A2238"/>
                </a:solidFill>
                <a:latin typeface="Cambria Math" pitchFamily="34" charset="0"/>
                <a:ea typeface="Cambria Math" pitchFamily="34" charset="-122"/>
                <a:cs typeface="Cambria Math" pitchFamily="34" charset="-120"/>
              </a:rPr>
              <a:t>w</a:t>
            </a:r>
            <a:endParaRPr lang="en-US" sz="1300" dirty="0"/>
          </a:p>
        </p:txBody>
      </p:sp>
      <p:sp>
        <p:nvSpPr>
          <p:cNvPr id="6" name="Shape 4"/>
          <p:cNvSpPr/>
          <p:nvPr/>
        </p:nvSpPr>
        <p:spPr>
          <a:xfrm>
            <a:off x="2286000" y="2331720"/>
            <a:ext cx="0" cy="384048"/>
          </a:xfrm>
          <a:prstGeom prst="line">
            <a:avLst/>
          </a:prstGeom>
          <a:noFill/>
          <a:ln w="25400">
            <a:solidFill>
              <a:srgbClr val="285AB4"/>
            </a:solidFill>
            <a:prstDash val="solid"/>
            <a:tailEnd type="triangle"/>
          </a:ln>
        </p:spPr>
      </p:sp>
      <p:sp>
        <p:nvSpPr>
          <p:cNvPr id="7" name="Shape 5"/>
          <p:cNvSpPr/>
          <p:nvPr/>
        </p:nvSpPr>
        <p:spPr>
          <a:xfrm>
            <a:off x="1554480" y="2715768"/>
            <a:ext cx="1463040" cy="502920"/>
          </a:xfrm>
          <a:prstGeom prst="roundRect">
            <a:avLst>
              <a:gd name="adj" fmla="val 10909"/>
            </a:avLst>
          </a:prstGeom>
          <a:solidFill>
            <a:srgbClr val="F1F4F9"/>
          </a:solidFill>
          <a:ln w="15875">
            <a:solidFill>
              <a:srgbClr val="D9DEE8"/>
            </a:solidFill>
            <a:prstDash val="solid"/>
          </a:ln>
        </p:spPr>
      </p:sp>
      <p:sp>
        <p:nvSpPr>
          <p:cNvPr id="8" name="Text 6"/>
          <p:cNvSpPr txBox="1"/>
          <p:nvPr/>
        </p:nvSpPr>
        <p:spPr>
          <a:xfrm>
            <a:off x="1554480" y="2715768"/>
            <a:ext cx="1463040" cy="502920"/>
          </a:xfrm>
          <a:prstGeom prst="rect">
            <a:avLst/>
          </a:prstGeom>
          <a:noFill/>
          <a:ln/>
        </p:spPr>
        <p:txBody>
          <a:bodyPr wrap="square" lIns="0" tIns="0" rIns="0" bIns="0" rtlCol="0" anchor="ctr"/>
          <a:lstStyle/>
          <a:p>
            <a:pPr algn="ctr" indent="0" marL="0">
              <a:buNone/>
            </a:pPr>
            <a:r>
              <a:rPr lang="en-US" sz="1300" dirty="0">
                <a:solidFill>
                  <a:srgbClr val="1A2238"/>
                </a:solidFill>
                <a:latin typeface="Cambria Math" pitchFamily="34" charset="0"/>
                <a:ea typeface="Cambria Math" pitchFamily="34" charset="-122"/>
                <a:cs typeface="Cambria Math" pitchFamily="34" charset="-120"/>
              </a:rPr>
              <a:t>z</a:t>
            </a:r>
            <a:endParaRPr lang="en-US" sz="1300" dirty="0"/>
          </a:p>
        </p:txBody>
      </p:sp>
      <p:sp>
        <p:nvSpPr>
          <p:cNvPr id="9" name="Shape 7"/>
          <p:cNvSpPr/>
          <p:nvPr/>
        </p:nvSpPr>
        <p:spPr>
          <a:xfrm>
            <a:off x="2286000" y="3218688"/>
            <a:ext cx="0" cy="384048"/>
          </a:xfrm>
          <a:prstGeom prst="line">
            <a:avLst/>
          </a:prstGeom>
          <a:noFill/>
          <a:ln w="25400">
            <a:solidFill>
              <a:srgbClr val="285AB4"/>
            </a:solidFill>
            <a:prstDash val="solid"/>
            <a:tailEnd type="triangle"/>
          </a:ln>
        </p:spPr>
      </p:sp>
      <p:sp>
        <p:nvSpPr>
          <p:cNvPr id="10" name="Shape 8"/>
          <p:cNvSpPr/>
          <p:nvPr/>
        </p:nvSpPr>
        <p:spPr>
          <a:xfrm>
            <a:off x="1554480" y="3602736"/>
            <a:ext cx="1463040" cy="502920"/>
          </a:xfrm>
          <a:prstGeom prst="roundRect">
            <a:avLst>
              <a:gd name="adj" fmla="val 10909"/>
            </a:avLst>
          </a:prstGeom>
          <a:solidFill>
            <a:srgbClr val="F1F4F9"/>
          </a:solidFill>
          <a:ln w="15875">
            <a:solidFill>
              <a:srgbClr val="D9DEE8"/>
            </a:solidFill>
            <a:prstDash val="solid"/>
          </a:ln>
        </p:spPr>
      </p:sp>
      <p:sp>
        <p:nvSpPr>
          <p:cNvPr id="11" name="Text 9"/>
          <p:cNvSpPr txBox="1"/>
          <p:nvPr/>
        </p:nvSpPr>
        <p:spPr>
          <a:xfrm>
            <a:off x="1554480" y="3602736"/>
            <a:ext cx="1463040" cy="502920"/>
          </a:xfrm>
          <a:prstGeom prst="rect">
            <a:avLst/>
          </a:prstGeom>
          <a:noFill/>
          <a:ln/>
        </p:spPr>
        <p:txBody>
          <a:bodyPr wrap="square" lIns="0" tIns="0" rIns="0" bIns="0" rtlCol="0" anchor="ctr"/>
          <a:lstStyle/>
          <a:p>
            <a:pPr algn="ctr" indent="0" marL="0">
              <a:buNone/>
            </a:pPr>
            <a:r>
              <a:rPr lang="en-US" sz="1300" dirty="0">
                <a:solidFill>
                  <a:srgbClr val="1A2238"/>
                </a:solidFill>
                <a:latin typeface="Cambria Math" pitchFamily="34" charset="0"/>
                <a:ea typeface="Cambria Math" pitchFamily="34" charset="-122"/>
                <a:cs typeface="Cambria Math" pitchFamily="34" charset="-120"/>
              </a:rPr>
              <a:t>a</a:t>
            </a:r>
            <a:endParaRPr lang="en-US" sz="1300" dirty="0"/>
          </a:p>
        </p:txBody>
      </p:sp>
      <p:sp>
        <p:nvSpPr>
          <p:cNvPr id="12" name="Shape 10"/>
          <p:cNvSpPr/>
          <p:nvPr/>
        </p:nvSpPr>
        <p:spPr>
          <a:xfrm>
            <a:off x="2286000" y="4105656"/>
            <a:ext cx="0" cy="384048"/>
          </a:xfrm>
          <a:prstGeom prst="line">
            <a:avLst/>
          </a:prstGeom>
          <a:noFill/>
          <a:ln w="25400">
            <a:solidFill>
              <a:srgbClr val="285AB4"/>
            </a:solidFill>
            <a:prstDash val="solid"/>
            <a:tailEnd type="triangle"/>
          </a:ln>
        </p:spPr>
      </p:sp>
      <p:sp>
        <p:nvSpPr>
          <p:cNvPr id="13" name="Shape 11"/>
          <p:cNvSpPr/>
          <p:nvPr/>
        </p:nvSpPr>
        <p:spPr>
          <a:xfrm>
            <a:off x="1554480" y="4489704"/>
            <a:ext cx="1463040" cy="502920"/>
          </a:xfrm>
          <a:prstGeom prst="roundRect">
            <a:avLst>
              <a:gd name="adj" fmla="val 10909"/>
            </a:avLst>
          </a:prstGeom>
          <a:solidFill>
            <a:srgbClr val="FBEEEC"/>
          </a:solidFill>
          <a:ln w="15875">
            <a:solidFill>
              <a:srgbClr val="BE3C32"/>
            </a:solidFill>
            <a:prstDash val="solid"/>
          </a:ln>
        </p:spPr>
      </p:sp>
      <p:sp>
        <p:nvSpPr>
          <p:cNvPr id="14" name="Text 12"/>
          <p:cNvSpPr txBox="1"/>
          <p:nvPr/>
        </p:nvSpPr>
        <p:spPr>
          <a:xfrm>
            <a:off x="1554480" y="4489704"/>
            <a:ext cx="1463040" cy="502920"/>
          </a:xfrm>
          <a:prstGeom prst="rect">
            <a:avLst/>
          </a:prstGeom>
          <a:noFill/>
          <a:ln/>
        </p:spPr>
        <p:txBody>
          <a:bodyPr wrap="square" lIns="0" tIns="0" rIns="0" bIns="0" rtlCol="0" anchor="ctr"/>
          <a:lstStyle/>
          <a:p>
            <a:pPr algn="ctr" indent="0" marL="0">
              <a:buNone/>
            </a:pPr>
            <a:r>
              <a:rPr lang="en-US" sz="1300" dirty="0">
                <a:solidFill>
                  <a:srgbClr val="1A2238"/>
                </a:solidFill>
                <a:latin typeface="Cambria Math" pitchFamily="34" charset="0"/>
                <a:ea typeface="Cambria Math" pitchFamily="34" charset="-122"/>
                <a:cs typeface="Cambria Math" pitchFamily="34" charset="-120"/>
              </a:rPr>
              <a:t>L</a:t>
            </a:r>
            <a:endParaRPr lang="en-US" sz="1300" dirty="0"/>
          </a:p>
        </p:txBody>
      </p:sp>
      <p:sp>
        <p:nvSpPr>
          <p:cNvPr id="15" name="Text 13"/>
          <p:cNvSpPr txBox="1"/>
          <p:nvPr/>
        </p:nvSpPr>
        <p:spPr>
          <a:xfrm>
            <a:off x="1371600" y="1325880"/>
            <a:ext cx="3108960" cy="365760"/>
          </a:xfrm>
          <a:prstGeom prst="rect">
            <a:avLst/>
          </a:prstGeom>
          <a:noFill/>
          <a:ln/>
        </p:spPr>
        <p:txBody>
          <a:bodyPr wrap="square" lIns="0" tIns="0" rIns="0" bIns="0" rtlCol="0" anchor="ctr"/>
          <a:lstStyle/>
          <a:p>
            <a:pPr indent="0" marL="0">
              <a:buNone/>
            </a:pPr>
            <a:r>
              <a:rPr lang="en-US" sz="1250" i="1" dirty="0">
                <a:solidFill>
                  <a:srgbClr val="5B6478"/>
                </a:solidFill>
                <a:latin typeface="Calibri" pitchFamily="34" charset="0"/>
                <a:ea typeface="Calibri" pitchFamily="34" charset="-122"/>
                <a:cs typeface="Calibri" pitchFamily="34" charset="-120"/>
              </a:rPr>
              <a:t>Forward: mỗi mũi tên là 1 phép biến đổi</a:t>
            </a:r>
            <a:endParaRPr lang="en-US" sz="1250" dirty="0"/>
          </a:p>
        </p:txBody>
      </p:sp>
      <p:sp>
        <p:nvSpPr>
          <p:cNvPr id="16" name="Shape 14"/>
          <p:cNvSpPr/>
          <p:nvPr/>
        </p:nvSpPr>
        <p:spPr>
          <a:xfrm>
            <a:off x="3931920" y="2651760"/>
            <a:ext cx="7619695" cy="914400"/>
          </a:xfrm>
          <a:prstGeom prst="roundRect">
            <a:avLst>
              <a:gd name="adj" fmla="val 8000"/>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17" name="Text 15"/>
          <p:cNvSpPr txBox="1"/>
          <p:nvPr/>
        </p:nvSpPr>
        <p:spPr>
          <a:xfrm>
            <a:off x="4160520" y="2651760"/>
            <a:ext cx="7162495" cy="914400"/>
          </a:xfrm>
          <a:prstGeom prst="rect">
            <a:avLst/>
          </a:prstGeom>
          <a:noFill/>
          <a:ln/>
        </p:spPr>
        <p:txBody>
          <a:bodyPr wrap="square" lIns="0" tIns="0" rIns="0" bIns="0" rtlCol="0" anchor="ctr"/>
          <a:lstStyle/>
          <a:p>
            <a:pPr algn="ctr" indent="0" marL="0">
              <a:buNone/>
            </a:pPr>
            <a:r>
              <a:rPr lang="en-US" sz="1900" dirty="0">
                <a:solidFill>
                  <a:srgbClr val="16213E"/>
                </a:solidFill>
                <a:latin typeface="Cambria Math" pitchFamily="34" charset="0"/>
                <a:ea typeface="Cambria Math" pitchFamily="34" charset="-122"/>
                <a:cs typeface="Cambria Math" pitchFamily="34" charset="-120"/>
              </a:rPr>
              <a:t>∂L/∂w  =  (∂L/∂a) · (∂a/∂z) · (∂z/∂w)</a:t>
            </a:r>
            <a:endParaRPr lang="en-US" sz="1900" dirty="0"/>
          </a:p>
        </p:txBody>
      </p:sp>
      <p:sp>
        <p:nvSpPr>
          <p:cNvPr id="18" name="Text 16"/>
          <p:cNvSpPr txBox="1"/>
          <p:nvPr/>
        </p:nvSpPr>
        <p:spPr>
          <a:xfrm>
            <a:off x="3931920" y="3840480"/>
            <a:ext cx="7619695" cy="13716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2238"/>
                </a:solidFill>
                <a:latin typeface="Calibri" pitchFamily="34" charset="0"/>
                <a:ea typeface="Calibri" pitchFamily="34" charset="-122"/>
                <a:cs typeface="Calibri" pitchFamily="34" charset="-120"/>
              </a:rPr>
              <a:t>Muốn biết w ảnh hưởng L thế nào, ta NHÂN các đạo hàm cục bộ dọc theo đường đi w → z → a → L</a:t>
            </a:r>
            <a:endParaRPr lang="en-US" sz="1500" dirty="0"/>
          </a:p>
          <a:p>
            <a:pPr marL="228600" indent="-228600">
              <a:spcAft>
                <a:spcPts val="1000"/>
              </a:spcAft>
              <a:buSzPct val="100000"/>
              <a:buChar char="▪"/>
            </a:pPr>
            <a:r>
              <a:rPr lang="en-US" sz="1500" dirty="0">
                <a:solidFill>
                  <a:srgbClr val="1A2238"/>
                </a:solidFill>
                <a:latin typeface="Calibri" pitchFamily="34" charset="0"/>
                <a:ea typeface="Calibri" pitchFamily="34" charset="-122"/>
                <a:cs typeface="Calibri" pitchFamily="34" charset="-120"/>
              </a:rPr>
              <a:t>Đây chính là ý tưởng cốt lõi của Backpropagation: đi ngược đồ thị, nhân dồn đạo hàm cục bộ</a:t>
            </a:r>
            <a:endParaRPr lang="en-US" sz="1500" dirty="0"/>
          </a:p>
        </p:txBody>
      </p:sp>
      <p:sp>
        <p:nvSpPr>
          <p:cNvPr id="19" name="Text 17"/>
          <p:cNvSpPr txBox="1"/>
          <p:nvPr/>
        </p:nvSpPr>
        <p:spPr>
          <a:xfrm>
            <a:off x="3931920" y="5532120"/>
            <a:ext cx="7619695" cy="822960"/>
          </a:xfrm>
          <a:prstGeom prst="rect">
            <a:avLst/>
          </a:prstGeom>
          <a:noFill/>
          <a:ln/>
        </p:spPr>
        <p:txBody>
          <a:bodyPr wrap="square" lIns="0" tIns="0" rIns="0" bIns="0" rtlCol="0" anchor="ctr"/>
          <a:lstStyle/>
          <a:p>
            <a:pPr indent="0" marL="0">
              <a:buNone/>
            </a:pPr>
            <a:r>
              <a:rPr lang="en-US" sz="1150" i="1" dirty="0">
                <a:solidFill>
                  <a:srgbClr val="5B6478"/>
                </a:solidFill>
                <a:latin typeface="Calibri" pitchFamily="34" charset="0"/>
                <a:ea typeface="Calibri" pitchFamily="34" charset="-122"/>
                <a:cs typeface="Calibri" pitchFamily="34" charset="-120"/>
              </a:rPr>
              <a:t>Trong mạng thực tế, activation/parameter là vector/ma trận — Backpropagation áp dụng multivariable chain rule qua Jacobian/vector-Jacobian product; PyTorch autograd làm việc này tự động.</a:t>
            </a:r>
            <a:endParaRPr lang="en-US" sz="1150" dirty="0"/>
          </a:p>
        </p:txBody>
      </p:sp>
      <p:sp>
        <p:nvSpPr>
          <p:cNvPr id="20" name="Text 18"/>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7/31</a:t>
            </a:r>
            <a:endParaRPr lang="en-US" sz="900" dirty="0"/>
          </a:p>
        </p:txBody>
      </p:sp>
      <p:sp>
        <p:nvSpPr>
          <p:cNvPr id="21" name="Shape 19"/>
          <p:cNvSpPr/>
          <p:nvPr/>
        </p:nvSpPr>
        <p:spPr>
          <a:xfrm>
            <a:off x="595503" y="6459093"/>
            <a:ext cx="89154" cy="89154"/>
          </a:xfrm>
          <a:prstGeom prst="ellipse">
            <a:avLst/>
          </a:prstGeom>
          <a:solidFill>
            <a:srgbClr val="285AB4"/>
          </a:solidFill>
          <a:ln/>
        </p:spPr>
      </p:sp>
      <p:sp>
        <p:nvSpPr>
          <p:cNvPr id="22" name="Shape 20"/>
          <p:cNvSpPr/>
          <p:nvPr/>
        </p:nvSpPr>
        <p:spPr>
          <a:xfrm>
            <a:off x="829818" y="6473952"/>
            <a:ext cx="59436" cy="59436"/>
          </a:xfrm>
          <a:prstGeom prst="ellipse">
            <a:avLst/>
          </a:prstGeom>
          <a:solidFill>
            <a:srgbClr val="D9DEE8"/>
          </a:solidFill>
          <a:ln/>
        </p:spPr>
      </p:sp>
      <p:sp>
        <p:nvSpPr>
          <p:cNvPr id="23" name="Shape 21"/>
          <p:cNvSpPr/>
          <p:nvPr/>
        </p:nvSpPr>
        <p:spPr>
          <a:xfrm>
            <a:off x="1049274" y="6473952"/>
            <a:ext cx="59436" cy="59436"/>
          </a:xfrm>
          <a:prstGeom prst="ellipse">
            <a:avLst/>
          </a:prstGeom>
          <a:solidFill>
            <a:srgbClr val="D9DEE8"/>
          </a:solidFill>
          <a:ln/>
        </p:spPr>
      </p:sp>
      <p:sp>
        <p:nvSpPr>
          <p:cNvPr id="24" name="Shape 22"/>
          <p:cNvSpPr/>
          <p:nvPr/>
        </p:nvSpPr>
        <p:spPr>
          <a:xfrm>
            <a:off x="1268730" y="6473952"/>
            <a:ext cx="59436" cy="59436"/>
          </a:xfrm>
          <a:prstGeom prst="ellipse">
            <a:avLst/>
          </a:prstGeom>
          <a:solidFill>
            <a:srgbClr val="D9DEE8"/>
          </a:solidFill>
          <a:ln/>
        </p:spPr>
      </p:sp>
      <p:sp>
        <p:nvSpPr>
          <p:cNvPr id="25" name="Text 23"/>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MOTIVATION &amp; MATH</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BACKPROPAGATION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Backpropagation Example</a:t>
            </a:r>
            <a:endParaRPr lang="en-US" sz="2900" dirty="0"/>
          </a:p>
        </p:txBody>
      </p:sp>
      <p:sp>
        <p:nvSpPr>
          <p:cNvPr id="4" name="Shape 2"/>
          <p:cNvSpPr/>
          <p:nvPr/>
        </p:nvSpPr>
        <p:spPr>
          <a:xfrm>
            <a:off x="1005840" y="2011680"/>
            <a:ext cx="1188720" cy="502920"/>
          </a:xfrm>
          <a:prstGeom prst="roundRect">
            <a:avLst>
              <a:gd name="adj" fmla="val 10909"/>
            </a:avLst>
          </a:prstGeom>
          <a:solidFill>
            <a:srgbClr val="F1F4F9"/>
          </a:solidFill>
          <a:ln w="15875">
            <a:solidFill>
              <a:srgbClr val="1A2238"/>
            </a:solidFill>
            <a:prstDash val="solid"/>
          </a:ln>
        </p:spPr>
      </p:sp>
      <p:sp>
        <p:nvSpPr>
          <p:cNvPr id="5" name="Text 3"/>
          <p:cNvSpPr txBox="1"/>
          <p:nvPr/>
        </p:nvSpPr>
        <p:spPr>
          <a:xfrm>
            <a:off x="1005840" y="2011680"/>
            <a:ext cx="1188720" cy="502920"/>
          </a:xfrm>
          <a:prstGeom prst="rect">
            <a:avLst/>
          </a:prstGeom>
          <a:noFill/>
          <a:ln/>
        </p:spPr>
        <p:txBody>
          <a:bodyPr wrap="square" lIns="0" tIns="0" rIns="0" bIns="0" rtlCol="0" anchor="ctr"/>
          <a:lstStyle/>
          <a:p>
            <a:pPr algn="ctr" indent="0" marL="0">
              <a:buNone/>
            </a:pPr>
            <a:r>
              <a:rPr lang="en-US" sz="1300" dirty="0">
                <a:solidFill>
                  <a:srgbClr val="1A2238"/>
                </a:solidFill>
                <a:latin typeface="Cambria Math" pitchFamily="34" charset="0"/>
                <a:ea typeface="Cambria Math" pitchFamily="34" charset="-122"/>
                <a:cs typeface="Cambria Math" pitchFamily="34" charset="-120"/>
              </a:rPr>
              <a:t>x = 2</a:t>
            </a:r>
            <a:endParaRPr lang="en-US" sz="1300" dirty="0"/>
          </a:p>
        </p:txBody>
      </p:sp>
      <p:sp>
        <p:nvSpPr>
          <p:cNvPr id="6" name="Shape 4"/>
          <p:cNvSpPr/>
          <p:nvPr/>
        </p:nvSpPr>
        <p:spPr>
          <a:xfrm>
            <a:off x="2743200" y="2834640"/>
            <a:ext cx="1188720" cy="502920"/>
          </a:xfrm>
          <a:prstGeom prst="roundRect">
            <a:avLst>
              <a:gd name="adj" fmla="val 10909"/>
            </a:avLst>
          </a:prstGeom>
          <a:solidFill>
            <a:srgbClr val="F1F4F9"/>
          </a:solidFill>
          <a:ln w="15875">
            <a:solidFill>
              <a:srgbClr val="1A2238"/>
            </a:solidFill>
            <a:prstDash val="solid"/>
          </a:ln>
        </p:spPr>
      </p:sp>
      <p:sp>
        <p:nvSpPr>
          <p:cNvPr id="7" name="Text 5"/>
          <p:cNvSpPr txBox="1"/>
          <p:nvPr/>
        </p:nvSpPr>
        <p:spPr>
          <a:xfrm>
            <a:off x="2743200" y="2834640"/>
            <a:ext cx="1188720" cy="502920"/>
          </a:xfrm>
          <a:prstGeom prst="rect">
            <a:avLst/>
          </a:prstGeom>
          <a:noFill/>
          <a:ln/>
        </p:spPr>
        <p:txBody>
          <a:bodyPr wrap="square" lIns="0" tIns="0" rIns="0" bIns="0" rtlCol="0" anchor="ctr"/>
          <a:lstStyle/>
          <a:p>
            <a:pPr algn="ctr" indent="0" marL="0">
              <a:buNone/>
            </a:pPr>
            <a:r>
              <a:rPr lang="en-US" sz="1300" dirty="0">
                <a:solidFill>
                  <a:srgbClr val="1A2238"/>
                </a:solidFill>
                <a:latin typeface="Cambria Math" pitchFamily="34" charset="0"/>
                <a:ea typeface="Cambria Math" pitchFamily="34" charset="-122"/>
                <a:cs typeface="Cambria Math" pitchFamily="34" charset="-120"/>
              </a:rPr>
              <a:t>w = 3</a:t>
            </a:r>
            <a:endParaRPr lang="en-US" sz="1300" dirty="0"/>
          </a:p>
        </p:txBody>
      </p:sp>
      <p:sp>
        <p:nvSpPr>
          <p:cNvPr id="8" name="Shape 6"/>
          <p:cNvSpPr/>
          <p:nvPr/>
        </p:nvSpPr>
        <p:spPr>
          <a:xfrm>
            <a:off x="4480560" y="2011680"/>
            <a:ext cx="1188720" cy="502920"/>
          </a:xfrm>
          <a:prstGeom prst="roundRect">
            <a:avLst>
              <a:gd name="adj" fmla="val 10909"/>
            </a:avLst>
          </a:prstGeom>
          <a:solidFill>
            <a:srgbClr val="EAF0FB"/>
          </a:solidFill>
          <a:ln w="15875">
            <a:solidFill>
              <a:srgbClr val="285AB4"/>
            </a:solidFill>
            <a:prstDash val="solid"/>
          </a:ln>
        </p:spPr>
      </p:sp>
      <p:sp>
        <p:nvSpPr>
          <p:cNvPr id="9" name="Text 7"/>
          <p:cNvSpPr txBox="1"/>
          <p:nvPr/>
        </p:nvSpPr>
        <p:spPr>
          <a:xfrm>
            <a:off x="4480560" y="2011680"/>
            <a:ext cx="1188720" cy="502920"/>
          </a:xfrm>
          <a:prstGeom prst="rect">
            <a:avLst/>
          </a:prstGeom>
          <a:noFill/>
          <a:ln/>
        </p:spPr>
        <p:txBody>
          <a:bodyPr wrap="square" lIns="0" tIns="0" rIns="0" bIns="0" rtlCol="0" anchor="ctr"/>
          <a:lstStyle/>
          <a:p>
            <a:pPr algn="ctr" indent="0" marL="0">
              <a:buNone/>
            </a:pPr>
            <a:r>
              <a:rPr lang="en-US" sz="1300" dirty="0">
                <a:solidFill>
                  <a:srgbClr val="1A2238"/>
                </a:solidFill>
                <a:latin typeface="Cambria Math" pitchFamily="34" charset="0"/>
                <a:ea typeface="Cambria Math" pitchFamily="34" charset="-122"/>
                <a:cs typeface="Cambria Math" pitchFamily="34" charset="-120"/>
              </a:rPr>
              <a:t>z = wx</a:t>
            </a:r>
            <a:endParaRPr lang="en-US" sz="1300" dirty="0"/>
          </a:p>
        </p:txBody>
      </p:sp>
      <p:sp>
        <p:nvSpPr>
          <p:cNvPr id="10" name="Shape 8"/>
          <p:cNvSpPr/>
          <p:nvPr/>
        </p:nvSpPr>
        <p:spPr>
          <a:xfrm>
            <a:off x="6217920" y="2011680"/>
            <a:ext cx="1188720" cy="502920"/>
          </a:xfrm>
          <a:prstGeom prst="roundRect">
            <a:avLst>
              <a:gd name="adj" fmla="val 10909"/>
            </a:avLst>
          </a:prstGeom>
          <a:solidFill>
            <a:srgbClr val="FBEEEC"/>
          </a:solidFill>
          <a:ln w="15875">
            <a:solidFill>
              <a:srgbClr val="BE3C32"/>
            </a:solidFill>
            <a:prstDash val="solid"/>
          </a:ln>
        </p:spPr>
      </p:sp>
      <p:sp>
        <p:nvSpPr>
          <p:cNvPr id="11" name="Text 9"/>
          <p:cNvSpPr txBox="1"/>
          <p:nvPr/>
        </p:nvSpPr>
        <p:spPr>
          <a:xfrm>
            <a:off x="6217920" y="2011680"/>
            <a:ext cx="1188720" cy="502920"/>
          </a:xfrm>
          <a:prstGeom prst="rect">
            <a:avLst/>
          </a:prstGeom>
          <a:noFill/>
          <a:ln/>
        </p:spPr>
        <p:txBody>
          <a:bodyPr wrap="square" lIns="0" tIns="0" rIns="0" bIns="0" rtlCol="0" anchor="ctr"/>
          <a:lstStyle/>
          <a:p>
            <a:pPr algn="ctr" indent="0" marL="0">
              <a:buNone/>
            </a:pPr>
            <a:r>
              <a:rPr lang="en-US" sz="1300" dirty="0">
                <a:solidFill>
                  <a:srgbClr val="1A2238"/>
                </a:solidFill>
                <a:latin typeface="Cambria Math" pitchFamily="34" charset="0"/>
                <a:ea typeface="Cambria Math" pitchFamily="34" charset="-122"/>
                <a:cs typeface="Cambria Math" pitchFamily="34" charset="-120"/>
              </a:rPr>
              <a:t>y = z²</a:t>
            </a:r>
            <a:endParaRPr lang="en-US" sz="1300" dirty="0"/>
          </a:p>
        </p:txBody>
      </p:sp>
      <p:sp>
        <p:nvSpPr>
          <p:cNvPr id="12" name="Shape 10"/>
          <p:cNvSpPr/>
          <p:nvPr/>
        </p:nvSpPr>
        <p:spPr>
          <a:xfrm>
            <a:off x="2194560" y="2263140"/>
            <a:ext cx="2286000" cy="0"/>
          </a:xfrm>
          <a:prstGeom prst="line">
            <a:avLst/>
          </a:prstGeom>
          <a:noFill/>
          <a:ln w="25400">
            <a:solidFill>
              <a:srgbClr val="285AB4"/>
            </a:solidFill>
            <a:prstDash val="solid"/>
            <a:tailEnd type="triangle"/>
          </a:ln>
        </p:spPr>
      </p:sp>
      <p:sp>
        <p:nvSpPr>
          <p:cNvPr id="13" name="Shape 11"/>
          <p:cNvSpPr/>
          <p:nvPr/>
        </p:nvSpPr>
        <p:spPr>
          <a:xfrm>
            <a:off x="3337560" y="2514600"/>
            <a:ext cx="1737360" cy="320040"/>
          </a:xfrm>
          <a:prstGeom prst="line">
            <a:avLst/>
          </a:prstGeom>
          <a:noFill/>
          <a:ln w="25400">
            <a:solidFill>
              <a:srgbClr val="285AB4"/>
            </a:solidFill>
            <a:prstDash val="solid"/>
            <a:headEnd type="triangle"/>
          </a:ln>
        </p:spPr>
      </p:sp>
      <p:sp>
        <p:nvSpPr>
          <p:cNvPr id="14" name="Shape 12"/>
          <p:cNvSpPr/>
          <p:nvPr/>
        </p:nvSpPr>
        <p:spPr>
          <a:xfrm>
            <a:off x="5669280" y="2263140"/>
            <a:ext cx="548640" cy="0"/>
          </a:xfrm>
          <a:prstGeom prst="line">
            <a:avLst/>
          </a:prstGeom>
          <a:noFill/>
          <a:ln w="25400">
            <a:solidFill>
              <a:srgbClr val="285AB4"/>
            </a:solidFill>
            <a:prstDash val="solid"/>
            <a:tailEnd type="triangle"/>
          </a:ln>
        </p:spPr>
      </p:sp>
      <p:sp>
        <p:nvSpPr>
          <p:cNvPr id="15" name="Text 13"/>
          <p:cNvSpPr txBox="1"/>
          <p:nvPr/>
        </p:nvSpPr>
        <p:spPr>
          <a:xfrm>
            <a:off x="640080" y="3566160"/>
            <a:ext cx="10911535" cy="365760"/>
          </a:xfrm>
          <a:prstGeom prst="rect">
            <a:avLst/>
          </a:prstGeom>
          <a:noFill/>
          <a:ln/>
        </p:spPr>
        <p:txBody>
          <a:bodyPr wrap="square" lIns="0" tIns="0" rIns="0" bIns="0" rtlCol="0" anchor="ctr"/>
          <a:lstStyle/>
          <a:p>
            <a:pPr indent="0" marL="0">
              <a:buNone/>
            </a:pPr>
            <a:r>
              <a:rPr lang="en-US" sz="1550" dirty="0">
                <a:solidFill>
                  <a:srgbClr val="1A2238"/>
                </a:solidFill>
                <a:latin typeface="Cambria Math" pitchFamily="34" charset="0"/>
                <a:ea typeface="Cambria Math" pitchFamily="34" charset="-122"/>
                <a:cs typeface="Cambria Math" pitchFamily="34" charset="-120"/>
              </a:rPr>
              <a:t>Forward:  z = 3×2 = 6      y = 6² = 36</a:t>
            </a:r>
            <a:endParaRPr lang="en-US" sz="1550" dirty="0"/>
          </a:p>
        </p:txBody>
      </p:sp>
      <p:sp>
        <p:nvSpPr>
          <p:cNvPr id="16" name="Shape 14"/>
          <p:cNvSpPr/>
          <p:nvPr/>
        </p:nvSpPr>
        <p:spPr>
          <a:xfrm>
            <a:off x="5074920" y="2560320"/>
            <a:ext cx="1737360" cy="457200"/>
          </a:xfrm>
          <a:prstGeom prst="line">
            <a:avLst/>
          </a:prstGeom>
          <a:noFill/>
          <a:ln w="28575">
            <a:solidFill>
              <a:srgbClr val="BE3C32"/>
            </a:solidFill>
            <a:prstDash val="dash"/>
            <a:headEnd type="triangle"/>
          </a:ln>
        </p:spPr>
      </p:sp>
      <p:sp>
        <p:nvSpPr>
          <p:cNvPr id="17" name="Shape 15"/>
          <p:cNvSpPr/>
          <p:nvPr/>
        </p:nvSpPr>
        <p:spPr>
          <a:xfrm>
            <a:off x="3337560" y="3017520"/>
            <a:ext cx="1737360" cy="320040"/>
          </a:xfrm>
          <a:prstGeom prst="line">
            <a:avLst/>
          </a:prstGeom>
          <a:noFill/>
          <a:ln w="28575">
            <a:solidFill>
              <a:srgbClr val="BE3C32"/>
            </a:solidFill>
            <a:prstDash val="dash"/>
            <a:headEnd type="triangle"/>
          </a:ln>
        </p:spPr>
      </p:sp>
      <p:sp>
        <p:nvSpPr>
          <p:cNvPr id="18" name="Shape 16"/>
          <p:cNvSpPr/>
          <p:nvPr/>
        </p:nvSpPr>
        <p:spPr>
          <a:xfrm>
            <a:off x="640080" y="4480560"/>
            <a:ext cx="10911535" cy="914400"/>
          </a:xfrm>
          <a:prstGeom prst="roundRect">
            <a:avLst>
              <a:gd name="adj" fmla="val 8000"/>
            </a:avLst>
          </a:prstGeom>
          <a:solidFill>
            <a:srgbClr val="FBEEEC"/>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19" name="Text 17"/>
          <p:cNvSpPr txBox="1"/>
          <p:nvPr/>
        </p:nvSpPr>
        <p:spPr>
          <a:xfrm>
            <a:off x="868680" y="4480560"/>
            <a:ext cx="10454335" cy="914400"/>
          </a:xfrm>
          <a:prstGeom prst="rect">
            <a:avLst/>
          </a:prstGeom>
          <a:noFill/>
          <a:ln/>
        </p:spPr>
        <p:txBody>
          <a:bodyPr wrap="square" lIns="0" tIns="0" rIns="0" bIns="0" rtlCol="0" anchor="ctr"/>
          <a:lstStyle/>
          <a:p>
            <a:pPr algn="ctr" indent="0" marL="0">
              <a:buNone/>
            </a:pPr>
            <a:r>
              <a:rPr lang="en-US" sz="1700" dirty="0">
                <a:solidFill>
                  <a:srgbClr val="BE3C32"/>
                </a:solidFill>
                <a:latin typeface="Cambria Math" pitchFamily="34" charset="0"/>
                <a:ea typeface="Cambria Math" pitchFamily="34" charset="-122"/>
                <a:cs typeface="Cambria Math" pitchFamily="34" charset="-120"/>
              </a:rPr>
              <a:t>∂y/∂z = 2z = 12          ∂z/∂w = x = 2          ⇒  ∂y/∂w = 12 × 2 = 24</a:t>
            </a:r>
            <a:endParaRPr lang="en-US" sz="1700" dirty="0"/>
          </a:p>
        </p:txBody>
      </p:sp>
      <p:sp>
        <p:nvSpPr>
          <p:cNvPr id="20" name="Text 18"/>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8/31</a:t>
            </a:r>
            <a:endParaRPr lang="en-US" sz="900" dirty="0"/>
          </a:p>
        </p:txBody>
      </p:sp>
      <p:sp>
        <p:nvSpPr>
          <p:cNvPr id="21" name="Shape 19"/>
          <p:cNvSpPr/>
          <p:nvPr/>
        </p:nvSpPr>
        <p:spPr>
          <a:xfrm>
            <a:off x="595503" y="6459093"/>
            <a:ext cx="89154" cy="89154"/>
          </a:xfrm>
          <a:prstGeom prst="ellipse">
            <a:avLst/>
          </a:prstGeom>
          <a:solidFill>
            <a:srgbClr val="285AB4"/>
          </a:solidFill>
          <a:ln/>
        </p:spPr>
      </p:sp>
      <p:sp>
        <p:nvSpPr>
          <p:cNvPr id="22" name="Shape 20"/>
          <p:cNvSpPr/>
          <p:nvPr/>
        </p:nvSpPr>
        <p:spPr>
          <a:xfrm>
            <a:off x="829818" y="6473952"/>
            <a:ext cx="59436" cy="59436"/>
          </a:xfrm>
          <a:prstGeom prst="ellipse">
            <a:avLst/>
          </a:prstGeom>
          <a:solidFill>
            <a:srgbClr val="D9DEE8"/>
          </a:solidFill>
          <a:ln/>
        </p:spPr>
      </p:sp>
      <p:sp>
        <p:nvSpPr>
          <p:cNvPr id="23" name="Shape 21"/>
          <p:cNvSpPr/>
          <p:nvPr/>
        </p:nvSpPr>
        <p:spPr>
          <a:xfrm>
            <a:off x="1049274" y="6473952"/>
            <a:ext cx="59436" cy="59436"/>
          </a:xfrm>
          <a:prstGeom prst="ellipse">
            <a:avLst/>
          </a:prstGeom>
          <a:solidFill>
            <a:srgbClr val="D9DEE8"/>
          </a:solidFill>
          <a:ln/>
        </p:spPr>
      </p:sp>
      <p:sp>
        <p:nvSpPr>
          <p:cNvPr id="24" name="Shape 22"/>
          <p:cNvSpPr/>
          <p:nvPr/>
        </p:nvSpPr>
        <p:spPr>
          <a:xfrm>
            <a:off x="1268730" y="6473952"/>
            <a:ext cx="59436" cy="59436"/>
          </a:xfrm>
          <a:prstGeom prst="ellipse">
            <a:avLst/>
          </a:prstGeom>
          <a:solidFill>
            <a:srgbClr val="D9DEE8"/>
          </a:solidFill>
          <a:ln/>
        </p:spPr>
      </p:sp>
      <p:sp>
        <p:nvSpPr>
          <p:cNvPr id="25" name="Text 23"/>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MOTIVATION &amp; MATH</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BACKPROPAGATION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Multi-layer Backpropagation</a:t>
            </a:r>
            <a:endParaRPr lang="en-US" sz="2900" dirty="0"/>
          </a:p>
        </p:txBody>
      </p:sp>
      <p:sp>
        <p:nvSpPr>
          <p:cNvPr id="4" name="Shape 2"/>
          <p:cNvSpPr/>
          <p:nvPr/>
        </p:nvSpPr>
        <p:spPr>
          <a:xfrm>
            <a:off x="914400" y="1691640"/>
            <a:ext cx="1371600" cy="384048"/>
          </a:xfrm>
          <a:prstGeom prst="roundRect">
            <a:avLst>
              <a:gd name="adj" fmla="val 14286"/>
            </a:avLst>
          </a:prstGeom>
          <a:solidFill>
            <a:srgbClr val="F1F4F9"/>
          </a:solidFill>
          <a:ln w="15875">
            <a:solidFill>
              <a:srgbClr val="D9DEE8"/>
            </a:solidFill>
            <a:prstDash val="solid"/>
          </a:ln>
        </p:spPr>
      </p:sp>
      <p:sp>
        <p:nvSpPr>
          <p:cNvPr id="5" name="Text 3"/>
          <p:cNvSpPr txBox="1"/>
          <p:nvPr/>
        </p:nvSpPr>
        <p:spPr>
          <a:xfrm>
            <a:off x="914400" y="1691640"/>
            <a:ext cx="1371600" cy="384048"/>
          </a:xfrm>
          <a:prstGeom prst="rect">
            <a:avLst/>
          </a:prstGeom>
          <a:noFill/>
          <a:ln/>
        </p:spPr>
        <p:txBody>
          <a:bodyPr wrap="square" lIns="0" tIns="0" rIns="0" bIns="0" rtlCol="0" anchor="ctr"/>
          <a:lstStyle/>
          <a:p>
            <a:pPr algn="ctr" indent="0" marL="0">
              <a:buNone/>
            </a:pPr>
            <a:r>
              <a:rPr lang="en-US" sz="1250" dirty="0">
                <a:solidFill>
                  <a:srgbClr val="1A2238"/>
                </a:solidFill>
                <a:latin typeface="Cambria Math" pitchFamily="34" charset="0"/>
                <a:ea typeface="Cambria Math" pitchFamily="34" charset="-122"/>
                <a:cs typeface="Cambria Math" pitchFamily="34" charset="-120"/>
              </a:rPr>
              <a:t>x</a:t>
            </a:r>
            <a:endParaRPr lang="en-US" sz="1250" dirty="0"/>
          </a:p>
        </p:txBody>
      </p:sp>
      <p:sp>
        <p:nvSpPr>
          <p:cNvPr id="6" name="Shape 4"/>
          <p:cNvSpPr/>
          <p:nvPr/>
        </p:nvSpPr>
        <p:spPr>
          <a:xfrm>
            <a:off x="1600200" y="2075688"/>
            <a:ext cx="0" cy="164592"/>
          </a:xfrm>
          <a:prstGeom prst="line">
            <a:avLst/>
          </a:prstGeom>
          <a:noFill/>
          <a:ln w="22860">
            <a:solidFill>
              <a:srgbClr val="285AB4"/>
            </a:solidFill>
            <a:prstDash val="solid"/>
            <a:tailEnd type="triangle"/>
          </a:ln>
        </p:spPr>
      </p:sp>
      <p:sp>
        <p:nvSpPr>
          <p:cNvPr id="7" name="Shape 5"/>
          <p:cNvSpPr/>
          <p:nvPr/>
        </p:nvSpPr>
        <p:spPr>
          <a:xfrm>
            <a:off x="914400" y="2240280"/>
            <a:ext cx="1371600" cy="384048"/>
          </a:xfrm>
          <a:prstGeom prst="roundRect">
            <a:avLst>
              <a:gd name="adj" fmla="val 14286"/>
            </a:avLst>
          </a:prstGeom>
          <a:solidFill>
            <a:srgbClr val="F1F4F9"/>
          </a:solidFill>
          <a:ln w="15875">
            <a:solidFill>
              <a:srgbClr val="D9DEE8"/>
            </a:solidFill>
            <a:prstDash val="solid"/>
          </a:ln>
        </p:spPr>
      </p:sp>
      <p:sp>
        <p:nvSpPr>
          <p:cNvPr id="8" name="Text 6"/>
          <p:cNvSpPr txBox="1"/>
          <p:nvPr/>
        </p:nvSpPr>
        <p:spPr>
          <a:xfrm>
            <a:off x="914400" y="2240280"/>
            <a:ext cx="1371600" cy="384048"/>
          </a:xfrm>
          <a:prstGeom prst="rect">
            <a:avLst/>
          </a:prstGeom>
          <a:noFill/>
          <a:ln/>
        </p:spPr>
        <p:txBody>
          <a:bodyPr wrap="square" lIns="0" tIns="0" rIns="0" bIns="0" rtlCol="0" anchor="ctr"/>
          <a:lstStyle/>
          <a:p>
            <a:pPr algn="ctr" indent="0" marL="0">
              <a:buNone/>
            </a:pPr>
            <a:r>
              <a:rPr lang="en-US" sz="1250" dirty="0">
                <a:solidFill>
                  <a:srgbClr val="1A2238"/>
                </a:solidFill>
                <a:latin typeface="Cambria Math" pitchFamily="34" charset="0"/>
                <a:ea typeface="Cambria Math" pitchFamily="34" charset="-122"/>
                <a:cs typeface="Cambria Math" pitchFamily="34" charset="-120"/>
              </a:rPr>
              <a:t>W₁</a:t>
            </a:r>
            <a:endParaRPr lang="en-US" sz="1250" dirty="0"/>
          </a:p>
        </p:txBody>
      </p:sp>
      <p:sp>
        <p:nvSpPr>
          <p:cNvPr id="9" name="Shape 7"/>
          <p:cNvSpPr/>
          <p:nvPr/>
        </p:nvSpPr>
        <p:spPr>
          <a:xfrm>
            <a:off x="1600200" y="2624328"/>
            <a:ext cx="0" cy="164592"/>
          </a:xfrm>
          <a:prstGeom prst="line">
            <a:avLst/>
          </a:prstGeom>
          <a:noFill/>
          <a:ln w="22860">
            <a:solidFill>
              <a:srgbClr val="285AB4"/>
            </a:solidFill>
            <a:prstDash val="solid"/>
            <a:tailEnd type="triangle"/>
          </a:ln>
        </p:spPr>
      </p:sp>
      <p:sp>
        <p:nvSpPr>
          <p:cNvPr id="10" name="Shape 8"/>
          <p:cNvSpPr/>
          <p:nvPr/>
        </p:nvSpPr>
        <p:spPr>
          <a:xfrm>
            <a:off x="914400" y="2788920"/>
            <a:ext cx="1371600" cy="384048"/>
          </a:xfrm>
          <a:prstGeom prst="roundRect">
            <a:avLst>
              <a:gd name="adj" fmla="val 14286"/>
            </a:avLst>
          </a:prstGeom>
          <a:solidFill>
            <a:srgbClr val="F1F4F9"/>
          </a:solidFill>
          <a:ln w="15875">
            <a:solidFill>
              <a:srgbClr val="D9DEE8"/>
            </a:solidFill>
            <a:prstDash val="solid"/>
          </a:ln>
        </p:spPr>
      </p:sp>
      <p:sp>
        <p:nvSpPr>
          <p:cNvPr id="11" name="Text 9"/>
          <p:cNvSpPr txBox="1"/>
          <p:nvPr/>
        </p:nvSpPr>
        <p:spPr>
          <a:xfrm>
            <a:off x="914400" y="2788920"/>
            <a:ext cx="1371600" cy="384048"/>
          </a:xfrm>
          <a:prstGeom prst="rect">
            <a:avLst/>
          </a:prstGeom>
          <a:noFill/>
          <a:ln/>
        </p:spPr>
        <p:txBody>
          <a:bodyPr wrap="square" lIns="0" tIns="0" rIns="0" bIns="0" rtlCol="0" anchor="ctr"/>
          <a:lstStyle/>
          <a:p>
            <a:pPr algn="ctr" indent="0" marL="0">
              <a:buNone/>
            </a:pPr>
            <a:r>
              <a:rPr lang="en-US" sz="1250" dirty="0">
                <a:solidFill>
                  <a:srgbClr val="1A2238"/>
                </a:solidFill>
                <a:latin typeface="Cambria Math" pitchFamily="34" charset="0"/>
                <a:ea typeface="Cambria Math" pitchFamily="34" charset="-122"/>
                <a:cs typeface="Cambria Math" pitchFamily="34" charset="-120"/>
              </a:rPr>
              <a:t>h₁</a:t>
            </a:r>
            <a:endParaRPr lang="en-US" sz="1250" dirty="0"/>
          </a:p>
        </p:txBody>
      </p:sp>
      <p:sp>
        <p:nvSpPr>
          <p:cNvPr id="12" name="Shape 10"/>
          <p:cNvSpPr/>
          <p:nvPr/>
        </p:nvSpPr>
        <p:spPr>
          <a:xfrm>
            <a:off x="1600200" y="3172968"/>
            <a:ext cx="0" cy="164592"/>
          </a:xfrm>
          <a:prstGeom prst="line">
            <a:avLst/>
          </a:prstGeom>
          <a:noFill/>
          <a:ln w="22860">
            <a:solidFill>
              <a:srgbClr val="285AB4"/>
            </a:solidFill>
            <a:prstDash val="solid"/>
            <a:tailEnd type="triangle"/>
          </a:ln>
        </p:spPr>
      </p:sp>
      <p:sp>
        <p:nvSpPr>
          <p:cNvPr id="13" name="Shape 11"/>
          <p:cNvSpPr/>
          <p:nvPr/>
        </p:nvSpPr>
        <p:spPr>
          <a:xfrm>
            <a:off x="914400" y="3337560"/>
            <a:ext cx="1371600" cy="384048"/>
          </a:xfrm>
          <a:prstGeom prst="roundRect">
            <a:avLst>
              <a:gd name="adj" fmla="val 14286"/>
            </a:avLst>
          </a:prstGeom>
          <a:solidFill>
            <a:srgbClr val="F1F4F9"/>
          </a:solidFill>
          <a:ln w="15875">
            <a:solidFill>
              <a:srgbClr val="D9DEE8"/>
            </a:solidFill>
            <a:prstDash val="solid"/>
          </a:ln>
        </p:spPr>
      </p:sp>
      <p:sp>
        <p:nvSpPr>
          <p:cNvPr id="14" name="Text 12"/>
          <p:cNvSpPr txBox="1"/>
          <p:nvPr/>
        </p:nvSpPr>
        <p:spPr>
          <a:xfrm>
            <a:off x="914400" y="3337560"/>
            <a:ext cx="1371600" cy="384048"/>
          </a:xfrm>
          <a:prstGeom prst="rect">
            <a:avLst/>
          </a:prstGeom>
          <a:noFill/>
          <a:ln/>
        </p:spPr>
        <p:txBody>
          <a:bodyPr wrap="square" lIns="0" tIns="0" rIns="0" bIns="0" rtlCol="0" anchor="ctr"/>
          <a:lstStyle/>
          <a:p>
            <a:pPr algn="ctr" indent="0" marL="0">
              <a:buNone/>
            </a:pPr>
            <a:r>
              <a:rPr lang="en-US" sz="1250" dirty="0">
                <a:solidFill>
                  <a:srgbClr val="1A2238"/>
                </a:solidFill>
                <a:latin typeface="Cambria Math" pitchFamily="34" charset="0"/>
                <a:ea typeface="Cambria Math" pitchFamily="34" charset="-122"/>
                <a:cs typeface="Cambria Math" pitchFamily="34" charset="-120"/>
              </a:rPr>
              <a:t>W₂</a:t>
            </a:r>
            <a:endParaRPr lang="en-US" sz="1250" dirty="0"/>
          </a:p>
        </p:txBody>
      </p:sp>
      <p:sp>
        <p:nvSpPr>
          <p:cNvPr id="15" name="Shape 13"/>
          <p:cNvSpPr/>
          <p:nvPr/>
        </p:nvSpPr>
        <p:spPr>
          <a:xfrm>
            <a:off x="1600200" y="3721608"/>
            <a:ext cx="0" cy="164592"/>
          </a:xfrm>
          <a:prstGeom prst="line">
            <a:avLst/>
          </a:prstGeom>
          <a:noFill/>
          <a:ln w="22860">
            <a:solidFill>
              <a:srgbClr val="285AB4"/>
            </a:solidFill>
            <a:prstDash val="solid"/>
            <a:tailEnd type="triangle"/>
          </a:ln>
        </p:spPr>
      </p:sp>
      <p:sp>
        <p:nvSpPr>
          <p:cNvPr id="16" name="Shape 14"/>
          <p:cNvSpPr/>
          <p:nvPr/>
        </p:nvSpPr>
        <p:spPr>
          <a:xfrm>
            <a:off x="914400" y="3886200"/>
            <a:ext cx="1371600" cy="384048"/>
          </a:xfrm>
          <a:prstGeom prst="roundRect">
            <a:avLst>
              <a:gd name="adj" fmla="val 14286"/>
            </a:avLst>
          </a:prstGeom>
          <a:solidFill>
            <a:srgbClr val="F1F4F9"/>
          </a:solidFill>
          <a:ln w="15875">
            <a:solidFill>
              <a:srgbClr val="D9DEE8"/>
            </a:solidFill>
            <a:prstDash val="solid"/>
          </a:ln>
        </p:spPr>
      </p:sp>
      <p:sp>
        <p:nvSpPr>
          <p:cNvPr id="17" name="Text 15"/>
          <p:cNvSpPr txBox="1"/>
          <p:nvPr/>
        </p:nvSpPr>
        <p:spPr>
          <a:xfrm>
            <a:off x="914400" y="3886200"/>
            <a:ext cx="1371600" cy="384048"/>
          </a:xfrm>
          <a:prstGeom prst="rect">
            <a:avLst/>
          </a:prstGeom>
          <a:noFill/>
          <a:ln/>
        </p:spPr>
        <p:txBody>
          <a:bodyPr wrap="square" lIns="0" tIns="0" rIns="0" bIns="0" rtlCol="0" anchor="ctr"/>
          <a:lstStyle/>
          <a:p>
            <a:pPr algn="ctr" indent="0" marL="0">
              <a:buNone/>
            </a:pPr>
            <a:r>
              <a:rPr lang="en-US" sz="1250" dirty="0">
                <a:solidFill>
                  <a:srgbClr val="1A2238"/>
                </a:solidFill>
                <a:latin typeface="Cambria Math" pitchFamily="34" charset="0"/>
                <a:ea typeface="Cambria Math" pitchFamily="34" charset="-122"/>
                <a:cs typeface="Cambria Math" pitchFamily="34" charset="-120"/>
              </a:rPr>
              <a:t>h₂</a:t>
            </a:r>
            <a:endParaRPr lang="en-US" sz="1250" dirty="0"/>
          </a:p>
        </p:txBody>
      </p:sp>
      <p:sp>
        <p:nvSpPr>
          <p:cNvPr id="18" name="Shape 16"/>
          <p:cNvSpPr/>
          <p:nvPr/>
        </p:nvSpPr>
        <p:spPr>
          <a:xfrm>
            <a:off x="1600200" y="4270248"/>
            <a:ext cx="0" cy="164592"/>
          </a:xfrm>
          <a:prstGeom prst="line">
            <a:avLst/>
          </a:prstGeom>
          <a:noFill/>
          <a:ln w="22860">
            <a:solidFill>
              <a:srgbClr val="285AB4"/>
            </a:solidFill>
            <a:prstDash val="solid"/>
            <a:tailEnd type="triangle"/>
          </a:ln>
        </p:spPr>
      </p:sp>
      <p:sp>
        <p:nvSpPr>
          <p:cNvPr id="19" name="Shape 17"/>
          <p:cNvSpPr/>
          <p:nvPr/>
        </p:nvSpPr>
        <p:spPr>
          <a:xfrm>
            <a:off x="914400" y="4434840"/>
            <a:ext cx="1371600" cy="384048"/>
          </a:xfrm>
          <a:prstGeom prst="roundRect">
            <a:avLst>
              <a:gd name="adj" fmla="val 14286"/>
            </a:avLst>
          </a:prstGeom>
          <a:solidFill>
            <a:srgbClr val="F1F4F9"/>
          </a:solidFill>
          <a:ln w="15875">
            <a:solidFill>
              <a:srgbClr val="D9DEE8"/>
            </a:solidFill>
            <a:prstDash val="solid"/>
          </a:ln>
        </p:spPr>
      </p:sp>
      <p:sp>
        <p:nvSpPr>
          <p:cNvPr id="20" name="Text 18"/>
          <p:cNvSpPr txBox="1"/>
          <p:nvPr/>
        </p:nvSpPr>
        <p:spPr>
          <a:xfrm>
            <a:off x="914400" y="4434840"/>
            <a:ext cx="1371600" cy="384048"/>
          </a:xfrm>
          <a:prstGeom prst="rect">
            <a:avLst/>
          </a:prstGeom>
          <a:noFill/>
          <a:ln/>
        </p:spPr>
        <p:txBody>
          <a:bodyPr wrap="square" lIns="0" tIns="0" rIns="0" bIns="0" rtlCol="0" anchor="ctr"/>
          <a:lstStyle/>
          <a:p>
            <a:pPr algn="ctr" indent="0" marL="0">
              <a:buNone/>
            </a:pPr>
            <a:r>
              <a:rPr lang="en-US" sz="1250" dirty="0">
                <a:solidFill>
                  <a:srgbClr val="1A2238"/>
                </a:solidFill>
                <a:latin typeface="Cambria Math" pitchFamily="34" charset="0"/>
                <a:ea typeface="Cambria Math" pitchFamily="34" charset="-122"/>
                <a:cs typeface="Cambria Math" pitchFamily="34" charset="-120"/>
              </a:rPr>
              <a:t>W₃</a:t>
            </a:r>
            <a:endParaRPr lang="en-US" sz="1250" dirty="0"/>
          </a:p>
        </p:txBody>
      </p:sp>
      <p:sp>
        <p:nvSpPr>
          <p:cNvPr id="21" name="Shape 19"/>
          <p:cNvSpPr/>
          <p:nvPr/>
        </p:nvSpPr>
        <p:spPr>
          <a:xfrm>
            <a:off x="1600200" y="4818888"/>
            <a:ext cx="0" cy="164592"/>
          </a:xfrm>
          <a:prstGeom prst="line">
            <a:avLst/>
          </a:prstGeom>
          <a:noFill/>
          <a:ln w="22860">
            <a:solidFill>
              <a:srgbClr val="285AB4"/>
            </a:solidFill>
            <a:prstDash val="solid"/>
            <a:tailEnd type="triangle"/>
          </a:ln>
        </p:spPr>
      </p:sp>
      <p:sp>
        <p:nvSpPr>
          <p:cNvPr id="22" name="Shape 20"/>
          <p:cNvSpPr/>
          <p:nvPr/>
        </p:nvSpPr>
        <p:spPr>
          <a:xfrm>
            <a:off x="914400" y="4983480"/>
            <a:ext cx="1371600" cy="384048"/>
          </a:xfrm>
          <a:prstGeom prst="roundRect">
            <a:avLst>
              <a:gd name="adj" fmla="val 14286"/>
            </a:avLst>
          </a:prstGeom>
          <a:solidFill>
            <a:srgbClr val="F1F4F9"/>
          </a:solidFill>
          <a:ln w="15875">
            <a:solidFill>
              <a:srgbClr val="D9DEE8"/>
            </a:solidFill>
            <a:prstDash val="solid"/>
          </a:ln>
        </p:spPr>
      </p:sp>
      <p:sp>
        <p:nvSpPr>
          <p:cNvPr id="23" name="Text 21"/>
          <p:cNvSpPr txBox="1"/>
          <p:nvPr/>
        </p:nvSpPr>
        <p:spPr>
          <a:xfrm>
            <a:off x="914400" y="4983480"/>
            <a:ext cx="1371600" cy="384048"/>
          </a:xfrm>
          <a:prstGeom prst="rect">
            <a:avLst/>
          </a:prstGeom>
          <a:noFill/>
          <a:ln/>
        </p:spPr>
        <p:txBody>
          <a:bodyPr wrap="square" lIns="0" tIns="0" rIns="0" bIns="0" rtlCol="0" anchor="ctr"/>
          <a:lstStyle/>
          <a:p>
            <a:pPr algn="ctr" indent="0" marL="0">
              <a:buNone/>
            </a:pPr>
            <a:r>
              <a:rPr lang="en-US" sz="1250" dirty="0">
                <a:solidFill>
                  <a:srgbClr val="1A2238"/>
                </a:solidFill>
                <a:latin typeface="Cambria Math" pitchFamily="34" charset="0"/>
                <a:ea typeface="Cambria Math" pitchFamily="34" charset="-122"/>
                <a:cs typeface="Cambria Math" pitchFamily="34" charset="-120"/>
              </a:rPr>
              <a:t>ŷ</a:t>
            </a:r>
            <a:endParaRPr lang="en-US" sz="1250" dirty="0"/>
          </a:p>
        </p:txBody>
      </p:sp>
      <p:sp>
        <p:nvSpPr>
          <p:cNvPr id="24" name="Shape 22"/>
          <p:cNvSpPr/>
          <p:nvPr/>
        </p:nvSpPr>
        <p:spPr>
          <a:xfrm>
            <a:off x="1600200" y="5367528"/>
            <a:ext cx="0" cy="164592"/>
          </a:xfrm>
          <a:prstGeom prst="line">
            <a:avLst/>
          </a:prstGeom>
          <a:noFill/>
          <a:ln w="22860">
            <a:solidFill>
              <a:srgbClr val="285AB4"/>
            </a:solidFill>
            <a:prstDash val="solid"/>
            <a:tailEnd type="triangle"/>
          </a:ln>
        </p:spPr>
      </p:sp>
      <p:sp>
        <p:nvSpPr>
          <p:cNvPr id="25" name="Shape 23"/>
          <p:cNvSpPr/>
          <p:nvPr/>
        </p:nvSpPr>
        <p:spPr>
          <a:xfrm>
            <a:off x="914400" y="5532120"/>
            <a:ext cx="1371600" cy="384048"/>
          </a:xfrm>
          <a:prstGeom prst="roundRect">
            <a:avLst>
              <a:gd name="adj" fmla="val 14286"/>
            </a:avLst>
          </a:prstGeom>
          <a:solidFill>
            <a:srgbClr val="FBEEEC"/>
          </a:solidFill>
          <a:ln w="15875">
            <a:solidFill>
              <a:srgbClr val="BE3C32"/>
            </a:solidFill>
            <a:prstDash val="solid"/>
          </a:ln>
        </p:spPr>
      </p:sp>
      <p:sp>
        <p:nvSpPr>
          <p:cNvPr id="26" name="Text 24"/>
          <p:cNvSpPr txBox="1"/>
          <p:nvPr/>
        </p:nvSpPr>
        <p:spPr>
          <a:xfrm>
            <a:off x="914400" y="5532120"/>
            <a:ext cx="1371600" cy="384048"/>
          </a:xfrm>
          <a:prstGeom prst="rect">
            <a:avLst/>
          </a:prstGeom>
          <a:noFill/>
          <a:ln/>
        </p:spPr>
        <p:txBody>
          <a:bodyPr wrap="square" lIns="0" tIns="0" rIns="0" bIns="0" rtlCol="0" anchor="ctr"/>
          <a:lstStyle/>
          <a:p>
            <a:pPr algn="ctr" indent="0" marL="0">
              <a:buNone/>
            </a:pPr>
            <a:r>
              <a:rPr lang="en-US" sz="1250" dirty="0">
                <a:solidFill>
                  <a:srgbClr val="1A2238"/>
                </a:solidFill>
                <a:latin typeface="Cambria Math" pitchFamily="34" charset="0"/>
                <a:ea typeface="Cambria Math" pitchFamily="34" charset="-122"/>
                <a:cs typeface="Cambria Math" pitchFamily="34" charset="-120"/>
              </a:rPr>
              <a:t>Loss</a:t>
            </a:r>
            <a:endParaRPr lang="en-US" sz="1250" dirty="0"/>
          </a:p>
        </p:txBody>
      </p:sp>
      <p:sp>
        <p:nvSpPr>
          <p:cNvPr id="27" name="Shape 25"/>
          <p:cNvSpPr/>
          <p:nvPr/>
        </p:nvSpPr>
        <p:spPr>
          <a:xfrm>
            <a:off x="3931920" y="1691640"/>
            <a:ext cx="1645920" cy="384048"/>
          </a:xfrm>
          <a:prstGeom prst="roundRect">
            <a:avLst>
              <a:gd name="adj" fmla="val 14286"/>
            </a:avLst>
          </a:prstGeom>
          <a:solidFill>
            <a:srgbClr val="FBEEEC"/>
          </a:solidFill>
          <a:ln w="15875">
            <a:solidFill>
              <a:srgbClr val="BE3C32"/>
            </a:solidFill>
            <a:prstDash val="solid"/>
          </a:ln>
        </p:spPr>
      </p:sp>
      <p:sp>
        <p:nvSpPr>
          <p:cNvPr id="28" name="Text 26"/>
          <p:cNvSpPr txBox="1"/>
          <p:nvPr/>
        </p:nvSpPr>
        <p:spPr>
          <a:xfrm>
            <a:off x="3931920" y="1691640"/>
            <a:ext cx="1645920" cy="384048"/>
          </a:xfrm>
          <a:prstGeom prst="rect">
            <a:avLst/>
          </a:prstGeom>
          <a:noFill/>
          <a:ln/>
        </p:spPr>
        <p:txBody>
          <a:bodyPr wrap="square" lIns="0" tIns="0" rIns="0" bIns="0" rtlCol="0" anchor="ctr"/>
          <a:lstStyle/>
          <a:p>
            <a:pPr algn="ctr" indent="0" marL="0">
              <a:buNone/>
            </a:pPr>
            <a:r>
              <a:rPr lang="en-US" sz="1250" dirty="0">
                <a:solidFill>
                  <a:srgbClr val="1A2238"/>
                </a:solidFill>
                <a:latin typeface="Cambria Math" pitchFamily="34" charset="0"/>
                <a:ea typeface="Cambria Math" pitchFamily="34" charset="-122"/>
                <a:cs typeface="Cambria Math" pitchFamily="34" charset="-120"/>
              </a:rPr>
              <a:t>Loss</a:t>
            </a:r>
            <a:endParaRPr lang="en-US" sz="1250" dirty="0"/>
          </a:p>
        </p:txBody>
      </p:sp>
      <p:sp>
        <p:nvSpPr>
          <p:cNvPr id="29" name="Shape 27"/>
          <p:cNvSpPr/>
          <p:nvPr/>
        </p:nvSpPr>
        <p:spPr>
          <a:xfrm>
            <a:off x="4754880" y="2075688"/>
            <a:ext cx="0" cy="896112"/>
          </a:xfrm>
          <a:prstGeom prst="line">
            <a:avLst/>
          </a:prstGeom>
          <a:noFill/>
          <a:ln w="22860">
            <a:solidFill>
              <a:srgbClr val="BE3C32"/>
            </a:solidFill>
            <a:prstDash val="solid"/>
            <a:tailEnd type="triangle"/>
          </a:ln>
        </p:spPr>
      </p:sp>
      <p:sp>
        <p:nvSpPr>
          <p:cNvPr id="30" name="Shape 28"/>
          <p:cNvSpPr/>
          <p:nvPr/>
        </p:nvSpPr>
        <p:spPr>
          <a:xfrm>
            <a:off x="3931920" y="2971800"/>
            <a:ext cx="1645920" cy="384048"/>
          </a:xfrm>
          <a:prstGeom prst="roundRect">
            <a:avLst>
              <a:gd name="adj" fmla="val 14286"/>
            </a:avLst>
          </a:prstGeom>
          <a:solidFill>
            <a:srgbClr val="EAF0FB"/>
          </a:solidFill>
          <a:ln w="15875">
            <a:solidFill>
              <a:srgbClr val="285AB4"/>
            </a:solidFill>
            <a:prstDash val="solid"/>
          </a:ln>
        </p:spPr>
      </p:sp>
      <p:sp>
        <p:nvSpPr>
          <p:cNvPr id="31" name="Text 29"/>
          <p:cNvSpPr txBox="1"/>
          <p:nvPr/>
        </p:nvSpPr>
        <p:spPr>
          <a:xfrm>
            <a:off x="3931920" y="2971800"/>
            <a:ext cx="1645920" cy="384048"/>
          </a:xfrm>
          <a:prstGeom prst="rect">
            <a:avLst/>
          </a:prstGeom>
          <a:noFill/>
          <a:ln/>
        </p:spPr>
        <p:txBody>
          <a:bodyPr wrap="square" lIns="0" tIns="0" rIns="0" bIns="0" rtlCol="0" anchor="ctr"/>
          <a:lstStyle/>
          <a:p>
            <a:pPr algn="ctr" indent="0" marL="0">
              <a:buNone/>
            </a:pPr>
            <a:r>
              <a:rPr lang="en-US" sz="1250" dirty="0">
                <a:solidFill>
                  <a:srgbClr val="1A2238"/>
                </a:solidFill>
                <a:latin typeface="Cambria Math" pitchFamily="34" charset="0"/>
                <a:ea typeface="Cambria Math" pitchFamily="34" charset="-122"/>
                <a:cs typeface="Cambria Math" pitchFamily="34" charset="-120"/>
              </a:rPr>
              <a:t>∇W₃</a:t>
            </a:r>
            <a:endParaRPr lang="en-US" sz="1250" dirty="0"/>
          </a:p>
        </p:txBody>
      </p:sp>
      <p:sp>
        <p:nvSpPr>
          <p:cNvPr id="32" name="Shape 30"/>
          <p:cNvSpPr/>
          <p:nvPr/>
        </p:nvSpPr>
        <p:spPr>
          <a:xfrm>
            <a:off x="4754880" y="3355848"/>
            <a:ext cx="0" cy="896112"/>
          </a:xfrm>
          <a:prstGeom prst="line">
            <a:avLst/>
          </a:prstGeom>
          <a:noFill/>
          <a:ln w="22860">
            <a:solidFill>
              <a:srgbClr val="BE3C32"/>
            </a:solidFill>
            <a:prstDash val="solid"/>
            <a:tailEnd type="triangle"/>
          </a:ln>
        </p:spPr>
      </p:sp>
      <p:sp>
        <p:nvSpPr>
          <p:cNvPr id="33" name="Shape 31"/>
          <p:cNvSpPr/>
          <p:nvPr/>
        </p:nvSpPr>
        <p:spPr>
          <a:xfrm>
            <a:off x="3931920" y="4251960"/>
            <a:ext cx="1645920" cy="384048"/>
          </a:xfrm>
          <a:prstGeom prst="roundRect">
            <a:avLst>
              <a:gd name="adj" fmla="val 14286"/>
            </a:avLst>
          </a:prstGeom>
          <a:solidFill>
            <a:srgbClr val="EAF0FB"/>
          </a:solidFill>
          <a:ln w="15875">
            <a:solidFill>
              <a:srgbClr val="285AB4"/>
            </a:solidFill>
            <a:prstDash val="solid"/>
          </a:ln>
        </p:spPr>
      </p:sp>
      <p:sp>
        <p:nvSpPr>
          <p:cNvPr id="34" name="Text 32"/>
          <p:cNvSpPr txBox="1"/>
          <p:nvPr/>
        </p:nvSpPr>
        <p:spPr>
          <a:xfrm>
            <a:off x="3931920" y="4251960"/>
            <a:ext cx="1645920" cy="384048"/>
          </a:xfrm>
          <a:prstGeom prst="rect">
            <a:avLst/>
          </a:prstGeom>
          <a:noFill/>
          <a:ln/>
        </p:spPr>
        <p:txBody>
          <a:bodyPr wrap="square" lIns="0" tIns="0" rIns="0" bIns="0" rtlCol="0" anchor="ctr"/>
          <a:lstStyle/>
          <a:p>
            <a:pPr algn="ctr" indent="0" marL="0">
              <a:buNone/>
            </a:pPr>
            <a:r>
              <a:rPr lang="en-US" sz="1250" dirty="0">
                <a:solidFill>
                  <a:srgbClr val="1A2238"/>
                </a:solidFill>
                <a:latin typeface="Cambria Math" pitchFamily="34" charset="0"/>
                <a:ea typeface="Cambria Math" pitchFamily="34" charset="-122"/>
                <a:cs typeface="Cambria Math" pitchFamily="34" charset="-120"/>
              </a:rPr>
              <a:t>∇W₂</a:t>
            </a:r>
            <a:endParaRPr lang="en-US" sz="1250" dirty="0"/>
          </a:p>
        </p:txBody>
      </p:sp>
      <p:sp>
        <p:nvSpPr>
          <p:cNvPr id="35" name="Shape 33"/>
          <p:cNvSpPr/>
          <p:nvPr/>
        </p:nvSpPr>
        <p:spPr>
          <a:xfrm>
            <a:off x="4754880" y="4636008"/>
            <a:ext cx="0" cy="896112"/>
          </a:xfrm>
          <a:prstGeom prst="line">
            <a:avLst/>
          </a:prstGeom>
          <a:noFill/>
          <a:ln w="22860">
            <a:solidFill>
              <a:srgbClr val="BE3C32"/>
            </a:solidFill>
            <a:prstDash val="solid"/>
            <a:tailEnd type="triangle"/>
          </a:ln>
        </p:spPr>
      </p:sp>
      <p:sp>
        <p:nvSpPr>
          <p:cNvPr id="36" name="Shape 34"/>
          <p:cNvSpPr/>
          <p:nvPr/>
        </p:nvSpPr>
        <p:spPr>
          <a:xfrm>
            <a:off x="3931920" y="5532120"/>
            <a:ext cx="1645920" cy="384048"/>
          </a:xfrm>
          <a:prstGeom prst="roundRect">
            <a:avLst>
              <a:gd name="adj" fmla="val 14286"/>
            </a:avLst>
          </a:prstGeom>
          <a:solidFill>
            <a:srgbClr val="EAF0FB"/>
          </a:solidFill>
          <a:ln w="15875">
            <a:solidFill>
              <a:srgbClr val="285AB4"/>
            </a:solidFill>
            <a:prstDash val="solid"/>
          </a:ln>
        </p:spPr>
      </p:sp>
      <p:sp>
        <p:nvSpPr>
          <p:cNvPr id="37" name="Text 35"/>
          <p:cNvSpPr txBox="1"/>
          <p:nvPr/>
        </p:nvSpPr>
        <p:spPr>
          <a:xfrm>
            <a:off x="3931920" y="5532120"/>
            <a:ext cx="1645920" cy="384048"/>
          </a:xfrm>
          <a:prstGeom prst="rect">
            <a:avLst/>
          </a:prstGeom>
          <a:noFill/>
          <a:ln/>
        </p:spPr>
        <p:txBody>
          <a:bodyPr wrap="square" lIns="0" tIns="0" rIns="0" bIns="0" rtlCol="0" anchor="ctr"/>
          <a:lstStyle/>
          <a:p>
            <a:pPr algn="ctr" indent="0" marL="0">
              <a:buNone/>
            </a:pPr>
            <a:r>
              <a:rPr lang="en-US" sz="1250" dirty="0">
                <a:solidFill>
                  <a:srgbClr val="1A2238"/>
                </a:solidFill>
                <a:latin typeface="Cambria Math" pitchFamily="34" charset="0"/>
                <a:ea typeface="Cambria Math" pitchFamily="34" charset="-122"/>
                <a:cs typeface="Cambria Math" pitchFamily="34" charset="-120"/>
              </a:rPr>
              <a:t>∇W₁</a:t>
            </a:r>
            <a:endParaRPr lang="en-US" sz="1250" dirty="0"/>
          </a:p>
        </p:txBody>
      </p:sp>
      <p:sp>
        <p:nvSpPr>
          <p:cNvPr id="38" name="Text 36"/>
          <p:cNvSpPr txBox="1"/>
          <p:nvPr/>
        </p:nvSpPr>
        <p:spPr>
          <a:xfrm>
            <a:off x="6035040" y="1828800"/>
            <a:ext cx="5516575" cy="1920240"/>
          </a:xfrm>
          <a:prstGeom prst="rect">
            <a:avLst/>
          </a:prstGeom>
          <a:noFill/>
          <a:ln/>
        </p:spPr>
        <p:txBody>
          <a:bodyPr wrap="square" lIns="0" tIns="0" rIns="0" bIns="0" rtlCol="0" anchor="t"/>
          <a:lstStyle/>
          <a:p>
            <a:pPr marL="228600" indent="-228600">
              <a:spcAft>
                <a:spcPts val="1200"/>
              </a:spcAft>
              <a:buSzPct val="100000"/>
              <a:buChar char="▪"/>
            </a:pPr>
            <a:r>
              <a:rPr lang="en-US" sz="1450" dirty="0">
                <a:solidFill>
                  <a:srgbClr val="1A2238"/>
                </a:solidFill>
                <a:latin typeface="Calibri" pitchFamily="34" charset="0"/>
                <a:ea typeface="Calibri" pitchFamily="34" charset="-122"/>
                <a:cs typeface="Calibri" pitchFamily="34" charset="-120"/>
              </a:rPr>
              <a:t>Gradient lan truyền về lớp gần input phụ thuộc vào TÍCH của nhiều local Jacobian VÀ weight transformation — không chỉ là tích các đạo hàm vô hướng đơn giản</a:t>
            </a:r>
            <a:endParaRPr lang="en-US" sz="1450" dirty="0"/>
          </a:p>
          <a:p>
            <a:pPr marL="228600" indent="-228600">
              <a:spcAft>
                <a:spcPts val="1200"/>
              </a:spcAft>
              <a:buSzPct val="100000"/>
              <a:buChar char="▪"/>
            </a:pPr>
            <a:r>
              <a:rPr lang="en-US" sz="1450" dirty="0">
                <a:solidFill>
                  <a:srgbClr val="1A2238"/>
                </a:solidFill>
                <a:latin typeface="Calibri" pitchFamily="34" charset="0"/>
                <a:ea typeface="Calibri" pitchFamily="34" charset="-122"/>
                <a:cs typeface="Calibri" pitchFamily="34" charset="-120"/>
              </a:rPr>
              <a:t>Đây chính là cầu nối trực tiếp sang vấn đề tiếp theo: điều gì xảy ra khi tích đó có nhiều số hạng?</a:t>
            </a:r>
            <a:endParaRPr lang="en-US" sz="1450" dirty="0"/>
          </a:p>
        </p:txBody>
      </p:sp>
      <p:sp>
        <p:nvSpPr>
          <p:cNvPr id="39" name="Shape 37"/>
          <p:cNvSpPr/>
          <p:nvPr/>
        </p:nvSpPr>
        <p:spPr>
          <a:xfrm>
            <a:off x="6035040" y="4023360"/>
            <a:ext cx="1686458" cy="1051560"/>
          </a:xfrm>
          <a:prstGeom prst="roundRect">
            <a:avLst>
              <a:gd name="adj" fmla="val 5217"/>
            </a:avLst>
          </a:prstGeom>
          <a:solidFill>
            <a:srgbClr val="EAF0FB"/>
          </a:solidFill>
          <a:ln w="12700">
            <a:solidFill>
              <a:srgbClr val="285AB4"/>
            </a:solidFill>
            <a:prstDash val="solid"/>
          </a:ln>
        </p:spPr>
      </p:sp>
      <p:sp>
        <p:nvSpPr>
          <p:cNvPr id="40" name="Text 38"/>
          <p:cNvSpPr txBox="1"/>
          <p:nvPr/>
        </p:nvSpPr>
        <p:spPr>
          <a:xfrm>
            <a:off x="6144768" y="4114800"/>
            <a:ext cx="1467002" cy="320040"/>
          </a:xfrm>
          <a:prstGeom prst="rect">
            <a:avLst/>
          </a:prstGeom>
          <a:noFill/>
          <a:ln/>
        </p:spPr>
        <p:txBody>
          <a:bodyPr wrap="square" lIns="0" tIns="0" rIns="0" bIns="0" rtlCol="0" anchor="ctr"/>
          <a:lstStyle/>
          <a:p>
            <a:pPr indent="0" marL="0">
              <a:buNone/>
            </a:pPr>
            <a:r>
              <a:rPr lang="en-US" sz="1300" b="1" dirty="0">
                <a:solidFill>
                  <a:srgbClr val="285AB4"/>
                </a:solidFill>
                <a:latin typeface="Cambria" pitchFamily="34" charset="0"/>
                <a:ea typeface="Cambria" pitchFamily="34" charset="-122"/>
                <a:cs typeface="Cambria" pitchFamily="34" charset="-120"/>
              </a:rPr>
              <a:t>Forward</a:t>
            </a:r>
            <a:endParaRPr lang="en-US" sz="1300" dirty="0"/>
          </a:p>
        </p:txBody>
      </p:sp>
      <p:sp>
        <p:nvSpPr>
          <p:cNvPr id="41" name="Text 39"/>
          <p:cNvSpPr txBox="1"/>
          <p:nvPr/>
        </p:nvSpPr>
        <p:spPr>
          <a:xfrm>
            <a:off x="6144768" y="4462272"/>
            <a:ext cx="1467002" cy="54864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compute prediction + loss</a:t>
            </a:r>
            <a:endParaRPr lang="en-US" sz="1000" dirty="0"/>
          </a:p>
        </p:txBody>
      </p:sp>
      <p:sp>
        <p:nvSpPr>
          <p:cNvPr id="42" name="Shape 40"/>
          <p:cNvSpPr/>
          <p:nvPr/>
        </p:nvSpPr>
        <p:spPr>
          <a:xfrm>
            <a:off x="7721498" y="4549140"/>
            <a:ext cx="228600" cy="0"/>
          </a:xfrm>
          <a:prstGeom prst="line">
            <a:avLst/>
          </a:prstGeom>
          <a:noFill/>
          <a:ln w="19050">
            <a:solidFill>
              <a:srgbClr val="5B6478"/>
            </a:solidFill>
            <a:prstDash val="solid"/>
            <a:tailEnd type="triangle"/>
          </a:ln>
        </p:spPr>
      </p:sp>
      <p:sp>
        <p:nvSpPr>
          <p:cNvPr id="43" name="Shape 41"/>
          <p:cNvSpPr/>
          <p:nvPr/>
        </p:nvSpPr>
        <p:spPr>
          <a:xfrm>
            <a:off x="7950098" y="4023360"/>
            <a:ext cx="1686458" cy="1051560"/>
          </a:xfrm>
          <a:prstGeom prst="roundRect">
            <a:avLst>
              <a:gd name="adj" fmla="val 5217"/>
            </a:avLst>
          </a:prstGeom>
          <a:solidFill>
            <a:srgbClr val="FBEEEC"/>
          </a:solidFill>
          <a:ln w="12700">
            <a:solidFill>
              <a:srgbClr val="BE3C32"/>
            </a:solidFill>
            <a:prstDash val="solid"/>
          </a:ln>
        </p:spPr>
      </p:sp>
      <p:sp>
        <p:nvSpPr>
          <p:cNvPr id="44" name="Text 42"/>
          <p:cNvSpPr txBox="1"/>
          <p:nvPr/>
        </p:nvSpPr>
        <p:spPr>
          <a:xfrm>
            <a:off x="8059826" y="4114800"/>
            <a:ext cx="1467002" cy="320040"/>
          </a:xfrm>
          <a:prstGeom prst="rect">
            <a:avLst/>
          </a:prstGeom>
          <a:noFill/>
          <a:ln/>
        </p:spPr>
        <p:txBody>
          <a:bodyPr wrap="square" lIns="0" tIns="0" rIns="0" bIns="0" rtlCol="0" anchor="ctr"/>
          <a:lstStyle/>
          <a:p>
            <a:pPr indent="0" marL="0">
              <a:buNone/>
            </a:pPr>
            <a:r>
              <a:rPr lang="en-US" sz="1300" b="1" dirty="0">
                <a:solidFill>
                  <a:srgbClr val="BE3C32"/>
                </a:solidFill>
                <a:latin typeface="Cambria" pitchFamily="34" charset="0"/>
                <a:ea typeface="Cambria" pitchFamily="34" charset="-122"/>
                <a:cs typeface="Cambria" pitchFamily="34" charset="-120"/>
              </a:rPr>
              <a:t>Backward</a:t>
            </a:r>
            <a:endParaRPr lang="en-US" sz="1300" dirty="0"/>
          </a:p>
        </p:txBody>
      </p:sp>
      <p:sp>
        <p:nvSpPr>
          <p:cNvPr id="45" name="Text 43"/>
          <p:cNvSpPr txBox="1"/>
          <p:nvPr/>
        </p:nvSpPr>
        <p:spPr>
          <a:xfrm>
            <a:off x="8059826" y="4462272"/>
            <a:ext cx="1467002" cy="54864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compute gradients (Backprop)</a:t>
            </a:r>
            <a:endParaRPr lang="en-US" sz="1000" dirty="0"/>
          </a:p>
        </p:txBody>
      </p:sp>
      <p:sp>
        <p:nvSpPr>
          <p:cNvPr id="46" name="Shape 44"/>
          <p:cNvSpPr/>
          <p:nvPr/>
        </p:nvSpPr>
        <p:spPr>
          <a:xfrm>
            <a:off x="9636557" y="4549140"/>
            <a:ext cx="228600" cy="0"/>
          </a:xfrm>
          <a:prstGeom prst="line">
            <a:avLst/>
          </a:prstGeom>
          <a:noFill/>
          <a:ln w="19050">
            <a:solidFill>
              <a:srgbClr val="5B6478"/>
            </a:solidFill>
            <a:prstDash val="solid"/>
            <a:tailEnd type="triangle"/>
          </a:ln>
        </p:spPr>
      </p:sp>
      <p:sp>
        <p:nvSpPr>
          <p:cNvPr id="47" name="Shape 45"/>
          <p:cNvSpPr/>
          <p:nvPr/>
        </p:nvSpPr>
        <p:spPr>
          <a:xfrm>
            <a:off x="9865157" y="4023360"/>
            <a:ext cx="1686458" cy="1051560"/>
          </a:xfrm>
          <a:prstGeom prst="roundRect">
            <a:avLst>
              <a:gd name="adj" fmla="val 5217"/>
            </a:avLst>
          </a:prstGeom>
          <a:solidFill>
            <a:srgbClr val="FBF3E2"/>
          </a:solidFill>
          <a:ln w="12700">
            <a:solidFill>
              <a:srgbClr val="C68A2E"/>
            </a:solidFill>
            <a:prstDash val="solid"/>
          </a:ln>
        </p:spPr>
      </p:sp>
      <p:sp>
        <p:nvSpPr>
          <p:cNvPr id="48" name="Text 46"/>
          <p:cNvSpPr txBox="1"/>
          <p:nvPr/>
        </p:nvSpPr>
        <p:spPr>
          <a:xfrm>
            <a:off x="9974885" y="4114800"/>
            <a:ext cx="1467002" cy="320040"/>
          </a:xfrm>
          <a:prstGeom prst="rect">
            <a:avLst/>
          </a:prstGeom>
          <a:noFill/>
          <a:ln/>
        </p:spPr>
        <p:txBody>
          <a:bodyPr wrap="square" lIns="0" tIns="0" rIns="0" bIns="0" rtlCol="0" anchor="ctr"/>
          <a:lstStyle/>
          <a:p>
            <a:pPr indent="0" marL="0">
              <a:buNone/>
            </a:pPr>
            <a:r>
              <a:rPr lang="en-US" sz="1300" b="1" dirty="0">
                <a:solidFill>
                  <a:srgbClr val="C68A2E"/>
                </a:solidFill>
                <a:latin typeface="Cambria" pitchFamily="34" charset="0"/>
                <a:ea typeface="Cambria" pitchFamily="34" charset="-122"/>
                <a:cs typeface="Cambria" pitchFamily="34" charset="-120"/>
              </a:rPr>
              <a:t>Optimizer</a:t>
            </a:r>
            <a:endParaRPr lang="en-US" sz="1300" dirty="0"/>
          </a:p>
        </p:txBody>
      </p:sp>
      <p:sp>
        <p:nvSpPr>
          <p:cNvPr id="49" name="Text 47"/>
          <p:cNvSpPr txBox="1"/>
          <p:nvPr/>
        </p:nvSpPr>
        <p:spPr>
          <a:xfrm>
            <a:off x="9974885" y="4462272"/>
            <a:ext cx="1467002" cy="54864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update parameters (Gradient Descent)</a:t>
            </a:r>
            <a:endParaRPr lang="en-US" sz="1000" dirty="0"/>
          </a:p>
        </p:txBody>
      </p:sp>
      <p:sp>
        <p:nvSpPr>
          <p:cNvPr id="50" name="Text 48"/>
          <p:cNvSpPr txBox="1"/>
          <p:nvPr/>
        </p:nvSpPr>
        <p:spPr>
          <a:xfrm>
            <a:off x="6035040" y="5212080"/>
            <a:ext cx="5516575" cy="502920"/>
          </a:xfrm>
          <a:prstGeom prst="rect">
            <a:avLst/>
          </a:prstGeom>
          <a:noFill/>
          <a:ln/>
        </p:spPr>
        <p:txBody>
          <a:bodyPr wrap="square" lIns="0" tIns="0" rIns="0" bIns="0" rtlCol="0" anchor="ctr"/>
          <a:lstStyle/>
          <a:p>
            <a:pPr indent="0" marL="0">
              <a:buNone/>
            </a:pPr>
            <a:r>
              <a:rPr lang="en-US" sz="1100" i="1" dirty="0">
                <a:solidFill>
                  <a:srgbClr val="5B6478"/>
                </a:solidFill>
                <a:latin typeface="Calibri" pitchFamily="34" charset="0"/>
                <a:ea typeface="Calibri" pitchFamily="34" charset="-122"/>
                <a:cs typeface="Calibri" pitchFamily="34" charset="-120"/>
              </a:rPr>
              <a:t>Backpropagation KHÔNG tự cập nhật weight — nó chỉ tính gradient. Việc update là của Optimizer (Gradient Descent hoặc biến thể).</a:t>
            </a:r>
            <a:endParaRPr lang="en-US" sz="1100" dirty="0"/>
          </a:p>
        </p:txBody>
      </p:sp>
      <p:sp>
        <p:nvSpPr>
          <p:cNvPr id="51" name="Text 49"/>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9/31</a:t>
            </a:r>
            <a:endParaRPr lang="en-US" sz="900" dirty="0"/>
          </a:p>
        </p:txBody>
      </p:sp>
      <p:sp>
        <p:nvSpPr>
          <p:cNvPr id="52" name="Shape 50"/>
          <p:cNvSpPr/>
          <p:nvPr/>
        </p:nvSpPr>
        <p:spPr>
          <a:xfrm>
            <a:off x="595503" y="6459093"/>
            <a:ext cx="89154" cy="89154"/>
          </a:xfrm>
          <a:prstGeom prst="ellipse">
            <a:avLst/>
          </a:prstGeom>
          <a:solidFill>
            <a:srgbClr val="285AB4"/>
          </a:solidFill>
          <a:ln/>
        </p:spPr>
      </p:sp>
      <p:sp>
        <p:nvSpPr>
          <p:cNvPr id="53" name="Shape 51"/>
          <p:cNvSpPr/>
          <p:nvPr/>
        </p:nvSpPr>
        <p:spPr>
          <a:xfrm>
            <a:off x="829818" y="6473952"/>
            <a:ext cx="59436" cy="59436"/>
          </a:xfrm>
          <a:prstGeom prst="ellipse">
            <a:avLst/>
          </a:prstGeom>
          <a:solidFill>
            <a:srgbClr val="D9DEE8"/>
          </a:solidFill>
          <a:ln/>
        </p:spPr>
      </p:sp>
      <p:sp>
        <p:nvSpPr>
          <p:cNvPr id="54" name="Shape 52"/>
          <p:cNvSpPr/>
          <p:nvPr/>
        </p:nvSpPr>
        <p:spPr>
          <a:xfrm>
            <a:off x="1049274" y="6473952"/>
            <a:ext cx="59436" cy="59436"/>
          </a:xfrm>
          <a:prstGeom prst="ellipse">
            <a:avLst/>
          </a:prstGeom>
          <a:solidFill>
            <a:srgbClr val="D9DEE8"/>
          </a:solidFill>
          <a:ln/>
        </p:spPr>
      </p:sp>
      <p:sp>
        <p:nvSpPr>
          <p:cNvPr id="55" name="Shape 53"/>
          <p:cNvSpPr/>
          <p:nvPr/>
        </p:nvSpPr>
        <p:spPr>
          <a:xfrm>
            <a:off x="1268730" y="6473952"/>
            <a:ext cx="59436" cy="59436"/>
          </a:xfrm>
          <a:prstGeom prst="ellipse">
            <a:avLst/>
          </a:prstGeom>
          <a:solidFill>
            <a:srgbClr val="D9DEE8"/>
          </a:solidFill>
          <a:ln/>
        </p:spPr>
      </p:sp>
      <p:sp>
        <p:nvSpPr>
          <p:cNvPr id="56" name="Text 54"/>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MOTIVATION &amp; MATH</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VANISHING / EXPLODING GRADIENT</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Vanishing Gradient</a:t>
            </a:r>
            <a:endParaRPr lang="en-US" sz="2900" dirty="0"/>
          </a:p>
        </p:txBody>
      </p:sp>
      <p:sp>
        <p:nvSpPr>
          <p:cNvPr id="4" name="Shape 2"/>
          <p:cNvSpPr/>
          <p:nvPr/>
        </p:nvSpPr>
        <p:spPr>
          <a:xfrm>
            <a:off x="640080" y="1783080"/>
            <a:ext cx="10911535" cy="822960"/>
          </a:xfrm>
          <a:prstGeom prst="roundRect">
            <a:avLst>
              <a:gd name="adj" fmla="val 8889"/>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5" name="Text 3"/>
          <p:cNvSpPr txBox="1"/>
          <p:nvPr/>
        </p:nvSpPr>
        <p:spPr>
          <a:xfrm>
            <a:off x="868680" y="1783080"/>
            <a:ext cx="10454335" cy="822960"/>
          </a:xfrm>
          <a:prstGeom prst="rect">
            <a:avLst/>
          </a:prstGeom>
          <a:noFill/>
          <a:ln/>
        </p:spPr>
        <p:txBody>
          <a:bodyPr wrap="square" lIns="0" tIns="0" rIns="0" bIns="0" rtlCol="0" anchor="ctr"/>
          <a:lstStyle/>
          <a:p>
            <a:pPr algn="ctr" indent="0" marL="0">
              <a:buNone/>
            </a:pPr>
            <a:r>
              <a:rPr lang="en-US" sz="1500" dirty="0">
                <a:solidFill>
                  <a:srgbClr val="16213E"/>
                </a:solidFill>
                <a:latin typeface="Cambria Math" pitchFamily="34" charset="0"/>
                <a:ea typeface="Cambria Math" pitchFamily="34" charset="-122"/>
                <a:cs typeface="Cambria Math" pitchFamily="34" charset="-120"/>
              </a:rPr>
              <a:t>Minh hoạ: nếu mỗi bước co norm gradient theo hệ số ≈0.5, qua 20 layer:  0.5²⁰ ≈ 9.54×10⁻⁷</a:t>
            </a:r>
            <a:endParaRPr lang="en-US" sz="1500" dirty="0"/>
          </a:p>
        </p:txBody>
      </p:sp>
      <p:sp>
        <p:nvSpPr>
          <p:cNvPr id="6" name="Shape 4"/>
          <p:cNvSpPr/>
          <p:nvPr/>
        </p:nvSpPr>
        <p:spPr>
          <a:xfrm>
            <a:off x="2651760" y="2834640"/>
            <a:ext cx="6949440" cy="365760"/>
          </a:xfrm>
          <a:prstGeom prst="roundRect">
            <a:avLst>
              <a:gd name="adj" fmla="val 10000"/>
            </a:avLst>
          </a:prstGeom>
          <a:solidFill>
            <a:srgbClr val="BE3C32"/>
          </a:solidFill>
          <a:ln/>
        </p:spPr>
      </p:sp>
      <p:sp>
        <p:nvSpPr>
          <p:cNvPr id="7" name="Text 5"/>
          <p:cNvSpPr txBox="1"/>
          <p:nvPr/>
        </p:nvSpPr>
        <p:spPr>
          <a:xfrm>
            <a:off x="640080" y="2834640"/>
            <a:ext cx="1920240" cy="365760"/>
          </a:xfrm>
          <a:prstGeom prst="rect">
            <a:avLst/>
          </a:prstGeom>
          <a:noFill/>
          <a:ln/>
        </p:spPr>
        <p:txBody>
          <a:bodyPr wrap="square" lIns="0" tIns="0" rIns="0" bIns="0" rtlCol="0" anchor="ctr"/>
          <a:lstStyle/>
          <a:p>
            <a:pPr indent="0" marL="0">
              <a:buNone/>
            </a:pPr>
            <a:r>
              <a:rPr lang="en-US" sz="1250" dirty="0">
                <a:solidFill>
                  <a:srgbClr val="5B6478"/>
                </a:solidFill>
                <a:latin typeface="Calibri" pitchFamily="34" charset="0"/>
                <a:ea typeface="Calibri" pitchFamily="34" charset="-122"/>
                <a:cs typeface="Calibri" pitchFamily="34" charset="-120"/>
              </a:rPr>
              <a:t>Layer 20</a:t>
            </a:r>
            <a:endParaRPr lang="en-US" sz="1250" dirty="0"/>
          </a:p>
        </p:txBody>
      </p:sp>
      <p:sp>
        <p:nvSpPr>
          <p:cNvPr id="8" name="Shape 6"/>
          <p:cNvSpPr/>
          <p:nvPr/>
        </p:nvSpPr>
        <p:spPr>
          <a:xfrm>
            <a:off x="2651760" y="3328416"/>
            <a:ext cx="3840480" cy="365760"/>
          </a:xfrm>
          <a:prstGeom prst="roundRect">
            <a:avLst>
              <a:gd name="adj" fmla="val 10000"/>
            </a:avLst>
          </a:prstGeom>
          <a:solidFill>
            <a:srgbClr val="BE3C32"/>
          </a:solidFill>
          <a:ln/>
        </p:spPr>
      </p:sp>
      <p:sp>
        <p:nvSpPr>
          <p:cNvPr id="9" name="Text 7"/>
          <p:cNvSpPr txBox="1"/>
          <p:nvPr/>
        </p:nvSpPr>
        <p:spPr>
          <a:xfrm>
            <a:off x="640080" y="3328416"/>
            <a:ext cx="1920240" cy="365760"/>
          </a:xfrm>
          <a:prstGeom prst="rect">
            <a:avLst/>
          </a:prstGeom>
          <a:noFill/>
          <a:ln/>
        </p:spPr>
        <p:txBody>
          <a:bodyPr wrap="square" lIns="0" tIns="0" rIns="0" bIns="0" rtlCol="0" anchor="ctr"/>
          <a:lstStyle/>
          <a:p>
            <a:pPr indent="0" marL="0">
              <a:buNone/>
            </a:pPr>
            <a:r>
              <a:rPr lang="en-US" sz="1250" dirty="0">
                <a:solidFill>
                  <a:srgbClr val="5B6478"/>
                </a:solidFill>
                <a:latin typeface="Calibri" pitchFamily="34" charset="0"/>
                <a:ea typeface="Calibri" pitchFamily="34" charset="-122"/>
                <a:cs typeface="Calibri" pitchFamily="34" charset="-120"/>
              </a:rPr>
              <a:t>Layer 15</a:t>
            </a:r>
            <a:endParaRPr lang="en-US" sz="1250" dirty="0"/>
          </a:p>
        </p:txBody>
      </p:sp>
      <p:sp>
        <p:nvSpPr>
          <p:cNvPr id="10" name="Shape 8"/>
          <p:cNvSpPr/>
          <p:nvPr/>
        </p:nvSpPr>
        <p:spPr>
          <a:xfrm>
            <a:off x="2651760" y="3822192"/>
            <a:ext cx="1737360" cy="365760"/>
          </a:xfrm>
          <a:prstGeom prst="roundRect">
            <a:avLst>
              <a:gd name="adj" fmla="val 10000"/>
            </a:avLst>
          </a:prstGeom>
          <a:solidFill>
            <a:srgbClr val="BE3C32"/>
          </a:solidFill>
          <a:ln/>
        </p:spPr>
      </p:sp>
      <p:sp>
        <p:nvSpPr>
          <p:cNvPr id="11" name="Text 9"/>
          <p:cNvSpPr txBox="1"/>
          <p:nvPr/>
        </p:nvSpPr>
        <p:spPr>
          <a:xfrm>
            <a:off x="640080" y="3822192"/>
            <a:ext cx="1920240" cy="365760"/>
          </a:xfrm>
          <a:prstGeom prst="rect">
            <a:avLst/>
          </a:prstGeom>
          <a:noFill/>
          <a:ln/>
        </p:spPr>
        <p:txBody>
          <a:bodyPr wrap="square" lIns="0" tIns="0" rIns="0" bIns="0" rtlCol="0" anchor="ctr"/>
          <a:lstStyle/>
          <a:p>
            <a:pPr indent="0" marL="0">
              <a:buNone/>
            </a:pPr>
            <a:r>
              <a:rPr lang="en-US" sz="1250" dirty="0">
                <a:solidFill>
                  <a:srgbClr val="5B6478"/>
                </a:solidFill>
                <a:latin typeface="Calibri" pitchFamily="34" charset="0"/>
                <a:ea typeface="Calibri" pitchFamily="34" charset="-122"/>
                <a:cs typeface="Calibri" pitchFamily="34" charset="-120"/>
              </a:rPr>
              <a:t>Layer 10</a:t>
            </a:r>
            <a:endParaRPr lang="en-US" sz="1250" dirty="0"/>
          </a:p>
        </p:txBody>
      </p:sp>
      <p:sp>
        <p:nvSpPr>
          <p:cNvPr id="12" name="Shape 10"/>
          <p:cNvSpPr/>
          <p:nvPr/>
        </p:nvSpPr>
        <p:spPr>
          <a:xfrm>
            <a:off x="2651760" y="4315968"/>
            <a:ext cx="548640" cy="365760"/>
          </a:xfrm>
          <a:prstGeom prst="roundRect">
            <a:avLst>
              <a:gd name="adj" fmla="val 10000"/>
            </a:avLst>
          </a:prstGeom>
          <a:solidFill>
            <a:srgbClr val="BE3C32"/>
          </a:solidFill>
          <a:ln/>
        </p:spPr>
      </p:sp>
      <p:sp>
        <p:nvSpPr>
          <p:cNvPr id="13" name="Text 11"/>
          <p:cNvSpPr txBox="1"/>
          <p:nvPr/>
        </p:nvSpPr>
        <p:spPr>
          <a:xfrm>
            <a:off x="640080" y="4315968"/>
            <a:ext cx="1920240" cy="365760"/>
          </a:xfrm>
          <a:prstGeom prst="rect">
            <a:avLst/>
          </a:prstGeom>
          <a:noFill/>
          <a:ln/>
        </p:spPr>
        <p:txBody>
          <a:bodyPr wrap="square" lIns="0" tIns="0" rIns="0" bIns="0" rtlCol="0" anchor="ctr"/>
          <a:lstStyle/>
          <a:p>
            <a:pPr indent="0" marL="0">
              <a:buNone/>
            </a:pPr>
            <a:r>
              <a:rPr lang="en-US" sz="1250" dirty="0">
                <a:solidFill>
                  <a:srgbClr val="5B6478"/>
                </a:solidFill>
                <a:latin typeface="Calibri" pitchFamily="34" charset="0"/>
                <a:ea typeface="Calibri" pitchFamily="34" charset="-122"/>
                <a:cs typeface="Calibri" pitchFamily="34" charset="-120"/>
              </a:rPr>
              <a:t>Layer 5</a:t>
            </a:r>
            <a:endParaRPr lang="en-US" sz="1250" dirty="0"/>
          </a:p>
        </p:txBody>
      </p:sp>
      <p:sp>
        <p:nvSpPr>
          <p:cNvPr id="14" name="Shape 12"/>
          <p:cNvSpPr/>
          <p:nvPr/>
        </p:nvSpPr>
        <p:spPr>
          <a:xfrm>
            <a:off x="2651760" y="4809744"/>
            <a:ext cx="109728" cy="365760"/>
          </a:xfrm>
          <a:prstGeom prst="roundRect">
            <a:avLst>
              <a:gd name="adj" fmla="val 33333"/>
            </a:avLst>
          </a:prstGeom>
          <a:solidFill>
            <a:srgbClr val="BE3C32"/>
          </a:solidFill>
          <a:ln/>
        </p:spPr>
      </p:sp>
      <p:sp>
        <p:nvSpPr>
          <p:cNvPr id="15" name="Text 13"/>
          <p:cNvSpPr txBox="1"/>
          <p:nvPr/>
        </p:nvSpPr>
        <p:spPr>
          <a:xfrm>
            <a:off x="640080" y="4809744"/>
            <a:ext cx="1920240" cy="365760"/>
          </a:xfrm>
          <a:prstGeom prst="rect">
            <a:avLst/>
          </a:prstGeom>
          <a:noFill/>
          <a:ln/>
        </p:spPr>
        <p:txBody>
          <a:bodyPr wrap="square" lIns="0" tIns="0" rIns="0" bIns="0" rtlCol="0" anchor="ctr"/>
          <a:lstStyle/>
          <a:p>
            <a:pPr indent="0" marL="0">
              <a:buNone/>
            </a:pPr>
            <a:r>
              <a:rPr lang="en-US" sz="1250" dirty="0">
                <a:solidFill>
                  <a:srgbClr val="5B6478"/>
                </a:solidFill>
                <a:latin typeface="Calibri" pitchFamily="34" charset="0"/>
                <a:ea typeface="Calibri" pitchFamily="34" charset="-122"/>
                <a:cs typeface="Calibri" pitchFamily="34" charset="-120"/>
              </a:rPr>
              <a:t>Layer 1</a:t>
            </a:r>
            <a:endParaRPr lang="en-US" sz="1250" dirty="0"/>
          </a:p>
        </p:txBody>
      </p:sp>
      <p:sp>
        <p:nvSpPr>
          <p:cNvPr id="16" name="Text 14"/>
          <p:cNvSpPr txBox="1"/>
          <p:nvPr/>
        </p:nvSpPr>
        <p:spPr>
          <a:xfrm>
            <a:off x="640080" y="5440680"/>
            <a:ext cx="10911535" cy="1005840"/>
          </a:xfrm>
          <a:prstGeom prst="rect">
            <a:avLst/>
          </a:prstGeom>
          <a:noFill/>
          <a:ln/>
        </p:spPr>
        <p:txBody>
          <a:bodyPr wrap="square" lIns="0" tIns="0" rIns="0" bIns="0" rtlCol="0" anchor="t"/>
          <a:lstStyle/>
          <a:p>
            <a:pPr marL="228600" indent="-228600">
              <a:spcAft>
                <a:spcPts val="600"/>
              </a:spcAft>
              <a:buSzPct val="100000"/>
              <a:buChar char="▪"/>
            </a:pPr>
            <a:r>
              <a:rPr lang="en-US" sz="1300" dirty="0">
                <a:solidFill>
                  <a:srgbClr val="1A2238"/>
                </a:solidFill>
                <a:latin typeface="Calibri" pitchFamily="34" charset="0"/>
                <a:ea typeface="Calibri" pitchFamily="34" charset="-122"/>
                <a:cs typeface="Calibri" pitchFamily="34" charset="-120"/>
              </a:rPr>
              <a:t>Gradient trong mạng sâu = tích của nhiều local Jacobian và weight matrix; nếu các phép biến đổi này liên tục CO norm của gradient, gradient sẽ vanish</a:t>
            </a:r>
            <a:endParaRPr lang="en-US" sz="1300" dirty="0"/>
          </a:p>
          <a:p>
            <a:pPr marL="228600" indent="-228600">
              <a:spcAft>
                <a:spcPts val="600"/>
              </a:spcAft>
              <a:buSzPct val="100000"/>
              <a:buChar char="▪"/>
            </a:pPr>
            <a:r>
              <a:rPr lang="en-US" sz="1300" dirty="0">
                <a:solidFill>
                  <a:srgbClr val="1A2238"/>
                </a:solidFill>
                <a:latin typeface="Calibri" pitchFamily="34" charset="0"/>
                <a:ea typeface="Calibri" pitchFamily="34" charset="-122"/>
                <a:cs typeface="Calibri" pitchFamily="34" charset="-120"/>
              </a:rPr>
              <a:t>Layer càng gần input, gradient càng phải đi qua nhiều phép nhân này — nên thường bị ảnh hưởng nặng nhất</a:t>
            </a:r>
            <a:endParaRPr lang="en-US" sz="1300" dirty="0"/>
          </a:p>
        </p:txBody>
      </p:sp>
      <p:sp>
        <p:nvSpPr>
          <p:cNvPr id="17" name="Text 15"/>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10/31</a:t>
            </a:r>
            <a:endParaRPr lang="en-US" sz="900" dirty="0"/>
          </a:p>
        </p:txBody>
      </p:sp>
      <p:sp>
        <p:nvSpPr>
          <p:cNvPr id="18" name="Shape 16"/>
          <p:cNvSpPr/>
          <p:nvPr/>
        </p:nvSpPr>
        <p:spPr>
          <a:xfrm>
            <a:off x="610362" y="6473952"/>
            <a:ext cx="59436" cy="59436"/>
          </a:xfrm>
          <a:prstGeom prst="ellipse">
            <a:avLst/>
          </a:prstGeom>
          <a:solidFill>
            <a:srgbClr val="D9DEE8"/>
          </a:solidFill>
          <a:ln/>
        </p:spPr>
      </p:sp>
      <p:sp>
        <p:nvSpPr>
          <p:cNvPr id="19" name="Shape 17"/>
          <p:cNvSpPr/>
          <p:nvPr/>
        </p:nvSpPr>
        <p:spPr>
          <a:xfrm>
            <a:off x="814959" y="6459093"/>
            <a:ext cx="89154" cy="89154"/>
          </a:xfrm>
          <a:prstGeom prst="ellipse">
            <a:avLst/>
          </a:prstGeom>
          <a:solidFill>
            <a:srgbClr val="285AB4"/>
          </a:solidFill>
          <a:ln/>
        </p:spPr>
      </p:sp>
      <p:sp>
        <p:nvSpPr>
          <p:cNvPr id="20" name="Shape 18"/>
          <p:cNvSpPr/>
          <p:nvPr/>
        </p:nvSpPr>
        <p:spPr>
          <a:xfrm>
            <a:off x="1049274" y="6473952"/>
            <a:ext cx="59436" cy="59436"/>
          </a:xfrm>
          <a:prstGeom prst="ellipse">
            <a:avLst/>
          </a:prstGeom>
          <a:solidFill>
            <a:srgbClr val="D9DEE8"/>
          </a:solidFill>
          <a:ln/>
        </p:spPr>
      </p:sp>
      <p:sp>
        <p:nvSpPr>
          <p:cNvPr id="21" name="Shape 19"/>
          <p:cNvSpPr/>
          <p:nvPr/>
        </p:nvSpPr>
        <p:spPr>
          <a:xfrm>
            <a:off x="1268730" y="6473952"/>
            <a:ext cx="59436" cy="59436"/>
          </a:xfrm>
          <a:prstGeom prst="ellipse">
            <a:avLst/>
          </a:prstGeom>
          <a:solidFill>
            <a:srgbClr val="D9DEE8"/>
          </a:solidFill>
          <a:ln/>
        </p:spPr>
      </p:sp>
      <p:sp>
        <p:nvSpPr>
          <p:cNvPr id="22" name="Text 20"/>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VANISHING/EXPLODING &amp; INIT</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VANISHING / EXPLODING GRADIENT</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Exploding Gradient</a:t>
            </a:r>
            <a:endParaRPr lang="en-US" sz="2900" dirty="0"/>
          </a:p>
        </p:txBody>
      </p:sp>
      <p:sp>
        <p:nvSpPr>
          <p:cNvPr id="4" name="Shape 2"/>
          <p:cNvSpPr/>
          <p:nvPr/>
        </p:nvSpPr>
        <p:spPr>
          <a:xfrm>
            <a:off x="640080" y="1783080"/>
            <a:ext cx="10911535" cy="822960"/>
          </a:xfrm>
          <a:prstGeom prst="roundRect">
            <a:avLst>
              <a:gd name="adj" fmla="val 8889"/>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5" name="Text 3"/>
          <p:cNvSpPr txBox="1"/>
          <p:nvPr/>
        </p:nvSpPr>
        <p:spPr>
          <a:xfrm>
            <a:off x="868680" y="1783080"/>
            <a:ext cx="10454335" cy="822960"/>
          </a:xfrm>
          <a:prstGeom prst="rect">
            <a:avLst/>
          </a:prstGeom>
          <a:noFill/>
          <a:ln/>
        </p:spPr>
        <p:txBody>
          <a:bodyPr wrap="square" lIns="0" tIns="0" rIns="0" bIns="0" rtlCol="0" anchor="ctr"/>
          <a:lstStyle/>
          <a:p>
            <a:pPr algn="ctr" indent="0" marL="0">
              <a:buNone/>
            </a:pPr>
            <a:r>
              <a:rPr lang="en-US" sz="1500" dirty="0">
                <a:solidFill>
                  <a:srgbClr val="16213E"/>
                </a:solidFill>
                <a:latin typeface="Cambria Math" pitchFamily="34" charset="0"/>
                <a:ea typeface="Cambria Math" pitchFamily="34" charset="-122"/>
                <a:cs typeface="Cambria Math" pitchFamily="34" charset="-120"/>
              </a:rPr>
              <a:t>Minh hoạ: nếu mỗi bước khuếch đại norm gradient theo hệ số ≈1.5, qua 20 layer:  1.5²⁰ ≈ 3325</a:t>
            </a:r>
            <a:endParaRPr lang="en-US" sz="1500" dirty="0"/>
          </a:p>
        </p:txBody>
      </p:sp>
      <p:sp>
        <p:nvSpPr>
          <p:cNvPr id="6" name="Shape 4"/>
          <p:cNvSpPr/>
          <p:nvPr/>
        </p:nvSpPr>
        <p:spPr>
          <a:xfrm>
            <a:off x="2651760" y="2834640"/>
            <a:ext cx="109728" cy="365760"/>
          </a:xfrm>
          <a:prstGeom prst="roundRect">
            <a:avLst>
              <a:gd name="adj" fmla="val 33333"/>
            </a:avLst>
          </a:prstGeom>
          <a:solidFill>
            <a:srgbClr val="7D3C98"/>
          </a:solidFill>
          <a:ln/>
        </p:spPr>
      </p:sp>
      <p:sp>
        <p:nvSpPr>
          <p:cNvPr id="7" name="Text 5"/>
          <p:cNvSpPr txBox="1"/>
          <p:nvPr/>
        </p:nvSpPr>
        <p:spPr>
          <a:xfrm>
            <a:off x="640080" y="2834640"/>
            <a:ext cx="1920240" cy="365760"/>
          </a:xfrm>
          <a:prstGeom prst="rect">
            <a:avLst/>
          </a:prstGeom>
          <a:noFill/>
          <a:ln/>
        </p:spPr>
        <p:txBody>
          <a:bodyPr wrap="square" lIns="0" tIns="0" rIns="0" bIns="0" rtlCol="0" anchor="ctr"/>
          <a:lstStyle/>
          <a:p>
            <a:pPr indent="0" marL="0">
              <a:buNone/>
            </a:pPr>
            <a:r>
              <a:rPr lang="en-US" sz="1250" dirty="0">
                <a:solidFill>
                  <a:srgbClr val="5B6478"/>
                </a:solidFill>
                <a:latin typeface="Calibri" pitchFamily="34" charset="0"/>
                <a:ea typeface="Calibri" pitchFamily="34" charset="-122"/>
                <a:cs typeface="Calibri" pitchFamily="34" charset="-120"/>
              </a:rPr>
              <a:t>Layer 1</a:t>
            </a:r>
            <a:endParaRPr lang="en-US" sz="1250" dirty="0"/>
          </a:p>
        </p:txBody>
      </p:sp>
      <p:sp>
        <p:nvSpPr>
          <p:cNvPr id="8" name="Shape 6"/>
          <p:cNvSpPr/>
          <p:nvPr/>
        </p:nvSpPr>
        <p:spPr>
          <a:xfrm>
            <a:off x="2651760" y="3328416"/>
            <a:ext cx="457200" cy="365760"/>
          </a:xfrm>
          <a:prstGeom prst="roundRect">
            <a:avLst>
              <a:gd name="adj" fmla="val 10000"/>
            </a:avLst>
          </a:prstGeom>
          <a:solidFill>
            <a:srgbClr val="7D3C98"/>
          </a:solidFill>
          <a:ln/>
        </p:spPr>
      </p:sp>
      <p:sp>
        <p:nvSpPr>
          <p:cNvPr id="9" name="Text 7"/>
          <p:cNvSpPr txBox="1"/>
          <p:nvPr/>
        </p:nvSpPr>
        <p:spPr>
          <a:xfrm>
            <a:off x="640080" y="3328416"/>
            <a:ext cx="1920240" cy="365760"/>
          </a:xfrm>
          <a:prstGeom prst="rect">
            <a:avLst/>
          </a:prstGeom>
          <a:noFill/>
          <a:ln/>
        </p:spPr>
        <p:txBody>
          <a:bodyPr wrap="square" lIns="0" tIns="0" rIns="0" bIns="0" rtlCol="0" anchor="ctr"/>
          <a:lstStyle/>
          <a:p>
            <a:pPr indent="0" marL="0">
              <a:buNone/>
            </a:pPr>
            <a:r>
              <a:rPr lang="en-US" sz="1250" dirty="0">
                <a:solidFill>
                  <a:srgbClr val="5B6478"/>
                </a:solidFill>
                <a:latin typeface="Calibri" pitchFamily="34" charset="0"/>
                <a:ea typeface="Calibri" pitchFamily="34" charset="-122"/>
                <a:cs typeface="Calibri" pitchFamily="34" charset="-120"/>
              </a:rPr>
              <a:t>Layer 5</a:t>
            </a:r>
            <a:endParaRPr lang="en-US" sz="1250" dirty="0"/>
          </a:p>
        </p:txBody>
      </p:sp>
      <p:sp>
        <p:nvSpPr>
          <p:cNvPr id="10" name="Shape 8"/>
          <p:cNvSpPr/>
          <p:nvPr/>
        </p:nvSpPr>
        <p:spPr>
          <a:xfrm>
            <a:off x="2651760" y="3822192"/>
            <a:ext cx="1463040" cy="365760"/>
          </a:xfrm>
          <a:prstGeom prst="roundRect">
            <a:avLst>
              <a:gd name="adj" fmla="val 10000"/>
            </a:avLst>
          </a:prstGeom>
          <a:solidFill>
            <a:srgbClr val="7D3C98"/>
          </a:solidFill>
          <a:ln/>
        </p:spPr>
      </p:sp>
      <p:sp>
        <p:nvSpPr>
          <p:cNvPr id="11" name="Text 9"/>
          <p:cNvSpPr txBox="1"/>
          <p:nvPr/>
        </p:nvSpPr>
        <p:spPr>
          <a:xfrm>
            <a:off x="640080" y="3822192"/>
            <a:ext cx="1920240" cy="365760"/>
          </a:xfrm>
          <a:prstGeom prst="rect">
            <a:avLst/>
          </a:prstGeom>
          <a:noFill/>
          <a:ln/>
        </p:spPr>
        <p:txBody>
          <a:bodyPr wrap="square" lIns="0" tIns="0" rIns="0" bIns="0" rtlCol="0" anchor="ctr"/>
          <a:lstStyle/>
          <a:p>
            <a:pPr indent="0" marL="0">
              <a:buNone/>
            </a:pPr>
            <a:r>
              <a:rPr lang="en-US" sz="1250" dirty="0">
                <a:solidFill>
                  <a:srgbClr val="5B6478"/>
                </a:solidFill>
                <a:latin typeface="Calibri" pitchFamily="34" charset="0"/>
                <a:ea typeface="Calibri" pitchFamily="34" charset="-122"/>
                <a:cs typeface="Calibri" pitchFamily="34" charset="-120"/>
              </a:rPr>
              <a:t>Layer 10</a:t>
            </a:r>
            <a:endParaRPr lang="en-US" sz="1250" dirty="0"/>
          </a:p>
        </p:txBody>
      </p:sp>
      <p:sp>
        <p:nvSpPr>
          <p:cNvPr id="12" name="Shape 10"/>
          <p:cNvSpPr/>
          <p:nvPr/>
        </p:nvSpPr>
        <p:spPr>
          <a:xfrm>
            <a:off x="2651760" y="4315968"/>
            <a:ext cx="4023360" cy="365760"/>
          </a:xfrm>
          <a:prstGeom prst="roundRect">
            <a:avLst>
              <a:gd name="adj" fmla="val 10000"/>
            </a:avLst>
          </a:prstGeom>
          <a:solidFill>
            <a:srgbClr val="7D3C98"/>
          </a:solidFill>
          <a:ln/>
        </p:spPr>
      </p:sp>
      <p:sp>
        <p:nvSpPr>
          <p:cNvPr id="13" name="Text 11"/>
          <p:cNvSpPr txBox="1"/>
          <p:nvPr/>
        </p:nvSpPr>
        <p:spPr>
          <a:xfrm>
            <a:off x="640080" y="4315968"/>
            <a:ext cx="1920240" cy="365760"/>
          </a:xfrm>
          <a:prstGeom prst="rect">
            <a:avLst/>
          </a:prstGeom>
          <a:noFill/>
          <a:ln/>
        </p:spPr>
        <p:txBody>
          <a:bodyPr wrap="square" lIns="0" tIns="0" rIns="0" bIns="0" rtlCol="0" anchor="ctr"/>
          <a:lstStyle/>
          <a:p>
            <a:pPr indent="0" marL="0">
              <a:buNone/>
            </a:pPr>
            <a:r>
              <a:rPr lang="en-US" sz="1250" dirty="0">
                <a:solidFill>
                  <a:srgbClr val="5B6478"/>
                </a:solidFill>
                <a:latin typeface="Calibri" pitchFamily="34" charset="0"/>
                <a:ea typeface="Calibri" pitchFamily="34" charset="-122"/>
                <a:cs typeface="Calibri" pitchFamily="34" charset="-120"/>
              </a:rPr>
              <a:t>Layer 15</a:t>
            </a:r>
            <a:endParaRPr lang="en-US" sz="1250" dirty="0"/>
          </a:p>
        </p:txBody>
      </p:sp>
      <p:sp>
        <p:nvSpPr>
          <p:cNvPr id="14" name="Shape 12"/>
          <p:cNvSpPr/>
          <p:nvPr/>
        </p:nvSpPr>
        <p:spPr>
          <a:xfrm>
            <a:off x="2651760" y="4809744"/>
            <a:ext cx="7498080" cy="365760"/>
          </a:xfrm>
          <a:prstGeom prst="roundRect">
            <a:avLst>
              <a:gd name="adj" fmla="val 10000"/>
            </a:avLst>
          </a:prstGeom>
          <a:solidFill>
            <a:srgbClr val="7D3C98"/>
          </a:solidFill>
          <a:ln/>
        </p:spPr>
      </p:sp>
      <p:sp>
        <p:nvSpPr>
          <p:cNvPr id="15" name="Text 13"/>
          <p:cNvSpPr txBox="1"/>
          <p:nvPr/>
        </p:nvSpPr>
        <p:spPr>
          <a:xfrm>
            <a:off x="640080" y="4809744"/>
            <a:ext cx="1920240" cy="365760"/>
          </a:xfrm>
          <a:prstGeom prst="rect">
            <a:avLst/>
          </a:prstGeom>
          <a:noFill/>
          <a:ln/>
        </p:spPr>
        <p:txBody>
          <a:bodyPr wrap="square" lIns="0" tIns="0" rIns="0" bIns="0" rtlCol="0" anchor="ctr"/>
          <a:lstStyle/>
          <a:p>
            <a:pPr indent="0" marL="0">
              <a:buNone/>
            </a:pPr>
            <a:r>
              <a:rPr lang="en-US" sz="1250" dirty="0">
                <a:solidFill>
                  <a:srgbClr val="5B6478"/>
                </a:solidFill>
                <a:latin typeface="Calibri" pitchFamily="34" charset="0"/>
                <a:ea typeface="Calibri" pitchFamily="34" charset="-122"/>
                <a:cs typeface="Calibri" pitchFamily="34" charset="-120"/>
              </a:rPr>
              <a:t>Layer 20</a:t>
            </a:r>
            <a:endParaRPr lang="en-US" sz="1250" dirty="0"/>
          </a:p>
        </p:txBody>
      </p:sp>
      <p:sp>
        <p:nvSpPr>
          <p:cNvPr id="16" name="Text 14"/>
          <p:cNvSpPr txBox="1"/>
          <p:nvPr/>
        </p:nvSpPr>
        <p:spPr>
          <a:xfrm>
            <a:off x="640080" y="5532120"/>
            <a:ext cx="10911535" cy="1097280"/>
          </a:xfrm>
          <a:prstGeom prst="rect">
            <a:avLst/>
          </a:prstGeom>
          <a:noFill/>
          <a:ln/>
        </p:spPr>
        <p:txBody>
          <a:bodyPr wrap="square" lIns="0" tIns="0" rIns="0" bIns="0" rtlCol="0" anchor="t"/>
          <a:lstStyle/>
          <a:p>
            <a:pPr marL="228600" indent="-228600">
              <a:spcAft>
                <a:spcPts val="500"/>
              </a:spcAft>
              <a:buSzPct val="100000"/>
              <a:buChar char="▪"/>
            </a:pPr>
            <a:r>
              <a:rPr lang="en-US" sz="1300" dirty="0">
                <a:solidFill>
                  <a:srgbClr val="1A2238"/>
                </a:solidFill>
                <a:latin typeface="Calibri" pitchFamily="34" charset="0"/>
                <a:ea typeface="Calibri" pitchFamily="34" charset="-122"/>
                <a:cs typeface="Calibri" pitchFamily="34" charset="-120"/>
              </a:rPr>
              <a:t>Hậu quả: loss dao động mạnh hoặc trở thành NaN, weight tăng vọt</a:t>
            </a:r>
            <a:endParaRPr lang="en-US" sz="1300" dirty="0"/>
          </a:p>
          <a:p>
            <a:pPr marL="228600" indent="-228600">
              <a:spcAft>
                <a:spcPts val="500"/>
              </a:spcAft>
              <a:buSzPct val="100000"/>
              <a:buChar char="▪"/>
            </a:pPr>
            <a:r>
              <a:rPr lang="en-US" sz="1300" dirty="0">
                <a:solidFill>
                  <a:srgbClr val="1A2238"/>
                </a:solidFill>
                <a:latin typeface="Calibri" pitchFamily="34" charset="0"/>
                <a:ea typeface="Calibri" pitchFamily="34" charset="-122"/>
                <a:cs typeface="Calibri" pitchFamily="34" charset="-120"/>
              </a:rPr>
              <a:t>Cùng cơ chế với vanishing — TÍCH của Jacobian/weight matrix, nhưng liên tục KHUẾCH ĐẠI thay vì co norm gradient</a:t>
            </a:r>
            <a:endParaRPr lang="en-US" sz="1300" dirty="0"/>
          </a:p>
          <a:p>
            <a:pPr marL="228600" indent="-228600">
              <a:spcAft>
                <a:spcPts val="500"/>
              </a:spcAft>
              <a:buSzPct val="100000"/>
              <a:buChar char="▪"/>
            </a:pPr>
            <a:r>
              <a:rPr lang="en-US" sz="1300" dirty="0">
                <a:solidFill>
                  <a:srgbClr val="1A2238"/>
                </a:solidFill>
                <a:latin typeface="Calibri" pitchFamily="34" charset="0"/>
                <a:ea typeface="Calibri" pitchFamily="34" charset="-122"/>
                <a:cs typeface="Calibri" pitchFamily="34" charset="-120"/>
              </a:rPr>
              <a:t>Sẽ thấy hiện tượng này XẢY RA THẬT ở Experiment 3 (Random large init) ngay sau đây</a:t>
            </a:r>
            <a:endParaRPr lang="en-US" sz="1300" dirty="0"/>
          </a:p>
        </p:txBody>
      </p:sp>
      <p:sp>
        <p:nvSpPr>
          <p:cNvPr id="17" name="Text 15"/>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11/31</a:t>
            </a:r>
            <a:endParaRPr lang="en-US" sz="900" dirty="0"/>
          </a:p>
        </p:txBody>
      </p:sp>
      <p:sp>
        <p:nvSpPr>
          <p:cNvPr id="18" name="Shape 16"/>
          <p:cNvSpPr/>
          <p:nvPr/>
        </p:nvSpPr>
        <p:spPr>
          <a:xfrm>
            <a:off x="610362" y="6473952"/>
            <a:ext cx="59436" cy="59436"/>
          </a:xfrm>
          <a:prstGeom prst="ellipse">
            <a:avLst/>
          </a:prstGeom>
          <a:solidFill>
            <a:srgbClr val="D9DEE8"/>
          </a:solidFill>
          <a:ln/>
        </p:spPr>
      </p:sp>
      <p:sp>
        <p:nvSpPr>
          <p:cNvPr id="19" name="Shape 17"/>
          <p:cNvSpPr/>
          <p:nvPr/>
        </p:nvSpPr>
        <p:spPr>
          <a:xfrm>
            <a:off x="814959" y="6459093"/>
            <a:ext cx="89154" cy="89154"/>
          </a:xfrm>
          <a:prstGeom prst="ellipse">
            <a:avLst/>
          </a:prstGeom>
          <a:solidFill>
            <a:srgbClr val="285AB4"/>
          </a:solidFill>
          <a:ln/>
        </p:spPr>
      </p:sp>
      <p:sp>
        <p:nvSpPr>
          <p:cNvPr id="20" name="Shape 18"/>
          <p:cNvSpPr/>
          <p:nvPr/>
        </p:nvSpPr>
        <p:spPr>
          <a:xfrm>
            <a:off x="1049274" y="6473952"/>
            <a:ext cx="59436" cy="59436"/>
          </a:xfrm>
          <a:prstGeom prst="ellipse">
            <a:avLst/>
          </a:prstGeom>
          <a:solidFill>
            <a:srgbClr val="D9DEE8"/>
          </a:solidFill>
          <a:ln/>
        </p:spPr>
      </p:sp>
      <p:sp>
        <p:nvSpPr>
          <p:cNvPr id="21" name="Shape 19"/>
          <p:cNvSpPr/>
          <p:nvPr/>
        </p:nvSpPr>
        <p:spPr>
          <a:xfrm>
            <a:off x="1268730" y="6473952"/>
            <a:ext cx="59436" cy="59436"/>
          </a:xfrm>
          <a:prstGeom prst="ellipse">
            <a:avLst/>
          </a:prstGeom>
          <a:solidFill>
            <a:srgbClr val="D9DEE8"/>
          </a:solidFill>
          <a:ln/>
        </p:spPr>
      </p:sp>
      <p:sp>
        <p:nvSpPr>
          <p:cNvPr id="22" name="Text 20"/>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VANISHING/EXPLODING &amp; INIT</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PARAMETER INITIALIZATION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Tại sao không đặt tất cả weight = 0?</a:t>
            </a:r>
            <a:endParaRPr lang="en-US" sz="2900" dirty="0"/>
          </a:p>
        </p:txBody>
      </p:sp>
      <p:sp>
        <p:nvSpPr>
          <p:cNvPr id="4" name="Shape 2"/>
          <p:cNvSpPr/>
          <p:nvPr/>
        </p:nvSpPr>
        <p:spPr>
          <a:xfrm>
            <a:off x="640080" y="1783080"/>
            <a:ext cx="10911535" cy="640080"/>
          </a:xfrm>
          <a:prstGeom prst="roundRect">
            <a:avLst>
              <a:gd name="adj" fmla="val 11429"/>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5" name="Text 3"/>
          <p:cNvSpPr txBox="1"/>
          <p:nvPr/>
        </p:nvSpPr>
        <p:spPr>
          <a:xfrm>
            <a:off x="868680" y="1783080"/>
            <a:ext cx="10454335" cy="640080"/>
          </a:xfrm>
          <a:prstGeom prst="rect">
            <a:avLst/>
          </a:prstGeom>
          <a:noFill/>
          <a:ln/>
        </p:spPr>
        <p:txBody>
          <a:bodyPr wrap="square" lIns="0" tIns="0" rIns="0" bIns="0" rtlCol="0" anchor="ctr"/>
          <a:lstStyle/>
          <a:p>
            <a:pPr algn="ctr" indent="0" marL="0">
              <a:buNone/>
            </a:pPr>
            <a:r>
              <a:rPr lang="en-US" sz="1700" dirty="0">
                <a:solidFill>
                  <a:srgbClr val="16213E"/>
                </a:solidFill>
                <a:latin typeface="Cambria Math" pitchFamily="34" charset="0"/>
                <a:ea typeface="Cambria Math" pitchFamily="34" charset="-122"/>
                <a:cs typeface="Cambria Math" pitchFamily="34" charset="-120"/>
              </a:rPr>
              <a:t>W = np.zeros(...)</a:t>
            </a:r>
            <a:endParaRPr lang="en-US" sz="1700" dirty="0"/>
          </a:p>
        </p:txBody>
      </p:sp>
      <p:sp>
        <p:nvSpPr>
          <p:cNvPr id="6" name="Text 4"/>
          <p:cNvSpPr txBox="1"/>
          <p:nvPr/>
        </p:nvSpPr>
        <p:spPr>
          <a:xfrm>
            <a:off x="640080" y="2651760"/>
            <a:ext cx="10911535" cy="2103120"/>
          </a:xfrm>
          <a:prstGeom prst="rect">
            <a:avLst/>
          </a:prstGeom>
          <a:noFill/>
          <a:ln/>
        </p:spPr>
        <p:txBody>
          <a:bodyPr wrap="square" lIns="0" tIns="0" rIns="0" bIns="0" rtlCol="0" anchor="t"/>
          <a:lstStyle/>
          <a:p>
            <a:pPr marL="228600" indent="-228600">
              <a:spcAft>
                <a:spcPts val="1000"/>
              </a:spcAft>
              <a:buSzPct val="100000"/>
              <a:buChar char="▪"/>
            </a:pPr>
            <a:r>
              <a:rPr lang="en-US" sz="1450" dirty="0">
                <a:solidFill>
                  <a:srgbClr val="1A2238"/>
                </a:solidFill>
                <a:latin typeface="Calibri" pitchFamily="34" charset="0"/>
                <a:ea typeface="Calibri" pitchFamily="34" charset="-122"/>
                <a:cs typeface="Calibri" pitchFamily="34" charset="-120"/>
              </a:rPr>
              <a:t>Mọi HIDDEN UNIT trong 1 lớp nhận CÙNG input, CÙNG weight ⇒ CÙNG z, CÙNG a, CÙNG gradient — giữ SYMMETRY</a:t>
            </a:r>
            <a:endParaRPr lang="en-US" sz="1450" dirty="0"/>
          </a:p>
          <a:p>
            <a:pPr marL="228600" indent="-228600">
              <a:spcAft>
                <a:spcPts val="1000"/>
              </a:spcAft>
              <a:buSzPct val="100000"/>
              <a:buChar char="▪"/>
            </a:pPr>
            <a:r>
              <a:rPr lang="en-US" sz="1450" dirty="0">
                <a:solidFill>
                  <a:srgbClr val="1A2238"/>
                </a:solidFill>
                <a:latin typeface="Calibri" pitchFamily="34" charset="0"/>
                <a:ea typeface="Calibri" pitchFamily="34" charset="-122"/>
                <a:cs typeface="Calibri" pitchFamily="34" charset="-120"/>
              </a:rPr>
              <a:t>Sau update: các hidden unit này vẫn giống hệt nhau — vấn đề áp dụng cho WEIGHT, không phải bias (bias thường vẫn khởi tạo 0 được, vì không gây đối xứng giữa các unit)</a:t>
            </a:r>
            <a:endParaRPr lang="en-US" sz="1450" dirty="0"/>
          </a:p>
          <a:p>
            <a:pPr marL="228600" indent="-228600">
              <a:spcAft>
                <a:spcPts val="1000"/>
              </a:spcAft>
              <a:buSzPct val="100000"/>
              <a:buChar char="▪"/>
            </a:pPr>
            <a:r>
              <a:rPr lang="en-US" sz="1450" dirty="0">
                <a:solidFill>
                  <a:srgbClr val="1A2238"/>
                </a:solidFill>
                <a:latin typeface="Calibri" pitchFamily="34" charset="0"/>
                <a:ea typeface="Calibri" pitchFamily="34" charset="-122"/>
                <a:cs typeface="Calibri" pitchFamily="34" charset="-120"/>
              </a:rPr>
              <a:t>Trong kiến trúc đang khảo sát (10 hidden layer, ReLU — cùng setup với phần Demo phía sau): zero-init khiến hidden-layer gradient bằng 0 ngay tại bước khởi tạo, mạng không học được representation hữu ích</a:t>
            </a:r>
            <a:endParaRPr lang="en-US" sz="1450" dirty="0"/>
          </a:p>
        </p:txBody>
      </p:sp>
      <p:sp>
        <p:nvSpPr>
          <p:cNvPr id="7" name="Text 5"/>
          <p:cNvSpPr txBox="1"/>
          <p:nvPr/>
        </p:nvSpPr>
        <p:spPr>
          <a:xfrm>
            <a:off x="640080" y="5029200"/>
            <a:ext cx="3840480" cy="822960"/>
          </a:xfrm>
          <a:prstGeom prst="rect">
            <a:avLst/>
          </a:prstGeom>
          <a:noFill/>
          <a:ln/>
        </p:spPr>
        <p:txBody>
          <a:bodyPr wrap="square" lIns="0" tIns="0" rIns="0" bIns="0" rtlCol="0" anchor="b"/>
          <a:lstStyle/>
          <a:p>
            <a:pPr algn="ctr" indent="0" marL="0">
              <a:buNone/>
            </a:pPr>
            <a:r>
              <a:rPr lang="en-US" sz="3000" b="1" dirty="0">
                <a:solidFill>
                  <a:srgbClr val="BE3C32"/>
                </a:solidFill>
                <a:latin typeface="Cambria" pitchFamily="34" charset="0"/>
                <a:ea typeface="Cambria" pitchFamily="34" charset="-122"/>
                <a:cs typeface="Cambria" pitchFamily="34" charset="-120"/>
              </a:rPr>
              <a:t>0.0</a:t>
            </a:r>
            <a:endParaRPr lang="en-US" sz="3000" dirty="0"/>
          </a:p>
        </p:txBody>
      </p:sp>
      <p:sp>
        <p:nvSpPr>
          <p:cNvPr id="8" name="Text 6"/>
          <p:cNvSpPr txBox="1"/>
          <p:nvPr/>
        </p:nvSpPr>
        <p:spPr>
          <a:xfrm>
            <a:off x="640080" y="5852160"/>
            <a:ext cx="3840480" cy="548640"/>
          </a:xfrm>
          <a:prstGeom prst="rect">
            <a:avLst/>
          </a:prstGeom>
          <a:noFill/>
          <a:ln/>
        </p:spPr>
        <p:txBody>
          <a:bodyPr wrap="square" lIns="0" tIns="0" rIns="0" bIns="0" rtlCol="0" anchor="t"/>
          <a:lstStyle/>
          <a:p>
            <a:pPr algn="ctr" indent="0" marL="0">
              <a:buNone/>
            </a:pPr>
            <a:r>
              <a:rPr lang="en-US" sz="1100" dirty="0">
                <a:solidFill>
                  <a:srgbClr val="5B6478"/>
                </a:solidFill>
                <a:latin typeface="Calibri" pitchFamily="34" charset="0"/>
                <a:ea typeface="Calibri" pitchFamily="34" charset="-122"/>
                <a:cs typeface="Calibri" pitchFamily="34" charset="-120"/>
              </a:rPr>
              <a:t>gradient RMS lớp ẩn thứ nhất, tại khởi tạo (Zero-init, 10 hidden layer, ReLU) — test acc = 10.0%</a:t>
            </a:r>
            <a:endParaRPr lang="en-US" sz="1100" dirty="0"/>
          </a:p>
        </p:txBody>
      </p:sp>
      <p:sp>
        <p:nvSpPr>
          <p:cNvPr id="9" name="Text 7"/>
          <p:cNvSpPr txBox="1"/>
          <p:nvPr/>
        </p:nvSpPr>
        <p:spPr>
          <a:xfrm>
            <a:off x="4846320" y="5257800"/>
            <a:ext cx="6705295" cy="1005840"/>
          </a:xfrm>
          <a:prstGeom prst="rect">
            <a:avLst/>
          </a:prstGeom>
          <a:noFill/>
          <a:ln/>
        </p:spPr>
        <p:txBody>
          <a:bodyPr wrap="square" lIns="0" tIns="0" rIns="0" bIns="0" rtlCol="0" anchor="ctr"/>
          <a:lstStyle/>
          <a:p>
            <a:pPr indent="0" marL="0">
              <a:buNone/>
            </a:pPr>
            <a:r>
              <a:rPr lang="en-US" sz="1200" i="1" dirty="0">
                <a:solidFill>
                  <a:srgbClr val="5B6478"/>
                </a:solidFill>
                <a:latin typeface="Calibri" pitchFamily="34" charset="0"/>
                <a:ea typeface="Calibri" pitchFamily="34" charset="-122"/>
                <a:cs typeface="Calibri" pitchFamily="34" charset="-120"/>
              </a:rPr>
              <a:t>Số liệu thật, CÙNG kiến trúc/dataset/seed với toàn bộ phần Demo (results/logs/deep_demo_zero.json) — không lấy từ thí nghiệm lưới chính (6 hidden layer, khác activation) để tránh trộn hai setup khác nhau.</a:t>
            </a:r>
            <a:endParaRPr lang="en-US" sz="1200" dirty="0"/>
          </a:p>
        </p:txBody>
      </p:sp>
      <p:sp>
        <p:nvSpPr>
          <p:cNvPr id="10" name="Text 8"/>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12/31</a:t>
            </a:r>
            <a:endParaRPr lang="en-US" sz="900" dirty="0"/>
          </a:p>
        </p:txBody>
      </p:sp>
      <p:sp>
        <p:nvSpPr>
          <p:cNvPr id="11" name="Shape 9"/>
          <p:cNvSpPr/>
          <p:nvPr/>
        </p:nvSpPr>
        <p:spPr>
          <a:xfrm>
            <a:off x="610362" y="6473952"/>
            <a:ext cx="59436" cy="59436"/>
          </a:xfrm>
          <a:prstGeom prst="ellipse">
            <a:avLst/>
          </a:prstGeom>
          <a:solidFill>
            <a:srgbClr val="D9DEE8"/>
          </a:solidFill>
          <a:ln/>
        </p:spPr>
      </p:sp>
      <p:sp>
        <p:nvSpPr>
          <p:cNvPr id="12" name="Shape 10"/>
          <p:cNvSpPr/>
          <p:nvPr/>
        </p:nvSpPr>
        <p:spPr>
          <a:xfrm>
            <a:off x="814959" y="6459093"/>
            <a:ext cx="89154" cy="89154"/>
          </a:xfrm>
          <a:prstGeom prst="ellipse">
            <a:avLst/>
          </a:prstGeom>
          <a:solidFill>
            <a:srgbClr val="285AB4"/>
          </a:solidFill>
          <a:ln/>
        </p:spPr>
      </p:sp>
      <p:sp>
        <p:nvSpPr>
          <p:cNvPr id="13" name="Shape 11"/>
          <p:cNvSpPr/>
          <p:nvPr/>
        </p:nvSpPr>
        <p:spPr>
          <a:xfrm>
            <a:off x="1049274" y="6473952"/>
            <a:ext cx="59436" cy="59436"/>
          </a:xfrm>
          <a:prstGeom prst="ellipse">
            <a:avLst/>
          </a:prstGeom>
          <a:solidFill>
            <a:srgbClr val="D9DEE8"/>
          </a:solidFill>
          <a:ln/>
        </p:spPr>
      </p:sp>
      <p:sp>
        <p:nvSpPr>
          <p:cNvPr id="14" name="Shape 12"/>
          <p:cNvSpPr/>
          <p:nvPr/>
        </p:nvSpPr>
        <p:spPr>
          <a:xfrm>
            <a:off x="1268730" y="6473952"/>
            <a:ext cx="59436" cy="59436"/>
          </a:xfrm>
          <a:prstGeom prst="ellipse">
            <a:avLst/>
          </a:prstGeom>
          <a:solidFill>
            <a:srgbClr val="D9DEE8"/>
          </a:solidFill>
          <a:ln/>
        </p:spPr>
      </p:sp>
      <p:sp>
        <p:nvSpPr>
          <p:cNvPr id="15" name="Text 13"/>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VANISHING/EXPLODING &amp; INIT</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PARAMETER INITIALIZATION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Random Initialization</a:t>
            </a:r>
            <a:endParaRPr lang="en-US" sz="2900" dirty="0"/>
          </a:p>
        </p:txBody>
      </p:sp>
      <p:sp>
        <p:nvSpPr>
          <p:cNvPr id="4" name="Shape 2"/>
          <p:cNvSpPr/>
          <p:nvPr/>
        </p:nvSpPr>
        <p:spPr>
          <a:xfrm>
            <a:off x="640080" y="1737360"/>
            <a:ext cx="10911535" cy="640080"/>
          </a:xfrm>
          <a:prstGeom prst="roundRect">
            <a:avLst>
              <a:gd name="adj" fmla="val 11429"/>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5" name="Text 3"/>
          <p:cNvSpPr txBox="1"/>
          <p:nvPr/>
        </p:nvSpPr>
        <p:spPr>
          <a:xfrm>
            <a:off x="868680" y="1737360"/>
            <a:ext cx="10454335" cy="640080"/>
          </a:xfrm>
          <a:prstGeom prst="rect">
            <a:avLst/>
          </a:prstGeom>
          <a:noFill/>
          <a:ln/>
        </p:spPr>
        <p:txBody>
          <a:bodyPr wrap="square" lIns="0" tIns="0" rIns="0" bIns="0" rtlCol="0" anchor="ctr"/>
          <a:lstStyle/>
          <a:p>
            <a:pPr algn="ctr" indent="0" marL="0">
              <a:buNone/>
            </a:pPr>
            <a:r>
              <a:rPr lang="en-US" sz="1700" dirty="0">
                <a:solidFill>
                  <a:srgbClr val="16213E"/>
                </a:solidFill>
                <a:latin typeface="Cambria Math" pitchFamily="34" charset="0"/>
                <a:ea typeface="Cambria Math" pitchFamily="34" charset="-122"/>
                <a:cs typeface="Cambria Math" pitchFamily="34" charset="-120"/>
              </a:rPr>
              <a:t>W = np.random.randn(...) × std</a:t>
            </a:r>
            <a:endParaRPr lang="en-US" sz="1700" dirty="0"/>
          </a:p>
        </p:txBody>
      </p:sp>
      <p:sp>
        <p:nvSpPr>
          <p:cNvPr id="6" name="Shape 4"/>
          <p:cNvSpPr/>
          <p:nvPr/>
        </p:nvSpPr>
        <p:spPr>
          <a:xfrm>
            <a:off x="640080" y="2514600"/>
            <a:ext cx="5120640" cy="2880360"/>
          </a:xfrm>
          <a:prstGeom prst="roundRect">
            <a:avLst>
              <a:gd name="adj" fmla="val 2540"/>
            </a:avLst>
          </a:prstGeom>
          <a:solidFill>
            <a:srgbClr val="EAF0FB"/>
          </a:solidFill>
          <a:ln w="12700">
            <a:solidFill>
              <a:srgbClr val="285AB4"/>
            </a:solidFill>
            <a:prstDash val="solid"/>
          </a:ln>
          <a:effectLst>
            <a:outerShdw sx="100000" sy="100000" kx="0" ky="0" algn="bl" rotWithShape="0" blurRad="114300" dist="38100" dir="5400000">
              <a:srgbClr val="1A1A2E">
                <a:alpha val="20000"/>
              </a:srgbClr>
            </a:outerShdw>
          </a:effectLst>
        </p:spPr>
      </p:sp>
      <p:sp>
        <p:nvSpPr>
          <p:cNvPr id="7" name="Text 5"/>
          <p:cNvSpPr txBox="1"/>
          <p:nvPr/>
        </p:nvSpPr>
        <p:spPr>
          <a:xfrm>
            <a:off x="914400" y="2715768"/>
            <a:ext cx="4572000" cy="548640"/>
          </a:xfrm>
          <a:prstGeom prst="rect">
            <a:avLst/>
          </a:prstGeom>
          <a:noFill/>
          <a:ln/>
        </p:spPr>
        <p:txBody>
          <a:bodyPr wrap="square" lIns="0" tIns="0" rIns="0" bIns="0" rtlCol="0" anchor="ctr"/>
          <a:lstStyle/>
          <a:p>
            <a:pPr indent="0" marL="0">
              <a:buNone/>
            </a:pPr>
            <a:r>
              <a:rPr lang="en-US" sz="1450" b="1" dirty="0">
                <a:solidFill>
                  <a:srgbClr val="285AB4"/>
                </a:solidFill>
                <a:latin typeface="Cambria" pitchFamily="34" charset="0"/>
                <a:ea typeface="Cambria" pitchFamily="34" charset="-122"/>
                <a:cs typeface="Cambria" pitchFamily="34" charset="-120"/>
              </a:rPr>
              <a:t>std quá NHỎ</a:t>
            </a:r>
            <a:endParaRPr lang="en-US" sz="1450" dirty="0"/>
          </a:p>
        </p:txBody>
      </p:sp>
      <p:sp>
        <p:nvSpPr>
          <p:cNvPr id="8" name="Text 6"/>
          <p:cNvSpPr txBox="1"/>
          <p:nvPr/>
        </p:nvSpPr>
        <p:spPr>
          <a:xfrm>
            <a:off x="914400" y="3383280"/>
            <a:ext cx="4572000" cy="1874520"/>
          </a:xfrm>
          <a:prstGeom prst="rect">
            <a:avLst/>
          </a:prstGeom>
          <a:noFill/>
          <a:ln/>
        </p:spPr>
        <p:txBody>
          <a:bodyPr wrap="square" lIns="0" tIns="0" rIns="0" bIns="0" rtlCol="0" anchor="t"/>
          <a:lstStyle/>
          <a:p>
            <a:pPr marL="228600" indent="-228600">
              <a:spcAft>
                <a:spcPts val="900"/>
              </a:spcAft>
              <a:buSzPct val="100000"/>
              <a:buChar char="▪"/>
            </a:pPr>
            <a:r>
              <a:rPr lang="en-US" sz="1350" dirty="0">
                <a:solidFill>
                  <a:srgbClr val="1A2238"/>
                </a:solidFill>
                <a:latin typeface="Calibri" pitchFamily="34" charset="0"/>
                <a:ea typeface="Calibri" pitchFamily="34" charset="-122"/>
                <a:cs typeface="Calibri" pitchFamily="34" charset="-120"/>
              </a:rPr>
              <a:t>weight rất nhỏ có xu hướng làm co lại scale của pre-activation/activation</a:t>
            </a:r>
            <a:endParaRPr lang="en-US" sz="1350" dirty="0"/>
          </a:p>
          <a:p>
            <a:pPr marL="228600" indent="-228600">
              <a:spcAft>
                <a:spcPts val="900"/>
              </a:spcAft>
              <a:buSzPct val="100000"/>
              <a:buChar char="▪"/>
            </a:pPr>
            <a:r>
              <a:rPr lang="en-US" sz="1350" dirty="0">
                <a:solidFill>
                  <a:srgbClr val="1A2238"/>
                </a:solidFill>
                <a:latin typeface="Calibri" pitchFamily="34" charset="0"/>
                <a:ea typeface="Calibri" pitchFamily="34" charset="-122"/>
                <a:cs typeface="Calibri" pitchFamily="34" charset="-120"/>
              </a:rPr>
              <a:t>→ gradient nhỏ dần qua mỗi lớp</a:t>
            </a:r>
            <a:endParaRPr lang="en-US" sz="1350" dirty="0"/>
          </a:p>
          <a:p>
            <a:pPr marL="228600" indent="-228600">
              <a:spcAft>
                <a:spcPts val="900"/>
              </a:spcAft>
              <a:buSzPct val="100000"/>
              <a:buChar char="▪"/>
            </a:pPr>
            <a:r>
              <a:rPr lang="en-US" sz="1350" dirty="0">
                <a:solidFill>
                  <a:srgbClr val="1A2238"/>
                </a:solidFill>
                <a:latin typeface="Calibri" pitchFamily="34" charset="0"/>
                <a:ea typeface="Calibri" pitchFamily="34" charset="-122"/>
                <a:cs typeface="Calibri" pitchFamily="34" charset="-120"/>
              </a:rPr>
              <a:t>→ có xu hướng VANISHING GRADIENT</a:t>
            </a:r>
            <a:endParaRPr lang="en-US" sz="1350" dirty="0"/>
          </a:p>
        </p:txBody>
      </p:sp>
      <p:sp>
        <p:nvSpPr>
          <p:cNvPr id="9" name="Shape 7"/>
          <p:cNvSpPr/>
          <p:nvPr/>
        </p:nvSpPr>
        <p:spPr>
          <a:xfrm>
            <a:off x="6430975" y="2514600"/>
            <a:ext cx="5120640" cy="2880360"/>
          </a:xfrm>
          <a:prstGeom prst="roundRect">
            <a:avLst>
              <a:gd name="adj" fmla="val 2540"/>
            </a:avLst>
          </a:prstGeom>
          <a:solidFill>
            <a:srgbClr val="F3EAFB"/>
          </a:solidFill>
          <a:ln w="12700">
            <a:solidFill>
              <a:srgbClr val="7D3C98"/>
            </a:solidFill>
            <a:prstDash val="solid"/>
          </a:ln>
          <a:effectLst>
            <a:outerShdw sx="100000" sy="100000" kx="0" ky="0" algn="bl" rotWithShape="0" blurRad="114300" dist="38100" dir="5400000">
              <a:srgbClr val="1A1A2E">
                <a:alpha val="20000"/>
              </a:srgbClr>
            </a:outerShdw>
          </a:effectLst>
        </p:spPr>
      </p:sp>
      <p:sp>
        <p:nvSpPr>
          <p:cNvPr id="10" name="Text 8"/>
          <p:cNvSpPr txBox="1"/>
          <p:nvPr/>
        </p:nvSpPr>
        <p:spPr>
          <a:xfrm>
            <a:off x="6705295" y="2715768"/>
            <a:ext cx="4572000" cy="548640"/>
          </a:xfrm>
          <a:prstGeom prst="rect">
            <a:avLst/>
          </a:prstGeom>
          <a:noFill/>
          <a:ln/>
        </p:spPr>
        <p:txBody>
          <a:bodyPr wrap="square" lIns="0" tIns="0" rIns="0" bIns="0" rtlCol="0" anchor="ctr"/>
          <a:lstStyle/>
          <a:p>
            <a:pPr indent="0" marL="0">
              <a:buNone/>
            </a:pPr>
            <a:r>
              <a:rPr lang="en-US" sz="1450" b="1" dirty="0">
                <a:solidFill>
                  <a:srgbClr val="7D3C98"/>
                </a:solidFill>
                <a:latin typeface="Cambria" pitchFamily="34" charset="0"/>
                <a:ea typeface="Cambria" pitchFamily="34" charset="-122"/>
                <a:cs typeface="Cambria" pitchFamily="34" charset="-120"/>
              </a:rPr>
              <a:t>std quá LỚN</a:t>
            </a:r>
            <a:endParaRPr lang="en-US" sz="1450" dirty="0"/>
          </a:p>
        </p:txBody>
      </p:sp>
      <p:sp>
        <p:nvSpPr>
          <p:cNvPr id="11" name="Text 9"/>
          <p:cNvSpPr txBox="1"/>
          <p:nvPr/>
        </p:nvSpPr>
        <p:spPr>
          <a:xfrm>
            <a:off x="6705295" y="3383280"/>
            <a:ext cx="4572000" cy="1874520"/>
          </a:xfrm>
          <a:prstGeom prst="rect">
            <a:avLst/>
          </a:prstGeom>
          <a:noFill/>
          <a:ln/>
        </p:spPr>
        <p:txBody>
          <a:bodyPr wrap="square" lIns="0" tIns="0" rIns="0" bIns="0" rtlCol="0" anchor="t"/>
          <a:lstStyle/>
          <a:p>
            <a:pPr marL="228600" indent="-228600">
              <a:spcAft>
                <a:spcPts val="900"/>
              </a:spcAft>
              <a:buSzPct val="100000"/>
              <a:buChar char="▪"/>
            </a:pPr>
            <a:r>
              <a:rPr lang="en-US" sz="1350" dirty="0">
                <a:solidFill>
                  <a:srgbClr val="1A2238"/>
                </a:solidFill>
                <a:latin typeface="Calibri" pitchFamily="34" charset="0"/>
                <a:ea typeface="Calibri" pitchFamily="34" charset="-122"/>
                <a:cs typeface="Calibri" pitchFamily="34" charset="-120"/>
              </a:rPr>
              <a:t>weight lớn → activation/pre-activation lớn</a:t>
            </a:r>
            <a:endParaRPr lang="en-US" sz="1350" dirty="0"/>
          </a:p>
          <a:p>
            <a:pPr marL="228600" indent="-228600">
              <a:spcAft>
                <a:spcPts val="900"/>
              </a:spcAft>
              <a:buSzPct val="100000"/>
              <a:buChar char="▪"/>
            </a:pPr>
            <a:r>
              <a:rPr lang="en-US" sz="1350" dirty="0">
                <a:solidFill>
                  <a:srgbClr val="1A2238"/>
                </a:solidFill>
                <a:latin typeface="Calibri" pitchFamily="34" charset="0"/>
                <a:ea typeface="Calibri" pitchFamily="34" charset="-122"/>
                <a:cs typeface="Calibri" pitchFamily="34" charset="-120"/>
              </a:rPr>
              <a:t>ReLU: gradient có xu hướng tăng vọt qua mỗi lớp → EXPLODING</a:t>
            </a:r>
            <a:endParaRPr lang="en-US" sz="1350" dirty="0"/>
          </a:p>
          <a:p>
            <a:pPr marL="228600" indent="-228600">
              <a:spcAft>
                <a:spcPts val="900"/>
              </a:spcAft>
              <a:buSzPct val="100000"/>
              <a:buChar char="▪"/>
            </a:pPr>
            <a:r>
              <a:rPr lang="en-US" sz="1350" dirty="0">
                <a:solidFill>
                  <a:srgbClr val="1A2238"/>
                </a:solidFill>
                <a:latin typeface="Calibri" pitchFamily="34" charset="0"/>
                <a:ea typeface="Calibri" pitchFamily="34" charset="-122"/>
                <a:cs typeface="Calibri" pitchFamily="34" charset="-120"/>
              </a:rPr>
              <a:t>Sigmoid/Tanh: pre-activation dễ rơi vào vùng BÃO HOÀ → derivative ≈ 0 → cũng VANISHING</a:t>
            </a:r>
            <a:endParaRPr lang="en-US" sz="1350" dirty="0"/>
          </a:p>
        </p:txBody>
      </p:sp>
      <p:sp>
        <p:nvSpPr>
          <p:cNvPr id="12" name="Text 10"/>
          <p:cNvSpPr txBox="1"/>
          <p:nvPr/>
        </p:nvSpPr>
        <p:spPr>
          <a:xfrm>
            <a:off x="640080" y="5532120"/>
            <a:ext cx="10911535" cy="914400"/>
          </a:xfrm>
          <a:prstGeom prst="rect">
            <a:avLst/>
          </a:prstGeom>
          <a:noFill/>
          <a:ln/>
        </p:spPr>
        <p:txBody>
          <a:bodyPr wrap="square" lIns="0" tIns="0" rIns="0" bIns="0" rtlCol="0" anchor="ctr"/>
          <a:lstStyle/>
          <a:p>
            <a:pPr indent="0" marL="0">
              <a:buNone/>
            </a:pPr>
            <a:r>
              <a:rPr lang="en-US" sz="1200" i="1" dirty="0">
                <a:solidFill>
                  <a:srgbClr val="5B6478"/>
                </a:solidFill>
                <a:latin typeface="Calibri" pitchFamily="34" charset="0"/>
                <a:ea typeface="Calibri" pitchFamily="34" charset="-122"/>
                <a:cs typeface="Calibri" pitchFamily="34" charset="-120"/>
              </a:rPr>
              <a:t>Hai thí nghiệm sau (Experiment 2 &amp; 3, mạng ReLU) tái hiện std-nhỏ → vanishing và std-lớn → exploding bằng số liệu thật. Với activation bão hoà (sigmoid/tanh), std lớn còn có thể gây vanishing theo cơ chế khác (bão hoà), không chỉ exploding.</a:t>
            </a:r>
            <a:endParaRPr lang="en-US" sz="1200" dirty="0"/>
          </a:p>
        </p:txBody>
      </p:sp>
      <p:sp>
        <p:nvSpPr>
          <p:cNvPr id="13" name="Text 11"/>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13/31</a:t>
            </a:r>
            <a:endParaRPr lang="en-US" sz="900" dirty="0"/>
          </a:p>
        </p:txBody>
      </p:sp>
      <p:sp>
        <p:nvSpPr>
          <p:cNvPr id="14" name="Shape 12"/>
          <p:cNvSpPr/>
          <p:nvPr/>
        </p:nvSpPr>
        <p:spPr>
          <a:xfrm>
            <a:off x="610362" y="6473952"/>
            <a:ext cx="59436" cy="59436"/>
          </a:xfrm>
          <a:prstGeom prst="ellipse">
            <a:avLst/>
          </a:prstGeom>
          <a:solidFill>
            <a:srgbClr val="D9DEE8"/>
          </a:solidFill>
          <a:ln/>
        </p:spPr>
      </p:sp>
      <p:sp>
        <p:nvSpPr>
          <p:cNvPr id="15" name="Shape 13"/>
          <p:cNvSpPr/>
          <p:nvPr/>
        </p:nvSpPr>
        <p:spPr>
          <a:xfrm>
            <a:off x="814959" y="6459093"/>
            <a:ext cx="89154" cy="89154"/>
          </a:xfrm>
          <a:prstGeom prst="ellipse">
            <a:avLst/>
          </a:prstGeom>
          <a:solidFill>
            <a:srgbClr val="285AB4"/>
          </a:solidFill>
          <a:ln/>
        </p:spPr>
      </p:sp>
      <p:sp>
        <p:nvSpPr>
          <p:cNvPr id="16" name="Shape 14"/>
          <p:cNvSpPr/>
          <p:nvPr/>
        </p:nvSpPr>
        <p:spPr>
          <a:xfrm>
            <a:off x="1049274" y="6473952"/>
            <a:ext cx="59436" cy="59436"/>
          </a:xfrm>
          <a:prstGeom prst="ellipse">
            <a:avLst/>
          </a:prstGeom>
          <a:solidFill>
            <a:srgbClr val="D9DEE8"/>
          </a:solidFill>
          <a:ln/>
        </p:spPr>
      </p:sp>
      <p:sp>
        <p:nvSpPr>
          <p:cNvPr id="17" name="Shape 15"/>
          <p:cNvSpPr/>
          <p:nvPr/>
        </p:nvSpPr>
        <p:spPr>
          <a:xfrm>
            <a:off x="1268730" y="6473952"/>
            <a:ext cx="59436" cy="59436"/>
          </a:xfrm>
          <a:prstGeom prst="ellipse">
            <a:avLst/>
          </a:prstGeom>
          <a:solidFill>
            <a:srgbClr val="D9DEE8"/>
          </a:solidFill>
          <a:ln/>
        </p:spPr>
      </p:sp>
      <p:sp>
        <p:nvSpPr>
          <p:cNvPr id="18" name="Text 16"/>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VANISHING/EXPLODING &amp; INIT</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PARAMETER INITIALIZATION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Xavier / Glorot Initialization</a:t>
            </a:r>
            <a:endParaRPr lang="en-US" sz="2900" dirty="0"/>
          </a:p>
        </p:txBody>
      </p:sp>
      <p:sp>
        <p:nvSpPr>
          <p:cNvPr id="4" name="Shape 2"/>
          <p:cNvSpPr/>
          <p:nvPr/>
        </p:nvSpPr>
        <p:spPr>
          <a:xfrm>
            <a:off x="640080" y="1783080"/>
            <a:ext cx="10911535" cy="777240"/>
          </a:xfrm>
          <a:prstGeom prst="roundRect">
            <a:avLst>
              <a:gd name="adj" fmla="val 9412"/>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5" name="Text 3"/>
          <p:cNvSpPr txBox="1"/>
          <p:nvPr/>
        </p:nvSpPr>
        <p:spPr>
          <a:xfrm>
            <a:off x="868680" y="1783080"/>
            <a:ext cx="10454335" cy="777240"/>
          </a:xfrm>
          <a:prstGeom prst="rect">
            <a:avLst/>
          </a:prstGeom>
          <a:noFill/>
          <a:ln/>
        </p:spPr>
        <p:txBody>
          <a:bodyPr wrap="square" lIns="0" tIns="0" rIns="0" bIns="0" rtlCol="0" anchor="ctr"/>
          <a:lstStyle/>
          <a:p>
            <a:pPr algn="ctr" indent="0" marL="0">
              <a:buNone/>
            </a:pPr>
            <a:r>
              <a:rPr lang="en-US" sz="1800" dirty="0">
                <a:solidFill>
                  <a:srgbClr val="16213E"/>
                </a:solidFill>
                <a:latin typeface="Cambria Math" pitchFamily="34" charset="0"/>
                <a:ea typeface="Cambria Math" pitchFamily="34" charset="-122"/>
                <a:cs typeface="Cambria Math" pitchFamily="34" charset="-120"/>
              </a:rPr>
              <a:t>Xavier/Glorot Normal:   W_ij ~ N(0, 2/(n_in+n_out))</a:t>
            </a:r>
            <a:endParaRPr lang="en-US" sz="1800" dirty="0"/>
          </a:p>
        </p:txBody>
      </p:sp>
      <p:sp>
        <p:nvSpPr>
          <p:cNvPr id="6" name="Text 4"/>
          <p:cNvSpPr txBox="1"/>
          <p:nvPr/>
        </p:nvSpPr>
        <p:spPr>
          <a:xfrm>
            <a:off x="640080" y="2834640"/>
            <a:ext cx="10911535" cy="237744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2238"/>
                </a:solidFill>
                <a:latin typeface="Calibri" pitchFamily="34" charset="0"/>
                <a:ea typeface="Calibri" pitchFamily="34" charset="-122"/>
                <a:cs typeface="Calibri" pitchFamily="34" charset="-120"/>
              </a:rPr>
              <a:t>Mục tiêu: CHỌN scale của weight để XẤP XỈ giữ variance của tín hiệu ổn định qua các lớp, dưới các giả định đơn giản hoá (activation gần tuyến tính quanh 0, weight độc lập, không đổi theo thời gian training)</a:t>
            </a:r>
            <a:endParaRPr lang="en-US" sz="1500" dirty="0"/>
          </a:p>
          <a:p>
            <a:pPr marL="228600" indent="-228600">
              <a:spcAft>
                <a:spcPts val="1000"/>
              </a:spcAft>
              <a:buSzPct val="100000"/>
              <a:buChar char="▪"/>
            </a:pPr>
            <a:r>
              <a:rPr lang="en-US" sz="1500" dirty="0">
                <a:solidFill>
                  <a:srgbClr val="1A2238"/>
                </a:solidFill>
                <a:latin typeface="Calibri" pitchFamily="34" charset="0"/>
                <a:ea typeface="Calibri" pitchFamily="34" charset="-122"/>
                <a:cs typeface="Calibri" pitchFamily="34" charset="-120"/>
              </a:rPr>
              <a:t>Cân bằng 2 điều kiện: giữ Var(z) khi forward VÀ giữ Var(gradient) khi backward</a:t>
            </a:r>
            <a:endParaRPr lang="en-US" sz="1500" dirty="0"/>
          </a:p>
          <a:p>
            <a:pPr marL="228600" indent="-228600">
              <a:spcAft>
                <a:spcPts val="1000"/>
              </a:spcAft>
              <a:buSzPct val="100000"/>
              <a:buChar char="▪"/>
            </a:pPr>
            <a:r>
              <a:rPr lang="en-US" sz="1500" dirty="0">
                <a:solidFill>
                  <a:srgbClr val="1A2238"/>
                </a:solidFill>
                <a:latin typeface="Calibri" pitchFamily="34" charset="0"/>
                <a:ea typeface="Calibri" pitchFamily="34" charset="-122"/>
                <a:cs typeface="Calibri" pitchFamily="34" charset="-120"/>
              </a:rPr>
              <a:t>Thường dùng với Tanh hoặc activation có gain phù hợp — riêng Tanh còn có lợi thế ZERO-CENTERED (Sigmoid thì KHÔNG zero-centered)</a:t>
            </a:r>
            <a:endParaRPr lang="en-US" sz="1500" dirty="0"/>
          </a:p>
        </p:txBody>
      </p:sp>
      <p:sp>
        <p:nvSpPr>
          <p:cNvPr id="7" name="Shape 5"/>
          <p:cNvSpPr/>
          <p:nvPr/>
        </p:nvSpPr>
        <p:spPr>
          <a:xfrm>
            <a:off x="640080" y="5257800"/>
            <a:ext cx="10911535" cy="777240"/>
          </a:xfrm>
          <a:prstGeom prst="roundRect">
            <a:avLst>
              <a:gd name="adj" fmla="val 7059"/>
            </a:avLst>
          </a:prstGeom>
          <a:solidFill>
            <a:srgbClr val="F1F4F9"/>
          </a:solidFill>
          <a:ln w="6350">
            <a:solidFill>
              <a:srgbClr val="D9DEE8"/>
            </a:solidFill>
            <a:prstDash val="solid"/>
          </a:ln>
        </p:spPr>
      </p:sp>
      <p:sp>
        <p:nvSpPr>
          <p:cNvPr id="8" name="Text 6"/>
          <p:cNvSpPr txBox="1"/>
          <p:nvPr/>
        </p:nvSpPr>
        <p:spPr>
          <a:xfrm>
            <a:off x="868680" y="5257800"/>
            <a:ext cx="10454335" cy="777240"/>
          </a:xfrm>
          <a:prstGeom prst="rect">
            <a:avLst/>
          </a:prstGeom>
          <a:noFill/>
          <a:ln/>
        </p:spPr>
        <p:txBody>
          <a:bodyPr wrap="square" lIns="0" tIns="0" rIns="0" bIns="0" rtlCol="0" anchor="ctr"/>
          <a:lstStyle/>
          <a:p>
            <a:pPr indent="0" marL="0">
              <a:buNone/>
            </a:pPr>
            <a:r>
              <a:rPr lang="en-US" sz="1200" i="1" dirty="0">
                <a:solidFill>
                  <a:srgbClr val="5B6478"/>
                </a:solidFill>
                <a:latin typeface="Calibri" pitchFamily="34" charset="0"/>
                <a:ea typeface="Calibri" pitchFamily="34" charset="-122"/>
                <a:cs typeface="Calibri" pitchFamily="34" charset="-120"/>
              </a:rPr>
              <a:t>Đây là phân tích TẠI THỜI ĐIỂM khởi tạo — không phải cam kết variance sẽ ổn định suốt quá trình training. Số liệu thực nghiệm (test accuracy, gradient RMS) được trình bày riêng ở phần Demo (Slide 18 trở đi) để không trộn với nhiều setup kiến trúc khác nhau.</a:t>
            </a:r>
            <a:endParaRPr lang="en-US" sz="1200" dirty="0"/>
          </a:p>
        </p:txBody>
      </p:sp>
      <p:sp>
        <p:nvSpPr>
          <p:cNvPr id="9" name="Text 7"/>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14/31</a:t>
            </a:r>
            <a:endParaRPr lang="en-US" sz="900" dirty="0"/>
          </a:p>
        </p:txBody>
      </p:sp>
      <p:sp>
        <p:nvSpPr>
          <p:cNvPr id="10" name="Shape 8"/>
          <p:cNvSpPr/>
          <p:nvPr/>
        </p:nvSpPr>
        <p:spPr>
          <a:xfrm>
            <a:off x="610362" y="6473952"/>
            <a:ext cx="59436" cy="59436"/>
          </a:xfrm>
          <a:prstGeom prst="ellipse">
            <a:avLst/>
          </a:prstGeom>
          <a:solidFill>
            <a:srgbClr val="D9DEE8"/>
          </a:solidFill>
          <a:ln/>
        </p:spPr>
      </p:sp>
      <p:sp>
        <p:nvSpPr>
          <p:cNvPr id="11" name="Shape 9"/>
          <p:cNvSpPr/>
          <p:nvPr/>
        </p:nvSpPr>
        <p:spPr>
          <a:xfrm>
            <a:off x="814959" y="6459093"/>
            <a:ext cx="89154" cy="89154"/>
          </a:xfrm>
          <a:prstGeom prst="ellipse">
            <a:avLst/>
          </a:prstGeom>
          <a:solidFill>
            <a:srgbClr val="285AB4"/>
          </a:solidFill>
          <a:ln/>
        </p:spPr>
      </p:sp>
      <p:sp>
        <p:nvSpPr>
          <p:cNvPr id="12" name="Shape 10"/>
          <p:cNvSpPr/>
          <p:nvPr/>
        </p:nvSpPr>
        <p:spPr>
          <a:xfrm>
            <a:off x="1049274" y="6473952"/>
            <a:ext cx="59436" cy="59436"/>
          </a:xfrm>
          <a:prstGeom prst="ellipse">
            <a:avLst/>
          </a:prstGeom>
          <a:solidFill>
            <a:srgbClr val="D9DEE8"/>
          </a:solidFill>
          <a:ln/>
        </p:spPr>
      </p:sp>
      <p:sp>
        <p:nvSpPr>
          <p:cNvPr id="13" name="Shape 11"/>
          <p:cNvSpPr/>
          <p:nvPr/>
        </p:nvSpPr>
        <p:spPr>
          <a:xfrm>
            <a:off x="1268730" y="6473952"/>
            <a:ext cx="59436" cy="59436"/>
          </a:xfrm>
          <a:prstGeom prst="ellipse">
            <a:avLst/>
          </a:prstGeom>
          <a:solidFill>
            <a:srgbClr val="D9DEE8"/>
          </a:solidFill>
          <a:ln/>
        </p:spPr>
      </p:sp>
      <p:sp>
        <p:nvSpPr>
          <p:cNvPr id="14" name="Text 12"/>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VANISHING/EXPLODING &amp; INIT</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PARAMETER INITIALIZATION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He / Kaiming Initialization</a:t>
            </a:r>
            <a:endParaRPr lang="en-US" sz="2900" dirty="0"/>
          </a:p>
        </p:txBody>
      </p:sp>
      <p:sp>
        <p:nvSpPr>
          <p:cNvPr id="4" name="Shape 2"/>
          <p:cNvSpPr/>
          <p:nvPr/>
        </p:nvSpPr>
        <p:spPr>
          <a:xfrm>
            <a:off x="640080" y="1783080"/>
            <a:ext cx="10911535" cy="777240"/>
          </a:xfrm>
          <a:prstGeom prst="roundRect">
            <a:avLst>
              <a:gd name="adj" fmla="val 9412"/>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5" name="Text 3"/>
          <p:cNvSpPr txBox="1"/>
          <p:nvPr/>
        </p:nvSpPr>
        <p:spPr>
          <a:xfrm>
            <a:off x="868680" y="1783080"/>
            <a:ext cx="10454335" cy="777240"/>
          </a:xfrm>
          <a:prstGeom prst="rect">
            <a:avLst/>
          </a:prstGeom>
          <a:noFill/>
          <a:ln/>
        </p:spPr>
        <p:txBody>
          <a:bodyPr wrap="square" lIns="0" tIns="0" rIns="0" bIns="0" rtlCol="0" anchor="ctr"/>
          <a:lstStyle/>
          <a:p>
            <a:pPr algn="ctr" indent="0" marL="0">
              <a:buNone/>
            </a:pPr>
            <a:r>
              <a:rPr lang="en-US" sz="1800" dirty="0">
                <a:solidFill>
                  <a:srgbClr val="16213E"/>
                </a:solidFill>
                <a:latin typeface="Cambria Math" pitchFamily="34" charset="0"/>
                <a:ea typeface="Cambria Math" pitchFamily="34" charset="-122"/>
                <a:cs typeface="Cambria Math" pitchFamily="34" charset="-120"/>
              </a:rPr>
              <a:t>He/Kaiming Normal (ReLU):   W_ij ~ N(0, 2/n_in)</a:t>
            </a:r>
            <a:endParaRPr lang="en-US" sz="1800" dirty="0"/>
          </a:p>
        </p:txBody>
      </p:sp>
      <p:sp>
        <p:nvSpPr>
          <p:cNvPr id="6" name="Text 4"/>
          <p:cNvSpPr txBox="1"/>
          <p:nvPr/>
        </p:nvSpPr>
        <p:spPr>
          <a:xfrm>
            <a:off x="640080" y="2834640"/>
            <a:ext cx="10911535" cy="2377440"/>
          </a:xfrm>
          <a:prstGeom prst="rect">
            <a:avLst/>
          </a:prstGeom>
          <a:noFill/>
          <a:ln/>
        </p:spPr>
        <p:txBody>
          <a:bodyPr wrap="square" lIns="0" tIns="0" rIns="0" bIns="0" rtlCol="0" anchor="t"/>
          <a:lstStyle/>
          <a:p>
            <a:pPr marL="228600" indent="-228600">
              <a:spcAft>
                <a:spcPts val="900"/>
              </a:spcAft>
              <a:buSzPct val="100000"/>
              <a:buChar char="▪"/>
            </a:pPr>
            <a:r>
              <a:rPr lang="en-US" sz="1400" dirty="0">
                <a:solidFill>
                  <a:srgbClr val="1A2238"/>
                </a:solidFill>
                <a:latin typeface="Calibri" pitchFamily="34" charset="0"/>
                <a:ea typeface="Calibri" pitchFamily="34" charset="-122"/>
                <a:cs typeface="Calibri" pitchFamily="34" charset="-120"/>
              </a:rPr>
              <a:t>Dưới giả định pre-activation gần đối xứng quanh 0, ReLU đặt khoảng một nửa giá trị về 0 — He dùng scale 2/n_in để bù sự suy giảm second moment (E[a²]) do ReLU gây ra, dưới các giả định đơn giản hoá này</a:t>
            </a:r>
            <a:endParaRPr lang="en-US" sz="1400" dirty="0"/>
          </a:p>
          <a:p>
            <a:pPr marL="228600" indent="-228600">
              <a:spcAft>
                <a:spcPts val="900"/>
              </a:spcAft>
              <a:buSzPct val="100000"/>
              <a:buChar char="▪"/>
            </a:pPr>
            <a:r>
              <a:rPr lang="en-US" sz="1400" dirty="0">
                <a:solidFill>
                  <a:srgbClr val="1A2238"/>
                </a:solidFill>
                <a:latin typeface="Calibri" pitchFamily="34" charset="0"/>
                <a:ea typeface="Calibri" pitchFamily="34" charset="-122"/>
                <a:cs typeface="Calibri" pitchFamily="34" charset="-120"/>
              </a:rPr>
              <a:t>Gấp đôi công thức forward-preserving thuần (1/n_in); trong nhiều thiết lập, cách này giúp giữ scale của activation cùng bậc độ lớn qua các lớp ReLU</a:t>
            </a:r>
            <a:endParaRPr lang="en-US" sz="1400" dirty="0"/>
          </a:p>
          <a:p>
            <a:pPr marL="228600" indent="-228600">
              <a:spcAft>
                <a:spcPts val="900"/>
              </a:spcAft>
              <a:buSzPct val="100000"/>
              <a:buChar char="▪"/>
            </a:pPr>
            <a:r>
              <a:rPr lang="en-US" sz="1400" dirty="0">
                <a:solidFill>
                  <a:srgbClr val="1A2238"/>
                </a:solidFill>
                <a:latin typeface="Calibri" pitchFamily="34" charset="0"/>
                <a:ea typeface="Calibri" pitchFamily="34" charset="-122"/>
                <a:cs typeface="Calibri" pitchFamily="34" charset="-120"/>
              </a:rPr>
              <a:t>Với Leaky ReLU (negative slope a): hệ số gain phụ thuộc a — công thức 2/n_in ở trên là trường hợp riêng a=0 (ReLU thường), KHÔNG áp dụng chính xác cho mọi Leaky ReLU</a:t>
            </a:r>
            <a:endParaRPr lang="en-US" sz="1400" dirty="0"/>
          </a:p>
        </p:txBody>
      </p:sp>
      <p:sp>
        <p:nvSpPr>
          <p:cNvPr id="7" name="Shape 5"/>
          <p:cNvSpPr/>
          <p:nvPr/>
        </p:nvSpPr>
        <p:spPr>
          <a:xfrm>
            <a:off x="640080" y="5257800"/>
            <a:ext cx="10911535" cy="777240"/>
          </a:xfrm>
          <a:prstGeom prst="roundRect">
            <a:avLst>
              <a:gd name="adj" fmla="val 7059"/>
            </a:avLst>
          </a:prstGeom>
          <a:solidFill>
            <a:srgbClr val="F1F4F9"/>
          </a:solidFill>
          <a:ln w="6350">
            <a:solidFill>
              <a:srgbClr val="D9DEE8"/>
            </a:solidFill>
            <a:prstDash val="solid"/>
          </a:ln>
        </p:spPr>
      </p:sp>
      <p:sp>
        <p:nvSpPr>
          <p:cNvPr id="8" name="Text 6"/>
          <p:cNvSpPr txBox="1"/>
          <p:nvPr/>
        </p:nvSpPr>
        <p:spPr>
          <a:xfrm>
            <a:off x="868680" y="5257800"/>
            <a:ext cx="10454335" cy="777240"/>
          </a:xfrm>
          <a:prstGeom prst="rect">
            <a:avLst/>
          </a:prstGeom>
          <a:noFill/>
          <a:ln/>
        </p:spPr>
        <p:txBody>
          <a:bodyPr wrap="square" lIns="0" tIns="0" rIns="0" bIns="0" rtlCol="0" anchor="ctr"/>
          <a:lstStyle/>
          <a:p>
            <a:pPr indent="0" marL="0">
              <a:buNone/>
            </a:pPr>
            <a:r>
              <a:rPr lang="en-US" sz="1200" i="1" dirty="0">
                <a:solidFill>
                  <a:srgbClr val="5B6478"/>
                </a:solidFill>
                <a:latin typeface="Calibri" pitchFamily="34" charset="0"/>
                <a:ea typeface="Calibri" pitchFamily="34" charset="-122"/>
                <a:cs typeface="Calibri" pitchFamily="34" charset="-120"/>
              </a:rPr>
              <a:t>Đây là phân tích TẠI THỜI ĐIỂM khởi tạo — không phải cam kết variance sẽ ổn định suốt quá trình training. Số liệu thực nghiệm (test accuracy, gradient RMS) được trình bày riêng ở phần Demo (Slide 18 trở đi) để không trộn với nhiều setup kiến trúc khác nhau.</a:t>
            </a:r>
            <a:endParaRPr lang="en-US" sz="1200" dirty="0"/>
          </a:p>
        </p:txBody>
      </p:sp>
      <p:sp>
        <p:nvSpPr>
          <p:cNvPr id="9" name="Text 7"/>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15/31</a:t>
            </a:r>
            <a:endParaRPr lang="en-US" sz="900" dirty="0"/>
          </a:p>
        </p:txBody>
      </p:sp>
      <p:sp>
        <p:nvSpPr>
          <p:cNvPr id="10" name="Shape 8"/>
          <p:cNvSpPr/>
          <p:nvPr/>
        </p:nvSpPr>
        <p:spPr>
          <a:xfrm>
            <a:off x="610362" y="6473952"/>
            <a:ext cx="59436" cy="59436"/>
          </a:xfrm>
          <a:prstGeom prst="ellipse">
            <a:avLst/>
          </a:prstGeom>
          <a:solidFill>
            <a:srgbClr val="D9DEE8"/>
          </a:solidFill>
          <a:ln/>
        </p:spPr>
      </p:sp>
      <p:sp>
        <p:nvSpPr>
          <p:cNvPr id="11" name="Shape 9"/>
          <p:cNvSpPr/>
          <p:nvPr/>
        </p:nvSpPr>
        <p:spPr>
          <a:xfrm>
            <a:off x="814959" y="6459093"/>
            <a:ext cx="89154" cy="89154"/>
          </a:xfrm>
          <a:prstGeom prst="ellipse">
            <a:avLst/>
          </a:prstGeom>
          <a:solidFill>
            <a:srgbClr val="285AB4"/>
          </a:solidFill>
          <a:ln/>
        </p:spPr>
      </p:sp>
      <p:sp>
        <p:nvSpPr>
          <p:cNvPr id="12" name="Shape 10"/>
          <p:cNvSpPr/>
          <p:nvPr/>
        </p:nvSpPr>
        <p:spPr>
          <a:xfrm>
            <a:off x="1049274" y="6473952"/>
            <a:ext cx="59436" cy="59436"/>
          </a:xfrm>
          <a:prstGeom prst="ellipse">
            <a:avLst/>
          </a:prstGeom>
          <a:solidFill>
            <a:srgbClr val="D9DEE8"/>
          </a:solidFill>
          <a:ln/>
        </p:spPr>
      </p:sp>
      <p:sp>
        <p:nvSpPr>
          <p:cNvPr id="13" name="Shape 11"/>
          <p:cNvSpPr/>
          <p:nvPr/>
        </p:nvSpPr>
        <p:spPr>
          <a:xfrm>
            <a:off x="1268730" y="6473952"/>
            <a:ext cx="59436" cy="59436"/>
          </a:xfrm>
          <a:prstGeom prst="ellipse">
            <a:avLst/>
          </a:prstGeom>
          <a:solidFill>
            <a:srgbClr val="D9DEE8"/>
          </a:solidFill>
          <a:ln/>
        </p:spPr>
      </p:sp>
      <p:sp>
        <p:nvSpPr>
          <p:cNvPr id="14" name="Text 12"/>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VANISHING/EXPLODING &amp; INIT</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PARAMETER INITIALIZATION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So sánh các phương pháp khởi tạo</a:t>
            </a:r>
            <a:endParaRPr lang="en-US" sz="29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874520"/>
          <a:ext cx="10911535" cy="2651760"/>
        </p:xfrm>
        <a:graphic>
          <a:graphicData uri="http://schemas.openxmlformats.org/drawingml/2006/table">
            <a:tbl>
              <a:tblPr/>
              <a:tblGrid>
                <a:gridCol w="2103120"/>
                <a:gridCol w="2514600"/>
                <a:gridCol w="2148840"/>
                <a:gridCol w="4142232"/>
              </a:tblGrid>
              <a:tr h="441960">
                <a:tc>
                  <a:txBody>
                    <a:bodyPr/>
                    <a:lstStyle/>
                    <a:p>
                      <a:pPr indent="0" marL="0">
                        <a:buNone/>
                      </a:pPr>
                      <a:r>
                        <a:rPr lang="en-US" sz="1300" b="1" dirty="0">
                          <a:solidFill>
                            <a:srgbClr val="FFFFFF"/>
                          </a:solidFill>
                        </a:rPr>
                        <a:t>Initialization</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16213E"/>
                    </a:solidFill>
                  </a:tcPr>
                </a:tc>
                <a:tc>
                  <a:txBody>
                    <a:bodyPr/>
                    <a:lstStyle/>
                    <a:p>
                      <a:pPr indent="0" marL="0">
                        <a:buNone/>
                      </a:pPr>
                      <a:r>
                        <a:rPr lang="en-US" sz="1300" b="1" dirty="0">
                          <a:solidFill>
                            <a:srgbClr val="FFFFFF"/>
                          </a:solidFill>
                        </a:rPr>
                        <a:t>Formula</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16213E"/>
                    </a:solidFill>
                  </a:tcPr>
                </a:tc>
                <a:tc>
                  <a:txBody>
                    <a:bodyPr/>
                    <a:lstStyle/>
                    <a:p>
                      <a:pPr indent="0" marL="0">
                        <a:buNone/>
                      </a:pPr>
                      <a:r>
                        <a:rPr lang="en-US" sz="1300" b="1" dirty="0">
                          <a:solidFill>
                            <a:srgbClr val="FFFFFF"/>
                          </a:solidFill>
                        </a:rPr>
                        <a:t>Typical activation</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16213E"/>
                    </a:solidFill>
                  </a:tcPr>
                </a:tc>
                <a:tc>
                  <a:txBody>
                    <a:bodyPr/>
                    <a:lstStyle/>
                    <a:p>
                      <a:pPr indent="0" marL="0">
                        <a:buNone/>
                      </a:pPr>
                      <a:r>
                        <a:rPr lang="en-US" sz="1300" b="1" dirty="0">
                          <a:solidFill>
                            <a:srgbClr val="FFFFFF"/>
                          </a:solidFill>
                        </a:rPr>
                        <a:t>Ghi chú</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16213E"/>
                    </a:solidFill>
                  </a:tcPr>
                </a:tc>
              </a:tr>
              <a:tr h="441960">
                <a:tc>
                  <a:txBody>
                    <a:bodyPr/>
                    <a:lstStyle/>
                    <a:p>
                      <a:pPr algn="l" indent="0" marL="0">
                        <a:buNone/>
                      </a:pPr>
                      <a:r>
                        <a:rPr lang="en-US" sz="1250" b="1" dirty="0">
                          <a:solidFill>
                            <a:srgbClr val="1A2238"/>
                          </a:solidFill>
                        </a:rPr>
                        <a:t>Zero</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250" dirty="0">
                          <a:solidFill>
                            <a:srgbClr val="1A2238"/>
                          </a:solidFill>
                        </a:rPr>
                        <a:t>W = 0</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250" dirty="0">
                          <a:solidFill>
                            <a:srgbClr val="1A2238"/>
                          </a:solidFill>
                        </a:rPr>
                        <a:t>—</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250" dirty="0">
                          <a:solidFill>
                            <a:srgbClr val="1A2238"/>
                          </a:solidFill>
                        </a:rPr>
                        <a:t>Không dùng cho hidden weights (symmetry)</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r>
              <a:tr h="441960">
                <a:tc>
                  <a:txBody>
                    <a:bodyPr/>
                    <a:lstStyle/>
                    <a:p>
                      <a:pPr algn="l" indent="0" marL="0">
                        <a:buNone/>
                      </a:pPr>
                      <a:r>
                        <a:rPr lang="en-US" sz="1250" b="1" dirty="0">
                          <a:solidFill>
                            <a:srgbClr val="1A2238"/>
                          </a:solidFill>
                        </a:rPr>
                        <a:t>Small Random</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A2238"/>
                          </a:solidFill>
                        </a:rPr>
                        <a:t>N(0, 0.01²)</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A2238"/>
                          </a:solidFill>
                        </a:rPr>
                        <a:t>—</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A2238"/>
                          </a:solidFill>
                        </a:rPr>
                        <a:t>Naive baseline; không scale theo fan-in/out</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r>
              <a:tr h="441960">
                <a:tc>
                  <a:txBody>
                    <a:bodyPr/>
                    <a:lstStyle/>
                    <a:p>
                      <a:pPr algn="l" indent="0" marL="0">
                        <a:buNone/>
                      </a:pPr>
                      <a:r>
                        <a:rPr lang="en-US" sz="1250" b="1" dirty="0">
                          <a:solidFill>
                            <a:srgbClr val="1A2238"/>
                          </a:solidFill>
                        </a:rPr>
                        <a:t>Xavier / Glorot</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250" dirty="0">
                          <a:solidFill>
                            <a:srgbClr val="1A2238"/>
                          </a:solidFill>
                        </a:rPr>
                        <a:t>2/(fan_in+fan_out)</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250" dirty="0">
                          <a:solidFill>
                            <a:srgbClr val="1A2238"/>
                          </a:solidFill>
                        </a:rPr>
                        <a:t>Tanh</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250" dirty="0">
                          <a:solidFill>
                            <a:srgbClr val="1A2238"/>
                          </a:solidFill>
                        </a:rPr>
                        <a:t>Cân bằng forward/backward</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r>
              <a:tr h="441960">
                <a:tc>
                  <a:txBody>
                    <a:bodyPr/>
                    <a:lstStyle/>
                    <a:p>
                      <a:pPr algn="l" indent="0" marL="0">
                        <a:buNone/>
                      </a:pPr>
                      <a:r>
                        <a:rPr lang="en-US" sz="1250" b="1" dirty="0">
                          <a:solidFill>
                            <a:srgbClr val="1A2238"/>
                          </a:solidFill>
                        </a:rPr>
                        <a:t>He / Kaiming</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A2238"/>
                          </a:solidFill>
                        </a:rPr>
                        <a:t>2/fan_in</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A2238"/>
                          </a:solidFill>
                        </a:rPr>
                        <a:t>ReLU</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A2238"/>
                          </a:solidFill>
                        </a:rPr>
                        <a:t>Bù suy giảm second moment do ReLU</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r>
              <a:tr h="441960">
                <a:tc>
                  <a:txBody>
                    <a:bodyPr/>
                    <a:lstStyle/>
                    <a:p>
                      <a:pPr algn="l" indent="0" marL="0">
                        <a:buNone/>
                      </a:pPr>
                      <a:r>
                        <a:rPr lang="en-US" sz="1250" b="1" dirty="0">
                          <a:solidFill>
                            <a:srgbClr val="1A2238"/>
                          </a:solidFill>
                        </a:rPr>
                        <a:t>Orthogonal*</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250" dirty="0">
                          <a:solidFill>
                            <a:srgbClr val="1A2238"/>
                          </a:solidFill>
                        </a:rPr>
                        <a:t>semi-orthogonal</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250" dirty="0">
                          <a:solidFill>
                            <a:srgbClr val="1A2238"/>
                          </a:solidFill>
                        </a:rPr>
                        <a:t>Deep / RNN</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250" dirty="0">
                          <a:solidFill>
                            <a:srgbClr val="1A2238"/>
                          </a:solidFill>
                        </a:rPr>
                        <a:t>Không test trong project này</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r>
            </a:tbl>
          </a:graphicData>
        </a:graphic>
      </p:graphicFrame>
      <p:sp>
        <p:nvSpPr>
          <p:cNvPr id="5" name="Text 2"/>
          <p:cNvSpPr txBox="1"/>
          <p:nvPr/>
        </p:nvSpPr>
        <p:spPr>
          <a:xfrm>
            <a:off x="640080" y="4709160"/>
            <a:ext cx="10911535" cy="548640"/>
          </a:xfrm>
          <a:prstGeom prst="rect">
            <a:avLst/>
          </a:prstGeom>
          <a:noFill/>
          <a:ln/>
        </p:spPr>
        <p:txBody>
          <a:bodyPr wrap="square" lIns="0" tIns="0" rIns="0" bIns="0" rtlCol="0" anchor="ctr"/>
          <a:lstStyle/>
          <a:p>
            <a:pPr indent="0" marL="0">
              <a:buNone/>
            </a:pPr>
            <a:r>
              <a:rPr lang="en-US" sz="1100" i="1" dirty="0">
                <a:solidFill>
                  <a:srgbClr val="5B6478"/>
                </a:solidFill>
                <a:latin typeface="Calibri" pitchFamily="34" charset="0"/>
                <a:ea typeface="Calibri" pitchFamily="34" charset="-122"/>
                <a:cs typeface="Calibri" pitchFamily="34" charset="-120"/>
              </a:rPr>
              <a:t>* Orthogonal — với ma trận chữ nhật là SEMI-orthogonal (WᵀW=I hoặc WWᵀ=I tuỳ shape). Không nằm trong lưới thực nghiệm của project này (chỉ Zero/Random/LeCun/Xavier/He được test) — liệt kê cho đầy đủ bức tranh lý thuyết, không có số liệu thực nghiệm đi kèm.</a:t>
            </a:r>
            <a:endParaRPr lang="en-US" sz="1100" dirty="0"/>
          </a:p>
        </p:txBody>
      </p:sp>
      <p:sp>
        <p:nvSpPr>
          <p:cNvPr id="6" name="Text 3"/>
          <p:cNvSpPr txBox="1"/>
          <p:nvPr/>
        </p:nvSpPr>
        <p:spPr>
          <a:xfrm>
            <a:off x="640080" y="5394960"/>
            <a:ext cx="10911535" cy="731520"/>
          </a:xfrm>
          <a:prstGeom prst="rect">
            <a:avLst/>
          </a:prstGeom>
          <a:noFill/>
          <a:ln/>
        </p:spPr>
        <p:txBody>
          <a:bodyPr wrap="square" lIns="0" tIns="0" rIns="0" bIns="0" rtlCol="0" anchor="t"/>
          <a:lstStyle/>
          <a:p>
            <a:pPr marL="228600" indent="-228600">
              <a:buSzPct val="100000"/>
              <a:buChar char="▪"/>
            </a:pPr>
            <a:r>
              <a:rPr lang="en-US" sz="1450" dirty="0">
                <a:solidFill>
                  <a:srgbClr val="1A2238"/>
                </a:solidFill>
                <a:latin typeface="Calibri" pitchFamily="34" charset="0"/>
                <a:ea typeface="Calibri" pitchFamily="34" charset="-122"/>
                <a:cs typeface="Calibri" pitchFamily="34" charset="-120"/>
              </a:rPr>
              <a:t>Đây là một trong những slide quan trọng nhất — mọi thí nghiệm tiếp theo đều nhằm KIỂM CHỨNG bảng này bằng số liệu thật</a:t>
            </a:r>
            <a:endParaRPr lang="en-US" sz="1450" dirty="0"/>
          </a:p>
        </p:txBody>
      </p:sp>
      <p:sp>
        <p:nvSpPr>
          <p:cNvPr id="7" name="Text 4"/>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16/31</a:t>
            </a:r>
            <a:endParaRPr lang="en-US" sz="900" dirty="0"/>
          </a:p>
        </p:txBody>
      </p:sp>
      <p:sp>
        <p:nvSpPr>
          <p:cNvPr id="8" name="Shape 5"/>
          <p:cNvSpPr/>
          <p:nvPr/>
        </p:nvSpPr>
        <p:spPr>
          <a:xfrm>
            <a:off x="610362" y="6473952"/>
            <a:ext cx="59436" cy="59436"/>
          </a:xfrm>
          <a:prstGeom prst="ellipse">
            <a:avLst/>
          </a:prstGeom>
          <a:solidFill>
            <a:srgbClr val="D9DEE8"/>
          </a:solidFill>
          <a:ln/>
        </p:spPr>
      </p:sp>
      <p:sp>
        <p:nvSpPr>
          <p:cNvPr id="9" name="Shape 6"/>
          <p:cNvSpPr/>
          <p:nvPr/>
        </p:nvSpPr>
        <p:spPr>
          <a:xfrm>
            <a:off x="814959" y="6459093"/>
            <a:ext cx="89154" cy="89154"/>
          </a:xfrm>
          <a:prstGeom prst="ellipse">
            <a:avLst/>
          </a:prstGeom>
          <a:solidFill>
            <a:srgbClr val="285AB4"/>
          </a:solidFill>
          <a:ln/>
        </p:spPr>
      </p:sp>
      <p:sp>
        <p:nvSpPr>
          <p:cNvPr id="10" name="Shape 7"/>
          <p:cNvSpPr/>
          <p:nvPr/>
        </p:nvSpPr>
        <p:spPr>
          <a:xfrm>
            <a:off x="1049274" y="6473952"/>
            <a:ext cx="59436" cy="59436"/>
          </a:xfrm>
          <a:prstGeom prst="ellipse">
            <a:avLst/>
          </a:prstGeom>
          <a:solidFill>
            <a:srgbClr val="D9DEE8"/>
          </a:solidFill>
          <a:ln/>
        </p:spPr>
      </p:sp>
      <p:sp>
        <p:nvSpPr>
          <p:cNvPr id="11" name="Shape 8"/>
          <p:cNvSpPr/>
          <p:nvPr/>
        </p:nvSpPr>
        <p:spPr>
          <a:xfrm>
            <a:off x="1268730" y="6473952"/>
            <a:ext cx="59436" cy="59436"/>
          </a:xfrm>
          <a:prstGeom prst="ellipse">
            <a:avLst/>
          </a:prstGeom>
          <a:solidFill>
            <a:srgbClr val="D9DEE8"/>
          </a:solidFill>
          <a:ln/>
        </p:spPr>
      </p:sp>
      <p:sp>
        <p:nvSpPr>
          <p:cNvPr id="12" name="Text 9"/>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VANISHING/EXPLODING &amp; INIT</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PARAMETER INITIALIZATION — SYNTHESIS</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600" b="1" dirty="0">
                <a:solidFill>
                  <a:srgbClr val="1A2238"/>
                </a:solidFill>
                <a:latin typeface="Cambria" pitchFamily="34" charset="0"/>
                <a:ea typeface="Cambria" pitchFamily="34" charset="-122"/>
                <a:cs typeface="Cambria" pitchFamily="34" charset="-120"/>
              </a:rPr>
              <a:t>Xavier và He đang cố giữ điều gì?</a:t>
            </a:r>
            <a:endParaRPr lang="en-US" sz="2600" dirty="0"/>
          </a:p>
        </p:txBody>
      </p:sp>
      <p:sp>
        <p:nvSpPr>
          <p:cNvPr id="4" name="Shape 2"/>
          <p:cNvSpPr/>
          <p:nvPr/>
        </p:nvSpPr>
        <p:spPr>
          <a:xfrm>
            <a:off x="640080" y="1965960"/>
            <a:ext cx="5120640" cy="1965960"/>
          </a:xfrm>
          <a:prstGeom prst="roundRect">
            <a:avLst>
              <a:gd name="adj" fmla="val 3721"/>
            </a:avLst>
          </a:prstGeom>
          <a:solidFill>
            <a:srgbClr val="EAF0FB"/>
          </a:solidFill>
          <a:ln w="12700">
            <a:solidFill>
              <a:srgbClr val="285AB4"/>
            </a:solidFill>
            <a:prstDash val="solid"/>
          </a:ln>
          <a:effectLst>
            <a:outerShdw sx="100000" sy="100000" kx="0" ky="0" algn="bl" rotWithShape="0" blurRad="114300" dist="38100" dir="5400000">
              <a:srgbClr val="1A1A2E">
                <a:alpha val="20000"/>
              </a:srgbClr>
            </a:outerShdw>
          </a:effectLst>
        </p:spPr>
      </p:sp>
      <p:sp>
        <p:nvSpPr>
          <p:cNvPr id="5" name="Text 3"/>
          <p:cNvSpPr txBox="1"/>
          <p:nvPr/>
        </p:nvSpPr>
        <p:spPr>
          <a:xfrm>
            <a:off x="914400" y="2167128"/>
            <a:ext cx="4572000" cy="548640"/>
          </a:xfrm>
          <a:prstGeom prst="rect">
            <a:avLst/>
          </a:prstGeom>
          <a:noFill/>
          <a:ln/>
        </p:spPr>
        <p:txBody>
          <a:bodyPr wrap="square" lIns="0" tIns="0" rIns="0" bIns="0" rtlCol="0" anchor="ctr"/>
          <a:lstStyle/>
          <a:p>
            <a:pPr indent="0" marL="0">
              <a:buNone/>
            </a:pPr>
            <a:r>
              <a:rPr lang="en-US" sz="1450" b="1" dirty="0">
                <a:solidFill>
                  <a:srgbClr val="285AB4"/>
                </a:solidFill>
                <a:latin typeface="Cambria" pitchFamily="34" charset="0"/>
                <a:ea typeface="Cambria" pitchFamily="34" charset="-122"/>
                <a:cs typeface="Cambria" pitchFamily="34" charset="-120"/>
              </a:rPr>
              <a:t>Forward</a:t>
            </a:r>
            <a:endParaRPr lang="en-US" sz="1450" dirty="0"/>
          </a:p>
        </p:txBody>
      </p:sp>
      <p:sp>
        <p:nvSpPr>
          <p:cNvPr id="6" name="Text 4"/>
          <p:cNvSpPr txBox="1"/>
          <p:nvPr/>
        </p:nvSpPr>
        <p:spPr>
          <a:xfrm>
            <a:off x="914400" y="2834640"/>
            <a:ext cx="4572000" cy="960120"/>
          </a:xfrm>
          <a:prstGeom prst="rect">
            <a:avLst/>
          </a:prstGeom>
          <a:noFill/>
          <a:ln/>
        </p:spPr>
        <p:txBody>
          <a:bodyPr wrap="square" lIns="0" tIns="0" rIns="0" bIns="0" rtlCol="0" anchor="t"/>
          <a:lstStyle/>
          <a:p>
            <a:pPr marL="228600" indent="-228600">
              <a:spcAft>
                <a:spcPts val="900"/>
              </a:spcAft>
              <a:buSzPct val="100000"/>
              <a:buChar char="▪"/>
            </a:pPr>
            <a:r>
              <a:rPr lang="en-US" sz="1450" dirty="0">
                <a:solidFill>
                  <a:srgbClr val="1A2238"/>
                </a:solidFill>
                <a:latin typeface="Calibri" pitchFamily="34" charset="0"/>
                <a:ea typeface="Calibri" pitchFamily="34" charset="-122"/>
                <a:cs typeface="Calibri" pitchFamily="34" charset="-120"/>
              </a:rPr>
              <a:t>Var(a⁽ˡ⁾) ≈ ổn định qua các layer</a:t>
            </a:r>
            <a:endParaRPr lang="en-US" sz="1450" dirty="0"/>
          </a:p>
          <a:p>
            <a:pPr marL="228600" indent="-228600">
              <a:spcAft>
                <a:spcPts val="900"/>
              </a:spcAft>
              <a:buSzPct val="100000"/>
              <a:buChar char="▪"/>
            </a:pPr>
            <a:r>
              <a:rPr lang="en-US" sz="1450" dirty="0">
                <a:solidFill>
                  <a:srgbClr val="1A2238"/>
                </a:solidFill>
                <a:latin typeface="Calibri" pitchFamily="34" charset="0"/>
                <a:ea typeface="Calibri" pitchFamily="34" charset="-122"/>
                <a:cs typeface="Calibri" pitchFamily="34" charset="-120"/>
              </a:rPr>
              <a:t>(không co cụm về 0, không bùng nổ khi đi qua nhiều lớp)</a:t>
            </a:r>
            <a:endParaRPr lang="en-US" sz="1450" dirty="0"/>
          </a:p>
        </p:txBody>
      </p:sp>
      <p:sp>
        <p:nvSpPr>
          <p:cNvPr id="7" name="Shape 5"/>
          <p:cNvSpPr/>
          <p:nvPr/>
        </p:nvSpPr>
        <p:spPr>
          <a:xfrm>
            <a:off x="6430975" y="1965960"/>
            <a:ext cx="5120640" cy="1965960"/>
          </a:xfrm>
          <a:prstGeom prst="roundRect">
            <a:avLst>
              <a:gd name="adj" fmla="val 3721"/>
            </a:avLst>
          </a:prstGeom>
          <a:solidFill>
            <a:srgbClr val="FBEEEC"/>
          </a:solidFill>
          <a:ln w="12700">
            <a:solidFill>
              <a:srgbClr val="BE3C32"/>
            </a:solidFill>
            <a:prstDash val="solid"/>
          </a:ln>
          <a:effectLst>
            <a:outerShdw sx="100000" sy="100000" kx="0" ky="0" algn="bl" rotWithShape="0" blurRad="114300" dist="38100" dir="5400000">
              <a:srgbClr val="1A1A2E">
                <a:alpha val="20000"/>
              </a:srgbClr>
            </a:outerShdw>
          </a:effectLst>
        </p:spPr>
      </p:sp>
      <p:sp>
        <p:nvSpPr>
          <p:cNvPr id="8" name="Text 6"/>
          <p:cNvSpPr txBox="1"/>
          <p:nvPr/>
        </p:nvSpPr>
        <p:spPr>
          <a:xfrm>
            <a:off x="6705295" y="2167128"/>
            <a:ext cx="4572000" cy="548640"/>
          </a:xfrm>
          <a:prstGeom prst="rect">
            <a:avLst/>
          </a:prstGeom>
          <a:noFill/>
          <a:ln/>
        </p:spPr>
        <p:txBody>
          <a:bodyPr wrap="square" lIns="0" tIns="0" rIns="0" bIns="0" rtlCol="0" anchor="ctr"/>
          <a:lstStyle/>
          <a:p>
            <a:pPr indent="0" marL="0">
              <a:buNone/>
            </a:pPr>
            <a:r>
              <a:rPr lang="en-US" sz="1450" b="1" dirty="0">
                <a:solidFill>
                  <a:srgbClr val="BE3C32"/>
                </a:solidFill>
                <a:latin typeface="Cambria" pitchFamily="34" charset="0"/>
                <a:ea typeface="Cambria" pitchFamily="34" charset="-122"/>
                <a:cs typeface="Cambria" pitchFamily="34" charset="-120"/>
              </a:rPr>
              <a:t>Backward</a:t>
            </a:r>
            <a:endParaRPr lang="en-US" sz="1450" dirty="0"/>
          </a:p>
        </p:txBody>
      </p:sp>
      <p:sp>
        <p:nvSpPr>
          <p:cNvPr id="9" name="Text 7"/>
          <p:cNvSpPr txBox="1"/>
          <p:nvPr/>
        </p:nvSpPr>
        <p:spPr>
          <a:xfrm>
            <a:off x="6705295" y="2834640"/>
            <a:ext cx="4572000" cy="960120"/>
          </a:xfrm>
          <a:prstGeom prst="rect">
            <a:avLst/>
          </a:prstGeom>
          <a:noFill/>
          <a:ln/>
        </p:spPr>
        <p:txBody>
          <a:bodyPr wrap="square" lIns="0" tIns="0" rIns="0" bIns="0" rtlCol="0" anchor="t"/>
          <a:lstStyle/>
          <a:p>
            <a:pPr marL="228600" indent="-228600">
              <a:spcAft>
                <a:spcPts val="900"/>
              </a:spcAft>
              <a:buSzPct val="100000"/>
              <a:buChar char="▪"/>
            </a:pPr>
            <a:r>
              <a:rPr lang="en-US" sz="1450" dirty="0">
                <a:solidFill>
                  <a:srgbClr val="1A2238"/>
                </a:solidFill>
                <a:latin typeface="Calibri" pitchFamily="34" charset="0"/>
                <a:ea typeface="Calibri" pitchFamily="34" charset="-122"/>
                <a:cs typeface="Calibri" pitchFamily="34" charset="-120"/>
              </a:rPr>
              <a:t>Var(δ⁽ˡ⁾) ≈ ổn định qua các layer</a:t>
            </a:r>
            <a:endParaRPr lang="en-US" sz="1450" dirty="0"/>
          </a:p>
          <a:p>
            <a:pPr marL="228600" indent="-228600">
              <a:spcAft>
                <a:spcPts val="900"/>
              </a:spcAft>
              <a:buSzPct val="100000"/>
              <a:buChar char="▪"/>
            </a:pPr>
            <a:r>
              <a:rPr lang="en-US" sz="1450" dirty="0">
                <a:solidFill>
                  <a:srgbClr val="1A2238"/>
                </a:solidFill>
                <a:latin typeface="Calibri" pitchFamily="34" charset="0"/>
                <a:ea typeface="Calibri" pitchFamily="34" charset="-122"/>
                <a:cs typeface="Calibri" pitchFamily="34" charset="-120"/>
              </a:rPr>
              <a:t>(δ = ∂L/∂z — cùng logic áp dụng cho gradient khi lan truyền ngược)</a:t>
            </a:r>
            <a:endParaRPr lang="en-US" sz="1450" dirty="0"/>
          </a:p>
        </p:txBody>
      </p:sp>
      <p:sp>
        <p:nvSpPr>
          <p:cNvPr id="10" name="Shape 8"/>
          <p:cNvSpPr/>
          <p:nvPr/>
        </p:nvSpPr>
        <p:spPr>
          <a:xfrm>
            <a:off x="640080" y="4343400"/>
            <a:ext cx="10911535" cy="1051560"/>
          </a:xfrm>
          <a:prstGeom prst="roundRect">
            <a:avLst>
              <a:gd name="adj" fmla="val 6957"/>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11" name="Text 9"/>
          <p:cNvSpPr txBox="1"/>
          <p:nvPr/>
        </p:nvSpPr>
        <p:spPr>
          <a:xfrm>
            <a:off x="868680" y="4343400"/>
            <a:ext cx="10454335" cy="1051560"/>
          </a:xfrm>
          <a:prstGeom prst="rect">
            <a:avLst/>
          </a:prstGeom>
          <a:noFill/>
          <a:ln/>
        </p:spPr>
        <p:txBody>
          <a:bodyPr wrap="square" lIns="0" tIns="0" rIns="0" bIns="0" rtlCol="0" anchor="ctr"/>
          <a:lstStyle/>
          <a:p>
            <a:pPr algn="ctr" indent="0" marL="0">
              <a:buNone/>
            </a:pPr>
            <a:r>
              <a:rPr lang="en-US" sz="1500" dirty="0">
                <a:solidFill>
                  <a:srgbClr val="16213E"/>
                </a:solidFill>
                <a:latin typeface="Cambria Math" pitchFamily="34" charset="0"/>
                <a:ea typeface="Cambria Math" pitchFamily="34" charset="-122"/>
                <a:cs typeface="Cambria Math" pitchFamily="34" charset="-120"/>
              </a:rPr>
              <a:t>Good initialization attempts to prevent the scale of signals and gradients from systematically collapsing or exploding as depth increases.</a:t>
            </a:r>
            <a:endParaRPr lang="en-US" sz="1500" dirty="0"/>
          </a:p>
        </p:txBody>
      </p:sp>
      <p:sp>
        <p:nvSpPr>
          <p:cNvPr id="12" name="Text 10"/>
          <p:cNvSpPr txBox="1"/>
          <p:nvPr/>
        </p:nvSpPr>
        <p:spPr>
          <a:xfrm>
            <a:off x="640080" y="5577840"/>
            <a:ext cx="10911535" cy="640080"/>
          </a:xfrm>
          <a:prstGeom prst="rect">
            <a:avLst/>
          </a:prstGeom>
          <a:noFill/>
          <a:ln/>
        </p:spPr>
        <p:txBody>
          <a:bodyPr wrap="square" lIns="0" tIns="0" rIns="0" bIns="0" rtlCol="0" anchor="ctr"/>
          <a:lstStyle/>
          <a:p>
            <a:pPr indent="0" marL="0">
              <a:buNone/>
            </a:pPr>
            <a:r>
              <a:rPr lang="en-US" sz="1200" i="1" dirty="0">
                <a:solidFill>
                  <a:srgbClr val="5B6478"/>
                </a:solidFill>
                <a:latin typeface="Calibri" pitchFamily="34" charset="0"/>
                <a:ea typeface="Calibri" pitchFamily="34" charset="-122"/>
                <a:cs typeface="Calibri" pitchFamily="34" charset="-120"/>
              </a:rPr>
              <a:t>Đây là MỤC TIÊU chung của Xavier/He, dưới các giả định đơn giản hoá (activation gần tuyến tính quanh 0, weight độc lập...) — không phải một đảm bảo toán học tuyệt đối trong mọi kiến trúc/activation thực tế.</a:t>
            </a:r>
            <a:endParaRPr lang="en-US" sz="1200" dirty="0"/>
          </a:p>
        </p:txBody>
      </p:sp>
      <p:sp>
        <p:nvSpPr>
          <p:cNvPr id="13" name="Text 11"/>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17/31</a:t>
            </a:r>
            <a:endParaRPr lang="en-US" sz="900" dirty="0"/>
          </a:p>
        </p:txBody>
      </p:sp>
      <p:sp>
        <p:nvSpPr>
          <p:cNvPr id="14" name="Shape 12"/>
          <p:cNvSpPr/>
          <p:nvPr/>
        </p:nvSpPr>
        <p:spPr>
          <a:xfrm>
            <a:off x="610362" y="6473952"/>
            <a:ext cx="59436" cy="59436"/>
          </a:xfrm>
          <a:prstGeom prst="ellipse">
            <a:avLst/>
          </a:prstGeom>
          <a:solidFill>
            <a:srgbClr val="D9DEE8"/>
          </a:solidFill>
          <a:ln/>
        </p:spPr>
      </p:sp>
      <p:sp>
        <p:nvSpPr>
          <p:cNvPr id="15" name="Shape 13"/>
          <p:cNvSpPr/>
          <p:nvPr/>
        </p:nvSpPr>
        <p:spPr>
          <a:xfrm>
            <a:off x="814959" y="6459093"/>
            <a:ext cx="89154" cy="89154"/>
          </a:xfrm>
          <a:prstGeom prst="ellipse">
            <a:avLst/>
          </a:prstGeom>
          <a:solidFill>
            <a:srgbClr val="285AB4"/>
          </a:solidFill>
          <a:ln/>
        </p:spPr>
      </p:sp>
      <p:sp>
        <p:nvSpPr>
          <p:cNvPr id="16" name="Shape 14"/>
          <p:cNvSpPr/>
          <p:nvPr/>
        </p:nvSpPr>
        <p:spPr>
          <a:xfrm>
            <a:off x="1049274" y="6473952"/>
            <a:ext cx="59436" cy="59436"/>
          </a:xfrm>
          <a:prstGeom prst="ellipse">
            <a:avLst/>
          </a:prstGeom>
          <a:solidFill>
            <a:srgbClr val="D9DEE8"/>
          </a:solidFill>
          <a:ln/>
        </p:spPr>
      </p:sp>
      <p:sp>
        <p:nvSpPr>
          <p:cNvPr id="17" name="Shape 15"/>
          <p:cNvSpPr/>
          <p:nvPr/>
        </p:nvSpPr>
        <p:spPr>
          <a:xfrm>
            <a:off x="1268730" y="6473952"/>
            <a:ext cx="59436" cy="59436"/>
          </a:xfrm>
          <a:prstGeom prst="ellipse">
            <a:avLst/>
          </a:prstGeom>
          <a:solidFill>
            <a:srgbClr val="D9DEE8"/>
          </a:solidFill>
          <a:ln/>
        </p:spPr>
      </p:sp>
      <p:sp>
        <p:nvSpPr>
          <p:cNvPr id="18" name="Text 16"/>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VANISHING/EXPLODING &amp; INIT</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DEMO — MINI RESEARCH EXPERIMENT</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600" b="1" dirty="0">
                <a:solidFill>
                  <a:srgbClr val="1A2238"/>
                </a:solidFill>
                <a:latin typeface="Cambria" pitchFamily="34" charset="0"/>
                <a:ea typeface="Cambria" pitchFamily="34" charset="-122"/>
                <a:cs typeface="Cambria" pitchFamily="34" charset="-120"/>
              </a:rPr>
              <a:t>Thiết kế thực nghiệm</a:t>
            </a:r>
            <a:endParaRPr lang="en-US" sz="2600" dirty="0"/>
          </a:p>
        </p:txBody>
      </p:sp>
      <p:sp>
        <p:nvSpPr>
          <p:cNvPr id="4" name="Shape 2"/>
          <p:cNvSpPr/>
          <p:nvPr/>
        </p:nvSpPr>
        <p:spPr>
          <a:xfrm>
            <a:off x="640080" y="1600200"/>
            <a:ext cx="10911535" cy="594360"/>
          </a:xfrm>
          <a:prstGeom prst="roundRect">
            <a:avLst>
              <a:gd name="adj" fmla="val 12308"/>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5" name="Text 3"/>
          <p:cNvSpPr txBox="1"/>
          <p:nvPr/>
        </p:nvSpPr>
        <p:spPr>
          <a:xfrm>
            <a:off x="868680" y="1600200"/>
            <a:ext cx="10454335" cy="594360"/>
          </a:xfrm>
          <a:prstGeom prst="rect">
            <a:avLst/>
          </a:prstGeom>
          <a:noFill/>
          <a:ln/>
        </p:spPr>
        <p:txBody>
          <a:bodyPr wrap="square" lIns="0" tIns="0" rIns="0" bIns="0" rtlCol="0" anchor="ctr"/>
          <a:lstStyle/>
          <a:p>
            <a:pPr algn="ctr" indent="0" marL="0">
              <a:buNone/>
            </a:pPr>
            <a:r>
              <a:rPr lang="en-US" sz="1550" dirty="0">
                <a:solidFill>
                  <a:srgbClr val="16213E"/>
                </a:solidFill>
                <a:latin typeface="Cambria Math" pitchFamily="34" charset="0"/>
                <a:ea typeface="Cambria Math" pitchFamily="34" charset="-122"/>
                <a:cs typeface="Cambria Math" pitchFamily="34" charset="-120"/>
              </a:rPr>
              <a:t>How does weight initialization affect gradient flow and convergence?</a:t>
            </a:r>
            <a:endParaRPr lang="en-US" sz="1550" dirty="0"/>
          </a:p>
        </p:txBody>
      </p:sp>
      <p:sp>
        <p:nvSpPr>
          <p:cNvPr id="6" name="Shape 4"/>
          <p:cNvSpPr/>
          <p:nvPr/>
        </p:nvSpPr>
        <p:spPr>
          <a:xfrm>
            <a:off x="640080" y="2450592"/>
            <a:ext cx="1828800" cy="310896"/>
          </a:xfrm>
          <a:prstGeom prst="roundRect">
            <a:avLst>
              <a:gd name="adj" fmla="val 17647"/>
            </a:avLst>
          </a:prstGeom>
          <a:solidFill>
            <a:srgbClr val="F1F4F9"/>
          </a:solidFill>
          <a:ln w="15875">
            <a:solidFill>
              <a:srgbClr val="D9DEE8"/>
            </a:solidFill>
            <a:prstDash val="solid"/>
          </a:ln>
        </p:spPr>
      </p:sp>
      <p:sp>
        <p:nvSpPr>
          <p:cNvPr id="7" name="Text 5"/>
          <p:cNvSpPr txBox="1"/>
          <p:nvPr/>
        </p:nvSpPr>
        <p:spPr>
          <a:xfrm>
            <a:off x="640080" y="2450592"/>
            <a:ext cx="1828800" cy="310896"/>
          </a:xfrm>
          <a:prstGeom prst="rect">
            <a:avLst/>
          </a:prstGeom>
          <a:noFill/>
          <a:ln/>
        </p:spPr>
        <p:txBody>
          <a:bodyPr wrap="square" lIns="0" tIns="0" rIns="0" bIns="0" rtlCol="0" anchor="ctr"/>
          <a:lstStyle/>
          <a:p>
            <a:pPr algn="ctr" indent="0" marL="0">
              <a:buNone/>
            </a:pPr>
            <a:r>
              <a:rPr lang="en-US" sz="1100" dirty="0">
                <a:solidFill>
                  <a:srgbClr val="1A2238"/>
                </a:solidFill>
                <a:latin typeface="Cambria Math" pitchFamily="34" charset="0"/>
                <a:ea typeface="Cambria Math" pitchFamily="34" charset="-122"/>
                <a:cs typeface="Cambria Math" pitchFamily="34" charset="-120"/>
              </a:rPr>
              <a:t>Input 784</a:t>
            </a:r>
            <a:endParaRPr lang="en-US" sz="1100" dirty="0"/>
          </a:p>
        </p:txBody>
      </p:sp>
      <p:sp>
        <p:nvSpPr>
          <p:cNvPr id="8" name="Shape 6"/>
          <p:cNvSpPr/>
          <p:nvPr/>
        </p:nvSpPr>
        <p:spPr>
          <a:xfrm>
            <a:off x="640080" y="2852928"/>
            <a:ext cx="1828800" cy="310896"/>
          </a:xfrm>
          <a:prstGeom prst="roundRect">
            <a:avLst>
              <a:gd name="adj" fmla="val 17647"/>
            </a:avLst>
          </a:prstGeom>
          <a:solidFill>
            <a:srgbClr val="F1F4F9"/>
          </a:solidFill>
          <a:ln w="15875">
            <a:solidFill>
              <a:srgbClr val="D9DEE8"/>
            </a:solidFill>
            <a:prstDash val="solid"/>
          </a:ln>
        </p:spPr>
      </p:sp>
      <p:sp>
        <p:nvSpPr>
          <p:cNvPr id="9" name="Text 7"/>
          <p:cNvSpPr txBox="1"/>
          <p:nvPr/>
        </p:nvSpPr>
        <p:spPr>
          <a:xfrm>
            <a:off x="640080" y="2852928"/>
            <a:ext cx="1828800" cy="310896"/>
          </a:xfrm>
          <a:prstGeom prst="rect">
            <a:avLst/>
          </a:prstGeom>
          <a:noFill/>
          <a:ln/>
        </p:spPr>
        <p:txBody>
          <a:bodyPr wrap="square" lIns="0" tIns="0" rIns="0" bIns="0" rtlCol="0" anchor="ctr"/>
          <a:lstStyle/>
          <a:p>
            <a:pPr algn="ctr" indent="0" marL="0">
              <a:buNone/>
            </a:pPr>
            <a:r>
              <a:rPr lang="en-US" sz="1100" dirty="0">
                <a:solidFill>
                  <a:srgbClr val="1A2238"/>
                </a:solidFill>
                <a:latin typeface="Cambria Math" pitchFamily="34" charset="0"/>
                <a:ea typeface="Cambria Math" pitchFamily="34" charset="-122"/>
                <a:cs typeface="Cambria Math" pitchFamily="34" charset="-120"/>
              </a:rPr>
              <a:t>Linear 128</a:t>
            </a:r>
            <a:endParaRPr lang="en-US" sz="1100" dirty="0"/>
          </a:p>
        </p:txBody>
      </p:sp>
      <p:sp>
        <p:nvSpPr>
          <p:cNvPr id="10" name="Shape 8"/>
          <p:cNvSpPr/>
          <p:nvPr/>
        </p:nvSpPr>
        <p:spPr>
          <a:xfrm>
            <a:off x="640080" y="3255264"/>
            <a:ext cx="1828800" cy="310896"/>
          </a:xfrm>
          <a:prstGeom prst="roundRect">
            <a:avLst>
              <a:gd name="adj" fmla="val 17647"/>
            </a:avLst>
          </a:prstGeom>
          <a:solidFill>
            <a:srgbClr val="EAF0FB"/>
          </a:solidFill>
          <a:ln w="15875">
            <a:solidFill>
              <a:srgbClr val="285AB4"/>
            </a:solidFill>
            <a:prstDash val="solid"/>
          </a:ln>
        </p:spPr>
      </p:sp>
      <p:sp>
        <p:nvSpPr>
          <p:cNvPr id="11" name="Text 9"/>
          <p:cNvSpPr txBox="1"/>
          <p:nvPr/>
        </p:nvSpPr>
        <p:spPr>
          <a:xfrm>
            <a:off x="640080" y="3255264"/>
            <a:ext cx="1828800" cy="310896"/>
          </a:xfrm>
          <a:prstGeom prst="rect">
            <a:avLst/>
          </a:prstGeom>
          <a:noFill/>
          <a:ln/>
        </p:spPr>
        <p:txBody>
          <a:bodyPr wrap="square" lIns="0" tIns="0" rIns="0" bIns="0" rtlCol="0" anchor="ctr"/>
          <a:lstStyle/>
          <a:p>
            <a:pPr algn="ctr" indent="0" marL="0">
              <a:buNone/>
            </a:pPr>
            <a:r>
              <a:rPr lang="en-US" sz="1100" dirty="0">
                <a:solidFill>
                  <a:srgbClr val="1A2238"/>
                </a:solidFill>
                <a:latin typeface="Cambria Math" pitchFamily="34" charset="0"/>
                <a:ea typeface="Cambria Math" pitchFamily="34" charset="-122"/>
                <a:cs typeface="Cambria Math" pitchFamily="34" charset="-120"/>
              </a:rPr>
              <a:t>ReLU</a:t>
            </a:r>
            <a:endParaRPr lang="en-US" sz="1100" dirty="0"/>
          </a:p>
        </p:txBody>
      </p:sp>
      <p:sp>
        <p:nvSpPr>
          <p:cNvPr id="12" name="Shape 10"/>
          <p:cNvSpPr/>
          <p:nvPr/>
        </p:nvSpPr>
        <p:spPr>
          <a:xfrm>
            <a:off x="640080" y="3657600"/>
            <a:ext cx="1828800" cy="310896"/>
          </a:xfrm>
          <a:prstGeom prst="roundRect">
            <a:avLst>
              <a:gd name="adj" fmla="val 17647"/>
            </a:avLst>
          </a:prstGeom>
          <a:solidFill>
            <a:srgbClr val="F1F4F9"/>
          </a:solidFill>
          <a:ln w="15875">
            <a:solidFill>
              <a:srgbClr val="D9DEE8"/>
            </a:solidFill>
            <a:prstDash val="solid"/>
          </a:ln>
        </p:spPr>
      </p:sp>
      <p:sp>
        <p:nvSpPr>
          <p:cNvPr id="13" name="Text 11"/>
          <p:cNvSpPr txBox="1"/>
          <p:nvPr/>
        </p:nvSpPr>
        <p:spPr>
          <a:xfrm>
            <a:off x="640080" y="3657600"/>
            <a:ext cx="1828800" cy="310896"/>
          </a:xfrm>
          <a:prstGeom prst="rect">
            <a:avLst/>
          </a:prstGeom>
          <a:noFill/>
          <a:ln/>
        </p:spPr>
        <p:txBody>
          <a:bodyPr wrap="square" lIns="0" tIns="0" rIns="0" bIns="0" rtlCol="0" anchor="ctr"/>
          <a:lstStyle/>
          <a:p>
            <a:pPr algn="ctr" indent="0" marL="0">
              <a:buNone/>
            </a:pPr>
            <a:r>
              <a:rPr lang="en-US" sz="1100" dirty="0">
                <a:solidFill>
                  <a:srgbClr val="1A2238"/>
                </a:solidFill>
                <a:latin typeface="Cambria Math" pitchFamily="34" charset="0"/>
                <a:ea typeface="Cambria Math" pitchFamily="34" charset="-122"/>
                <a:cs typeface="Cambria Math" pitchFamily="34" charset="-120"/>
              </a:rPr>
              <a:t>Linear 128</a:t>
            </a:r>
            <a:endParaRPr lang="en-US" sz="1100" dirty="0"/>
          </a:p>
        </p:txBody>
      </p:sp>
      <p:sp>
        <p:nvSpPr>
          <p:cNvPr id="14" name="Shape 12"/>
          <p:cNvSpPr/>
          <p:nvPr/>
        </p:nvSpPr>
        <p:spPr>
          <a:xfrm>
            <a:off x="640080" y="4059936"/>
            <a:ext cx="1828800" cy="310896"/>
          </a:xfrm>
          <a:prstGeom prst="roundRect">
            <a:avLst>
              <a:gd name="adj" fmla="val 17647"/>
            </a:avLst>
          </a:prstGeom>
          <a:solidFill>
            <a:srgbClr val="EAF0FB"/>
          </a:solidFill>
          <a:ln w="15875">
            <a:solidFill>
              <a:srgbClr val="285AB4"/>
            </a:solidFill>
            <a:prstDash val="solid"/>
          </a:ln>
        </p:spPr>
      </p:sp>
      <p:sp>
        <p:nvSpPr>
          <p:cNvPr id="15" name="Text 13"/>
          <p:cNvSpPr txBox="1"/>
          <p:nvPr/>
        </p:nvSpPr>
        <p:spPr>
          <a:xfrm>
            <a:off x="640080" y="4059936"/>
            <a:ext cx="1828800" cy="310896"/>
          </a:xfrm>
          <a:prstGeom prst="rect">
            <a:avLst/>
          </a:prstGeom>
          <a:noFill/>
          <a:ln/>
        </p:spPr>
        <p:txBody>
          <a:bodyPr wrap="square" lIns="0" tIns="0" rIns="0" bIns="0" rtlCol="0" anchor="ctr"/>
          <a:lstStyle/>
          <a:p>
            <a:pPr algn="ctr" indent="0" marL="0">
              <a:buNone/>
            </a:pPr>
            <a:r>
              <a:rPr lang="en-US" sz="1100" dirty="0">
                <a:solidFill>
                  <a:srgbClr val="1A2238"/>
                </a:solidFill>
                <a:latin typeface="Cambria Math" pitchFamily="34" charset="0"/>
                <a:ea typeface="Cambria Math" pitchFamily="34" charset="-122"/>
                <a:cs typeface="Cambria Math" pitchFamily="34" charset="-120"/>
              </a:rPr>
              <a:t>ReLU</a:t>
            </a:r>
            <a:endParaRPr lang="en-US" sz="1100" dirty="0"/>
          </a:p>
        </p:txBody>
      </p:sp>
      <p:sp>
        <p:nvSpPr>
          <p:cNvPr id="16" name="Shape 14"/>
          <p:cNvSpPr/>
          <p:nvPr/>
        </p:nvSpPr>
        <p:spPr>
          <a:xfrm>
            <a:off x="640080" y="4462272"/>
            <a:ext cx="1828800" cy="310896"/>
          </a:xfrm>
          <a:prstGeom prst="roundRect">
            <a:avLst>
              <a:gd name="adj" fmla="val 17647"/>
            </a:avLst>
          </a:prstGeom>
          <a:solidFill>
            <a:srgbClr val="F1F4F9"/>
          </a:solidFill>
          <a:ln w="15875">
            <a:solidFill>
              <a:srgbClr val="D9DEE8"/>
            </a:solidFill>
            <a:prstDash val="solid"/>
          </a:ln>
        </p:spPr>
      </p:sp>
      <p:sp>
        <p:nvSpPr>
          <p:cNvPr id="17" name="Text 15"/>
          <p:cNvSpPr txBox="1"/>
          <p:nvPr/>
        </p:nvSpPr>
        <p:spPr>
          <a:xfrm>
            <a:off x="640080" y="4462272"/>
            <a:ext cx="1828800" cy="310896"/>
          </a:xfrm>
          <a:prstGeom prst="rect">
            <a:avLst/>
          </a:prstGeom>
          <a:noFill/>
          <a:ln/>
        </p:spPr>
        <p:txBody>
          <a:bodyPr wrap="square" lIns="0" tIns="0" rIns="0" bIns="0" rtlCol="0" anchor="ctr"/>
          <a:lstStyle/>
          <a:p>
            <a:pPr algn="ctr" indent="0" marL="0">
              <a:buNone/>
            </a:pPr>
            <a:r>
              <a:rPr lang="en-US" sz="1100" dirty="0">
                <a:solidFill>
                  <a:srgbClr val="1A2238"/>
                </a:solidFill>
                <a:latin typeface="Cambria Math" pitchFamily="34" charset="0"/>
                <a:ea typeface="Cambria Math" pitchFamily="34" charset="-122"/>
                <a:cs typeface="Cambria Math" pitchFamily="34" charset="-120"/>
              </a:rPr>
              <a:t>...</a:t>
            </a:r>
            <a:endParaRPr lang="en-US" sz="1100" dirty="0"/>
          </a:p>
        </p:txBody>
      </p:sp>
      <p:sp>
        <p:nvSpPr>
          <p:cNvPr id="18" name="Shape 16"/>
          <p:cNvSpPr/>
          <p:nvPr/>
        </p:nvSpPr>
        <p:spPr>
          <a:xfrm>
            <a:off x="640080" y="4864608"/>
            <a:ext cx="1828800" cy="310896"/>
          </a:xfrm>
          <a:prstGeom prst="roundRect">
            <a:avLst>
              <a:gd name="adj" fmla="val 17647"/>
            </a:avLst>
          </a:prstGeom>
          <a:solidFill>
            <a:srgbClr val="F1F4F9"/>
          </a:solidFill>
          <a:ln w="15875">
            <a:solidFill>
              <a:srgbClr val="D9DEE8"/>
            </a:solidFill>
            <a:prstDash val="solid"/>
          </a:ln>
        </p:spPr>
      </p:sp>
      <p:sp>
        <p:nvSpPr>
          <p:cNvPr id="19" name="Text 17"/>
          <p:cNvSpPr txBox="1"/>
          <p:nvPr/>
        </p:nvSpPr>
        <p:spPr>
          <a:xfrm>
            <a:off x="640080" y="4864608"/>
            <a:ext cx="1828800" cy="310896"/>
          </a:xfrm>
          <a:prstGeom prst="rect">
            <a:avLst/>
          </a:prstGeom>
          <a:noFill/>
          <a:ln/>
        </p:spPr>
        <p:txBody>
          <a:bodyPr wrap="square" lIns="0" tIns="0" rIns="0" bIns="0" rtlCol="0" anchor="ctr"/>
          <a:lstStyle/>
          <a:p>
            <a:pPr algn="ctr" indent="0" marL="0">
              <a:buNone/>
            </a:pPr>
            <a:r>
              <a:rPr lang="en-US" sz="1100" dirty="0">
                <a:solidFill>
                  <a:srgbClr val="1A2238"/>
                </a:solidFill>
                <a:latin typeface="Cambria Math" pitchFamily="34" charset="0"/>
                <a:ea typeface="Cambria Math" pitchFamily="34" charset="-122"/>
                <a:cs typeface="Cambria Math" pitchFamily="34" charset="-120"/>
              </a:rPr>
              <a:t>Linear 128</a:t>
            </a:r>
            <a:endParaRPr lang="en-US" sz="1100" dirty="0"/>
          </a:p>
        </p:txBody>
      </p:sp>
      <p:sp>
        <p:nvSpPr>
          <p:cNvPr id="20" name="Shape 18"/>
          <p:cNvSpPr/>
          <p:nvPr/>
        </p:nvSpPr>
        <p:spPr>
          <a:xfrm>
            <a:off x="640080" y="5266944"/>
            <a:ext cx="1828800" cy="310896"/>
          </a:xfrm>
          <a:prstGeom prst="roundRect">
            <a:avLst>
              <a:gd name="adj" fmla="val 17647"/>
            </a:avLst>
          </a:prstGeom>
          <a:solidFill>
            <a:srgbClr val="EAF0FB"/>
          </a:solidFill>
          <a:ln w="15875">
            <a:solidFill>
              <a:srgbClr val="285AB4"/>
            </a:solidFill>
            <a:prstDash val="solid"/>
          </a:ln>
        </p:spPr>
      </p:sp>
      <p:sp>
        <p:nvSpPr>
          <p:cNvPr id="21" name="Text 19"/>
          <p:cNvSpPr txBox="1"/>
          <p:nvPr/>
        </p:nvSpPr>
        <p:spPr>
          <a:xfrm>
            <a:off x="640080" y="5266944"/>
            <a:ext cx="1828800" cy="310896"/>
          </a:xfrm>
          <a:prstGeom prst="rect">
            <a:avLst/>
          </a:prstGeom>
          <a:noFill/>
          <a:ln/>
        </p:spPr>
        <p:txBody>
          <a:bodyPr wrap="square" lIns="0" tIns="0" rIns="0" bIns="0" rtlCol="0" anchor="ctr"/>
          <a:lstStyle/>
          <a:p>
            <a:pPr algn="ctr" indent="0" marL="0">
              <a:buNone/>
            </a:pPr>
            <a:r>
              <a:rPr lang="en-US" sz="1100" dirty="0">
                <a:solidFill>
                  <a:srgbClr val="1A2238"/>
                </a:solidFill>
                <a:latin typeface="Cambria Math" pitchFamily="34" charset="0"/>
                <a:ea typeface="Cambria Math" pitchFamily="34" charset="-122"/>
                <a:cs typeface="Cambria Math" pitchFamily="34" charset="-120"/>
              </a:rPr>
              <a:t>ReLU</a:t>
            </a:r>
            <a:endParaRPr lang="en-US" sz="1100" dirty="0"/>
          </a:p>
        </p:txBody>
      </p:sp>
      <p:sp>
        <p:nvSpPr>
          <p:cNvPr id="22" name="Shape 20"/>
          <p:cNvSpPr/>
          <p:nvPr/>
        </p:nvSpPr>
        <p:spPr>
          <a:xfrm>
            <a:off x="640080" y="5669280"/>
            <a:ext cx="1828800" cy="310896"/>
          </a:xfrm>
          <a:prstGeom prst="roundRect">
            <a:avLst>
              <a:gd name="adj" fmla="val 17647"/>
            </a:avLst>
          </a:prstGeom>
          <a:solidFill>
            <a:srgbClr val="F1F4F9"/>
          </a:solidFill>
          <a:ln w="15875">
            <a:solidFill>
              <a:srgbClr val="D9DEE8"/>
            </a:solidFill>
            <a:prstDash val="solid"/>
          </a:ln>
        </p:spPr>
      </p:sp>
      <p:sp>
        <p:nvSpPr>
          <p:cNvPr id="23" name="Text 21"/>
          <p:cNvSpPr txBox="1"/>
          <p:nvPr/>
        </p:nvSpPr>
        <p:spPr>
          <a:xfrm>
            <a:off x="640080" y="5669280"/>
            <a:ext cx="1828800" cy="310896"/>
          </a:xfrm>
          <a:prstGeom prst="rect">
            <a:avLst/>
          </a:prstGeom>
          <a:noFill/>
          <a:ln/>
        </p:spPr>
        <p:txBody>
          <a:bodyPr wrap="square" lIns="0" tIns="0" rIns="0" bIns="0" rtlCol="0" anchor="ctr"/>
          <a:lstStyle/>
          <a:p>
            <a:pPr algn="ctr" indent="0" marL="0">
              <a:buNone/>
            </a:pPr>
            <a:r>
              <a:rPr lang="en-US" sz="1100" dirty="0">
                <a:solidFill>
                  <a:srgbClr val="1A2238"/>
                </a:solidFill>
                <a:latin typeface="Cambria Math" pitchFamily="34" charset="0"/>
                <a:ea typeface="Cambria Math" pitchFamily="34" charset="-122"/>
                <a:cs typeface="Cambria Math" pitchFamily="34" charset="-120"/>
              </a:rPr>
              <a:t>Linear 10</a:t>
            </a:r>
            <a:endParaRPr lang="en-US" sz="1100" dirty="0"/>
          </a:p>
        </p:txBody>
      </p:sp>
      <p:sp>
        <p:nvSpPr>
          <p:cNvPr id="24" name="Text 22"/>
          <p:cNvSpPr txBox="1"/>
          <p:nvPr/>
        </p:nvSpPr>
        <p:spPr>
          <a:xfrm>
            <a:off x="3017520" y="2286000"/>
            <a:ext cx="8534095" cy="4206240"/>
          </a:xfrm>
          <a:prstGeom prst="rect">
            <a:avLst/>
          </a:prstGeom>
          <a:noFill/>
          <a:ln/>
        </p:spPr>
        <p:txBody>
          <a:bodyPr wrap="square" lIns="0" tIns="0" rIns="0" bIns="0" rtlCol="0" anchor="t"/>
          <a:lstStyle/>
          <a:p>
            <a:pPr marL="228600" indent="-228600">
              <a:spcAft>
                <a:spcPts val="900"/>
              </a:spcAft>
              <a:buSzPct val="100000"/>
              <a:buChar char="▪"/>
            </a:pPr>
            <a:r>
              <a:rPr lang="en-US" sz="1200" dirty="0">
                <a:solidFill>
                  <a:srgbClr val="1A2238"/>
                </a:solidFill>
                <a:latin typeface="Calibri" pitchFamily="34" charset="0"/>
                <a:ea typeface="Calibri" pitchFamily="34" charset="-122"/>
                <a:cs typeface="Calibri" pitchFamily="34" charset="-120"/>
              </a:rPr>
              <a:t>Kiến trúc: 784 → (Linear 128 → ReLU) × 10 → 10 — cố tình khá sâu (10 hidden layer) để vấn đề gradient thể hiện rõ. Bias mọi layer khởi tạo 0 trong TẤT CẢ cấu hình</a:t>
            </a:r>
            <a:endParaRPr lang="en-US" sz="1200" dirty="0"/>
          </a:p>
          <a:p>
            <a:pPr marL="228600" indent="-228600">
              <a:spcAft>
                <a:spcPts val="900"/>
              </a:spcAft>
              <a:buSzPct val="100000"/>
              <a:buChar char="▪"/>
            </a:pPr>
            <a:r>
              <a:rPr lang="en-US" sz="1200" dirty="0">
                <a:solidFill>
                  <a:srgbClr val="1A2238"/>
                </a:solidFill>
                <a:latin typeface="Calibri" pitchFamily="34" charset="0"/>
                <a:ea typeface="Calibri" pitchFamily="34" charset="-122"/>
                <a:cs typeface="Calibri" pitchFamily="34" charset="-120"/>
              </a:rPr>
              <a:t>Dataset: Fashion-MNIST subset (5,000 train / 1,000 val / 2,000 test), pixel chuẩn hoá (mean/std tính từ chính tập train, không dùng thô [0,1]), flatten 28×28→784</a:t>
            </a:r>
            <a:endParaRPr lang="en-US" sz="1200" dirty="0"/>
          </a:p>
          <a:p>
            <a:pPr marL="228600" indent="-228600">
              <a:spcAft>
                <a:spcPts val="900"/>
              </a:spcAft>
              <a:buSzPct val="100000"/>
              <a:buChar char="▪"/>
            </a:pPr>
            <a:r>
              <a:rPr lang="en-US" sz="1200" dirty="0">
                <a:solidFill>
                  <a:srgbClr val="1A2238"/>
                </a:solidFill>
                <a:latin typeface="Calibri" pitchFamily="34" charset="0"/>
                <a:ea typeface="Calibri" pitchFamily="34" charset="-122"/>
                <a:cs typeface="Calibri" pitchFamily="34" charset="-120"/>
              </a:rPr>
              <a:t>Optimizer: SGD, lr=0.05, batch size=128, 15 epoch, loss=CrossEntropyLoss (PyTorch — gộp sẵn LogSoftmax+NLLLoss, không cần Softmax tường minh trước loss)</a:t>
            </a:r>
            <a:endParaRPr lang="en-US" sz="1200" dirty="0"/>
          </a:p>
          <a:p>
            <a:pPr marL="228600" indent="-228600">
              <a:spcAft>
                <a:spcPts val="900"/>
              </a:spcAft>
              <a:buSzPct val="100000"/>
              <a:buChar char="▪"/>
            </a:pPr>
            <a:r>
              <a:rPr lang="en-US" sz="1200" dirty="0">
                <a:solidFill>
                  <a:srgbClr val="1A2238"/>
                </a:solidFill>
                <a:latin typeface="Calibri" pitchFamily="34" charset="0"/>
                <a:ea typeface="Calibri" pitchFamily="34" charset="-122"/>
                <a:cs typeface="Calibri" pitchFamily="34" charset="-120"/>
              </a:rPr>
              <a:t>Yếu tố thực nghiệm (experimental factor) trong mỗi so sánh 1-seed là cách khởi tạo weight (Zero, Random nhỏ, Random lớn, Xavier, He); mọi thiết lập khác — kiến trúc, optimizer, lr, batch size, epoch, bias-init, loss, preprocessing, seed — giữ cố định để cô lập đúng 1 biến</a:t>
            </a:r>
            <a:endParaRPr lang="en-US" sz="1200" dirty="0"/>
          </a:p>
          <a:p>
            <a:pPr marL="228600" indent="-228600">
              <a:spcAft>
                <a:spcPts val="900"/>
              </a:spcAft>
              <a:buSzPct val="100000"/>
              <a:buChar char="▪"/>
            </a:pPr>
            <a:r>
              <a:rPr lang="en-US" sz="1200" dirty="0">
                <a:solidFill>
                  <a:srgbClr val="1A2238"/>
                </a:solidFill>
                <a:latin typeface="Calibri" pitchFamily="34" charset="0"/>
                <a:ea typeface="Calibri" pitchFamily="34" charset="-122"/>
                <a:cs typeface="Calibri" pitchFamily="34" charset="-120"/>
              </a:rPr>
              <a:t>Cùng seed giúp reproducibility và giảm một nguồn randomness khi so sánh 1-seed — không thay thế cho việc lặp lại nhiều seed (multi-seed thay đổi seed CÓ CHỦ ĐÍCH, xem slide Multi-seed)</a:t>
            </a:r>
            <a:endParaRPr lang="en-US" sz="1200" dirty="0"/>
          </a:p>
        </p:txBody>
      </p:sp>
      <p:sp>
        <p:nvSpPr>
          <p:cNvPr id="25" name="Text 23"/>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18/31</a:t>
            </a:r>
            <a:endParaRPr lang="en-US" sz="900" dirty="0"/>
          </a:p>
        </p:txBody>
      </p:sp>
      <p:sp>
        <p:nvSpPr>
          <p:cNvPr id="26" name="Shape 24"/>
          <p:cNvSpPr/>
          <p:nvPr/>
        </p:nvSpPr>
        <p:spPr>
          <a:xfrm>
            <a:off x="610362" y="6473952"/>
            <a:ext cx="59436" cy="59436"/>
          </a:xfrm>
          <a:prstGeom prst="ellipse">
            <a:avLst/>
          </a:prstGeom>
          <a:solidFill>
            <a:srgbClr val="D9DEE8"/>
          </a:solidFill>
          <a:ln/>
        </p:spPr>
      </p:sp>
      <p:sp>
        <p:nvSpPr>
          <p:cNvPr id="27" name="Shape 25"/>
          <p:cNvSpPr/>
          <p:nvPr/>
        </p:nvSpPr>
        <p:spPr>
          <a:xfrm>
            <a:off x="829818" y="6473952"/>
            <a:ext cx="59436" cy="59436"/>
          </a:xfrm>
          <a:prstGeom prst="ellipse">
            <a:avLst/>
          </a:prstGeom>
          <a:solidFill>
            <a:srgbClr val="D9DEE8"/>
          </a:solidFill>
          <a:ln/>
        </p:spPr>
      </p:sp>
      <p:sp>
        <p:nvSpPr>
          <p:cNvPr id="28" name="Shape 26"/>
          <p:cNvSpPr/>
          <p:nvPr/>
        </p:nvSpPr>
        <p:spPr>
          <a:xfrm>
            <a:off x="1034415" y="6459093"/>
            <a:ext cx="89154" cy="89154"/>
          </a:xfrm>
          <a:prstGeom prst="ellipse">
            <a:avLst/>
          </a:prstGeom>
          <a:solidFill>
            <a:srgbClr val="285AB4"/>
          </a:solidFill>
          <a:ln/>
        </p:spPr>
      </p:sp>
      <p:sp>
        <p:nvSpPr>
          <p:cNvPr id="29" name="Shape 27"/>
          <p:cNvSpPr/>
          <p:nvPr/>
        </p:nvSpPr>
        <p:spPr>
          <a:xfrm>
            <a:off x="1268730" y="6473952"/>
            <a:ext cx="59436" cy="59436"/>
          </a:xfrm>
          <a:prstGeom prst="ellipse">
            <a:avLst/>
          </a:prstGeom>
          <a:solidFill>
            <a:srgbClr val="D9DEE8"/>
          </a:solidFill>
          <a:ln/>
        </p:spPr>
      </p:sp>
      <p:sp>
        <p:nvSpPr>
          <p:cNvPr id="30" name="Text 28"/>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EXPERIMENT</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DEMO — MINI RESEARCH EXPERIMENT</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4 nhóm metric được log mỗi cấu hình</a:t>
            </a:r>
            <a:endParaRPr lang="en-US" sz="2900" dirty="0"/>
          </a:p>
        </p:txBody>
      </p:sp>
      <p:sp>
        <p:nvSpPr>
          <p:cNvPr id="4" name="Text 2"/>
          <p:cNvSpPr txBox="1"/>
          <p:nvPr/>
        </p:nvSpPr>
        <p:spPr>
          <a:xfrm>
            <a:off x="640080" y="1536192"/>
            <a:ext cx="10911535" cy="274320"/>
          </a:xfrm>
          <a:prstGeom prst="rect">
            <a:avLst/>
          </a:prstGeom>
          <a:noFill/>
          <a:ln/>
        </p:spPr>
        <p:txBody>
          <a:bodyPr wrap="square" lIns="0" tIns="0" rIns="0" bIns="0" rtlCol="0" anchor="ctr"/>
          <a:lstStyle/>
          <a:p>
            <a:pPr indent="0" marL="0">
              <a:buNone/>
            </a:pPr>
            <a:r>
              <a:rPr lang="en-US" sz="1100" i="1" dirty="0">
                <a:solidFill>
                  <a:srgbClr val="5B6478"/>
                </a:solidFill>
                <a:latin typeface="Calibri" pitchFamily="34" charset="0"/>
                <a:ea typeface="Calibri" pitchFamily="34" charset="-122"/>
                <a:cs typeface="Calibri" pitchFamily="34" charset="-120"/>
              </a:rPr>
              <a:t>Quy ước: "Layer 1" = hidden Linear layer ĐẦU TIÊN, gần input nhất (không tính input hay output layer).</a:t>
            </a:r>
            <a:endParaRPr lang="en-US" sz="1100" dirty="0"/>
          </a:p>
        </p:txBody>
      </p:sp>
      <p:sp>
        <p:nvSpPr>
          <p:cNvPr id="5" name="Shape 3"/>
          <p:cNvSpPr/>
          <p:nvPr/>
        </p:nvSpPr>
        <p:spPr>
          <a:xfrm>
            <a:off x="640080" y="1920240"/>
            <a:ext cx="10911535" cy="914400"/>
          </a:xfrm>
          <a:prstGeom prst="roundRect">
            <a:avLst>
              <a:gd name="adj" fmla="val 6000"/>
            </a:avLst>
          </a:prstGeom>
          <a:solidFill>
            <a:srgbClr val="F1F4F9"/>
          </a:solidFill>
          <a:ln w="6350">
            <a:solidFill>
              <a:srgbClr val="D9DEE8"/>
            </a:solidFill>
            <a:prstDash val="solid"/>
          </a:ln>
          <a:effectLst>
            <a:outerShdw sx="100000" sy="100000" kx="0" ky="0" algn="bl" rotWithShape="0" blurRad="114300" dist="38100" dir="5400000">
              <a:srgbClr val="1A1A2E">
                <a:alpha val="20000"/>
              </a:srgbClr>
            </a:outerShdw>
          </a:effectLst>
        </p:spPr>
      </p:sp>
      <p:sp>
        <p:nvSpPr>
          <p:cNvPr id="6" name="Text 4"/>
          <p:cNvSpPr txBox="1"/>
          <p:nvPr/>
        </p:nvSpPr>
        <p:spPr>
          <a:xfrm>
            <a:off x="914400" y="1920240"/>
            <a:ext cx="3931920" cy="914400"/>
          </a:xfrm>
          <a:prstGeom prst="rect">
            <a:avLst/>
          </a:prstGeom>
          <a:noFill/>
          <a:ln/>
        </p:spPr>
        <p:txBody>
          <a:bodyPr wrap="square" lIns="0" tIns="0" rIns="0" bIns="0" rtlCol="0" anchor="ctr"/>
          <a:lstStyle/>
          <a:p>
            <a:pPr indent="0" marL="0">
              <a:buNone/>
            </a:pPr>
            <a:r>
              <a:rPr lang="en-US" sz="1500" b="1" dirty="0">
                <a:solidFill>
                  <a:srgbClr val="16213E"/>
                </a:solidFill>
                <a:latin typeface="Calibri" pitchFamily="34" charset="0"/>
                <a:ea typeface="Calibri" pitchFamily="34" charset="-122"/>
                <a:cs typeface="Calibri" pitchFamily="34" charset="-120"/>
              </a:rPr>
              <a:t>1. Activation Variance theo layer</a:t>
            </a:r>
            <a:endParaRPr lang="en-US" sz="1500" dirty="0"/>
          </a:p>
        </p:txBody>
      </p:sp>
      <p:sp>
        <p:nvSpPr>
          <p:cNvPr id="7" name="Text 5"/>
          <p:cNvSpPr txBox="1"/>
          <p:nvPr/>
        </p:nvSpPr>
        <p:spPr>
          <a:xfrm>
            <a:off x="4937760" y="1920240"/>
            <a:ext cx="6339535" cy="914400"/>
          </a:xfrm>
          <a:prstGeom prst="rect">
            <a:avLst/>
          </a:prstGeom>
          <a:noFill/>
          <a:ln/>
        </p:spPr>
        <p:txBody>
          <a:bodyPr wrap="square" lIns="0" tIns="0" rIns="0" bIns="0" rtlCol="0" anchor="ctr"/>
          <a:lstStyle/>
          <a:p>
            <a:pPr indent="0" marL="0">
              <a:buNone/>
            </a:pPr>
            <a:r>
              <a:rPr lang="en-US" sz="1300" dirty="0">
                <a:solidFill>
                  <a:srgbClr val="5B6478"/>
                </a:solidFill>
                <a:latin typeface="Calibri" pitchFamily="34" charset="0"/>
                <a:ea typeface="Calibri" pitchFamily="34" charset="-122"/>
                <a:cs typeface="Calibri" pitchFamily="34" charset="-120"/>
              </a:rPr>
              <a:t>Var(A⁽ˡ⁾) tại bước khởi tạo (batch đầu tiên) — tín hiệu SỚM NHẤT cho co cụm/bão hoà, ưu tiên đọc đầu tiên</a:t>
            </a:r>
            <a:endParaRPr lang="en-US" sz="1300" dirty="0"/>
          </a:p>
        </p:txBody>
      </p:sp>
      <p:sp>
        <p:nvSpPr>
          <p:cNvPr id="8" name="Shape 6"/>
          <p:cNvSpPr/>
          <p:nvPr/>
        </p:nvSpPr>
        <p:spPr>
          <a:xfrm>
            <a:off x="640080" y="2971800"/>
            <a:ext cx="10911535" cy="914400"/>
          </a:xfrm>
          <a:prstGeom prst="roundRect">
            <a:avLst>
              <a:gd name="adj" fmla="val 6000"/>
            </a:avLst>
          </a:prstGeom>
          <a:solidFill>
            <a:srgbClr val="F1F4F9"/>
          </a:solidFill>
          <a:ln w="6350">
            <a:solidFill>
              <a:srgbClr val="D9DEE8"/>
            </a:solidFill>
            <a:prstDash val="solid"/>
          </a:ln>
          <a:effectLst>
            <a:outerShdw sx="100000" sy="100000" kx="0" ky="0" algn="bl" rotWithShape="0" blurRad="114300" dist="38100" dir="5400000">
              <a:srgbClr val="1A1A2E">
                <a:alpha val="20000"/>
              </a:srgbClr>
            </a:outerShdw>
          </a:effectLst>
        </p:spPr>
      </p:sp>
      <p:sp>
        <p:nvSpPr>
          <p:cNvPr id="9" name="Text 7"/>
          <p:cNvSpPr txBox="1"/>
          <p:nvPr/>
        </p:nvSpPr>
        <p:spPr>
          <a:xfrm>
            <a:off x="914400" y="2971800"/>
            <a:ext cx="3931920" cy="914400"/>
          </a:xfrm>
          <a:prstGeom prst="rect">
            <a:avLst/>
          </a:prstGeom>
          <a:noFill/>
          <a:ln/>
        </p:spPr>
        <p:txBody>
          <a:bodyPr wrap="square" lIns="0" tIns="0" rIns="0" bIns="0" rtlCol="0" anchor="ctr"/>
          <a:lstStyle/>
          <a:p>
            <a:pPr indent="0" marL="0">
              <a:buNone/>
            </a:pPr>
            <a:r>
              <a:rPr lang="en-US" sz="1500" b="1" dirty="0">
                <a:solidFill>
                  <a:srgbClr val="16213E"/>
                </a:solidFill>
                <a:latin typeface="Calibri" pitchFamily="34" charset="0"/>
                <a:ea typeface="Calibri" pitchFamily="34" charset="-122"/>
                <a:cs typeface="Calibri" pitchFamily="34" charset="-120"/>
              </a:rPr>
              <a:t>2. Gradient RMS theo layer</a:t>
            </a:r>
            <a:endParaRPr lang="en-US" sz="1500" dirty="0"/>
          </a:p>
        </p:txBody>
      </p:sp>
      <p:sp>
        <p:nvSpPr>
          <p:cNvPr id="10" name="Text 8"/>
          <p:cNvSpPr txBox="1"/>
          <p:nvPr/>
        </p:nvSpPr>
        <p:spPr>
          <a:xfrm>
            <a:off x="4937760" y="2971800"/>
            <a:ext cx="6339535" cy="914400"/>
          </a:xfrm>
          <a:prstGeom prst="rect">
            <a:avLst/>
          </a:prstGeom>
          <a:noFill/>
          <a:ln/>
        </p:spPr>
        <p:txBody>
          <a:bodyPr wrap="square" lIns="0" tIns="0" rIns="0" bIns="0" rtlCol="0" anchor="ctr"/>
          <a:lstStyle/>
          <a:p>
            <a:pPr indent="0" marL="0">
              <a:buNone/>
            </a:pPr>
            <a:r>
              <a:rPr lang="en-US" sz="1300" dirty="0">
                <a:solidFill>
                  <a:srgbClr val="5B6478"/>
                </a:solidFill>
                <a:latin typeface="Calibri" pitchFamily="34" charset="0"/>
                <a:ea typeface="Calibri" pitchFamily="34" charset="-122"/>
                <a:cs typeface="Calibri" pitchFamily="34" charset="-120"/>
              </a:rPr>
              <a:t>RMS(∂L/∂W⁽ˡ⁾) = grad.pow(2).mean().sqrt(), đo tại khởi tạo (batch đầu tiên, TRƯỚC update nào) — chuẩn hoá theo số phần tử để so sánh công bằng giữa các layer</a:t>
            </a:r>
            <a:endParaRPr lang="en-US" sz="1300" dirty="0"/>
          </a:p>
        </p:txBody>
      </p:sp>
      <p:sp>
        <p:nvSpPr>
          <p:cNvPr id="11" name="Shape 9"/>
          <p:cNvSpPr/>
          <p:nvPr/>
        </p:nvSpPr>
        <p:spPr>
          <a:xfrm>
            <a:off x="640080" y="4023360"/>
            <a:ext cx="10911535" cy="914400"/>
          </a:xfrm>
          <a:prstGeom prst="roundRect">
            <a:avLst>
              <a:gd name="adj" fmla="val 6000"/>
            </a:avLst>
          </a:prstGeom>
          <a:solidFill>
            <a:srgbClr val="F1F4F9"/>
          </a:solidFill>
          <a:ln w="6350">
            <a:solidFill>
              <a:srgbClr val="D9DEE8"/>
            </a:solidFill>
            <a:prstDash val="solid"/>
          </a:ln>
          <a:effectLst>
            <a:outerShdw sx="100000" sy="100000" kx="0" ky="0" algn="bl" rotWithShape="0" blurRad="114300" dist="38100" dir="5400000">
              <a:srgbClr val="1A1A2E">
                <a:alpha val="20000"/>
              </a:srgbClr>
            </a:outerShdw>
          </a:effectLst>
        </p:spPr>
      </p:sp>
      <p:sp>
        <p:nvSpPr>
          <p:cNvPr id="12" name="Text 10"/>
          <p:cNvSpPr txBox="1"/>
          <p:nvPr/>
        </p:nvSpPr>
        <p:spPr>
          <a:xfrm>
            <a:off x="914400" y="4023360"/>
            <a:ext cx="3931920" cy="914400"/>
          </a:xfrm>
          <a:prstGeom prst="rect">
            <a:avLst/>
          </a:prstGeom>
          <a:noFill/>
          <a:ln/>
        </p:spPr>
        <p:txBody>
          <a:bodyPr wrap="square" lIns="0" tIns="0" rIns="0" bIns="0" rtlCol="0" anchor="ctr"/>
          <a:lstStyle/>
          <a:p>
            <a:pPr indent="0" marL="0">
              <a:buNone/>
            </a:pPr>
            <a:r>
              <a:rPr lang="en-US" sz="1500" b="1" dirty="0">
                <a:solidFill>
                  <a:srgbClr val="16213E"/>
                </a:solidFill>
                <a:latin typeface="Calibri" pitchFamily="34" charset="0"/>
                <a:ea typeface="Calibri" pitchFamily="34" charset="-122"/>
                <a:cs typeface="Calibri" pitchFamily="34" charset="-120"/>
              </a:rPr>
              <a:t>3. Training Loss &amp; Accuracy</a:t>
            </a:r>
            <a:endParaRPr lang="en-US" sz="1500" dirty="0"/>
          </a:p>
        </p:txBody>
      </p:sp>
      <p:sp>
        <p:nvSpPr>
          <p:cNvPr id="13" name="Text 11"/>
          <p:cNvSpPr txBox="1"/>
          <p:nvPr/>
        </p:nvSpPr>
        <p:spPr>
          <a:xfrm>
            <a:off x="4937760" y="4023360"/>
            <a:ext cx="6339535" cy="914400"/>
          </a:xfrm>
          <a:prstGeom prst="rect">
            <a:avLst/>
          </a:prstGeom>
          <a:noFill/>
          <a:ln/>
        </p:spPr>
        <p:txBody>
          <a:bodyPr wrap="square" lIns="0" tIns="0" rIns="0" bIns="0" rtlCol="0" anchor="ctr"/>
          <a:lstStyle/>
          <a:p>
            <a:pPr indent="0" marL="0">
              <a:buNone/>
            </a:pPr>
            <a:r>
              <a:rPr lang="en-US" sz="1300" dirty="0">
                <a:solidFill>
                  <a:srgbClr val="5B6478"/>
                </a:solidFill>
                <a:latin typeface="Calibri" pitchFamily="34" charset="0"/>
                <a:ea typeface="Calibri" pitchFamily="34" charset="-122"/>
                <a:cs typeface="Calibri" pitchFamily="34" charset="-120"/>
              </a:rPr>
              <a:t>mỗi epoch — train + validation, theo dõi hội tụ theo thời gian (test set chỉ dùng đánh giá cuối cùng)</a:t>
            </a:r>
            <a:endParaRPr lang="en-US" sz="1300" dirty="0"/>
          </a:p>
        </p:txBody>
      </p:sp>
      <p:sp>
        <p:nvSpPr>
          <p:cNvPr id="14" name="Shape 12"/>
          <p:cNvSpPr/>
          <p:nvPr/>
        </p:nvSpPr>
        <p:spPr>
          <a:xfrm>
            <a:off x="640080" y="5074920"/>
            <a:ext cx="10911535" cy="914400"/>
          </a:xfrm>
          <a:prstGeom prst="roundRect">
            <a:avLst>
              <a:gd name="adj" fmla="val 6000"/>
            </a:avLst>
          </a:prstGeom>
          <a:solidFill>
            <a:srgbClr val="F1F4F9"/>
          </a:solidFill>
          <a:ln w="6350">
            <a:solidFill>
              <a:srgbClr val="D9DEE8"/>
            </a:solidFill>
            <a:prstDash val="solid"/>
          </a:ln>
          <a:effectLst>
            <a:outerShdw sx="100000" sy="100000" kx="0" ky="0" algn="bl" rotWithShape="0" blurRad="114300" dist="38100" dir="5400000">
              <a:srgbClr val="1A1A2E">
                <a:alpha val="20000"/>
              </a:srgbClr>
            </a:outerShdw>
          </a:effectLst>
        </p:spPr>
      </p:sp>
      <p:sp>
        <p:nvSpPr>
          <p:cNvPr id="15" name="Text 13"/>
          <p:cNvSpPr txBox="1"/>
          <p:nvPr/>
        </p:nvSpPr>
        <p:spPr>
          <a:xfrm>
            <a:off x="914400" y="5074920"/>
            <a:ext cx="3931920" cy="914400"/>
          </a:xfrm>
          <a:prstGeom prst="rect">
            <a:avLst/>
          </a:prstGeom>
          <a:noFill/>
          <a:ln/>
        </p:spPr>
        <p:txBody>
          <a:bodyPr wrap="square" lIns="0" tIns="0" rIns="0" bIns="0" rtlCol="0" anchor="ctr"/>
          <a:lstStyle/>
          <a:p>
            <a:pPr indent="0" marL="0">
              <a:buNone/>
            </a:pPr>
            <a:r>
              <a:rPr lang="en-US" sz="1500" b="1" dirty="0">
                <a:solidFill>
                  <a:srgbClr val="16213E"/>
                </a:solidFill>
                <a:latin typeface="Calibri" pitchFamily="34" charset="0"/>
                <a:ea typeface="Calibri" pitchFamily="34" charset="-122"/>
                <a:cs typeface="Calibri" pitchFamily="34" charset="-120"/>
              </a:rPr>
              <a:t>4. Weight Variance theo layer</a:t>
            </a:r>
            <a:endParaRPr lang="en-US" sz="1500" dirty="0"/>
          </a:p>
        </p:txBody>
      </p:sp>
      <p:sp>
        <p:nvSpPr>
          <p:cNvPr id="16" name="Text 14"/>
          <p:cNvSpPr txBox="1"/>
          <p:nvPr/>
        </p:nvSpPr>
        <p:spPr>
          <a:xfrm>
            <a:off x="4937760" y="5074920"/>
            <a:ext cx="6339535" cy="914400"/>
          </a:xfrm>
          <a:prstGeom prst="rect">
            <a:avLst/>
          </a:prstGeom>
          <a:noFill/>
          <a:ln/>
        </p:spPr>
        <p:txBody>
          <a:bodyPr wrap="square" lIns="0" tIns="0" rIns="0" bIns="0" rtlCol="0" anchor="ctr"/>
          <a:lstStyle/>
          <a:p>
            <a:pPr indent="0" marL="0">
              <a:buNone/>
            </a:pPr>
            <a:r>
              <a:rPr lang="en-US" sz="1300" dirty="0">
                <a:solidFill>
                  <a:srgbClr val="5B6478"/>
                </a:solidFill>
                <a:latin typeface="Calibri" pitchFamily="34" charset="0"/>
                <a:ea typeface="Calibri" pitchFamily="34" charset="-122"/>
                <a:cs typeface="Calibri" pitchFamily="34" charset="-120"/>
              </a:rPr>
              <a:t>đối chiếu Var(W) đo thực tế vs. công thức lý thuyết</a:t>
            </a:r>
            <a:endParaRPr lang="en-US" sz="1300" dirty="0"/>
          </a:p>
        </p:txBody>
      </p:sp>
      <p:sp>
        <p:nvSpPr>
          <p:cNvPr id="17" name="Text 15"/>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19/31</a:t>
            </a:r>
            <a:endParaRPr lang="en-US" sz="900" dirty="0"/>
          </a:p>
        </p:txBody>
      </p:sp>
      <p:sp>
        <p:nvSpPr>
          <p:cNvPr id="18" name="Shape 16"/>
          <p:cNvSpPr/>
          <p:nvPr/>
        </p:nvSpPr>
        <p:spPr>
          <a:xfrm>
            <a:off x="610362" y="6473952"/>
            <a:ext cx="59436" cy="59436"/>
          </a:xfrm>
          <a:prstGeom prst="ellipse">
            <a:avLst/>
          </a:prstGeom>
          <a:solidFill>
            <a:srgbClr val="D9DEE8"/>
          </a:solidFill>
          <a:ln/>
        </p:spPr>
      </p:sp>
      <p:sp>
        <p:nvSpPr>
          <p:cNvPr id="19" name="Shape 17"/>
          <p:cNvSpPr/>
          <p:nvPr/>
        </p:nvSpPr>
        <p:spPr>
          <a:xfrm>
            <a:off x="829818" y="6473952"/>
            <a:ext cx="59436" cy="59436"/>
          </a:xfrm>
          <a:prstGeom prst="ellipse">
            <a:avLst/>
          </a:prstGeom>
          <a:solidFill>
            <a:srgbClr val="D9DEE8"/>
          </a:solidFill>
          <a:ln/>
        </p:spPr>
      </p:sp>
      <p:sp>
        <p:nvSpPr>
          <p:cNvPr id="20" name="Shape 18"/>
          <p:cNvSpPr/>
          <p:nvPr/>
        </p:nvSpPr>
        <p:spPr>
          <a:xfrm>
            <a:off x="1034415" y="6459093"/>
            <a:ext cx="89154" cy="89154"/>
          </a:xfrm>
          <a:prstGeom prst="ellipse">
            <a:avLst/>
          </a:prstGeom>
          <a:solidFill>
            <a:srgbClr val="285AB4"/>
          </a:solidFill>
          <a:ln/>
        </p:spPr>
      </p:sp>
      <p:sp>
        <p:nvSpPr>
          <p:cNvPr id="21" name="Shape 19"/>
          <p:cNvSpPr/>
          <p:nvPr/>
        </p:nvSpPr>
        <p:spPr>
          <a:xfrm>
            <a:off x="1268730" y="6473952"/>
            <a:ext cx="59436" cy="59436"/>
          </a:xfrm>
          <a:prstGeom prst="ellipse">
            <a:avLst/>
          </a:prstGeom>
          <a:solidFill>
            <a:srgbClr val="D9DEE8"/>
          </a:solidFill>
          <a:ln/>
        </p:spPr>
      </p:sp>
      <p:sp>
        <p:nvSpPr>
          <p:cNvPr id="22" name="Text 20"/>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EXPERIMENT</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DEMO — EXPERIMENT 1 &amp; 2</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400" b="1" dirty="0">
                <a:solidFill>
                  <a:srgbClr val="1A2238"/>
                </a:solidFill>
                <a:latin typeface="Cambria" pitchFamily="34" charset="0"/>
                <a:ea typeface="Cambria" pitchFamily="34" charset="-122"/>
                <a:cs typeface="Cambria" pitchFamily="34" charset="-120"/>
              </a:rPr>
              <a:t>Zero vs. Random nhỏ — HAI cơ chế thất bại KHÁC NHAU</a:t>
            </a:r>
            <a:endParaRPr lang="en-US" sz="2400" dirty="0"/>
          </a:p>
        </p:txBody>
      </p:sp>
      <p:sp>
        <p:nvSpPr>
          <p:cNvPr id="4" name="Shape 2"/>
          <p:cNvSpPr/>
          <p:nvPr/>
        </p:nvSpPr>
        <p:spPr>
          <a:xfrm>
            <a:off x="640080" y="1691640"/>
            <a:ext cx="10911535" cy="1554480"/>
          </a:xfrm>
          <a:prstGeom prst="roundRect">
            <a:avLst>
              <a:gd name="adj" fmla="val 2941"/>
            </a:avLst>
          </a:prstGeom>
          <a:solidFill>
            <a:srgbClr val="1E2A44"/>
          </a:solidFill>
          <a:ln/>
        </p:spPr>
      </p:sp>
      <p:sp>
        <p:nvSpPr>
          <p:cNvPr id="5" name="Text 3"/>
          <p:cNvSpPr txBox="1"/>
          <p:nvPr/>
        </p:nvSpPr>
        <p:spPr>
          <a:xfrm>
            <a:off x="868680" y="1801368"/>
            <a:ext cx="10454335" cy="1371600"/>
          </a:xfrm>
          <a:prstGeom prst="rect">
            <a:avLst/>
          </a:prstGeom>
          <a:noFill/>
          <a:ln/>
        </p:spPr>
        <p:txBody>
          <a:bodyPr wrap="square" lIns="0" tIns="0" rIns="0" bIns="0" rtlCol="0" anchor="t"/>
          <a:lstStyle/>
          <a:p>
            <a:pPr indent="0" marL="0">
              <a:buNone/>
            </a:pPr>
            <a:r>
              <a:rPr lang="en-US" sz="1250" dirty="0">
                <a:solidFill>
                  <a:srgbClr val="D8E0EF"/>
                </a:solidFill>
                <a:latin typeface="Consolas" pitchFamily="34" charset="0"/>
                <a:ea typeface="Consolas" pitchFamily="34" charset="-122"/>
                <a:cs typeface="Consolas" pitchFamily="34" charset="-120"/>
              </a:rPr>
              <a:t>for layer in model.modules():</a:t>
            </a:r>
            <a:endParaRPr lang="en-US" sz="1250" dirty="0"/>
          </a:p>
          <a:p>
            <a:pPr indent="0" marL="0">
              <a:buNone/>
            </a:pPr>
            <a:r>
              <a:rPr lang="en-US" sz="1250" dirty="0">
                <a:solidFill>
                  <a:srgbClr val="D8E0EF"/>
                </a:solidFill>
                <a:latin typeface="Consolas" pitchFamily="34" charset="0"/>
                <a:ea typeface="Consolas" pitchFamily="34" charset="-122"/>
                <a:cs typeface="Consolas" pitchFamily="34" charset="-120"/>
              </a:rPr>
              <a:t>    if isinstance(layer, nn.Linear):</a:t>
            </a:r>
            <a:endParaRPr lang="en-US" sz="1250" dirty="0"/>
          </a:p>
          <a:p>
            <a:pPr indent="0" marL="0">
              <a:buNone/>
            </a:pPr>
            <a:r>
              <a:rPr lang="en-US" sz="1250" dirty="0">
                <a:solidFill>
                  <a:srgbClr val="D8E0EF"/>
                </a:solidFill>
                <a:latin typeface="Consolas" pitchFamily="34" charset="0"/>
                <a:ea typeface="Consolas" pitchFamily="34" charset="-122"/>
                <a:cs typeface="Consolas" pitchFamily="34" charset="-120"/>
              </a:rPr>
              <a:t>        nn.init.zeros_(layer.weight)          # Experiment 1</a:t>
            </a:r>
            <a:endParaRPr lang="en-US" sz="1250" dirty="0"/>
          </a:p>
          <a:p>
            <a:pPr indent="0" marL="0">
              <a:buNone/>
            </a:pPr>
            <a:r>
              <a:rPr lang="en-US" sz="1250" dirty="0">
                <a:solidFill>
                  <a:srgbClr val="D8E0EF"/>
                </a:solidFill>
                <a:latin typeface="Consolas" pitchFamily="34" charset="0"/>
                <a:ea typeface="Consolas" pitchFamily="34" charset="-122"/>
                <a:cs typeface="Consolas" pitchFamily="34" charset="-120"/>
              </a:rPr>
              <a:t>        # hoặc: nn.init.normal_(layer.weight, std=0.01)   # Experiment 2</a:t>
            </a:r>
            <a:endParaRPr lang="en-US" sz="1250" dirty="0"/>
          </a:p>
        </p:txBody>
      </p:sp>
      <p:sp>
        <p:nvSpPr>
          <p:cNvPr id="6" name="Text 4"/>
          <p:cNvSpPr txBox="1"/>
          <p:nvPr/>
        </p:nvSpPr>
        <p:spPr>
          <a:xfrm>
            <a:off x="640080" y="3566160"/>
            <a:ext cx="3454298" cy="768096"/>
          </a:xfrm>
          <a:prstGeom prst="rect">
            <a:avLst/>
          </a:prstGeom>
          <a:noFill/>
          <a:ln/>
        </p:spPr>
        <p:txBody>
          <a:bodyPr wrap="square" lIns="0" tIns="0" rIns="0" bIns="0" rtlCol="0" anchor="b"/>
          <a:lstStyle/>
          <a:p>
            <a:pPr algn="ctr" indent="0" marL="0">
              <a:buNone/>
            </a:pPr>
            <a:r>
              <a:rPr lang="en-US" sz="3000" b="1" dirty="0">
                <a:solidFill>
                  <a:srgbClr val="BE3C32"/>
                </a:solidFill>
                <a:latin typeface="Cambria" pitchFamily="34" charset="0"/>
                <a:ea typeface="Cambria" pitchFamily="34" charset="-122"/>
                <a:cs typeface="Cambria" pitchFamily="34" charset="-120"/>
              </a:rPr>
              <a:t>0.0</a:t>
            </a:r>
            <a:endParaRPr lang="en-US" sz="3000" dirty="0"/>
          </a:p>
        </p:txBody>
      </p:sp>
      <p:sp>
        <p:nvSpPr>
          <p:cNvPr id="7" name="Text 5"/>
          <p:cNvSpPr txBox="1"/>
          <p:nvPr/>
        </p:nvSpPr>
        <p:spPr>
          <a:xfrm>
            <a:off x="640080" y="4334256"/>
            <a:ext cx="3454298" cy="512064"/>
          </a:xfrm>
          <a:prstGeom prst="rect">
            <a:avLst/>
          </a:prstGeom>
          <a:noFill/>
          <a:ln/>
        </p:spPr>
        <p:txBody>
          <a:bodyPr wrap="square" lIns="0" tIns="0" rIns="0" bIns="0" rtlCol="0" anchor="t"/>
          <a:lstStyle/>
          <a:p>
            <a:pPr algn="ctr" indent="0" marL="0">
              <a:buNone/>
            </a:pPr>
            <a:r>
              <a:rPr lang="en-US" sz="1100" dirty="0">
                <a:solidFill>
                  <a:srgbClr val="5B6478"/>
                </a:solidFill>
                <a:latin typeface="Calibri" pitchFamily="34" charset="0"/>
                <a:ea typeface="Calibri" pitchFamily="34" charset="-122"/>
                <a:cs typeface="Calibri" pitchFamily="34" charset="-120"/>
              </a:rPr>
              <a:t>Zero — gradient RMS lớp 1 (khởi tạo)</a:t>
            </a:r>
            <a:endParaRPr lang="en-US" sz="1100" dirty="0"/>
          </a:p>
        </p:txBody>
      </p:sp>
      <p:sp>
        <p:nvSpPr>
          <p:cNvPr id="8" name="Text 6"/>
          <p:cNvSpPr txBox="1"/>
          <p:nvPr/>
        </p:nvSpPr>
        <p:spPr>
          <a:xfrm>
            <a:off x="4368698" y="3566160"/>
            <a:ext cx="3454298" cy="768096"/>
          </a:xfrm>
          <a:prstGeom prst="rect">
            <a:avLst/>
          </a:prstGeom>
          <a:noFill/>
          <a:ln/>
        </p:spPr>
        <p:txBody>
          <a:bodyPr wrap="square" lIns="0" tIns="0" rIns="0" bIns="0" rtlCol="0" anchor="b"/>
          <a:lstStyle/>
          <a:p>
            <a:pPr algn="ctr" indent="0" marL="0">
              <a:buNone/>
            </a:pPr>
            <a:r>
              <a:rPr lang="en-US" sz="3000" b="1" dirty="0">
                <a:solidFill>
                  <a:srgbClr val="BE3C32"/>
                </a:solidFill>
                <a:latin typeface="Cambria" pitchFamily="34" charset="0"/>
                <a:ea typeface="Cambria" pitchFamily="34" charset="-122"/>
                <a:cs typeface="Cambria" pitchFamily="34" charset="-120"/>
              </a:rPr>
              <a:t>1.13e-13</a:t>
            </a:r>
            <a:endParaRPr lang="en-US" sz="3000" dirty="0"/>
          </a:p>
        </p:txBody>
      </p:sp>
      <p:sp>
        <p:nvSpPr>
          <p:cNvPr id="9" name="Text 7"/>
          <p:cNvSpPr txBox="1"/>
          <p:nvPr/>
        </p:nvSpPr>
        <p:spPr>
          <a:xfrm>
            <a:off x="4368698" y="4334256"/>
            <a:ext cx="3454298" cy="512064"/>
          </a:xfrm>
          <a:prstGeom prst="rect">
            <a:avLst/>
          </a:prstGeom>
          <a:noFill/>
          <a:ln/>
        </p:spPr>
        <p:txBody>
          <a:bodyPr wrap="square" lIns="0" tIns="0" rIns="0" bIns="0" rtlCol="0" anchor="t"/>
          <a:lstStyle/>
          <a:p>
            <a:pPr algn="ctr" indent="0" marL="0">
              <a:buNone/>
            </a:pPr>
            <a:r>
              <a:rPr lang="en-US" sz="1100" dirty="0">
                <a:solidFill>
                  <a:srgbClr val="5B6478"/>
                </a:solidFill>
                <a:latin typeface="Calibri" pitchFamily="34" charset="0"/>
                <a:ea typeface="Calibri" pitchFamily="34" charset="-122"/>
                <a:cs typeface="Calibri" pitchFamily="34" charset="-120"/>
              </a:rPr>
              <a:t>Random nhỏ — gradient RMS lớp 1</a:t>
            </a:r>
            <a:endParaRPr lang="en-US" sz="1100" dirty="0"/>
          </a:p>
        </p:txBody>
      </p:sp>
      <p:sp>
        <p:nvSpPr>
          <p:cNvPr id="10" name="Text 8"/>
          <p:cNvSpPr txBox="1"/>
          <p:nvPr/>
        </p:nvSpPr>
        <p:spPr>
          <a:xfrm>
            <a:off x="8097317" y="3566160"/>
            <a:ext cx="3454298" cy="768096"/>
          </a:xfrm>
          <a:prstGeom prst="rect">
            <a:avLst/>
          </a:prstGeom>
          <a:noFill/>
          <a:ln/>
        </p:spPr>
        <p:txBody>
          <a:bodyPr wrap="square" lIns="0" tIns="0" rIns="0" bIns="0" rtlCol="0" anchor="b"/>
          <a:lstStyle/>
          <a:p>
            <a:pPr algn="ctr" indent="0" marL="0">
              <a:buNone/>
            </a:pPr>
            <a:r>
              <a:rPr lang="en-US" sz="3000" b="1" dirty="0">
                <a:solidFill>
                  <a:srgbClr val="5B6478"/>
                </a:solidFill>
                <a:latin typeface="Cambria" pitchFamily="34" charset="0"/>
                <a:ea typeface="Cambria" pitchFamily="34" charset="-122"/>
                <a:cs typeface="Cambria" pitchFamily="34" charset="-120"/>
              </a:rPr>
              <a:t>10.0%</a:t>
            </a:r>
            <a:endParaRPr lang="en-US" sz="3000" dirty="0"/>
          </a:p>
        </p:txBody>
      </p:sp>
      <p:sp>
        <p:nvSpPr>
          <p:cNvPr id="11" name="Text 9"/>
          <p:cNvSpPr txBox="1"/>
          <p:nvPr/>
        </p:nvSpPr>
        <p:spPr>
          <a:xfrm>
            <a:off x="8097317" y="4334256"/>
            <a:ext cx="3454298" cy="512064"/>
          </a:xfrm>
          <a:prstGeom prst="rect">
            <a:avLst/>
          </a:prstGeom>
          <a:noFill/>
          <a:ln/>
        </p:spPr>
        <p:txBody>
          <a:bodyPr wrap="square" lIns="0" tIns="0" rIns="0" bIns="0" rtlCol="0" anchor="t"/>
          <a:lstStyle/>
          <a:p>
            <a:pPr algn="ctr" indent="0" marL="0">
              <a:buNone/>
            </a:pPr>
            <a:r>
              <a:rPr lang="en-US" sz="1100" dirty="0">
                <a:solidFill>
                  <a:srgbClr val="5B6478"/>
                </a:solidFill>
                <a:latin typeface="Calibri" pitchFamily="34" charset="0"/>
                <a:ea typeface="Calibri" pitchFamily="34" charset="-122"/>
                <a:cs typeface="Calibri" pitchFamily="34" charset="-120"/>
              </a:rPr>
              <a:t>Test accuracy — cả 2 cấu hình (mức ngẫu nhiên)</a:t>
            </a:r>
            <a:endParaRPr lang="en-US" sz="1100" dirty="0"/>
          </a:p>
        </p:txBody>
      </p:sp>
      <p:sp>
        <p:nvSpPr>
          <p:cNvPr id="12" name="Shape 10"/>
          <p:cNvSpPr/>
          <p:nvPr/>
        </p:nvSpPr>
        <p:spPr>
          <a:xfrm>
            <a:off x="640080" y="5120640"/>
            <a:ext cx="10911535" cy="777240"/>
          </a:xfrm>
          <a:prstGeom prst="roundRect">
            <a:avLst>
              <a:gd name="adj" fmla="val 7059"/>
            </a:avLst>
          </a:prstGeom>
          <a:solidFill>
            <a:srgbClr val="FBEEEC"/>
          </a:solidFill>
          <a:ln w="9525">
            <a:solidFill>
              <a:srgbClr val="BE3C32"/>
            </a:solidFill>
            <a:prstDash val="solid"/>
          </a:ln>
        </p:spPr>
      </p:sp>
      <p:sp>
        <p:nvSpPr>
          <p:cNvPr id="13" name="Text 11"/>
          <p:cNvSpPr txBox="1"/>
          <p:nvPr/>
        </p:nvSpPr>
        <p:spPr>
          <a:xfrm>
            <a:off x="914400" y="5120640"/>
            <a:ext cx="10362895" cy="777240"/>
          </a:xfrm>
          <a:prstGeom prst="rect">
            <a:avLst/>
          </a:prstGeom>
          <a:noFill/>
          <a:ln/>
        </p:spPr>
        <p:txBody>
          <a:bodyPr wrap="square" lIns="0" tIns="0" rIns="0" bIns="0" rtlCol="0" anchor="ctr"/>
          <a:lstStyle/>
          <a:p>
            <a:pPr indent="0" marL="0">
              <a:buNone/>
            </a:pPr>
            <a:r>
              <a:rPr lang="en-US" sz="1450" b="1" dirty="0">
                <a:solidFill>
                  <a:srgbClr val="BE3C32"/>
                </a:solidFill>
                <a:latin typeface="Calibri" pitchFamily="34" charset="0"/>
                <a:ea typeface="Calibri" pitchFamily="34" charset="-122"/>
                <a:cs typeface="Calibri" pitchFamily="34" charset="-120"/>
              </a:rPr>
              <a:t>Cùng kết quả cuối (test acc 10.0%) nhưng NGUYÊN NHÂN khác nhau: Zero — các hidden unit KHÔNG PHÁ ĐƯỢC symmetry (failure to break symmetry), không phải "symmetry breaking". Random nhỏ — vanishing gradient thật sự, do scale bị co lại lặp lại qua 10 lớp.</a:t>
            </a:r>
            <a:endParaRPr lang="en-US" sz="1450" dirty="0"/>
          </a:p>
        </p:txBody>
      </p:sp>
      <p:sp>
        <p:nvSpPr>
          <p:cNvPr id="14" name="Text 12"/>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20/31</a:t>
            </a:r>
            <a:endParaRPr lang="en-US" sz="900" dirty="0"/>
          </a:p>
        </p:txBody>
      </p:sp>
      <p:sp>
        <p:nvSpPr>
          <p:cNvPr id="15" name="Shape 13"/>
          <p:cNvSpPr/>
          <p:nvPr/>
        </p:nvSpPr>
        <p:spPr>
          <a:xfrm>
            <a:off x="610362" y="6473952"/>
            <a:ext cx="59436" cy="59436"/>
          </a:xfrm>
          <a:prstGeom prst="ellipse">
            <a:avLst/>
          </a:prstGeom>
          <a:solidFill>
            <a:srgbClr val="D9DEE8"/>
          </a:solidFill>
          <a:ln/>
        </p:spPr>
      </p:sp>
      <p:sp>
        <p:nvSpPr>
          <p:cNvPr id="16" name="Shape 14"/>
          <p:cNvSpPr/>
          <p:nvPr/>
        </p:nvSpPr>
        <p:spPr>
          <a:xfrm>
            <a:off x="829818" y="6473952"/>
            <a:ext cx="59436" cy="59436"/>
          </a:xfrm>
          <a:prstGeom prst="ellipse">
            <a:avLst/>
          </a:prstGeom>
          <a:solidFill>
            <a:srgbClr val="D9DEE8"/>
          </a:solidFill>
          <a:ln/>
        </p:spPr>
      </p:sp>
      <p:sp>
        <p:nvSpPr>
          <p:cNvPr id="17" name="Shape 15"/>
          <p:cNvSpPr/>
          <p:nvPr/>
        </p:nvSpPr>
        <p:spPr>
          <a:xfrm>
            <a:off x="1034415" y="6459093"/>
            <a:ext cx="89154" cy="89154"/>
          </a:xfrm>
          <a:prstGeom prst="ellipse">
            <a:avLst/>
          </a:prstGeom>
          <a:solidFill>
            <a:srgbClr val="285AB4"/>
          </a:solidFill>
          <a:ln/>
        </p:spPr>
      </p:sp>
      <p:sp>
        <p:nvSpPr>
          <p:cNvPr id="18" name="Shape 16"/>
          <p:cNvSpPr/>
          <p:nvPr/>
        </p:nvSpPr>
        <p:spPr>
          <a:xfrm>
            <a:off x="1268730" y="6473952"/>
            <a:ext cx="59436" cy="59436"/>
          </a:xfrm>
          <a:prstGeom prst="ellipse">
            <a:avLst/>
          </a:prstGeom>
          <a:solidFill>
            <a:srgbClr val="D9DEE8"/>
          </a:solidFill>
          <a:ln/>
        </p:spPr>
      </p:sp>
      <p:sp>
        <p:nvSpPr>
          <p:cNvPr id="19" name="Text 17"/>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EXPERIMENT</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DEMO — EXPERIMENT 3</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400" b="1" dirty="0">
                <a:solidFill>
                  <a:srgbClr val="1A2238"/>
                </a:solidFill>
                <a:latin typeface="Cambria" pitchFamily="34" charset="0"/>
                <a:ea typeface="Cambria" pitchFamily="34" charset="-122"/>
                <a:cs typeface="Cambria" pitchFamily="34" charset="-120"/>
              </a:rPr>
              <a:t>Random LỚN (std=1.0) — EXPLODING GRADIENT thật sự</a:t>
            </a:r>
            <a:endParaRPr lang="en-US" sz="2400" dirty="0"/>
          </a:p>
        </p:txBody>
      </p:sp>
      <p:sp>
        <p:nvSpPr>
          <p:cNvPr id="4" name="Shape 2"/>
          <p:cNvSpPr/>
          <p:nvPr/>
        </p:nvSpPr>
        <p:spPr>
          <a:xfrm>
            <a:off x="640080" y="1691640"/>
            <a:ext cx="10911535" cy="594360"/>
          </a:xfrm>
          <a:prstGeom prst="roundRect">
            <a:avLst>
              <a:gd name="adj" fmla="val 7692"/>
            </a:avLst>
          </a:prstGeom>
          <a:solidFill>
            <a:srgbClr val="1E2A44"/>
          </a:solidFill>
          <a:ln/>
        </p:spPr>
      </p:sp>
      <p:sp>
        <p:nvSpPr>
          <p:cNvPr id="5" name="Text 3"/>
          <p:cNvSpPr txBox="1"/>
          <p:nvPr/>
        </p:nvSpPr>
        <p:spPr>
          <a:xfrm>
            <a:off x="868680" y="1801368"/>
            <a:ext cx="10454335" cy="411480"/>
          </a:xfrm>
          <a:prstGeom prst="rect">
            <a:avLst/>
          </a:prstGeom>
          <a:noFill/>
          <a:ln/>
        </p:spPr>
        <p:txBody>
          <a:bodyPr wrap="square" lIns="0" tIns="0" rIns="0" bIns="0" rtlCol="0" anchor="t"/>
          <a:lstStyle/>
          <a:p>
            <a:pPr indent="0" marL="0">
              <a:buNone/>
            </a:pPr>
            <a:r>
              <a:rPr lang="en-US" sz="1250" dirty="0">
                <a:solidFill>
                  <a:srgbClr val="D8E0EF"/>
                </a:solidFill>
                <a:latin typeface="Consolas" pitchFamily="34" charset="0"/>
                <a:ea typeface="Consolas" pitchFamily="34" charset="-122"/>
                <a:cs typeface="Consolas" pitchFamily="34" charset="-120"/>
              </a:rPr>
              <a:t>nn.init.normal_(layer.weight, mean=0, std=1.0)   # Experiment 3</a:t>
            </a:r>
            <a:endParaRPr lang="en-US" sz="1250" dirty="0"/>
          </a:p>
        </p:txBody>
      </p:sp>
      <p:sp>
        <p:nvSpPr>
          <p:cNvPr id="6" name="Text 4"/>
          <p:cNvSpPr txBox="1"/>
          <p:nvPr/>
        </p:nvSpPr>
        <p:spPr>
          <a:xfrm>
            <a:off x="640080" y="2606040"/>
            <a:ext cx="3454298" cy="768096"/>
          </a:xfrm>
          <a:prstGeom prst="rect">
            <a:avLst/>
          </a:prstGeom>
          <a:noFill/>
          <a:ln/>
        </p:spPr>
        <p:txBody>
          <a:bodyPr wrap="square" lIns="0" tIns="0" rIns="0" bIns="0" rtlCol="0" anchor="b"/>
          <a:lstStyle/>
          <a:p>
            <a:pPr algn="ctr" indent="0" marL="0">
              <a:buNone/>
            </a:pPr>
            <a:r>
              <a:rPr lang="en-US" sz="3000" b="1" dirty="0">
                <a:solidFill>
                  <a:srgbClr val="7D3C98"/>
                </a:solidFill>
                <a:latin typeface="Cambria" pitchFamily="34" charset="0"/>
                <a:ea typeface="Cambria" pitchFamily="34" charset="-122"/>
                <a:cs typeface="Cambria" pitchFamily="34" charset="-120"/>
              </a:rPr>
              <a:t>1.87e+7</a:t>
            </a:r>
            <a:endParaRPr lang="en-US" sz="3000" dirty="0"/>
          </a:p>
        </p:txBody>
      </p:sp>
      <p:sp>
        <p:nvSpPr>
          <p:cNvPr id="7" name="Text 5"/>
          <p:cNvSpPr txBox="1"/>
          <p:nvPr/>
        </p:nvSpPr>
        <p:spPr>
          <a:xfrm>
            <a:off x="640080" y="3374136"/>
            <a:ext cx="3454298" cy="512064"/>
          </a:xfrm>
          <a:prstGeom prst="rect">
            <a:avLst/>
          </a:prstGeom>
          <a:noFill/>
          <a:ln/>
        </p:spPr>
        <p:txBody>
          <a:bodyPr wrap="square" lIns="0" tIns="0" rIns="0" bIns="0" rtlCol="0" anchor="t"/>
          <a:lstStyle/>
          <a:p>
            <a:pPr algn="ctr" indent="0" marL="0">
              <a:buNone/>
            </a:pPr>
            <a:r>
              <a:rPr lang="en-US" sz="1100" dirty="0">
                <a:solidFill>
                  <a:srgbClr val="5B6478"/>
                </a:solidFill>
                <a:latin typeface="Calibri" pitchFamily="34" charset="0"/>
                <a:ea typeface="Calibri" pitchFamily="34" charset="-122"/>
                <a:cs typeface="Calibri" pitchFamily="34" charset="-120"/>
              </a:rPr>
              <a:t>Gradient RMS lớp 1 — đo TRƯỚC update đầu tiên (first batch)</a:t>
            </a:r>
            <a:endParaRPr lang="en-US" sz="1100" dirty="0"/>
          </a:p>
        </p:txBody>
      </p:sp>
      <p:sp>
        <p:nvSpPr>
          <p:cNvPr id="8" name="Text 6"/>
          <p:cNvSpPr txBox="1"/>
          <p:nvPr/>
        </p:nvSpPr>
        <p:spPr>
          <a:xfrm>
            <a:off x="4368698" y="2606040"/>
            <a:ext cx="3454298" cy="768096"/>
          </a:xfrm>
          <a:prstGeom prst="rect">
            <a:avLst/>
          </a:prstGeom>
          <a:noFill/>
          <a:ln/>
        </p:spPr>
        <p:txBody>
          <a:bodyPr wrap="square" lIns="0" tIns="0" rIns="0" bIns="0" rtlCol="0" anchor="b"/>
          <a:lstStyle/>
          <a:p>
            <a:pPr algn="ctr" indent="0" marL="0">
              <a:buNone/>
            </a:pPr>
            <a:r>
              <a:rPr lang="en-US" sz="3000" b="1" dirty="0">
                <a:solidFill>
                  <a:srgbClr val="7D3C98"/>
                </a:solidFill>
                <a:latin typeface="Cambria" pitchFamily="34" charset="0"/>
                <a:ea typeface="Cambria" pitchFamily="34" charset="-122"/>
                <a:cs typeface="Cambria" pitchFamily="34" charset="-120"/>
              </a:rPr>
              <a:t>NaN</a:t>
            </a:r>
            <a:endParaRPr lang="en-US" sz="3000" dirty="0"/>
          </a:p>
        </p:txBody>
      </p:sp>
      <p:sp>
        <p:nvSpPr>
          <p:cNvPr id="9" name="Text 7"/>
          <p:cNvSpPr txBox="1"/>
          <p:nvPr/>
        </p:nvSpPr>
        <p:spPr>
          <a:xfrm>
            <a:off x="4368698" y="3374136"/>
            <a:ext cx="3454298" cy="512064"/>
          </a:xfrm>
          <a:prstGeom prst="rect">
            <a:avLst/>
          </a:prstGeom>
          <a:noFill/>
          <a:ln/>
        </p:spPr>
        <p:txBody>
          <a:bodyPr wrap="square" lIns="0" tIns="0" rIns="0" bIns="0" rtlCol="0" anchor="t"/>
          <a:lstStyle/>
          <a:p>
            <a:pPr algn="ctr" indent="0" marL="0">
              <a:buNone/>
            </a:pPr>
            <a:r>
              <a:rPr lang="en-US" sz="1100" dirty="0">
                <a:solidFill>
                  <a:srgbClr val="5B6478"/>
                </a:solidFill>
                <a:latin typeface="Calibri" pitchFamily="34" charset="0"/>
                <a:ea typeface="Calibri" pitchFamily="34" charset="-122"/>
                <a:cs typeface="Calibri" pitchFamily="34" charset="-120"/>
              </a:rPr>
              <a:t>Train loss trung bình epoch 1 — huấn luyện PHÂN KỲ</a:t>
            </a:r>
            <a:endParaRPr lang="en-US" sz="1100" dirty="0"/>
          </a:p>
        </p:txBody>
      </p:sp>
      <p:sp>
        <p:nvSpPr>
          <p:cNvPr id="10" name="Text 8"/>
          <p:cNvSpPr txBox="1"/>
          <p:nvPr/>
        </p:nvSpPr>
        <p:spPr>
          <a:xfrm>
            <a:off x="8097317" y="2606040"/>
            <a:ext cx="3454298" cy="768096"/>
          </a:xfrm>
          <a:prstGeom prst="rect">
            <a:avLst/>
          </a:prstGeom>
          <a:noFill/>
          <a:ln/>
        </p:spPr>
        <p:txBody>
          <a:bodyPr wrap="square" lIns="0" tIns="0" rIns="0" bIns="0" rtlCol="0" anchor="b"/>
          <a:lstStyle/>
          <a:p>
            <a:pPr algn="ctr" indent="0" marL="0">
              <a:buNone/>
            </a:pPr>
            <a:r>
              <a:rPr lang="en-US" sz="3000" b="1" dirty="0">
                <a:solidFill>
                  <a:srgbClr val="5B6478"/>
                </a:solidFill>
                <a:latin typeface="Cambria" pitchFamily="34" charset="0"/>
                <a:ea typeface="Cambria" pitchFamily="34" charset="-122"/>
                <a:cs typeface="Cambria" pitchFamily="34" charset="-120"/>
              </a:rPr>
              <a:t>10.0%</a:t>
            </a:r>
            <a:endParaRPr lang="en-US" sz="3000" dirty="0"/>
          </a:p>
        </p:txBody>
      </p:sp>
      <p:sp>
        <p:nvSpPr>
          <p:cNvPr id="11" name="Text 9"/>
          <p:cNvSpPr txBox="1"/>
          <p:nvPr/>
        </p:nvSpPr>
        <p:spPr>
          <a:xfrm>
            <a:off x="8097317" y="3374136"/>
            <a:ext cx="3454298" cy="512064"/>
          </a:xfrm>
          <a:prstGeom prst="rect">
            <a:avLst/>
          </a:prstGeom>
          <a:noFill/>
          <a:ln/>
        </p:spPr>
        <p:txBody>
          <a:bodyPr wrap="square" lIns="0" tIns="0" rIns="0" bIns="0" rtlCol="0" anchor="t"/>
          <a:lstStyle/>
          <a:p>
            <a:pPr algn="ctr" indent="0" marL="0">
              <a:buNone/>
            </a:pPr>
            <a:r>
              <a:rPr lang="en-US" sz="1100" dirty="0">
                <a:solidFill>
                  <a:srgbClr val="5B6478"/>
                </a:solidFill>
                <a:latin typeface="Calibri" pitchFamily="34" charset="0"/>
                <a:ea typeface="Calibri" pitchFamily="34" charset="-122"/>
                <a:cs typeface="Calibri" pitchFamily="34" charset="-120"/>
              </a:rPr>
              <a:t>Test accuracy cuối cùng (không học được gì)</a:t>
            </a:r>
            <a:endParaRPr lang="en-US" sz="1100" dirty="0"/>
          </a:p>
        </p:txBody>
      </p:sp>
      <p:sp>
        <p:nvSpPr>
          <p:cNvPr id="12" name="Shape 10"/>
          <p:cNvSpPr/>
          <p:nvPr/>
        </p:nvSpPr>
        <p:spPr>
          <a:xfrm>
            <a:off x="640080" y="4160520"/>
            <a:ext cx="10911535" cy="777240"/>
          </a:xfrm>
          <a:prstGeom prst="roundRect">
            <a:avLst>
              <a:gd name="adj" fmla="val 7059"/>
            </a:avLst>
          </a:prstGeom>
          <a:solidFill>
            <a:srgbClr val="FBEEEC"/>
          </a:solidFill>
          <a:ln w="9525">
            <a:solidFill>
              <a:srgbClr val="7D3C98"/>
            </a:solidFill>
            <a:prstDash val="solid"/>
          </a:ln>
        </p:spPr>
      </p:sp>
      <p:sp>
        <p:nvSpPr>
          <p:cNvPr id="13" name="Text 11"/>
          <p:cNvSpPr txBox="1"/>
          <p:nvPr/>
        </p:nvSpPr>
        <p:spPr>
          <a:xfrm>
            <a:off x="914400" y="4160520"/>
            <a:ext cx="10362895" cy="777240"/>
          </a:xfrm>
          <a:prstGeom prst="rect">
            <a:avLst/>
          </a:prstGeom>
          <a:noFill/>
          <a:ln/>
        </p:spPr>
        <p:txBody>
          <a:bodyPr wrap="square" lIns="0" tIns="0" rIns="0" bIns="0" rtlCol="0" anchor="ctr"/>
          <a:lstStyle/>
          <a:p>
            <a:pPr indent="0" marL="0">
              <a:buNone/>
            </a:pPr>
            <a:r>
              <a:rPr lang="en-US" sz="1450" b="1" dirty="0">
                <a:solidFill>
                  <a:srgbClr val="7D3C98"/>
                </a:solidFill>
                <a:latin typeface="Calibri" pitchFamily="34" charset="0"/>
                <a:ea typeface="Calibri" pitchFamily="34" charset="-122"/>
                <a:cs typeface="Calibri" pitchFamily="34" charset="-120"/>
              </a:rPr>
              <a:t>Bằng chứng thực nghiệm trực tiếp cho hiện tượng mô tả ở slide "Exploding Gradient": ngay TRƯỚC bước update đầu tiên, gradient RMS đã bùng nổ tới 1.9e+7; loss trung bình cả epoch 1 đã là NaN và không phục hồi trong suốt 15 epoch còn lại.</a:t>
            </a:r>
            <a:endParaRPr lang="en-US" sz="1450" dirty="0"/>
          </a:p>
        </p:txBody>
      </p:sp>
      <p:sp>
        <p:nvSpPr>
          <p:cNvPr id="14" name="Text 12"/>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21/31</a:t>
            </a:r>
            <a:endParaRPr lang="en-US" sz="900" dirty="0"/>
          </a:p>
        </p:txBody>
      </p:sp>
      <p:sp>
        <p:nvSpPr>
          <p:cNvPr id="15" name="Shape 13"/>
          <p:cNvSpPr/>
          <p:nvPr/>
        </p:nvSpPr>
        <p:spPr>
          <a:xfrm>
            <a:off x="610362" y="6473952"/>
            <a:ext cx="59436" cy="59436"/>
          </a:xfrm>
          <a:prstGeom prst="ellipse">
            <a:avLst/>
          </a:prstGeom>
          <a:solidFill>
            <a:srgbClr val="D9DEE8"/>
          </a:solidFill>
          <a:ln/>
        </p:spPr>
      </p:sp>
      <p:sp>
        <p:nvSpPr>
          <p:cNvPr id="16" name="Shape 14"/>
          <p:cNvSpPr/>
          <p:nvPr/>
        </p:nvSpPr>
        <p:spPr>
          <a:xfrm>
            <a:off x="829818" y="6473952"/>
            <a:ext cx="59436" cy="59436"/>
          </a:xfrm>
          <a:prstGeom prst="ellipse">
            <a:avLst/>
          </a:prstGeom>
          <a:solidFill>
            <a:srgbClr val="D9DEE8"/>
          </a:solidFill>
          <a:ln/>
        </p:spPr>
      </p:sp>
      <p:sp>
        <p:nvSpPr>
          <p:cNvPr id="17" name="Shape 15"/>
          <p:cNvSpPr/>
          <p:nvPr/>
        </p:nvSpPr>
        <p:spPr>
          <a:xfrm>
            <a:off x="1034415" y="6459093"/>
            <a:ext cx="89154" cy="89154"/>
          </a:xfrm>
          <a:prstGeom prst="ellipse">
            <a:avLst/>
          </a:prstGeom>
          <a:solidFill>
            <a:srgbClr val="285AB4"/>
          </a:solidFill>
          <a:ln/>
        </p:spPr>
      </p:sp>
      <p:sp>
        <p:nvSpPr>
          <p:cNvPr id="18" name="Shape 16"/>
          <p:cNvSpPr/>
          <p:nvPr/>
        </p:nvSpPr>
        <p:spPr>
          <a:xfrm>
            <a:off x="1268730" y="6473952"/>
            <a:ext cx="59436" cy="59436"/>
          </a:xfrm>
          <a:prstGeom prst="ellipse">
            <a:avLst/>
          </a:prstGeom>
          <a:solidFill>
            <a:srgbClr val="D9DEE8"/>
          </a:solidFill>
          <a:ln/>
        </p:spPr>
      </p:sp>
      <p:sp>
        <p:nvSpPr>
          <p:cNvPr id="19" name="Text 17"/>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EXPERIMENT</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DEMO — EXPERIMENT 4 &amp; 5 (5 SEEDS MỖI SCHEME)</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400" b="1" dirty="0">
                <a:solidFill>
                  <a:srgbClr val="1A2238"/>
                </a:solidFill>
                <a:latin typeface="Cambria" pitchFamily="34" charset="0"/>
                <a:ea typeface="Cambria" pitchFamily="34" charset="-122"/>
                <a:cs typeface="Cambria" pitchFamily="34" charset="-120"/>
              </a:rPr>
              <a:t>Xavier vs. He — 5 seed thô, mean ± std khoảng CHỒNG LẤN</a:t>
            </a:r>
            <a:endParaRPr lang="en-US" sz="2400" dirty="0"/>
          </a:p>
        </p:txBody>
      </p:sp>
      <p:sp>
        <p:nvSpPr>
          <p:cNvPr id="4" name="Shape 2"/>
          <p:cNvSpPr/>
          <p:nvPr/>
        </p:nvSpPr>
        <p:spPr>
          <a:xfrm>
            <a:off x="640080" y="1691640"/>
            <a:ext cx="10911535" cy="1234440"/>
          </a:xfrm>
          <a:prstGeom prst="roundRect">
            <a:avLst>
              <a:gd name="adj" fmla="val 3704"/>
            </a:avLst>
          </a:prstGeom>
          <a:solidFill>
            <a:srgbClr val="1E2A44"/>
          </a:solidFill>
          <a:ln/>
        </p:spPr>
      </p:sp>
      <p:sp>
        <p:nvSpPr>
          <p:cNvPr id="5" name="Text 3"/>
          <p:cNvSpPr txBox="1"/>
          <p:nvPr/>
        </p:nvSpPr>
        <p:spPr>
          <a:xfrm>
            <a:off x="868680" y="1801368"/>
            <a:ext cx="10454335" cy="1051560"/>
          </a:xfrm>
          <a:prstGeom prst="rect">
            <a:avLst/>
          </a:prstGeom>
          <a:noFill/>
          <a:ln/>
        </p:spPr>
        <p:txBody>
          <a:bodyPr wrap="square" lIns="0" tIns="0" rIns="0" bIns="0" rtlCol="0" anchor="t"/>
          <a:lstStyle/>
          <a:p>
            <a:pPr indent="0" marL="0">
              <a:buNone/>
            </a:pPr>
            <a:r>
              <a:rPr lang="en-US" sz="1250" dirty="0">
                <a:solidFill>
                  <a:srgbClr val="D8E0EF"/>
                </a:solidFill>
                <a:latin typeface="Consolas" pitchFamily="34" charset="0"/>
                <a:ea typeface="Consolas" pitchFamily="34" charset="-122"/>
                <a:cs typeface="Consolas" pitchFamily="34" charset="-120"/>
              </a:rPr>
              <a:t>nn.init.xavier_normal_(layer.weight)  /  nn.init.kaiming_normal_(..., nonlinearity='relu')</a:t>
            </a:r>
            <a:endParaRPr lang="en-US" sz="1250" dirty="0"/>
          </a:p>
          <a:p>
            <a:pPr indent="0" marL="0">
              <a:buNone/>
            </a:pPr>
            <a:r>
              <a:rPr lang="en-US" sz="1250" dirty="0">
                <a:solidFill>
                  <a:srgbClr val="D8E0EF"/>
                </a:solidFill>
                <a:latin typeface="Consolas" pitchFamily="34" charset="0"/>
                <a:ea typeface="Consolas" pitchFamily="34" charset="-122"/>
                <a:cs typeface="Consolas" pitchFamily="34" charset="-120"/>
              </a:rPr>
              <a:t>Xavier test_acc theo seed {42..46}: 68.2%, 66.5%, 64.5%, 76.8%, 69.3%</a:t>
            </a:r>
            <a:endParaRPr lang="en-US" sz="1250" dirty="0"/>
          </a:p>
          <a:p>
            <a:pPr indent="0" marL="0">
              <a:buNone/>
            </a:pPr>
            <a:r>
              <a:rPr lang="en-US" sz="1250" dirty="0">
                <a:solidFill>
                  <a:srgbClr val="D8E0EF"/>
                </a:solidFill>
                <a:latin typeface="Consolas" pitchFamily="34" charset="0"/>
                <a:ea typeface="Consolas" pitchFamily="34" charset="-122"/>
                <a:cs typeface="Consolas" pitchFamily="34" charset="-120"/>
              </a:rPr>
              <a:t>He     test_acc theo seed {42..46}: 67.4%, 67.4%, 70.3%, 80.5%, 67.0%</a:t>
            </a:r>
            <a:endParaRPr lang="en-US" sz="1250" dirty="0"/>
          </a:p>
        </p:txBody>
      </p:sp>
      <p:sp>
        <p:nvSpPr>
          <p:cNvPr id="6" name="Text 4"/>
          <p:cNvSpPr txBox="1"/>
          <p:nvPr/>
        </p:nvSpPr>
        <p:spPr>
          <a:xfrm>
            <a:off x="640080" y="3246120"/>
            <a:ext cx="3454298" cy="768096"/>
          </a:xfrm>
          <a:prstGeom prst="rect">
            <a:avLst/>
          </a:prstGeom>
          <a:noFill/>
          <a:ln/>
        </p:spPr>
        <p:txBody>
          <a:bodyPr wrap="square" lIns="0" tIns="0" rIns="0" bIns="0" rtlCol="0" anchor="b"/>
          <a:lstStyle/>
          <a:p>
            <a:pPr algn="ctr" indent="0" marL="0">
              <a:buNone/>
            </a:pPr>
            <a:r>
              <a:rPr lang="en-US" sz="3000" b="1" dirty="0">
                <a:solidFill>
                  <a:srgbClr val="2E7D5B"/>
                </a:solidFill>
                <a:latin typeface="Cambria" pitchFamily="34" charset="0"/>
                <a:ea typeface="Cambria" pitchFamily="34" charset="-122"/>
                <a:cs typeface="Cambria" pitchFamily="34" charset="-120"/>
              </a:rPr>
              <a:t>69.1% ± 4.7pp</a:t>
            </a:r>
            <a:endParaRPr lang="en-US" sz="3000" dirty="0"/>
          </a:p>
        </p:txBody>
      </p:sp>
      <p:sp>
        <p:nvSpPr>
          <p:cNvPr id="7" name="Text 5"/>
          <p:cNvSpPr txBox="1"/>
          <p:nvPr/>
        </p:nvSpPr>
        <p:spPr>
          <a:xfrm>
            <a:off x="640080" y="4014216"/>
            <a:ext cx="3454298" cy="512064"/>
          </a:xfrm>
          <a:prstGeom prst="rect">
            <a:avLst/>
          </a:prstGeom>
          <a:noFill/>
          <a:ln/>
        </p:spPr>
        <p:txBody>
          <a:bodyPr wrap="square" lIns="0" tIns="0" rIns="0" bIns="0" rtlCol="0" anchor="t"/>
          <a:lstStyle/>
          <a:p>
            <a:pPr algn="ctr" indent="0" marL="0">
              <a:buNone/>
            </a:pPr>
            <a:r>
              <a:rPr lang="en-US" sz="1100" dirty="0">
                <a:solidFill>
                  <a:srgbClr val="5B6478"/>
                </a:solidFill>
                <a:latin typeface="Calibri" pitchFamily="34" charset="0"/>
                <a:ea typeface="Calibri" pitchFamily="34" charset="-122"/>
                <a:cs typeface="Calibri" pitchFamily="34" charset="-120"/>
              </a:rPr>
              <a:t>Xavier — test accuracy, mean ± 1 std (n=5 seed, "pp" = percentage points)</a:t>
            </a:r>
            <a:endParaRPr lang="en-US" sz="1100" dirty="0"/>
          </a:p>
        </p:txBody>
      </p:sp>
      <p:sp>
        <p:nvSpPr>
          <p:cNvPr id="8" name="Text 6"/>
          <p:cNvSpPr txBox="1"/>
          <p:nvPr/>
        </p:nvSpPr>
        <p:spPr>
          <a:xfrm>
            <a:off x="4368698" y="3246120"/>
            <a:ext cx="3454298" cy="768096"/>
          </a:xfrm>
          <a:prstGeom prst="rect">
            <a:avLst/>
          </a:prstGeom>
          <a:noFill/>
          <a:ln/>
        </p:spPr>
        <p:txBody>
          <a:bodyPr wrap="square" lIns="0" tIns="0" rIns="0" bIns="0" rtlCol="0" anchor="b"/>
          <a:lstStyle/>
          <a:p>
            <a:pPr algn="ctr" indent="0" marL="0">
              <a:buNone/>
            </a:pPr>
            <a:r>
              <a:rPr lang="en-US" sz="3000" b="1" dirty="0">
                <a:solidFill>
                  <a:srgbClr val="2E7D5B"/>
                </a:solidFill>
                <a:latin typeface="Cambria" pitchFamily="34" charset="0"/>
                <a:ea typeface="Cambria" pitchFamily="34" charset="-122"/>
                <a:cs typeface="Cambria" pitchFamily="34" charset="-120"/>
              </a:rPr>
              <a:t>70.5% ± 5.7pp</a:t>
            </a:r>
            <a:endParaRPr lang="en-US" sz="3000" dirty="0"/>
          </a:p>
        </p:txBody>
      </p:sp>
      <p:sp>
        <p:nvSpPr>
          <p:cNvPr id="9" name="Text 7"/>
          <p:cNvSpPr txBox="1"/>
          <p:nvPr/>
        </p:nvSpPr>
        <p:spPr>
          <a:xfrm>
            <a:off x="4368698" y="4014216"/>
            <a:ext cx="3454298" cy="512064"/>
          </a:xfrm>
          <a:prstGeom prst="rect">
            <a:avLst/>
          </a:prstGeom>
          <a:noFill/>
          <a:ln/>
        </p:spPr>
        <p:txBody>
          <a:bodyPr wrap="square" lIns="0" tIns="0" rIns="0" bIns="0" rtlCol="0" anchor="t"/>
          <a:lstStyle/>
          <a:p>
            <a:pPr algn="ctr" indent="0" marL="0">
              <a:buNone/>
            </a:pPr>
            <a:r>
              <a:rPr lang="en-US" sz="1100" dirty="0">
                <a:solidFill>
                  <a:srgbClr val="5B6478"/>
                </a:solidFill>
                <a:latin typeface="Calibri" pitchFamily="34" charset="0"/>
                <a:ea typeface="Calibri" pitchFamily="34" charset="-122"/>
                <a:cs typeface="Calibri" pitchFamily="34" charset="-120"/>
              </a:rPr>
              <a:t>He — test accuracy, mean ± 1 std (n=5 seed)</a:t>
            </a:r>
            <a:endParaRPr lang="en-US" sz="1100" dirty="0"/>
          </a:p>
        </p:txBody>
      </p:sp>
      <p:sp>
        <p:nvSpPr>
          <p:cNvPr id="10" name="Text 8"/>
          <p:cNvSpPr txBox="1"/>
          <p:nvPr/>
        </p:nvSpPr>
        <p:spPr>
          <a:xfrm>
            <a:off x="8097317" y="3246120"/>
            <a:ext cx="3454298" cy="768096"/>
          </a:xfrm>
          <a:prstGeom prst="rect">
            <a:avLst/>
          </a:prstGeom>
          <a:noFill/>
          <a:ln/>
        </p:spPr>
        <p:txBody>
          <a:bodyPr wrap="square" lIns="0" tIns="0" rIns="0" bIns="0" rtlCol="0" anchor="b"/>
          <a:lstStyle/>
          <a:p>
            <a:pPr algn="ctr" indent="0" marL="0">
              <a:buNone/>
            </a:pPr>
            <a:r>
              <a:rPr lang="en-US" sz="3000" b="1" dirty="0">
                <a:solidFill>
                  <a:srgbClr val="2E7D5B"/>
                </a:solidFill>
                <a:latin typeface="Cambria" pitchFamily="34" charset="0"/>
                <a:ea typeface="Cambria" pitchFamily="34" charset="-122"/>
                <a:cs typeface="Cambria" pitchFamily="34" charset="-120"/>
              </a:rPr>
              <a:t>1.5e-2 vs 4.2e-4</a:t>
            </a:r>
            <a:endParaRPr lang="en-US" sz="3000" dirty="0"/>
          </a:p>
        </p:txBody>
      </p:sp>
      <p:sp>
        <p:nvSpPr>
          <p:cNvPr id="11" name="Text 9"/>
          <p:cNvSpPr txBox="1"/>
          <p:nvPr/>
        </p:nvSpPr>
        <p:spPr>
          <a:xfrm>
            <a:off x="8097317" y="4014216"/>
            <a:ext cx="3454298" cy="512064"/>
          </a:xfrm>
          <a:prstGeom prst="rect">
            <a:avLst/>
          </a:prstGeom>
          <a:noFill/>
          <a:ln/>
        </p:spPr>
        <p:txBody>
          <a:bodyPr wrap="square" lIns="0" tIns="0" rIns="0" bIns="0" rtlCol="0" anchor="t"/>
          <a:lstStyle/>
          <a:p>
            <a:pPr algn="ctr" indent="0" marL="0">
              <a:buNone/>
            </a:pPr>
            <a:r>
              <a:rPr lang="en-US" sz="1100" dirty="0">
                <a:solidFill>
                  <a:srgbClr val="5B6478"/>
                </a:solidFill>
                <a:latin typeface="Calibri" pitchFamily="34" charset="0"/>
                <a:ea typeface="Calibri" pitchFamily="34" charset="-122"/>
                <a:cs typeface="Calibri" pitchFamily="34" charset="-120"/>
              </a:rPr>
              <a:t>Gradient RMS lớp 1, mean — He vs. Xavier (chênh lệch ~35×, cùng chiều ở mọi seed)</a:t>
            </a:r>
            <a:endParaRPr lang="en-US" sz="1100" dirty="0"/>
          </a:p>
        </p:txBody>
      </p:sp>
      <p:sp>
        <p:nvSpPr>
          <p:cNvPr id="12" name="Shape 10"/>
          <p:cNvSpPr/>
          <p:nvPr/>
        </p:nvSpPr>
        <p:spPr>
          <a:xfrm>
            <a:off x="640080" y="4800600"/>
            <a:ext cx="10911535" cy="777240"/>
          </a:xfrm>
          <a:prstGeom prst="roundRect">
            <a:avLst>
              <a:gd name="adj" fmla="val 7059"/>
            </a:avLst>
          </a:prstGeom>
          <a:solidFill>
            <a:srgbClr val="EAF3EE"/>
          </a:solidFill>
          <a:ln w="9525">
            <a:solidFill>
              <a:srgbClr val="2E7D5B"/>
            </a:solidFill>
            <a:prstDash val="solid"/>
          </a:ln>
        </p:spPr>
      </p:sp>
      <p:sp>
        <p:nvSpPr>
          <p:cNvPr id="13" name="Text 11"/>
          <p:cNvSpPr txBox="1"/>
          <p:nvPr/>
        </p:nvSpPr>
        <p:spPr>
          <a:xfrm>
            <a:off x="914400" y="4800600"/>
            <a:ext cx="10362895" cy="777240"/>
          </a:xfrm>
          <a:prstGeom prst="rect">
            <a:avLst/>
          </a:prstGeom>
          <a:noFill/>
          <a:ln/>
        </p:spPr>
        <p:txBody>
          <a:bodyPr wrap="square" lIns="0" tIns="0" rIns="0" bIns="0" rtlCol="0" anchor="ctr"/>
          <a:lstStyle/>
          <a:p>
            <a:pPr indent="0" marL="0">
              <a:buNone/>
            </a:pPr>
            <a:r>
              <a:rPr lang="en-US" sz="1450" b="1" dirty="0">
                <a:solidFill>
                  <a:srgbClr val="2E7D5B"/>
                </a:solidFill>
                <a:latin typeface="Calibri" pitchFamily="34" charset="0"/>
                <a:ea typeface="Calibri" pitchFamily="34" charset="-122"/>
                <a:cs typeface="Calibri" pitchFamily="34" charset="-120"/>
              </a:rPr>
              <a:t>Khoảng mean±1std của Xavier (69.1%±4.7pp) và He (70.5%±5.7pp) chồng lấn đáng kể — run-to-run variability lớn so với chênh lệch mean, KHÔNG đủ cơ sở xếp hạng scheme nào tốt hơn cho ReLU trong setup này. Gradient RMS thì khác biệt rõ và cùng chiều ở cả 5 seed — nhưng "lớn hơn" không tự động nghĩa là "tốt hơn".</a:t>
            </a:r>
            <a:endParaRPr lang="en-US" sz="1450" dirty="0"/>
          </a:p>
        </p:txBody>
      </p:sp>
      <p:sp>
        <p:nvSpPr>
          <p:cNvPr id="14" name="Text 12"/>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22/31</a:t>
            </a:r>
            <a:endParaRPr lang="en-US" sz="900" dirty="0"/>
          </a:p>
        </p:txBody>
      </p:sp>
      <p:sp>
        <p:nvSpPr>
          <p:cNvPr id="15" name="Shape 13"/>
          <p:cNvSpPr/>
          <p:nvPr/>
        </p:nvSpPr>
        <p:spPr>
          <a:xfrm>
            <a:off x="610362" y="6473952"/>
            <a:ext cx="59436" cy="59436"/>
          </a:xfrm>
          <a:prstGeom prst="ellipse">
            <a:avLst/>
          </a:prstGeom>
          <a:solidFill>
            <a:srgbClr val="D9DEE8"/>
          </a:solidFill>
          <a:ln/>
        </p:spPr>
      </p:sp>
      <p:sp>
        <p:nvSpPr>
          <p:cNvPr id="16" name="Shape 14"/>
          <p:cNvSpPr/>
          <p:nvPr/>
        </p:nvSpPr>
        <p:spPr>
          <a:xfrm>
            <a:off x="829818" y="6473952"/>
            <a:ext cx="59436" cy="59436"/>
          </a:xfrm>
          <a:prstGeom prst="ellipse">
            <a:avLst/>
          </a:prstGeom>
          <a:solidFill>
            <a:srgbClr val="D9DEE8"/>
          </a:solidFill>
          <a:ln/>
        </p:spPr>
      </p:sp>
      <p:sp>
        <p:nvSpPr>
          <p:cNvPr id="17" name="Shape 15"/>
          <p:cNvSpPr/>
          <p:nvPr/>
        </p:nvSpPr>
        <p:spPr>
          <a:xfrm>
            <a:off x="1034415" y="6459093"/>
            <a:ext cx="89154" cy="89154"/>
          </a:xfrm>
          <a:prstGeom prst="ellipse">
            <a:avLst/>
          </a:prstGeom>
          <a:solidFill>
            <a:srgbClr val="285AB4"/>
          </a:solidFill>
          <a:ln/>
        </p:spPr>
      </p:sp>
      <p:sp>
        <p:nvSpPr>
          <p:cNvPr id="18" name="Shape 16"/>
          <p:cNvSpPr/>
          <p:nvPr/>
        </p:nvSpPr>
        <p:spPr>
          <a:xfrm>
            <a:off x="1268730" y="6473952"/>
            <a:ext cx="59436" cy="59436"/>
          </a:xfrm>
          <a:prstGeom prst="ellipse">
            <a:avLst/>
          </a:prstGeom>
          <a:solidFill>
            <a:srgbClr val="D9DEE8"/>
          </a:solidFill>
          <a:ln/>
        </p:spPr>
      </p:sp>
      <p:sp>
        <p:nvSpPr>
          <p:cNvPr id="19" name="Text 17"/>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EXPERIMENT</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DEMO — KẾT QUẢ TỔNG HỢP</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500" b="1" dirty="0">
                <a:solidFill>
                  <a:srgbClr val="1A2238"/>
                </a:solidFill>
                <a:latin typeface="Cambria" pitchFamily="34" charset="0"/>
                <a:ea typeface="Cambria" pitchFamily="34" charset="-122"/>
                <a:cs typeface="Cambria" pitchFamily="34" charset="-120"/>
              </a:rPr>
              <a:t>5 thí nghiệm, 1 kiến trúc, 1 biểu đồ</a:t>
            </a:r>
            <a:endParaRPr lang="en-US" sz="2500" dirty="0"/>
          </a:p>
        </p:txBody>
      </p:sp>
      <p:pic>
        <p:nvPicPr>
          <p:cNvPr id="4" name="Image 0" descr="..\results\figures\deep_demo_accuracy_slide.png">    </p:cNvPr>
          <p:cNvPicPr>
            <a:picLocks noChangeAspect="1"/>
          </p:cNvPicPr>
          <p:nvPr/>
        </p:nvPicPr>
        <p:blipFill>
          <a:blip r:embed="rId1"/>
          <a:stretch>
            <a:fillRect/>
          </a:stretch>
        </p:blipFill>
        <p:spPr>
          <a:xfrm>
            <a:off x="3306928" y="1554480"/>
            <a:ext cx="5577840" cy="3842512"/>
          </a:xfrm>
          <a:prstGeom prst="rect">
            <a:avLst/>
          </a:prstGeom>
        </p:spPr>
      </p:pic>
      <p:sp>
        <p:nvSpPr>
          <p:cNvPr id="5" name="Text 2"/>
          <p:cNvSpPr txBox="1"/>
          <p:nvPr/>
        </p:nvSpPr>
        <p:spPr>
          <a:xfrm>
            <a:off x="640080" y="5534152"/>
            <a:ext cx="10911535" cy="1005840"/>
          </a:xfrm>
          <a:prstGeom prst="rect">
            <a:avLst/>
          </a:prstGeom>
          <a:noFill/>
          <a:ln/>
        </p:spPr>
        <p:txBody>
          <a:bodyPr wrap="square" lIns="0" tIns="0" rIns="0" bIns="0" rtlCol="0" anchor="t"/>
          <a:lstStyle/>
          <a:p>
            <a:pPr marL="228600" indent="-228600">
              <a:spcAft>
                <a:spcPts val="500"/>
              </a:spcAft>
              <a:buSzPct val="100000"/>
              <a:buChar char="▪"/>
            </a:pPr>
            <a:r>
              <a:rPr lang="en-US" sz="1350" dirty="0">
                <a:solidFill>
                  <a:srgbClr val="1A2238"/>
                </a:solidFill>
                <a:latin typeface="Calibri" pitchFamily="34" charset="0"/>
                <a:ea typeface="Calibri" pitchFamily="34" charset="-122"/>
                <a:cs typeface="Calibri" pitchFamily="34" charset="-120"/>
              </a:rPr>
              <a:t>Zero &amp; Random nhỏ: đường phẳng ngang mức 10% — không học được gì</a:t>
            </a:r>
            <a:endParaRPr lang="en-US" sz="1350" dirty="0"/>
          </a:p>
          <a:p>
            <a:pPr marL="228600" indent="-228600">
              <a:spcAft>
                <a:spcPts val="500"/>
              </a:spcAft>
              <a:buSzPct val="100000"/>
              <a:buChar char="▪"/>
            </a:pPr>
            <a:r>
              <a:rPr lang="en-US" sz="1350" dirty="0">
                <a:solidFill>
                  <a:srgbClr val="1A2238"/>
                </a:solidFill>
                <a:latin typeface="Calibri" pitchFamily="34" charset="0"/>
                <a:ea typeface="Calibri" pitchFamily="34" charset="-122"/>
                <a:cs typeface="Calibri" pitchFamily="34" charset="-120"/>
              </a:rPr>
              <a:t>Random lớn: không xuất hiện trên biểu đồ (loss = NaN ngay từ epoch 1)</a:t>
            </a:r>
            <a:endParaRPr lang="en-US" sz="1350" dirty="0"/>
          </a:p>
          <a:p>
            <a:pPr marL="228600" indent="-228600">
              <a:spcAft>
                <a:spcPts val="500"/>
              </a:spcAft>
              <a:buSzPct val="100000"/>
              <a:buChar char="▪"/>
            </a:pPr>
            <a:r>
              <a:rPr lang="en-US" sz="1350" dirty="0">
                <a:solidFill>
                  <a:srgbClr val="1A2238"/>
                </a:solidFill>
                <a:latin typeface="Calibri" pitchFamily="34" charset="0"/>
                <a:ea typeface="Calibri" pitchFamily="34" charset="-122"/>
                <a:cs typeface="Calibri" pitchFamily="34" charset="-120"/>
              </a:rPr>
              <a:t>Xavier &amp; He: hội tụ rõ ràng, đạt ~67–68% dù kiến trúc sâu tới 10 lớp</a:t>
            </a:r>
            <a:endParaRPr lang="en-US" sz="1350" dirty="0"/>
          </a:p>
        </p:txBody>
      </p:sp>
      <p:sp>
        <p:nvSpPr>
          <p:cNvPr id="6" name="Text 3"/>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23/31</a:t>
            </a:r>
            <a:endParaRPr lang="en-US" sz="900" dirty="0"/>
          </a:p>
        </p:txBody>
      </p:sp>
      <p:sp>
        <p:nvSpPr>
          <p:cNvPr id="7" name="Shape 4"/>
          <p:cNvSpPr/>
          <p:nvPr/>
        </p:nvSpPr>
        <p:spPr>
          <a:xfrm>
            <a:off x="610362" y="6473952"/>
            <a:ext cx="59436" cy="59436"/>
          </a:xfrm>
          <a:prstGeom prst="ellipse">
            <a:avLst/>
          </a:prstGeom>
          <a:solidFill>
            <a:srgbClr val="D9DEE8"/>
          </a:solidFill>
          <a:ln/>
        </p:spPr>
      </p:sp>
      <p:sp>
        <p:nvSpPr>
          <p:cNvPr id="8" name="Shape 5"/>
          <p:cNvSpPr/>
          <p:nvPr/>
        </p:nvSpPr>
        <p:spPr>
          <a:xfrm>
            <a:off x="829818" y="6473952"/>
            <a:ext cx="59436" cy="59436"/>
          </a:xfrm>
          <a:prstGeom prst="ellipse">
            <a:avLst/>
          </a:prstGeom>
          <a:solidFill>
            <a:srgbClr val="D9DEE8"/>
          </a:solidFill>
          <a:ln/>
        </p:spPr>
      </p:sp>
      <p:sp>
        <p:nvSpPr>
          <p:cNvPr id="9" name="Shape 6"/>
          <p:cNvSpPr/>
          <p:nvPr/>
        </p:nvSpPr>
        <p:spPr>
          <a:xfrm>
            <a:off x="1034415" y="6459093"/>
            <a:ext cx="89154" cy="89154"/>
          </a:xfrm>
          <a:prstGeom prst="ellipse">
            <a:avLst/>
          </a:prstGeom>
          <a:solidFill>
            <a:srgbClr val="285AB4"/>
          </a:solidFill>
          <a:ln/>
        </p:spPr>
      </p:sp>
      <p:sp>
        <p:nvSpPr>
          <p:cNvPr id="10" name="Shape 7"/>
          <p:cNvSpPr/>
          <p:nvPr/>
        </p:nvSpPr>
        <p:spPr>
          <a:xfrm>
            <a:off x="1268730" y="6473952"/>
            <a:ext cx="59436" cy="59436"/>
          </a:xfrm>
          <a:prstGeom prst="ellipse">
            <a:avLst/>
          </a:prstGeom>
          <a:solidFill>
            <a:srgbClr val="D9DEE8"/>
          </a:solidFill>
          <a:ln/>
        </p:spPr>
      </p:sp>
      <p:sp>
        <p:nvSpPr>
          <p:cNvPr id="11" name="Text 8"/>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EXPERIMENT</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DEMO — VISUALIZATION QUAN TRỌNG NHẤT</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300" b="1" dirty="0">
                <a:solidFill>
                  <a:srgbClr val="1A2238"/>
                </a:solidFill>
                <a:latin typeface="Cambria" pitchFamily="34" charset="0"/>
                <a:ea typeface="Cambria" pitchFamily="34" charset="-122"/>
                <a:cs typeface="Cambria" pitchFamily="34" charset="-120"/>
              </a:rPr>
              <a:t>Gradient RMS Heatmap — layer × initialization</a:t>
            </a:r>
            <a:endParaRPr lang="en-US" sz="2300" dirty="0"/>
          </a:p>
        </p:txBody>
      </p:sp>
      <p:sp>
        <p:nvSpPr>
          <p:cNvPr id="4" name="Text 2"/>
          <p:cNvSpPr txBox="1"/>
          <p:nvPr/>
        </p:nvSpPr>
        <p:spPr>
          <a:xfrm>
            <a:off x="640080" y="1481328"/>
            <a:ext cx="10911535" cy="292608"/>
          </a:xfrm>
          <a:prstGeom prst="rect">
            <a:avLst/>
          </a:prstGeom>
          <a:noFill/>
          <a:ln/>
        </p:spPr>
        <p:txBody>
          <a:bodyPr wrap="square" lIns="0" tIns="0" rIns="0" bIns="0" rtlCol="0" anchor="ctr"/>
          <a:lstStyle/>
          <a:p>
            <a:pPr indent="0" marL="0">
              <a:buNone/>
            </a:pPr>
            <a:r>
              <a:rPr lang="en-US" sz="1200" b="1" i="1" dirty="0">
                <a:solidFill>
                  <a:srgbClr val="BE3C32"/>
                </a:solidFill>
                <a:latin typeface="Calibri" pitchFamily="34" charset="0"/>
                <a:ea typeface="Calibri" pitchFamily="34" charset="-122"/>
                <a:cs typeface="Calibri" pitchFamily="34" charset="-120"/>
              </a:rPr>
              <a:t>Đo tại khởi tạo (initialization) — trên batch đầu tiên, TRƯỚC bất kỳ update tham số nào</a:t>
            </a:r>
            <a:endParaRPr lang="en-US" sz="1200" dirty="0"/>
          </a:p>
        </p:txBody>
      </p:sp>
      <p:pic>
        <p:nvPicPr>
          <p:cNvPr id="5" name="Image 0" descr="..\results\figures\gradient_heatmap_slide.png">    </p:cNvPr>
          <p:cNvPicPr>
            <a:picLocks noChangeAspect="1"/>
          </p:cNvPicPr>
          <p:nvPr/>
        </p:nvPicPr>
        <p:blipFill>
          <a:blip r:embed="rId1"/>
          <a:stretch>
            <a:fillRect/>
          </a:stretch>
        </p:blipFill>
        <p:spPr>
          <a:xfrm>
            <a:off x="1798168" y="1828800"/>
            <a:ext cx="8595360" cy="4063261"/>
          </a:xfrm>
          <a:prstGeom prst="rect">
            <a:avLst/>
          </a:prstGeom>
        </p:spPr>
      </p:pic>
      <p:sp>
        <p:nvSpPr>
          <p:cNvPr id="6" name="Text 3"/>
          <p:cNvSpPr txBox="1"/>
          <p:nvPr/>
        </p:nvSpPr>
        <p:spPr>
          <a:xfrm>
            <a:off x="640080" y="5983501"/>
            <a:ext cx="10911535" cy="502920"/>
          </a:xfrm>
          <a:prstGeom prst="rect">
            <a:avLst/>
          </a:prstGeom>
          <a:noFill/>
          <a:ln/>
        </p:spPr>
        <p:txBody>
          <a:bodyPr wrap="square" lIns="0" tIns="0" rIns="0" bIns="0" rtlCol="0" anchor="ctr"/>
          <a:lstStyle/>
          <a:p>
            <a:pPr indent="0" marL="0">
              <a:buNone/>
            </a:pPr>
            <a:r>
              <a:rPr lang="en-US" sz="1150" i="1" dirty="0">
                <a:solidFill>
                  <a:srgbClr val="5B6478"/>
                </a:solidFill>
                <a:latin typeface="Calibri" pitchFamily="34" charset="0"/>
                <a:ea typeface="Calibri" pitchFamily="34" charset="-122"/>
                <a:cs typeface="Calibri" pitchFamily="34" charset="-120"/>
              </a:rPr>
              <a:t>log₁₀(RMS gradient) đo thật tại bước khởi tạo, 10 hidden layer, activation ReLU — xanh dương = rất nhỏ (đặc trưng vanishing), đỏ = rất lớn (đặc trưng exploding), cam nhạt/vàng = vùng gradient ở mức trung bình, quan sát thấy ổn định hơn trong thực nghiệm này.</a:t>
            </a:r>
            <a:endParaRPr lang="en-US" sz="1150" dirty="0"/>
          </a:p>
        </p:txBody>
      </p:sp>
      <p:sp>
        <p:nvSpPr>
          <p:cNvPr id="7" name="Text 4"/>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24/31</a:t>
            </a:r>
            <a:endParaRPr lang="en-US" sz="900" dirty="0"/>
          </a:p>
        </p:txBody>
      </p:sp>
      <p:sp>
        <p:nvSpPr>
          <p:cNvPr id="8" name="Shape 5"/>
          <p:cNvSpPr/>
          <p:nvPr/>
        </p:nvSpPr>
        <p:spPr>
          <a:xfrm>
            <a:off x="610362" y="6473952"/>
            <a:ext cx="59436" cy="59436"/>
          </a:xfrm>
          <a:prstGeom prst="ellipse">
            <a:avLst/>
          </a:prstGeom>
          <a:solidFill>
            <a:srgbClr val="D9DEE8"/>
          </a:solidFill>
          <a:ln/>
        </p:spPr>
      </p:sp>
      <p:sp>
        <p:nvSpPr>
          <p:cNvPr id="9" name="Shape 6"/>
          <p:cNvSpPr/>
          <p:nvPr/>
        </p:nvSpPr>
        <p:spPr>
          <a:xfrm>
            <a:off x="829818" y="6473952"/>
            <a:ext cx="59436" cy="59436"/>
          </a:xfrm>
          <a:prstGeom prst="ellipse">
            <a:avLst/>
          </a:prstGeom>
          <a:solidFill>
            <a:srgbClr val="D9DEE8"/>
          </a:solidFill>
          <a:ln/>
        </p:spPr>
      </p:sp>
      <p:sp>
        <p:nvSpPr>
          <p:cNvPr id="10" name="Shape 7"/>
          <p:cNvSpPr/>
          <p:nvPr/>
        </p:nvSpPr>
        <p:spPr>
          <a:xfrm>
            <a:off x="1034415" y="6459093"/>
            <a:ext cx="89154" cy="89154"/>
          </a:xfrm>
          <a:prstGeom prst="ellipse">
            <a:avLst/>
          </a:prstGeom>
          <a:solidFill>
            <a:srgbClr val="285AB4"/>
          </a:solidFill>
          <a:ln/>
        </p:spPr>
      </p:sp>
      <p:sp>
        <p:nvSpPr>
          <p:cNvPr id="11" name="Shape 8"/>
          <p:cNvSpPr/>
          <p:nvPr/>
        </p:nvSpPr>
        <p:spPr>
          <a:xfrm>
            <a:off x="1268730" y="6473952"/>
            <a:ext cx="59436" cy="59436"/>
          </a:xfrm>
          <a:prstGeom prst="ellipse">
            <a:avLst/>
          </a:prstGeom>
          <a:solidFill>
            <a:srgbClr val="D9DEE8"/>
          </a:solidFill>
          <a:ln/>
        </p:spPr>
      </p:sp>
      <p:sp>
        <p:nvSpPr>
          <p:cNvPr id="12" name="Text 9"/>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EXPERIMENT</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DEMO — VISUALIZATION BỔ SUNG (FORWARD PASS)</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200" b="1" dirty="0">
                <a:solidFill>
                  <a:srgbClr val="1A2238"/>
                </a:solidFill>
                <a:latin typeface="Cambria" pitchFamily="34" charset="0"/>
                <a:ea typeface="Cambria" pitchFamily="34" charset="-122"/>
                <a:cs typeface="Cambria" pitchFamily="34" charset="-120"/>
              </a:rPr>
              <a:t>Activation Variance theo layer — đo tại khởi tạo</a:t>
            </a:r>
            <a:endParaRPr lang="en-US" sz="2200" dirty="0"/>
          </a:p>
        </p:txBody>
      </p:sp>
      <p:pic>
        <p:nvPicPr>
          <p:cNvPr id="4" name="Image 0" descr="..\results\figures\activation_variance_slide.png">    </p:cNvPr>
          <p:cNvPicPr>
            <a:picLocks noChangeAspect="1"/>
          </p:cNvPicPr>
          <p:nvPr/>
        </p:nvPicPr>
        <p:blipFill>
          <a:blip r:embed="rId1"/>
          <a:stretch>
            <a:fillRect/>
          </a:stretch>
        </p:blipFill>
        <p:spPr>
          <a:xfrm>
            <a:off x="3466948" y="1508760"/>
            <a:ext cx="5257800" cy="3622040"/>
          </a:xfrm>
          <a:prstGeom prst="rect">
            <a:avLst/>
          </a:prstGeom>
        </p:spPr>
      </p:pic>
      <p:sp>
        <p:nvSpPr>
          <p:cNvPr id="5" name="Text 2"/>
          <p:cNvSpPr txBox="1"/>
          <p:nvPr/>
        </p:nvSpPr>
        <p:spPr>
          <a:xfrm>
            <a:off x="640080" y="5222240"/>
            <a:ext cx="10911535" cy="1051560"/>
          </a:xfrm>
          <a:prstGeom prst="rect">
            <a:avLst/>
          </a:prstGeom>
          <a:noFill/>
          <a:ln/>
        </p:spPr>
        <p:txBody>
          <a:bodyPr wrap="square" lIns="0" tIns="0" rIns="0" bIns="0" rtlCol="0" anchor="t"/>
          <a:lstStyle/>
          <a:p>
            <a:pPr marL="228600" indent="-228600">
              <a:spcAft>
                <a:spcPts val="400"/>
              </a:spcAft>
              <a:buSzPct val="100000"/>
              <a:buChar char="▪"/>
            </a:pPr>
            <a:r>
              <a:rPr lang="en-US" sz="1100" dirty="0">
                <a:solidFill>
                  <a:srgbClr val="1A2238"/>
                </a:solidFill>
                <a:latin typeface="Calibri" pitchFamily="34" charset="0"/>
                <a:ea typeface="Calibri" pitchFamily="34" charset="-122"/>
                <a:cs typeface="Calibri" pitchFamily="34" charset="-120"/>
              </a:rPr>
              <a:t>Random nhỏ: Var(a) co lại dần theo layer — cùng câu chuyện vanishing đã thấy ở gradient, nhưng lần này ở FORWARD PASS</a:t>
            </a:r>
            <a:endParaRPr lang="en-US" sz="1100" dirty="0"/>
          </a:p>
          <a:p>
            <a:pPr marL="228600" indent="-228600">
              <a:spcAft>
                <a:spcPts val="400"/>
              </a:spcAft>
              <a:buSzPct val="100000"/>
              <a:buChar char="▪"/>
            </a:pPr>
            <a:r>
              <a:rPr lang="en-US" sz="1100" dirty="0">
                <a:solidFill>
                  <a:srgbClr val="1A2238"/>
                </a:solidFill>
                <a:latin typeface="Calibri" pitchFamily="34" charset="0"/>
                <a:ea typeface="Calibri" pitchFamily="34" charset="-122"/>
                <a:cs typeface="Calibri" pitchFamily="34" charset="-120"/>
              </a:rPr>
              <a:t>Random lớn: Var(a) tăng theo cấp số mũ — hàng chục bậc độ lớn chỉ sau 10 layer</a:t>
            </a:r>
            <a:endParaRPr lang="en-US" sz="1100" dirty="0"/>
          </a:p>
          <a:p>
            <a:pPr marL="228600" indent="-228600">
              <a:spcAft>
                <a:spcPts val="400"/>
              </a:spcAft>
              <a:buSzPct val="100000"/>
              <a:buChar char="▪"/>
            </a:pPr>
            <a:r>
              <a:rPr lang="en-US" sz="1100" dirty="0">
                <a:solidFill>
                  <a:srgbClr val="1A2238"/>
                </a:solidFill>
                <a:latin typeface="Calibri" pitchFamily="34" charset="0"/>
                <a:ea typeface="Calibri" pitchFamily="34" charset="-122"/>
                <a:cs typeface="Calibri" pitchFamily="34" charset="-120"/>
              </a:rPr>
              <a:t>He: gần như phẳng (layer 1→10 đổi ~0.8×). Xavier: VẪN suy giảm (~395×) nhưng hẹp hơn NHIỀU so với Random nhỏ (~10¹⁹×) — không gọi Xavier là 'phẳng'</a:t>
            </a:r>
            <a:endParaRPr lang="en-US" sz="1100" dirty="0"/>
          </a:p>
        </p:txBody>
      </p:sp>
      <p:sp>
        <p:nvSpPr>
          <p:cNvPr id="6" name="Text 3"/>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25/31</a:t>
            </a:r>
            <a:endParaRPr lang="en-US" sz="900" dirty="0"/>
          </a:p>
        </p:txBody>
      </p:sp>
      <p:sp>
        <p:nvSpPr>
          <p:cNvPr id="7" name="Shape 4"/>
          <p:cNvSpPr/>
          <p:nvPr/>
        </p:nvSpPr>
        <p:spPr>
          <a:xfrm>
            <a:off x="610362" y="6473952"/>
            <a:ext cx="59436" cy="59436"/>
          </a:xfrm>
          <a:prstGeom prst="ellipse">
            <a:avLst/>
          </a:prstGeom>
          <a:solidFill>
            <a:srgbClr val="D9DEE8"/>
          </a:solidFill>
          <a:ln/>
        </p:spPr>
      </p:sp>
      <p:sp>
        <p:nvSpPr>
          <p:cNvPr id="8" name="Shape 5"/>
          <p:cNvSpPr/>
          <p:nvPr/>
        </p:nvSpPr>
        <p:spPr>
          <a:xfrm>
            <a:off x="829818" y="6473952"/>
            <a:ext cx="59436" cy="59436"/>
          </a:xfrm>
          <a:prstGeom prst="ellipse">
            <a:avLst/>
          </a:prstGeom>
          <a:solidFill>
            <a:srgbClr val="D9DEE8"/>
          </a:solidFill>
          <a:ln/>
        </p:spPr>
      </p:sp>
      <p:sp>
        <p:nvSpPr>
          <p:cNvPr id="9" name="Shape 6"/>
          <p:cNvSpPr/>
          <p:nvPr/>
        </p:nvSpPr>
        <p:spPr>
          <a:xfrm>
            <a:off x="1034415" y="6459093"/>
            <a:ext cx="89154" cy="89154"/>
          </a:xfrm>
          <a:prstGeom prst="ellipse">
            <a:avLst/>
          </a:prstGeom>
          <a:solidFill>
            <a:srgbClr val="285AB4"/>
          </a:solidFill>
          <a:ln/>
        </p:spPr>
      </p:sp>
      <p:sp>
        <p:nvSpPr>
          <p:cNvPr id="10" name="Shape 7"/>
          <p:cNvSpPr/>
          <p:nvPr/>
        </p:nvSpPr>
        <p:spPr>
          <a:xfrm>
            <a:off x="1268730" y="6473952"/>
            <a:ext cx="59436" cy="59436"/>
          </a:xfrm>
          <a:prstGeom prst="ellipse">
            <a:avLst/>
          </a:prstGeom>
          <a:solidFill>
            <a:srgbClr val="D9DEE8"/>
          </a:solidFill>
          <a:ln/>
        </p:spPr>
      </p:sp>
      <p:sp>
        <p:nvSpPr>
          <p:cNvPr id="11" name="Text 8"/>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EXPERIMENT</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DEMO — DEPTH EXPERIMENT</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200" b="1" dirty="0">
                <a:solidFill>
                  <a:srgbClr val="1A2238"/>
                </a:solidFill>
                <a:latin typeface="Cambria" pitchFamily="34" charset="0"/>
                <a:ea typeface="Cambria" pitchFamily="34" charset="-122"/>
                <a:cs typeface="Cambria" pitchFamily="34" charset="-120"/>
              </a:rPr>
              <a:t>Random vs. Xavier vs. He — theo độ sâu (2→50 lớp)</a:t>
            </a:r>
            <a:endParaRPr lang="en-US" sz="2200" dirty="0"/>
          </a:p>
        </p:txBody>
      </p:sp>
      <p:pic>
        <p:nvPicPr>
          <p:cNvPr id="4" name="Image 0" descr="..\results\figures\depth_comparison_v2_slide.png">    </p:cNvPr>
          <p:cNvPicPr>
            <a:picLocks noChangeAspect="1"/>
          </p:cNvPicPr>
          <p:nvPr/>
        </p:nvPicPr>
        <p:blipFill>
          <a:blip r:embed="rId1"/>
          <a:stretch>
            <a:fillRect/>
          </a:stretch>
        </p:blipFill>
        <p:spPr>
          <a:xfrm>
            <a:off x="640080" y="1737360"/>
            <a:ext cx="6035040" cy="4157472"/>
          </a:xfrm>
          <a:prstGeom prst="rect">
            <a:avLst/>
          </a:prstGeom>
        </p:spPr>
      </p:pic>
      <p:sp>
        <p:nvSpPr>
          <p:cNvPr id="5" name="Text 2"/>
          <p:cNvSpPr txBox="1"/>
          <p:nvPr/>
        </p:nvSpPr>
        <p:spPr>
          <a:xfrm>
            <a:off x="7040880" y="1828800"/>
            <a:ext cx="4510735" cy="4206240"/>
          </a:xfrm>
          <a:prstGeom prst="rect">
            <a:avLst/>
          </a:prstGeom>
          <a:noFill/>
          <a:ln/>
        </p:spPr>
        <p:txBody>
          <a:bodyPr wrap="square" lIns="0" tIns="0" rIns="0" bIns="0" rtlCol="0" anchor="t"/>
          <a:lstStyle/>
          <a:p>
            <a:pPr marL="228600" indent="-228600">
              <a:spcAft>
                <a:spcPts val="900"/>
              </a:spcAft>
              <a:buSzPct val="100000"/>
              <a:buChar char="▪"/>
            </a:pPr>
            <a:r>
              <a:rPr lang="en-US" sz="1200" dirty="0">
                <a:solidFill>
                  <a:srgbClr val="1A2238"/>
                </a:solidFill>
                <a:latin typeface="Calibri" pitchFamily="34" charset="0"/>
                <a:ea typeface="Calibri" pitchFamily="34" charset="-122"/>
                <a:cs typeface="Calibri" pitchFamily="34" charset="-120"/>
              </a:rPr>
              <a:t>Random (naive): trong thiết lập này, gradient RMS về xấp xỉ 0 từ độ sâu 20 trở lên</a:t>
            </a:r>
            <a:endParaRPr lang="en-US" sz="1200" dirty="0"/>
          </a:p>
          <a:p>
            <a:pPr marL="228600" indent="-228600">
              <a:spcAft>
                <a:spcPts val="900"/>
              </a:spcAft>
              <a:buSzPct val="100000"/>
              <a:buChar char="▪"/>
            </a:pPr>
            <a:r>
              <a:rPr lang="en-US" sz="1200" dirty="0">
                <a:solidFill>
                  <a:srgbClr val="1A2238"/>
                </a:solidFill>
                <a:latin typeface="Calibri" pitchFamily="34" charset="0"/>
                <a:ea typeface="Calibri" pitchFamily="34" charset="-122"/>
                <a:cs typeface="Calibri" pitchFamily="34" charset="-120"/>
              </a:rPr>
              <a:t>Xavier: suy giảm dần đều — cho gradient RMS rất nhỏ tại depth=50 (≈3×10⁻¹⁰)</a:t>
            </a:r>
            <a:endParaRPr lang="en-US" sz="1200" dirty="0"/>
          </a:p>
          <a:p>
            <a:pPr marL="228600" indent="-228600">
              <a:spcAft>
                <a:spcPts val="900"/>
              </a:spcAft>
              <a:buSzPct val="100000"/>
              <a:buChar char="▪"/>
            </a:pPr>
            <a:r>
              <a:rPr lang="en-US" sz="1200" dirty="0">
                <a:solidFill>
                  <a:srgbClr val="1A2238"/>
                </a:solidFill>
                <a:latin typeface="Calibri" pitchFamily="34" charset="0"/>
                <a:ea typeface="Calibri" pitchFamily="34" charset="-122"/>
                <a:cs typeface="Calibri" pitchFamily="34" charset="-120"/>
              </a:rPr>
              <a:t>He: duy trì gradient RMS cùng order of magnitude (~10⁻²) đến depth=50, trong architecture và training setup đang xét</a:t>
            </a:r>
            <a:endParaRPr lang="en-US" sz="1200" dirty="0"/>
          </a:p>
          <a:p>
            <a:pPr marL="228600" indent="-228600">
              <a:spcAft>
                <a:spcPts val="900"/>
              </a:spcAft>
              <a:buSzPct val="100000"/>
              <a:buChar char="▪"/>
            </a:pPr>
            <a:r>
              <a:rPr lang="en-US" sz="1200" dirty="0">
                <a:solidFill>
                  <a:srgbClr val="1A2238"/>
                </a:solidFill>
                <a:latin typeface="Calibri" pitchFamily="34" charset="0"/>
                <a:ea typeface="Calibri" pitchFamily="34" charset="-122"/>
                <a:cs typeface="Calibri" pitchFamily="34" charset="-120"/>
              </a:rPr>
              <a:t>Nhưng gradient ổn định KHÔNG đồng nghĩa học tốt: He@L=12 train loss chỉ 0.456 trong khi test loss vọt lên 5.41 (test acc 32.6%) — khoảng cách train/test lớn này là bằng chứng cụ thể cho overfitting, không phải suy đoán từ accuracy đơn lẻ</a:t>
            </a:r>
            <a:endParaRPr lang="en-US" sz="1200" dirty="0"/>
          </a:p>
        </p:txBody>
      </p:sp>
      <p:sp>
        <p:nvSpPr>
          <p:cNvPr id="6" name="Text 3"/>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26/31</a:t>
            </a:r>
            <a:endParaRPr lang="en-US" sz="900" dirty="0"/>
          </a:p>
        </p:txBody>
      </p:sp>
      <p:sp>
        <p:nvSpPr>
          <p:cNvPr id="7" name="Shape 4"/>
          <p:cNvSpPr/>
          <p:nvPr/>
        </p:nvSpPr>
        <p:spPr>
          <a:xfrm>
            <a:off x="610362" y="6473952"/>
            <a:ext cx="59436" cy="59436"/>
          </a:xfrm>
          <a:prstGeom prst="ellipse">
            <a:avLst/>
          </a:prstGeom>
          <a:solidFill>
            <a:srgbClr val="D9DEE8"/>
          </a:solidFill>
          <a:ln/>
        </p:spPr>
      </p:sp>
      <p:sp>
        <p:nvSpPr>
          <p:cNvPr id="8" name="Shape 5"/>
          <p:cNvSpPr/>
          <p:nvPr/>
        </p:nvSpPr>
        <p:spPr>
          <a:xfrm>
            <a:off x="829818" y="6473952"/>
            <a:ext cx="59436" cy="59436"/>
          </a:xfrm>
          <a:prstGeom prst="ellipse">
            <a:avLst/>
          </a:prstGeom>
          <a:solidFill>
            <a:srgbClr val="D9DEE8"/>
          </a:solidFill>
          <a:ln/>
        </p:spPr>
      </p:sp>
      <p:sp>
        <p:nvSpPr>
          <p:cNvPr id="9" name="Shape 6"/>
          <p:cNvSpPr/>
          <p:nvPr/>
        </p:nvSpPr>
        <p:spPr>
          <a:xfrm>
            <a:off x="1034415" y="6459093"/>
            <a:ext cx="89154" cy="89154"/>
          </a:xfrm>
          <a:prstGeom prst="ellipse">
            <a:avLst/>
          </a:prstGeom>
          <a:solidFill>
            <a:srgbClr val="285AB4"/>
          </a:solidFill>
          <a:ln/>
        </p:spPr>
      </p:sp>
      <p:sp>
        <p:nvSpPr>
          <p:cNvPr id="10" name="Shape 7"/>
          <p:cNvSpPr/>
          <p:nvPr/>
        </p:nvSpPr>
        <p:spPr>
          <a:xfrm>
            <a:off x="1268730" y="6473952"/>
            <a:ext cx="59436" cy="59436"/>
          </a:xfrm>
          <a:prstGeom prst="ellipse">
            <a:avLst/>
          </a:prstGeom>
          <a:solidFill>
            <a:srgbClr val="D9DEE8"/>
          </a:solidFill>
          <a:ln/>
        </p:spPr>
      </p:sp>
      <p:sp>
        <p:nvSpPr>
          <p:cNvPr id="11" name="Text 8"/>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EXPERIMENT</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KẾT QUẢ</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400" b="1" dirty="0">
                <a:solidFill>
                  <a:srgbClr val="1A2238"/>
                </a:solidFill>
                <a:latin typeface="Cambria" pitchFamily="34" charset="0"/>
                <a:ea typeface="Cambria" pitchFamily="34" charset="-122"/>
                <a:cs typeface="Cambria" pitchFamily="34" charset="-120"/>
              </a:rPr>
              <a:t>Bảng tổng hợp — 5 thí nghiệm, số liệu thật</a:t>
            </a:r>
            <a:endParaRPr lang="en-US" sz="2400" dirty="0"/>
          </a:p>
        </p:txBody>
      </p:sp>
      <p:sp>
        <p:nvSpPr>
          <p:cNvPr id="4" name="Text 2"/>
          <p:cNvSpPr txBox="1"/>
          <p:nvPr/>
        </p:nvSpPr>
        <p:spPr>
          <a:xfrm>
            <a:off x="640080" y="1536192"/>
            <a:ext cx="10911535" cy="365760"/>
          </a:xfrm>
          <a:prstGeom prst="rect">
            <a:avLst/>
          </a:prstGeom>
          <a:noFill/>
          <a:ln/>
        </p:spPr>
        <p:txBody>
          <a:bodyPr wrap="square" lIns="0" tIns="0" rIns="0" bIns="0" rtlCol="0" anchor="ctr"/>
          <a:lstStyle/>
          <a:p>
            <a:pPr indent="0" marL="0">
              <a:buNone/>
            </a:pPr>
            <a:r>
              <a:rPr lang="en-US" sz="1150" i="1" dirty="0">
                <a:solidFill>
                  <a:srgbClr val="5B6478"/>
                </a:solidFill>
                <a:latin typeface="Calibri" pitchFamily="34" charset="0"/>
                <a:ea typeface="Calibri" pitchFamily="34" charset="-122"/>
                <a:cs typeface="Calibri" pitchFamily="34" charset="-120"/>
              </a:rPr>
              <a:t>Thứ tự đọc kết quả (từ trực tiếp nhất): Gradient RMS → Train Loss → Test Accuracy. Gradient RMS đo tại khởi tạo (batch đầu tiên); Train/Test loss đo sau 15 epoch.</a:t>
            </a:r>
            <a:endParaRPr lang="en-US" sz="11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2011680"/>
          <a:ext cx="10911535" cy="2743200"/>
        </p:xfrm>
        <a:graphic>
          <a:graphicData uri="http://schemas.openxmlformats.org/drawingml/2006/table">
            <a:tbl>
              <a:tblPr/>
              <a:tblGrid>
                <a:gridCol w="1828800"/>
                <a:gridCol w="2286000"/>
                <a:gridCol w="2194560"/>
                <a:gridCol w="2103120"/>
                <a:gridCol w="2496312"/>
              </a:tblGrid>
              <a:tr h="457200">
                <a:tc>
                  <a:txBody>
                    <a:bodyPr/>
                    <a:lstStyle/>
                    <a:p>
                      <a:pPr indent="0" marL="0">
                        <a:buNone/>
                      </a:pPr>
                      <a:r>
                        <a:rPr lang="en-US" sz="1250" b="1" dirty="0">
                          <a:solidFill>
                            <a:srgbClr val="FFFFFF"/>
                          </a:solidFill>
                        </a:rPr>
                        <a:t>Init</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16213E"/>
                    </a:solidFill>
                  </a:tcPr>
                </a:tc>
                <a:tc>
                  <a:txBody>
                    <a:bodyPr/>
                    <a:lstStyle/>
                    <a:p>
                      <a:pPr indent="0" marL="0">
                        <a:buNone/>
                      </a:pPr>
                      <a:r>
                        <a:rPr lang="en-US" sz="1250" b="1" dirty="0">
                          <a:solidFill>
                            <a:srgbClr val="FFFFFF"/>
                          </a:solidFill>
                        </a:rPr>
                        <a:t>Grad RMS (L1, tại KT)</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16213E"/>
                    </a:solidFill>
                  </a:tcPr>
                </a:tc>
                <a:tc>
                  <a:txBody>
                    <a:bodyPr/>
                    <a:lstStyle/>
                    <a:p>
                      <a:pPr indent="0" marL="0">
                        <a:buNone/>
                      </a:pPr>
                      <a:r>
                        <a:rPr lang="en-US" sz="1250" b="1" dirty="0">
                          <a:solidFill>
                            <a:srgbClr val="FFFFFF"/>
                          </a:solidFill>
                        </a:rPr>
                        <a:t>Final Train Loss</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16213E"/>
                    </a:solidFill>
                  </a:tcPr>
                </a:tc>
                <a:tc>
                  <a:txBody>
                    <a:bodyPr/>
                    <a:lstStyle/>
                    <a:p>
                      <a:pPr indent="0" marL="0">
                        <a:buNone/>
                      </a:pPr>
                      <a:r>
                        <a:rPr lang="en-US" sz="1250" b="1" dirty="0">
                          <a:solidFill>
                            <a:srgbClr val="FFFFFF"/>
                          </a:solidFill>
                        </a:rPr>
                        <a:t>Test Accuracy</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16213E"/>
                    </a:solidFill>
                  </a:tcPr>
                </a:tc>
                <a:tc>
                  <a:txBody>
                    <a:bodyPr/>
                    <a:lstStyle/>
                    <a:p>
                      <a:pPr indent="0" marL="0">
                        <a:buNone/>
                      </a:pPr>
                      <a:r>
                        <a:rPr lang="en-US" sz="1250" b="1" dirty="0">
                          <a:solidFill>
                            <a:srgbClr val="FFFFFF"/>
                          </a:solidFill>
                        </a:rPr>
                        <a:t>Gradient behavior</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16213E"/>
                    </a:solidFill>
                  </a:tcPr>
                </a:tc>
              </a:tr>
              <a:tr h="457200">
                <a:tc>
                  <a:txBody>
                    <a:bodyPr/>
                    <a:lstStyle/>
                    <a:p>
                      <a:pPr algn="l" indent="0" marL="0">
                        <a:buNone/>
                      </a:pPr>
                      <a:r>
                        <a:rPr lang="en-US" sz="1250" b="1" dirty="0">
                          <a:solidFill>
                            <a:srgbClr val="1A2238"/>
                          </a:solidFill>
                        </a:rPr>
                        <a:t>Zero</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250" dirty="0">
                          <a:solidFill>
                            <a:srgbClr val="1A2238"/>
                          </a:solidFill>
                        </a:rPr>
                        <a:t>0.0e+0</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250" dirty="0">
                          <a:solidFill>
                            <a:srgbClr val="1A2238"/>
                          </a:solidFill>
                        </a:rPr>
                        <a:t>2.303</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250" dirty="0">
                          <a:solidFill>
                            <a:srgbClr val="1A2238"/>
                          </a:solidFill>
                        </a:rPr>
                        <a:t>10.0%</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250" b="1" dirty="0">
                          <a:solidFill>
                            <a:srgbClr val="BE3C32"/>
                          </a:solidFill>
                        </a:rPr>
                        <a:t>Vanishing</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r>
              <a:tr h="457200">
                <a:tc>
                  <a:txBody>
                    <a:bodyPr/>
                    <a:lstStyle/>
                    <a:p>
                      <a:pPr algn="l" indent="0" marL="0">
                        <a:buNone/>
                      </a:pPr>
                      <a:r>
                        <a:rPr lang="en-US" sz="1250" b="1" dirty="0">
                          <a:solidFill>
                            <a:srgbClr val="1A2238"/>
                          </a:solidFill>
                        </a:rPr>
                        <a:t>Random (small)</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A2238"/>
                          </a:solidFill>
                        </a:rPr>
                        <a:t>1.1e-13</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A2238"/>
                          </a:solidFill>
                        </a:rPr>
                        <a:t>2.303</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A2238"/>
                          </a:solidFill>
                        </a:rPr>
                        <a:t>10.0%</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BE3C32"/>
                          </a:solidFill>
                        </a:rPr>
                        <a:t>Vanishing</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1A2238"/>
                          </a:solidFill>
                        </a:rPr>
                        <a:t>Random (large)</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250" dirty="0">
                          <a:solidFill>
                            <a:srgbClr val="1A2238"/>
                          </a:solidFill>
                        </a:rPr>
                        <a:t>1.9e+7</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250" dirty="0">
                          <a:solidFill>
                            <a:srgbClr val="1A2238"/>
                          </a:solidFill>
                        </a:rPr>
                        <a:t>NaN</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250" dirty="0">
                          <a:solidFill>
                            <a:srgbClr val="1A2238"/>
                          </a:solidFill>
                        </a:rPr>
                        <a:t>10.0%</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250" b="1" dirty="0">
                          <a:solidFill>
                            <a:srgbClr val="7D3C98"/>
                          </a:solidFill>
                        </a:rPr>
                        <a:t>Exploding (NaN)</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r>
              <a:tr h="457200">
                <a:tc>
                  <a:txBody>
                    <a:bodyPr/>
                    <a:lstStyle/>
                    <a:p>
                      <a:pPr algn="l" indent="0" marL="0">
                        <a:buNone/>
                      </a:pPr>
                      <a:r>
                        <a:rPr lang="en-US" sz="1250" b="1" dirty="0">
                          <a:solidFill>
                            <a:srgbClr val="1A2238"/>
                          </a:solidFill>
                        </a:rPr>
                        <a:t>Xavier</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A2238"/>
                          </a:solidFill>
                        </a:rPr>
                        <a:t>4.4e-4</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A2238"/>
                          </a:solidFill>
                        </a:rPr>
                        <a:t>0.474</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A2238"/>
                          </a:solidFill>
                        </a:rPr>
                        <a:t>68.2%</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2E7D5B"/>
                          </a:solidFill>
                        </a:rPr>
                        <a:t>Không vanish/explode rõ rệt</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1A2238"/>
                          </a:solidFill>
                        </a:rPr>
                        <a:t>He</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250" dirty="0">
                          <a:solidFill>
                            <a:srgbClr val="1A2238"/>
                          </a:solidFill>
                        </a:rPr>
                        <a:t>1.1e-2</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250" dirty="0">
                          <a:solidFill>
                            <a:srgbClr val="1A2238"/>
                          </a:solidFill>
                        </a:rPr>
                        <a:t>0.365</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250" dirty="0">
                          <a:solidFill>
                            <a:srgbClr val="1A2238"/>
                          </a:solidFill>
                        </a:rPr>
                        <a:t>67.4%</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250" b="1" dirty="0">
                          <a:solidFill>
                            <a:srgbClr val="2E7D5B"/>
                          </a:solidFill>
                        </a:rPr>
                        <a:t>Không vanish/explode rõ rệt</a:t>
                      </a:r>
                      <a:endParaRPr lang="en-US" sz="125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r>
            </a:tbl>
          </a:graphicData>
        </a:graphic>
      </p:graphicFrame>
      <p:sp>
        <p:nvSpPr>
          <p:cNvPr id="6" name="Text 3"/>
          <p:cNvSpPr txBox="1"/>
          <p:nvPr/>
        </p:nvSpPr>
        <p:spPr>
          <a:xfrm>
            <a:off x="640080" y="4892040"/>
            <a:ext cx="10911535" cy="640080"/>
          </a:xfrm>
          <a:prstGeom prst="rect">
            <a:avLst/>
          </a:prstGeom>
          <a:noFill/>
          <a:ln/>
        </p:spPr>
        <p:txBody>
          <a:bodyPr wrap="square" lIns="0" tIns="0" rIns="0" bIns="0" rtlCol="0" anchor="ctr"/>
          <a:lstStyle/>
          <a:p>
            <a:pPr indent="0" marL="0">
              <a:buNone/>
            </a:pPr>
            <a:r>
              <a:rPr lang="en-US" sz="1100" i="1" dirty="0">
                <a:solidFill>
                  <a:srgbClr val="5B6478"/>
                </a:solidFill>
                <a:latin typeface="Calibri" pitchFamily="34" charset="0"/>
                <a:ea typeface="Calibri" pitchFamily="34" charset="-122"/>
                <a:cs typeface="Calibri" pitchFamily="34" charset="-120"/>
              </a:rPr>
              <a:t>Số liệu lấy nguyên văn từ results/tables/deep_demo_summary.csv — không làm tròn để "đẹp bảng", không có kết quả nào bị bỏ sót. 'Final Train Loss' là train loss trung bình epoch cuối (epoch 15) — không phải validation hay test loss. Xem thêm Activation Variance trong log JSON của từng cấu hình (results/logs/deep_demo_*.json).</a:t>
            </a:r>
            <a:endParaRPr lang="en-US" sz="1100" dirty="0"/>
          </a:p>
        </p:txBody>
      </p:sp>
      <p:sp>
        <p:nvSpPr>
          <p:cNvPr id="7" name="Text 4"/>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27/31</a:t>
            </a:r>
            <a:endParaRPr lang="en-US" sz="900" dirty="0"/>
          </a:p>
        </p:txBody>
      </p:sp>
      <p:sp>
        <p:nvSpPr>
          <p:cNvPr id="8" name="Shape 5"/>
          <p:cNvSpPr/>
          <p:nvPr/>
        </p:nvSpPr>
        <p:spPr>
          <a:xfrm>
            <a:off x="610362" y="6473952"/>
            <a:ext cx="59436" cy="59436"/>
          </a:xfrm>
          <a:prstGeom prst="ellipse">
            <a:avLst/>
          </a:prstGeom>
          <a:solidFill>
            <a:srgbClr val="D9DEE8"/>
          </a:solidFill>
          <a:ln/>
        </p:spPr>
      </p:sp>
      <p:sp>
        <p:nvSpPr>
          <p:cNvPr id="9" name="Shape 6"/>
          <p:cNvSpPr/>
          <p:nvPr/>
        </p:nvSpPr>
        <p:spPr>
          <a:xfrm>
            <a:off x="829818" y="6473952"/>
            <a:ext cx="59436" cy="59436"/>
          </a:xfrm>
          <a:prstGeom prst="ellipse">
            <a:avLst/>
          </a:prstGeom>
          <a:solidFill>
            <a:srgbClr val="D9DEE8"/>
          </a:solidFill>
          <a:ln/>
        </p:spPr>
      </p:sp>
      <p:sp>
        <p:nvSpPr>
          <p:cNvPr id="10" name="Shape 7"/>
          <p:cNvSpPr/>
          <p:nvPr/>
        </p:nvSpPr>
        <p:spPr>
          <a:xfrm>
            <a:off x="1034415" y="6459093"/>
            <a:ext cx="89154" cy="89154"/>
          </a:xfrm>
          <a:prstGeom prst="ellipse">
            <a:avLst/>
          </a:prstGeom>
          <a:solidFill>
            <a:srgbClr val="285AB4"/>
          </a:solidFill>
          <a:ln/>
        </p:spPr>
      </p:sp>
      <p:sp>
        <p:nvSpPr>
          <p:cNvPr id="11" name="Shape 8"/>
          <p:cNvSpPr/>
          <p:nvPr/>
        </p:nvSpPr>
        <p:spPr>
          <a:xfrm>
            <a:off x="1268730" y="6473952"/>
            <a:ext cx="59436" cy="59436"/>
          </a:xfrm>
          <a:prstGeom prst="ellipse">
            <a:avLst/>
          </a:prstGeom>
          <a:solidFill>
            <a:srgbClr val="D9DEE8"/>
          </a:solidFill>
          <a:ln/>
        </p:spPr>
      </p:sp>
      <p:sp>
        <p:nvSpPr>
          <p:cNvPr id="12" name="Text 9"/>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EXPERIMENT</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TRUNG THỰC KHOA HỌC</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800" b="1" dirty="0">
                <a:solidFill>
                  <a:srgbClr val="1A2238"/>
                </a:solidFill>
                <a:latin typeface="Cambria" pitchFamily="34" charset="0"/>
                <a:ea typeface="Cambria" pitchFamily="34" charset="-122"/>
                <a:cs typeface="Cambria" pitchFamily="34" charset="-120"/>
              </a:rPr>
              <a:t>Limitations</a:t>
            </a:r>
            <a:endParaRPr lang="en-US" sz="2800" dirty="0"/>
          </a:p>
        </p:txBody>
      </p:sp>
      <p:sp>
        <p:nvSpPr>
          <p:cNvPr id="4" name="Text 2"/>
          <p:cNvSpPr txBox="1"/>
          <p:nvPr/>
        </p:nvSpPr>
        <p:spPr>
          <a:xfrm>
            <a:off x="640080" y="1828800"/>
            <a:ext cx="10911535" cy="4297680"/>
          </a:xfrm>
          <a:prstGeom prst="rect">
            <a:avLst/>
          </a:prstGeom>
          <a:noFill/>
          <a:ln/>
        </p:spPr>
        <p:txBody>
          <a:bodyPr wrap="square" lIns="0" tIns="0" rIns="0" bIns="0" rtlCol="0" anchor="t"/>
          <a:lstStyle/>
          <a:p>
            <a:pPr marL="228600" indent="-228600">
              <a:spcAft>
                <a:spcPts val="1100"/>
              </a:spcAft>
              <a:buSzPct val="100000"/>
              <a:buChar char="▪"/>
            </a:pPr>
            <a:r>
              <a:rPr lang="en-US" sz="1400" dirty="0">
                <a:solidFill>
                  <a:srgbClr val="1A2238"/>
                </a:solidFill>
                <a:latin typeface="Calibri" pitchFamily="34" charset="0"/>
                <a:ea typeface="Calibri" pitchFamily="34" charset="-122"/>
                <a:cs typeface="Calibri" pitchFamily="34" charset="-120"/>
              </a:rPr>
              <a:t>Dataset: Fashion-MNIST SUBSET (5.000/1.000/2.000 mẫu) — không phải full dataset, kết luận chưa chắc mở rộng sang quy mô lớn hơn</a:t>
            </a:r>
            <a:endParaRPr lang="en-US" sz="1400" dirty="0"/>
          </a:p>
          <a:p>
            <a:pPr marL="228600" indent="-228600">
              <a:spcAft>
                <a:spcPts val="1100"/>
              </a:spcAft>
              <a:buSzPct val="100000"/>
              <a:buChar char="▪"/>
            </a:pPr>
            <a:r>
              <a:rPr lang="en-US" sz="1400" dirty="0">
                <a:solidFill>
                  <a:srgbClr val="1A2238"/>
                </a:solidFill>
                <a:latin typeface="Calibri" pitchFamily="34" charset="0"/>
                <a:ea typeface="Calibri" pitchFamily="34" charset="-122"/>
                <a:cs typeface="Calibri" pitchFamily="34" charset="-120"/>
              </a:rPr>
              <a:t>Kiến trúc: chỉ MLP + ReLU — chưa đại diện cho CNN, Transformer, RNN (mỗi kiến trúc có đặc thù gradient riêng)</a:t>
            </a:r>
            <a:endParaRPr lang="en-US" sz="1400" dirty="0"/>
          </a:p>
          <a:p>
            <a:pPr marL="228600" indent="-228600">
              <a:spcAft>
                <a:spcPts val="1100"/>
              </a:spcAft>
              <a:buSzPct val="100000"/>
              <a:buChar char="▪"/>
            </a:pPr>
            <a:r>
              <a:rPr lang="en-US" sz="1400" dirty="0">
                <a:solidFill>
                  <a:srgbClr val="1A2238"/>
                </a:solidFill>
                <a:latin typeface="Calibri" pitchFamily="34" charset="0"/>
                <a:ea typeface="Calibri" pitchFamily="34" charset="-122"/>
                <a:cs typeface="Calibri" pitchFamily="34" charset="-120"/>
              </a:rPr>
              <a:t>Optimizer/learning rate CỐ ĐỊNH (SGD, lr=0.05) để cô lập biến initialization — chưa khảo sát tương tác initialization × learning rate/optimizer, vốn có thể quan trọng trong thực tế</a:t>
            </a:r>
            <a:endParaRPr lang="en-US" sz="1400" dirty="0"/>
          </a:p>
          <a:p>
            <a:pPr marL="228600" indent="-228600">
              <a:spcAft>
                <a:spcPts val="1100"/>
              </a:spcAft>
              <a:buSzPct val="100000"/>
              <a:buChar char="▪"/>
            </a:pPr>
            <a:r>
              <a:rPr lang="en-US" sz="1400" dirty="0">
                <a:solidFill>
                  <a:srgbClr val="1A2238"/>
                </a:solidFill>
                <a:latin typeface="Calibri" pitchFamily="34" charset="0"/>
                <a:ea typeface="Calibri" pitchFamily="34" charset="-122"/>
                <a:cs typeface="Calibri" pitchFamily="34" charset="-120"/>
              </a:rPr>
              <a:t>Gradient RMS và Activation Variance đo TẠI KHỞI TẠO (1 batch, trước update nào) — không phải trung bình suốt quá trình training; hành vi có thể đổi khác sau vài epoch</a:t>
            </a:r>
            <a:endParaRPr lang="en-US" sz="1400" dirty="0"/>
          </a:p>
          <a:p>
            <a:pPr marL="228600" indent="-228600">
              <a:spcAft>
                <a:spcPts val="1100"/>
              </a:spcAft>
              <a:buSzPct val="100000"/>
              <a:buChar char="▪"/>
            </a:pPr>
            <a:r>
              <a:rPr lang="en-US" sz="1400" dirty="0">
                <a:solidFill>
                  <a:srgbClr val="1A2238"/>
                </a:solidFill>
                <a:latin typeface="Calibri" pitchFamily="34" charset="0"/>
                <a:ea typeface="Calibri" pitchFamily="34" charset="-122"/>
                <a:cs typeface="Calibri" pitchFamily="34" charset="-120"/>
              </a:rPr>
              <a:t>Multi-seed mới chạy n=5 cho Xavier/He — đủ để thấy khoảng chồng lấn nhưng còn ít để ước lượng chính xác biến thiên; Zero/Random nhỏ/Random lớn mới chạy 1 seed (kết quả của chúng — 10%/NaN — đủ rõ để không cần multi-seed, nhưng chưa được xác nhận lại)</a:t>
            </a:r>
            <a:endParaRPr lang="en-US" sz="1400" dirty="0"/>
          </a:p>
          <a:p>
            <a:pPr marL="228600" indent="-228600">
              <a:spcAft>
                <a:spcPts val="1100"/>
              </a:spcAft>
              <a:buSzPct val="100000"/>
              <a:buChar char="▪"/>
            </a:pPr>
            <a:r>
              <a:rPr lang="en-US" sz="1400" dirty="0">
                <a:solidFill>
                  <a:srgbClr val="1A2238"/>
                </a:solidFill>
                <a:latin typeface="Calibri" pitchFamily="34" charset="0"/>
                <a:ea typeface="Calibri" pitchFamily="34" charset="-122"/>
                <a:cs typeface="Calibri" pitchFamily="34" charset="-120"/>
              </a:rPr>
              <a:t>Depth Experiment dùng 8 epoch (ít hơn 15 epoch của lưới chính) để giữ thời gian chạy hợp lý — số tuyệt đối có thể khác nếu train đủ epoch</a:t>
            </a:r>
            <a:endParaRPr lang="en-US" sz="1400" dirty="0"/>
          </a:p>
        </p:txBody>
      </p:sp>
      <p:sp>
        <p:nvSpPr>
          <p:cNvPr id="5" name="Text 3"/>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28/31</a:t>
            </a:r>
            <a:endParaRPr lang="en-US" sz="900" dirty="0"/>
          </a:p>
        </p:txBody>
      </p:sp>
      <p:sp>
        <p:nvSpPr>
          <p:cNvPr id="6" name="Shape 4"/>
          <p:cNvSpPr/>
          <p:nvPr/>
        </p:nvSpPr>
        <p:spPr>
          <a:xfrm>
            <a:off x="610362" y="6473952"/>
            <a:ext cx="59436" cy="59436"/>
          </a:xfrm>
          <a:prstGeom prst="ellipse">
            <a:avLst/>
          </a:prstGeom>
          <a:solidFill>
            <a:srgbClr val="D9DEE8"/>
          </a:solidFill>
          <a:ln/>
        </p:spPr>
      </p:sp>
      <p:sp>
        <p:nvSpPr>
          <p:cNvPr id="7" name="Shape 5"/>
          <p:cNvSpPr/>
          <p:nvPr/>
        </p:nvSpPr>
        <p:spPr>
          <a:xfrm>
            <a:off x="829818" y="6473952"/>
            <a:ext cx="59436" cy="59436"/>
          </a:xfrm>
          <a:prstGeom prst="ellipse">
            <a:avLst/>
          </a:prstGeom>
          <a:solidFill>
            <a:srgbClr val="D9DEE8"/>
          </a:solidFill>
          <a:ln/>
        </p:spPr>
      </p:sp>
      <p:sp>
        <p:nvSpPr>
          <p:cNvPr id="8" name="Shape 6"/>
          <p:cNvSpPr/>
          <p:nvPr/>
        </p:nvSpPr>
        <p:spPr>
          <a:xfrm>
            <a:off x="1049274" y="6473952"/>
            <a:ext cx="59436" cy="59436"/>
          </a:xfrm>
          <a:prstGeom prst="ellipse">
            <a:avLst/>
          </a:prstGeom>
          <a:solidFill>
            <a:srgbClr val="D9DEE8"/>
          </a:solidFill>
          <a:ln/>
        </p:spPr>
      </p:sp>
      <p:sp>
        <p:nvSpPr>
          <p:cNvPr id="9" name="Shape 7"/>
          <p:cNvSpPr/>
          <p:nvPr/>
        </p:nvSpPr>
        <p:spPr>
          <a:xfrm>
            <a:off x="1253871" y="6459093"/>
            <a:ext cx="89154" cy="89154"/>
          </a:xfrm>
          <a:prstGeom prst="ellipse">
            <a:avLst/>
          </a:prstGeom>
          <a:solidFill>
            <a:srgbClr val="285AB4"/>
          </a:solidFill>
          <a:ln/>
        </p:spPr>
      </p:sp>
      <p:sp>
        <p:nvSpPr>
          <p:cNvPr id="10" name="Text 8"/>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CONCLUSION</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6213E"/>
        </a:solidFill>
      </p:bgPr>
    </p:bg>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8FA3C9"/>
                </a:solidFill>
                <a:latin typeface="Calibri" pitchFamily="34" charset="0"/>
                <a:ea typeface="Calibri" pitchFamily="34" charset="-122"/>
                <a:cs typeface="Calibri" pitchFamily="34" charset="-120"/>
              </a:rPr>
              <a:t>KẾT LUẬN</a:t>
            </a:r>
            <a:endParaRPr lang="en-US" sz="1300" dirty="0"/>
          </a:p>
        </p:txBody>
      </p:sp>
      <p:sp>
        <p:nvSpPr>
          <p:cNvPr id="3" name="Text 1"/>
          <p:cNvSpPr txBox="1"/>
          <p:nvPr/>
        </p:nvSpPr>
        <p:spPr>
          <a:xfrm>
            <a:off x="640080" y="777240"/>
            <a:ext cx="10911535" cy="310896"/>
          </a:xfrm>
          <a:prstGeom prst="rect">
            <a:avLst/>
          </a:prstGeom>
          <a:noFill/>
          <a:ln/>
        </p:spPr>
        <p:txBody>
          <a:bodyPr wrap="square" lIns="0" tIns="0" rIns="0" bIns="0" rtlCol="0" anchor="ctr"/>
          <a:lstStyle/>
          <a:p>
            <a:pPr algn="ctr" indent="0" marL="0">
              <a:buNone/>
            </a:pPr>
            <a:r>
              <a:rPr lang="en-US" sz="1450" dirty="0">
                <a:solidFill>
                  <a:srgbClr val="E7ECF6"/>
                </a:solidFill>
                <a:latin typeface="Cambria" pitchFamily="34" charset="0"/>
                <a:ea typeface="Cambria" pitchFamily="34" charset="-122"/>
                <a:cs typeface="Cambria" pitchFamily="34" charset="-120"/>
              </a:rPr>
              <a:t>Derivative</a:t>
            </a:r>
            <a:endParaRPr lang="en-US" sz="1450" dirty="0"/>
          </a:p>
        </p:txBody>
      </p:sp>
      <p:sp>
        <p:nvSpPr>
          <p:cNvPr id="4" name="Text 2"/>
          <p:cNvSpPr txBox="1"/>
          <p:nvPr/>
        </p:nvSpPr>
        <p:spPr>
          <a:xfrm>
            <a:off x="640080" y="1069848"/>
            <a:ext cx="10911535" cy="182880"/>
          </a:xfrm>
          <a:prstGeom prst="rect">
            <a:avLst/>
          </a:prstGeom>
          <a:noFill/>
          <a:ln/>
        </p:spPr>
        <p:txBody>
          <a:bodyPr wrap="square" lIns="0" tIns="0" rIns="0" bIns="0" rtlCol="0" anchor="ctr"/>
          <a:lstStyle/>
          <a:p>
            <a:pPr algn="ctr" indent="0" marL="0">
              <a:buNone/>
            </a:pPr>
            <a:r>
              <a:rPr lang="en-US" sz="1200" dirty="0">
                <a:solidFill>
                  <a:srgbClr val="6FA3E0"/>
                </a:solidFill>
              </a:rPr>
              <a:t>↓</a:t>
            </a:r>
            <a:endParaRPr lang="en-US" sz="1200" dirty="0"/>
          </a:p>
        </p:txBody>
      </p:sp>
      <p:sp>
        <p:nvSpPr>
          <p:cNvPr id="5" name="Text 3"/>
          <p:cNvSpPr txBox="1"/>
          <p:nvPr/>
        </p:nvSpPr>
        <p:spPr>
          <a:xfrm>
            <a:off x="640080" y="1271016"/>
            <a:ext cx="10911535" cy="310896"/>
          </a:xfrm>
          <a:prstGeom prst="rect">
            <a:avLst/>
          </a:prstGeom>
          <a:noFill/>
          <a:ln/>
        </p:spPr>
        <p:txBody>
          <a:bodyPr wrap="square" lIns="0" tIns="0" rIns="0" bIns="0" rtlCol="0" anchor="ctr"/>
          <a:lstStyle/>
          <a:p>
            <a:pPr algn="ctr" indent="0" marL="0">
              <a:buNone/>
            </a:pPr>
            <a:r>
              <a:rPr lang="en-US" sz="1450" dirty="0">
                <a:solidFill>
                  <a:srgbClr val="E7ECF6"/>
                </a:solidFill>
                <a:latin typeface="Cambria" pitchFamily="34" charset="0"/>
                <a:ea typeface="Cambria" pitchFamily="34" charset="-122"/>
                <a:cs typeface="Cambria" pitchFamily="34" charset="-120"/>
              </a:rPr>
              <a:t>Chain Rule</a:t>
            </a:r>
            <a:endParaRPr lang="en-US" sz="1450" dirty="0"/>
          </a:p>
        </p:txBody>
      </p:sp>
      <p:sp>
        <p:nvSpPr>
          <p:cNvPr id="6" name="Text 4"/>
          <p:cNvSpPr txBox="1"/>
          <p:nvPr/>
        </p:nvSpPr>
        <p:spPr>
          <a:xfrm>
            <a:off x="640080" y="1563624"/>
            <a:ext cx="10911535" cy="182880"/>
          </a:xfrm>
          <a:prstGeom prst="rect">
            <a:avLst/>
          </a:prstGeom>
          <a:noFill/>
          <a:ln/>
        </p:spPr>
        <p:txBody>
          <a:bodyPr wrap="square" lIns="0" tIns="0" rIns="0" bIns="0" rtlCol="0" anchor="ctr"/>
          <a:lstStyle/>
          <a:p>
            <a:pPr algn="ctr" indent="0" marL="0">
              <a:buNone/>
            </a:pPr>
            <a:r>
              <a:rPr lang="en-US" sz="1200" dirty="0">
                <a:solidFill>
                  <a:srgbClr val="6FA3E0"/>
                </a:solidFill>
              </a:rPr>
              <a:t>↓</a:t>
            </a:r>
            <a:endParaRPr lang="en-US" sz="1200" dirty="0"/>
          </a:p>
        </p:txBody>
      </p:sp>
      <p:sp>
        <p:nvSpPr>
          <p:cNvPr id="7" name="Text 5"/>
          <p:cNvSpPr txBox="1"/>
          <p:nvPr/>
        </p:nvSpPr>
        <p:spPr>
          <a:xfrm>
            <a:off x="640080" y="1764792"/>
            <a:ext cx="10911535" cy="310896"/>
          </a:xfrm>
          <a:prstGeom prst="rect">
            <a:avLst/>
          </a:prstGeom>
          <a:noFill/>
          <a:ln/>
        </p:spPr>
        <p:txBody>
          <a:bodyPr wrap="square" lIns="0" tIns="0" rIns="0" bIns="0" rtlCol="0" anchor="ctr"/>
          <a:lstStyle/>
          <a:p>
            <a:pPr algn="ctr" indent="0" marL="0">
              <a:buNone/>
            </a:pPr>
            <a:r>
              <a:rPr lang="en-US" sz="1450" dirty="0">
                <a:solidFill>
                  <a:srgbClr val="E7ECF6"/>
                </a:solidFill>
                <a:latin typeface="Cambria" pitchFamily="34" charset="0"/>
                <a:ea typeface="Cambria" pitchFamily="34" charset="-122"/>
                <a:cs typeface="Cambria" pitchFamily="34" charset="-120"/>
              </a:rPr>
              <a:t>Backpropagation</a:t>
            </a:r>
            <a:endParaRPr lang="en-US" sz="1450" dirty="0"/>
          </a:p>
        </p:txBody>
      </p:sp>
      <p:sp>
        <p:nvSpPr>
          <p:cNvPr id="8" name="Text 6"/>
          <p:cNvSpPr txBox="1"/>
          <p:nvPr/>
        </p:nvSpPr>
        <p:spPr>
          <a:xfrm>
            <a:off x="640080" y="2057400"/>
            <a:ext cx="10911535" cy="182880"/>
          </a:xfrm>
          <a:prstGeom prst="rect">
            <a:avLst/>
          </a:prstGeom>
          <a:noFill/>
          <a:ln/>
        </p:spPr>
        <p:txBody>
          <a:bodyPr wrap="square" lIns="0" tIns="0" rIns="0" bIns="0" rtlCol="0" anchor="ctr"/>
          <a:lstStyle/>
          <a:p>
            <a:pPr algn="ctr" indent="0" marL="0">
              <a:buNone/>
            </a:pPr>
            <a:r>
              <a:rPr lang="en-US" sz="1200" dirty="0">
                <a:solidFill>
                  <a:srgbClr val="6FA3E0"/>
                </a:solidFill>
              </a:rPr>
              <a:t>↓</a:t>
            </a:r>
            <a:endParaRPr lang="en-US" sz="1200" dirty="0"/>
          </a:p>
        </p:txBody>
      </p:sp>
      <p:sp>
        <p:nvSpPr>
          <p:cNvPr id="9" name="Text 7"/>
          <p:cNvSpPr txBox="1"/>
          <p:nvPr/>
        </p:nvSpPr>
        <p:spPr>
          <a:xfrm>
            <a:off x="640080" y="2258568"/>
            <a:ext cx="10911535" cy="310896"/>
          </a:xfrm>
          <a:prstGeom prst="rect">
            <a:avLst/>
          </a:prstGeom>
          <a:noFill/>
          <a:ln/>
        </p:spPr>
        <p:txBody>
          <a:bodyPr wrap="square" lIns="0" tIns="0" rIns="0" bIns="0" rtlCol="0" anchor="ctr"/>
          <a:lstStyle/>
          <a:p>
            <a:pPr algn="ctr" indent="0" marL="0">
              <a:buNone/>
            </a:pPr>
            <a:r>
              <a:rPr lang="en-US" sz="1450" dirty="0">
                <a:solidFill>
                  <a:srgbClr val="E7ECF6"/>
                </a:solidFill>
                <a:latin typeface="Cambria" pitchFamily="34" charset="0"/>
                <a:ea typeface="Cambria" pitchFamily="34" charset="-122"/>
                <a:cs typeface="Cambria" pitchFamily="34" charset="-120"/>
              </a:rPr>
              <a:t>Gradient Flow</a:t>
            </a:r>
            <a:endParaRPr lang="en-US" sz="1450" dirty="0"/>
          </a:p>
        </p:txBody>
      </p:sp>
      <p:sp>
        <p:nvSpPr>
          <p:cNvPr id="10" name="Text 8"/>
          <p:cNvSpPr txBox="1"/>
          <p:nvPr/>
        </p:nvSpPr>
        <p:spPr>
          <a:xfrm>
            <a:off x="640080" y="2551176"/>
            <a:ext cx="10911535" cy="182880"/>
          </a:xfrm>
          <a:prstGeom prst="rect">
            <a:avLst/>
          </a:prstGeom>
          <a:noFill/>
          <a:ln/>
        </p:spPr>
        <p:txBody>
          <a:bodyPr wrap="square" lIns="0" tIns="0" rIns="0" bIns="0" rtlCol="0" anchor="ctr"/>
          <a:lstStyle/>
          <a:p>
            <a:pPr algn="ctr" indent="0" marL="0">
              <a:buNone/>
            </a:pPr>
            <a:r>
              <a:rPr lang="en-US" sz="1200" dirty="0">
                <a:solidFill>
                  <a:srgbClr val="6FA3E0"/>
                </a:solidFill>
              </a:rPr>
              <a:t>↓</a:t>
            </a:r>
            <a:endParaRPr lang="en-US" sz="1200" dirty="0"/>
          </a:p>
        </p:txBody>
      </p:sp>
      <p:sp>
        <p:nvSpPr>
          <p:cNvPr id="11" name="Text 9"/>
          <p:cNvSpPr txBox="1"/>
          <p:nvPr/>
        </p:nvSpPr>
        <p:spPr>
          <a:xfrm>
            <a:off x="640080" y="2752344"/>
            <a:ext cx="10911535" cy="310896"/>
          </a:xfrm>
          <a:prstGeom prst="rect">
            <a:avLst/>
          </a:prstGeom>
          <a:noFill/>
          <a:ln/>
        </p:spPr>
        <p:txBody>
          <a:bodyPr wrap="square" lIns="0" tIns="0" rIns="0" bIns="0" rtlCol="0" anchor="ctr"/>
          <a:lstStyle/>
          <a:p>
            <a:pPr algn="ctr" indent="0" marL="0">
              <a:buNone/>
            </a:pPr>
            <a:r>
              <a:rPr lang="en-US" sz="1450" dirty="0">
                <a:solidFill>
                  <a:srgbClr val="E7ECF6"/>
                </a:solidFill>
                <a:latin typeface="Cambria" pitchFamily="34" charset="0"/>
                <a:ea typeface="Cambria" pitchFamily="34" charset="-122"/>
                <a:cs typeface="Cambria" pitchFamily="34" charset="-120"/>
              </a:rPr>
              <a:t>Vanishing / Exploding Gradient</a:t>
            </a:r>
            <a:endParaRPr lang="en-US" sz="1450" dirty="0"/>
          </a:p>
        </p:txBody>
      </p:sp>
      <p:sp>
        <p:nvSpPr>
          <p:cNvPr id="12" name="Text 10"/>
          <p:cNvSpPr txBox="1"/>
          <p:nvPr/>
        </p:nvSpPr>
        <p:spPr>
          <a:xfrm>
            <a:off x="640080" y="3044952"/>
            <a:ext cx="10911535" cy="182880"/>
          </a:xfrm>
          <a:prstGeom prst="rect">
            <a:avLst/>
          </a:prstGeom>
          <a:noFill/>
          <a:ln/>
        </p:spPr>
        <p:txBody>
          <a:bodyPr wrap="square" lIns="0" tIns="0" rIns="0" bIns="0" rtlCol="0" anchor="ctr"/>
          <a:lstStyle/>
          <a:p>
            <a:pPr algn="ctr" indent="0" marL="0">
              <a:buNone/>
            </a:pPr>
            <a:r>
              <a:rPr lang="en-US" sz="1200" dirty="0">
                <a:solidFill>
                  <a:srgbClr val="6FA3E0"/>
                </a:solidFill>
              </a:rPr>
              <a:t>↓</a:t>
            </a:r>
            <a:endParaRPr lang="en-US" sz="1200" dirty="0"/>
          </a:p>
        </p:txBody>
      </p:sp>
      <p:sp>
        <p:nvSpPr>
          <p:cNvPr id="13" name="Text 11"/>
          <p:cNvSpPr txBox="1"/>
          <p:nvPr/>
        </p:nvSpPr>
        <p:spPr>
          <a:xfrm>
            <a:off x="640080" y="3246120"/>
            <a:ext cx="10911535" cy="310896"/>
          </a:xfrm>
          <a:prstGeom prst="rect">
            <a:avLst/>
          </a:prstGeom>
          <a:noFill/>
          <a:ln/>
        </p:spPr>
        <p:txBody>
          <a:bodyPr wrap="square" lIns="0" tIns="0" rIns="0" bIns="0" rtlCol="0" anchor="ctr"/>
          <a:lstStyle/>
          <a:p>
            <a:pPr algn="ctr" indent="0" marL="0">
              <a:buNone/>
            </a:pPr>
            <a:r>
              <a:rPr lang="en-US" sz="1450" dirty="0">
                <a:solidFill>
                  <a:srgbClr val="E7ECF6"/>
                </a:solidFill>
                <a:latin typeface="Cambria" pitchFamily="34" charset="0"/>
                <a:ea typeface="Cambria" pitchFamily="34" charset="-122"/>
                <a:cs typeface="Cambria" pitchFamily="34" charset="-120"/>
              </a:rPr>
              <a:t>Parameter Initialization</a:t>
            </a:r>
            <a:endParaRPr lang="en-US" sz="1450" dirty="0"/>
          </a:p>
        </p:txBody>
      </p:sp>
      <p:sp>
        <p:nvSpPr>
          <p:cNvPr id="14" name="Text 12"/>
          <p:cNvSpPr txBox="1"/>
          <p:nvPr/>
        </p:nvSpPr>
        <p:spPr>
          <a:xfrm>
            <a:off x="640080" y="3538728"/>
            <a:ext cx="10911535" cy="182880"/>
          </a:xfrm>
          <a:prstGeom prst="rect">
            <a:avLst/>
          </a:prstGeom>
          <a:noFill/>
          <a:ln/>
        </p:spPr>
        <p:txBody>
          <a:bodyPr wrap="square" lIns="0" tIns="0" rIns="0" bIns="0" rtlCol="0" anchor="ctr"/>
          <a:lstStyle/>
          <a:p>
            <a:pPr algn="ctr" indent="0" marL="0">
              <a:buNone/>
            </a:pPr>
            <a:r>
              <a:rPr lang="en-US" sz="1200" dirty="0">
                <a:solidFill>
                  <a:srgbClr val="6FA3E0"/>
                </a:solidFill>
              </a:rPr>
              <a:t>↓</a:t>
            </a:r>
            <a:endParaRPr lang="en-US" sz="1200" dirty="0"/>
          </a:p>
        </p:txBody>
      </p:sp>
      <p:sp>
        <p:nvSpPr>
          <p:cNvPr id="15" name="Text 13"/>
          <p:cNvSpPr txBox="1"/>
          <p:nvPr/>
        </p:nvSpPr>
        <p:spPr>
          <a:xfrm>
            <a:off x="640080" y="3739896"/>
            <a:ext cx="10911535" cy="310896"/>
          </a:xfrm>
          <a:prstGeom prst="rect">
            <a:avLst/>
          </a:prstGeom>
          <a:noFill/>
          <a:ln/>
        </p:spPr>
        <p:txBody>
          <a:bodyPr wrap="square" lIns="0" tIns="0" rIns="0" bIns="0" rtlCol="0" anchor="ctr"/>
          <a:lstStyle/>
          <a:p>
            <a:pPr algn="ctr" indent="0" marL="0">
              <a:buNone/>
            </a:pPr>
            <a:r>
              <a:rPr lang="en-US" sz="1450" b="1" dirty="0">
                <a:solidFill>
                  <a:srgbClr val="6FA3E0"/>
                </a:solidFill>
                <a:latin typeface="Cambria" pitchFamily="34" charset="0"/>
                <a:ea typeface="Cambria" pitchFamily="34" charset="-122"/>
                <a:cs typeface="Cambria" pitchFamily="34" charset="-120"/>
              </a:rPr>
              <a:t>Stable Training</a:t>
            </a:r>
            <a:endParaRPr lang="en-US" sz="1450" dirty="0"/>
          </a:p>
        </p:txBody>
      </p:sp>
      <p:sp>
        <p:nvSpPr>
          <p:cNvPr id="16" name="Text 14"/>
          <p:cNvSpPr txBox="1"/>
          <p:nvPr/>
        </p:nvSpPr>
        <p:spPr>
          <a:xfrm>
            <a:off x="640080" y="4306824"/>
            <a:ext cx="10911535" cy="777240"/>
          </a:xfrm>
          <a:prstGeom prst="rect">
            <a:avLst/>
          </a:prstGeom>
          <a:noFill/>
          <a:ln/>
        </p:spPr>
        <p:txBody>
          <a:bodyPr wrap="square" lIns="0" tIns="0" rIns="0" bIns="0" rtlCol="0" anchor="ctr"/>
          <a:lstStyle/>
          <a:p>
            <a:pPr indent="0" marL="0">
              <a:buNone/>
            </a:pPr>
            <a:r>
              <a:rPr lang="en-US" sz="1100" b="1" i="1" dirty="0">
                <a:solidFill>
                  <a:srgbClr val="CADCFC"/>
                </a:solidFill>
                <a:latin typeface="Calibri" pitchFamily="34" charset="0"/>
                <a:ea typeface="Calibri" pitchFamily="34" charset="-122"/>
                <a:cs typeface="Calibri" pitchFamily="34" charset="-120"/>
              </a:rPr>
              <a:t>Trả lời câu hỏi nghiên cứu (Slide 2): Initialization quyết định scale khởi đầu của activation (forward) và gradient (backward). Scale sai có thể gây symmetry failure, vanishing, hoặc exploding; các scheme theo fan-in/fan-out như Xavier/He cải thiện đáng kể khả năng huấn luyện được trên MLP sâu đã khảo sát trong project này.</a:t>
            </a:r>
            <a:endParaRPr lang="en-US" sz="1100" dirty="0"/>
          </a:p>
        </p:txBody>
      </p:sp>
      <p:sp>
        <p:nvSpPr>
          <p:cNvPr id="17" name="Text 15"/>
          <p:cNvSpPr txBox="1"/>
          <p:nvPr/>
        </p:nvSpPr>
        <p:spPr>
          <a:xfrm>
            <a:off x="640080" y="5129784"/>
            <a:ext cx="10911535" cy="1463040"/>
          </a:xfrm>
          <a:prstGeom prst="rect">
            <a:avLst/>
          </a:prstGeom>
          <a:noFill/>
          <a:ln/>
        </p:spPr>
        <p:txBody>
          <a:bodyPr wrap="square" lIns="0" tIns="0" rIns="0" bIns="0" rtlCol="0" anchor="t"/>
          <a:lstStyle/>
          <a:p>
            <a:pPr indent="0" marL="0">
              <a:spcAft>
                <a:spcPts val="400"/>
              </a:spcAft>
              <a:buNone/>
            </a:pPr>
            <a:r>
              <a:rPr lang="en-US" sz="1000" dirty="0">
                <a:solidFill>
                  <a:srgbClr val="CADCFC"/>
                </a:solidFill>
                <a:latin typeface="Calibri" pitchFamily="34" charset="0"/>
                <a:ea typeface="Calibri" pitchFamily="34" charset="-122"/>
                <a:cs typeface="Calibri" pitchFamily="34" charset="-120"/>
              </a:rPr>
              <a:t>1. Backpropagation là thuật toán tính gradient hiệu quả bằng cách áp dụng chain rule ngược qua computational graph, tái sử dụng đạo hàm cục bộ (reverse-mode autodiff) — đặc biệt hiệu quả khi một scalar loss phụ thuộc vào rất nhiều tham số, đúng bối cảnh Deep Learning.</a:t>
            </a:r>
            <a:endParaRPr lang="en-US" sz="1000" dirty="0"/>
          </a:p>
          <a:p>
            <a:pPr indent="0" marL="0">
              <a:spcAft>
                <a:spcPts val="400"/>
              </a:spcAft>
              <a:buNone/>
            </a:pPr>
            <a:r>
              <a:rPr lang="en-US" sz="1000" dirty="0">
                <a:solidFill>
                  <a:srgbClr val="CADCFC"/>
                </a:solidFill>
                <a:latin typeface="Calibri" pitchFamily="34" charset="0"/>
                <a:ea typeface="Calibri" pitchFamily="34" charset="-122"/>
                <a:cs typeface="Calibri" pitchFamily="34" charset="-120"/>
              </a:rPr>
              <a:t>2. Trong mạng sâu, gradient phụ thuộc vào tích của nhiều Jacobian/weight transformation — scale của gradient có thể vanish hoặc explode.</a:t>
            </a:r>
            <a:endParaRPr lang="en-US" sz="1000" dirty="0"/>
          </a:p>
          <a:p>
            <a:pPr indent="0" marL="0">
              <a:spcAft>
                <a:spcPts val="400"/>
              </a:spcAft>
              <a:buNone/>
            </a:pPr>
            <a:r>
              <a:rPr lang="en-US" sz="1000" dirty="0">
                <a:solidFill>
                  <a:srgbClr val="CADCFC"/>
                </a:solidFill>
                <a:latin typeface="Calibri" pitchFamily="34" charset="0"/>
                <a:ea typeface="Calibri" pitchFamily="34" charset="-122"/>
                <a:cs typeface="Calibri" pitchFamily="34" charset="-120"/>
              </a:rPr>
              <a:t>3. Xavier và He chọn scale of initial weights dựa trên fan-in/fan-out để giữ activation và gradient trong phạm vi hợp lý, dưới các giả định nhất định.</a:t>
            </a:r>
            <a:endParaRPr lang="en-US" sz="1000" dirty="0"/>
          </a:p>
          <a:p>
            <a:pPr indent="0" marL="0">
              <a:spcAft>
                <a:spcPts val="400"/>
              </a:spcAft>
              <a:buNone/>
            </a:pPr>
            <a:r>
              <a:rPr lang="en-US" sz="1000" dirty="0">
                <a:solidFill>
                  <a:srgbClr val="CADCFC"/>
                </a:solidFill>
                <a:latin typeface="Calibri" pitchFamily="34" charset="0"/>
                <a:ea typeface="Calibri" pitchFamily="34" charset="-122"/>
                <a:cs typeface="Calibri" pitchFamily="34" charset="-120"/>
              </a:rPr>
              <a:t>4. Good initialization cải thiện optimization và gradient flow, nhưng không đảm bảo generalization tốt.</a:t>
            </a:r>
            <a:endParaRPr lang="en-US" sz="1000" dirty="0"/>
          </a:p>
        </p:txBody>
      </p:sp>
      <p:sp>
        <p:nvSpPr>
          <p:cNvPr id="18" name="Shape 16"/>
          <p:cNvSpPr/>
          <p:nvPr/>
        </p:nvSpPr>
        <p:spPr>
          <a:xfrm>
            <a:off x="610362" y="6473952"/>
            <a:ext cx="59436" cy="59436"/>
          </a:xfrm>
          <a:prstGeom prst="ellipse">
            <a:avLst/>
          </a:prstGeom>
          <a:solidFill>
            <a:srgbClr val="3A4A70"/>
          </a:solidFill>
          <a:ln/>
        </p:spPr>
      </p:sp>
      <p:sp>
        <p:nvSpPr>
          <p:cNvPr id="19" name="Shape 17"/>
          <p:cNvSpPr/>
          <p:nvPr/>
        </p:nvSpPr>
        <p:spPr>
          <a:xfrm>
            <a:off x="829818" y="6473952"/>
            <a:ext cx="59436" cy="59436"/>
          </a:xfrm>
          <a:prstGeom prst="ellipse">
            <a:avLst/>
          </a:prstGeom>
          <a:solidFill>
            <a:srgbClr val="3A4A70"/>
          </a:solidFill>
          <a:ln/>
        </p:spPr>
      </p:sp>
      <p:sp>
        <p:nvSpPr>
          <p:cNvPr id="20" name="Shape 18"/>
          <p:cNvSpPr/>
          <p:nvPr/>
        </p:nvSpPr>
        <p:spPr>
          <a:xfrm>
            <a:off x="1049274" y="6473952"/>
            <a:ext cx="59436" cy="59436"/>
          </a:xfrm>
          <a:prstGeom prst="ellipse">
            <a:avLst/>
          </a:prstGeom>
          <a:solidFill>
            <a:srgbClr val="3A4A70"/>
          </a:solidFill>
          <a:ln/>
        </p:spPr>
      </p:sp>
      <p:sp>
        <p:nvSpPr>
          <p:cNvPr id="21" name="Shape 19"/>
          <p:cNvSpPr/>
          <p:nvPr/>
        </p:nvSpPr>
        <p:spPr>
          <a:xfrm>
            <a:off x="1253871" y="6459093"/>
            <a:ext cx="89154" cy="89154"/>
          </a:xfrm>
          <a:prstGeom prst="ellipse">
            <a:avLst/>
          </a:prstGeom>
          <a:solidFill>
            <a:srgbClr val="6FA3E0"/>
          </a:solidFill>
          <a:ln/>
        </p:spPr>
      </p:sp>
      <p:sp>
        <p:nvSpPr>
          <p:cNvPr id="22" name="Text 20"/>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6FA3E0"/>
                </a:solidFill>
                <a:latin typeface="Calibri" pitchFamily="34" charset="0"/>
                <a:ea typeface="Calibri" pitchFamily="34" charset="-122"/>
                <a:cs typeface="Calibri" pitchFamily="34" charset="-120"/>
              </a:rPr>
              <a:t>CONCLUSION</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MỞ RỘNG (THAM KHẢO)</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400" b="1" dirty="0">
                <a:solidFill>
                  <a:srgbClr val="1A2238"/>
                </a:solidFill>
                <a:latin typeface="Cambria" pitchFamily="34" charset="0"/>
                <a:ea typeface="Cambria" pitchFamily="34" charset="-122"/>
                <a:cs typeface="Cambria" pitchFamily="34" charset="-120"/>
              </a:rPr>
              <a:t>Từ Initialization tới mạng hiện đại</a:t>
            </a:r>
            <a:endParaRPr lang="en-US" sz="2400" dirty="0"/>
          </a:p>
        </p:txBody>
      </p:sp>
      <p:sp>
        <p:nvSpPr>
          <p:cNvPr id="4" name="Shape 2"/>
          <p:cNvSpPr/>
          <p:nvPr/>
        </p:nvSpPr>
        <p:spPr>
          <a:xfrm>
            <a:off x="4541368" y="1828800"/>
            <a:ext cx="3108960" cy="502920"/>
          </a:xfrm>
          <a:prstGeom prst="roundRect">
            <a:avLst>
              <a:gd name="adj" fmla="val 10909"/>
            </a:avLst>
          </a:prstGeom>
          <a:solidFill>
            <a:srgbClr val="EAF0FB"/>
          </a:solidFill>
          <a:ln w="15875">
            <a:solidFill>
              <a:srgbClr val="285AB4"/>
            </a:solidFill>
            <a:prstDash val="solid"/>
          </a:ln>
        </p:spPr>
      </p:sp>
      <p:sp>
        <p:nvSpPr>
          <p:cNvPr id="5" name="Text 3"/>
          <p:cNvSpPr txBox="1"/>
          <p:nvPr/>
        </p:nvSpPr>
        <p:spPr>
          <a:xfrm>
            <a:off x="4541368" y="1828800"/>
            <a:ext cx="3108960" cy="502920"/>
          </a:xfrm>
          <a:prstGeom prst="rect">
            <a:avLst/>
          </a:prstGeom>
          <a:noFill/>
          <a:ln/>
        </p:spPr>
        <p:txBody>
          <a:bodyPr wrap="square" lIns="0" tIns="0" rIns="0" bIns="0" rtlCol="0" anchor="ctr"/>
          <a:lstStyle/>
          <a:p>
            <a:pPr algn="ctr" indent="0" marL="0">
              <a:buNone/>
            </a:pPr>
            <a:r>
              <a:rPr lang="en-US" sz="1400" dirty="0">
                <a:solidFill>
                  <a:srgbClr val="1A2238"/>
                </a:solidFill>
                <a:latin typeface="Cambria Math" pitchFamily="34" charset="0"/>
                <a:ea typeface="Cambria Math" pitchFamily="34" charset="-122"/>
                <a:cs typeface="Cambria Math" pitchFamily="34" charset="-120"/>
              </a:rPr>
              <a:t>Initialization</a:t>
            </a:r>
            <a:endParaRPr lang="en-US" sz="1400" dirty="0"/>
          </a:p>
        </p:txBody>
      </p:sp>
      <p:sp>
        <p:nvSpPr>
          <p:cNvPr id="6" name="Shape 4"/>
          <p:cNvSpPr/>
          <p:nvPr/>
        </p:nvSpPr>
        <p:spPr>
          <a:xfrm>
            <a:off x="6095848" y="2331720"/>
            <a:ext cx="0" cy="320040"/>
          </a:xfrm>
          <a:prstGeom prst="line">
            <a:avLst/>
          </a:prstGeom>
          <a:noFill/>
          <a:ln w="25400">
            <a:solidFill>
              <a:srgbClr val="285AB4"/>
            </a:solidFill>
            <a:prstDash val="solid"/>
            <a:tailEnd type="triangle"/>
          </a:ln>
        </p:spPr>
      </p:sp>
      <p:sp>
        <p:nvSpPr>
          <p:cNvPr id="7" name="Shape 5"/>
          <p:cNvSpPr/>
          <p:nvPr/>
        </p:nvSpPr>
        <p:spPr>
          <a:xfrm>
            <a:off x="4541368" y="2651760"/>
            <a:ext cx="3108960" cy="502920"/>
          </a:xfrm>
          <a:prstGeom prst="roundRect">
            <a:avLst>
              <a:gd name="adj" fmla="val 10909"/>
            </a:avLst>
          </a:prstGeom>
          <a:solidFill>
            <a:srgbClr val="F1F4F9"/>
          </a:solidFill>
          <a:ln w="15875">
            <a:solidFill>
              <a:srgbClr val="D9DEE8"/>
            </a:solidFill>
            <a:prstDash val="solid"/>
          </a:ln>
        </p:spPr>
      </p:sp>
      <p:sp>
        <p:nvSpPr>
          <p:cNvPr id="8" name="Text 6"/>
          <p:cNvSpPr txBox="1"/>
          <p:nvPr/>
        </p:nvSpPr>
        <p:spPr>
          <a:xfrm>
            <a:off x="4541368" y="2651760"/>
            <a:ext cx="3108960" cy="502920"/>
          </a:xfrm>
          <a:prstGeom prst="rect">
            <a:avLst/>
          </a:prstGeom>
          <a:noFill/>
          <a:ln/>
        </p:spPr>
        <p:txBody>
          <a:bodyPr wrap="square" lIns="0" tIns="0" rIns="0" bIns="0" rtlCol="0" anchor="ctr"/>
          <a:lstStyle/>
          <a:p>
            <a:pPr algn="ctr" indent="0" marL="0">
              <a:buNone/>
            </a:pPr>
            <a:r>
              <a:rPr lang="en-US" sz="1400" dirty="0">
                <a:solidFill>
                  <a:srgbClr val="1A2238"/>
                </a:solidFill>
                <a:latin typeface="Cambria Math" pitchFamily="34" charset="0"/>
                <a:ea typeface="Cambria Math" pitchFamily="34" charset="-122"/>
                <a:cs typeface="Cambria Math" pitchFamily="34" charset="-120"/>
              </a:rPr>
              <a:t>+ Normalization</a:t>
            </a:r>
            <a:endParaRPr lang="en-US" sz="1400" dirty="0"/>
          </a:p>
        </p:txBody>
      </p:sp>
      <p:sp>
        <p:nvSpPr>
          <p:cNvPr id="9" name="Shape 7"/>
          <p:cNvSpPr/>
          <p:nvPr/>
        </p:nvSpPr>
        <p:spPr>
          <a:xfrm>
            <a:off x="6095848" y="3154680"/>
            <a:ext cx="0" cy="320040"/>
          </a:xfrm>
          <a:prstGeom prst="line">
            <a:avLst/>
          </a:prstGeom>
          <a:noFill/>
          <a:ln w="25400">
            <a:solidFill>
              <a:srgbClr val="285AB4"/>
            </a:solidFill>
            <a:prstDash val="solid"/>
            <a:tailEnd type="triangle"/>
          </a:ln>
        </p:spPr>
      </p:sp>
      <p:sp>
        <p:nvSpPr>
          <p:cNvPr id="10" name="Shape 8"/>
          <p:cNvSpPr/>
          <p:nvPr/>
        </p:nvSpPr>
        <p:spPr>
          <a:xfrm>
            <a:off x="4541368" y="3474720"/>
            <a:ext cx="3108960" cy="502920"/>
          </a:xfrm>
          <a:prstGeom prst="roundRect">
            <a:avLst>
              <a:gd name="adj" fmla="val 10909"/>
            </a:avLst>
          </a:prstGeom>
          <a:solidFill>
            <a:srgbClr val="F1F4F9"/>
          </a:solidFill>
          <a:ln w="15875">
            <a:solidFill>
              <a:srgbClr val="D9DEE8"/>
            </a:solidFill>
            <a:prstDash val="solid"/>
          </a:ln>
        </p:spPr>
      </p:sp>
      <p:sp>
        <p:nvSpPr>
          <p:cNvPr id="11" name="Text 9"/>
          <p:cNvSpPr txBox="1"/>
          <p:nvPr/>
        </p:nvSpPr>
        <p:spPr>
          <a:xfrm>
            <a:off x="4541368" y="3474720"/>
            <a:ext cx="3108960" cy="502920"/>
          </a:xfrm>
          <a:prstGeom prst="rect">
            <a:avLst/>
          </a:prstGeom>
          <a:noFill/>
          <a:ln/>
        </p:spPr>
        <p:txBody>
          <a:bodyPr wrap="square" lIns="0" tIns="0" rIns="0" bIns="0" rtlCol="0" anchor="ctr"/>
          <a:lstStyle/>
          <a:p>
            <a:pPr algn="ctr" indent="0" marL="0">
              <a:buNone/>
            </a:pPr>
            <a:r>
              <a:rPr lang="en-US" sz="1400" dirty="0">
                <a:solidFill>
                  <a:srgbClr val="1A2238"/>
                </a:solidFill>
                <a:latin typeface="Cambria Math" pitchFamily="34" charset="0"/>
                <a:ea typeface="Cambria Math" pitchFamily="34" charset="-122"/>
                <a:cs typeface="Cambria Math" pitchFamily="34" charset="-120"/>
              </a:rPr>
              <a:t>+ Residual Connections</a:t>
            </a:r>
            <a:endParaRPr lang="en-US" sz="1400" dirty="0"/>
          </a:p>
        </p:txBody>
      </p:sp>
      <p:sp>
        <p:nvSpPr>
          <p:cNvPr id="12" name="Shape 10"/>
          <p:cNvSpPr/>
          <p:nvPr/>
        </p:nvSpPr>
        <p:spPr>
          <a:xfrm>
            <a:off x="4541368" y="4297680"/>
            <a:ext cx="3108960" cy="502920"/>
          </a:xfrm>
          <a:prstGeom prst="roundRect">
            <a:avLst>
              <a:gd name="adj" fmla="val 10909"/>
            </a:avLst>
          </a:prstGeom>
          <a:solidFill>
            <a:srgbClr val="FBEEEC"/>
          </a:solidFill>
          <a:ln w="15875">
            <a:solidFill>
              <a:srgbClr val="BE3C32"/>
            </a:solidFill>
            <a:prstDash val="solid"/>
          </a:ln>
        </p:spPr>
      </p:sp>
      <p:sp>
        <p:nvSpPr>
          <p:cNvPr id="13" name="Text 11"/>
          <p:cNvSpPr txBox="1"/>
          <p:nvPr/>
        </p:nvSpPr>
        <p:spPr>
          <a:xfrm>
            <a:off x="4541368" y="4297680"/>
            <a:ext cx="3108960" cy="502920"/>
          </a:xfrm>
          <a:prstGeom prst="rect">
            <a:avLst/>
          </a:prstGeom>
          <a:noFill/>
          <a:ln/>
        </p:spPr>
        <p:txBody>
          <a:bodyPr wrap="square" lIns="0" tIns="0" rIns="0" bIns="0" rtlCol="0" anchor="ctr"/>
          <a:lstStyle/>
          <a:p>
            <a:pPr algn="ctr" indent="0" marL="0">
              <a:buNone/>
            </a:pPr>
            <a:r>
              <a:rPr lang="en-US" sz="1400" dirty="0">
                <a:solidFill>
                  <a:srgbClr val="1A2238"/>
                </a:solidFill>
                <a:latin typeface="Cambria Math" pitchFamily="34" charset="0"/>
                <a:ea typeface="Cambria Math" pitchFamily="34" charset="-122"/>
                <a:cs typeface="Cambria Math" pitchFamily="34" charset="-120"/>
              </a:rPr>
              <a:t>Modern Deep Networks</a:t>
            </a:r>
            <a:endParaRPr lang="en-US" sz="1400" dirty="0"/>
          </a:p>
        </p:txBody>
      </p:sp>
      <p:sp>
        <p:nvSpPr>
          <p:cNvPr id="14" name="Shape 12"/>
          <p:cNvSpPr/>
          <p:nvPr/>
        </p:nvSpPr>
        <p:spPr>
          <a:xfrm>
            <a:off x="6095848" y="3977640"/>
            <a:ext cx="0" cy="320040"/>
          </a:xfrm>
          <a:prstGeom prst="line">
            <a:avLst/>
          </a:prstGeom>
          <a:noFill/>
          <a:ln w="25400">
            <a:solidFill>
              <a:srgbClr val="285AB4"/>
            </a:solidFill>
            <a:prstDash val="solid"/>
            <a:tailEnd type="triangle"/>
          </a:ln>
        </p:spPr>
      </p:sp>
      <p:sp>
        <p:nvSpPr>
          <p:cNvPr id="15" name="Text 13"/>
          <p:cNvSpPr txBox="1"/>
          <p:nvPr/>
        </p:nvSpPr>
        <p:spPr>
          <a:xfrm>
            <a:off x="640080" y="5212080"/>
            <a:ext cx="10911535" cy="1828800"/>
          </a:xfrm>
          <a:prstGeom prst="rect">
            <a:avLst/>
          </a:prstGeom>
          <a:noFill/>
          <a:ln/>
        </p:spPr>
        <p:txBody>
          <a:bodyPr wrap="square" lIns="0" tIns="0" rIns="0" bIns="0" rtlCol="0" anchor="t"/>
          <a:lstStyle/>
          <a:p>
            <a:pPr marL="228600" indent="-228600">
              <a:spcAft>
                <a:spcPts val="800"/>
              </a:spcAft>
              <a:buSzPct val="100000"/>
              <a:buChar char="▪"/>
            </a:pPr>
            <a:r>
              <a:rPr lang="en-US" sz="1350" dirty="0">
                <a:solidFill>
                  <a:srgbClr val="1A2238"/>
                </a:solidFill>
                <a:latin typeface="Calibri" pitchFamily="34" charset="0"/>
                <a:ea typeface="Calibri" pitchFamily="34" charset="-122"/>
                <a:cs typeface="Calibri" pitchFamily="34" charset="-120"/>
              </a:rPr>
              <a:t>Batch Normalization / Layer Normalization — chuẩn hoá lại tín hiệu MỖI lớp, không chỉ dựa vào 1 lần khởi tạo</a:t>
            </a:r>
            <a:endParaRPr lang="en-US" sz="1350" dirty="0"/>
          </a:p>
          <a:p>
            <a:pPr marL="228600" indent="-228600">
              <a:spcAft>
                <a:spcPts val="800"/>
              </a:spcAft>
              <a:buSzPct val="100000"/>
              <a:buChar char="▪"/>
            </a:pPr>
            <a:r>
              <a:rPr lang="en-US" sz="1350" dirty="0">
                <a:solidFill>
                  <a:srgbClr val="1A2238"/>
                </a:solidFill>
                <a:latin typeface="Calibri" pitchFamily="34" charset="0"/>
                <a:ea typeface="Calibri" pitchFamily="34" charset="-122"/>
                <a:cs typeface="Calibri" pitchFamily="34" charset="-120"/>
              </a:rPr>
              <a:t>Residual Networks — cho gradient một 'đường tắt' (skip connection) bỏ qua tích luỹ nhiều lớp</a:t>
            </a:r>
            <a:endParaRPr lang="en-US" sz="1350" dirty="0"/>
          </a:p>
          <a:p>
            <a:pPr marL="228600" indent="-228600">
              <a:spcAft>
                <a:spcPts val="800"/>
              </a:spcAft>
              <a:buSzPct val="100000"/>
              <a:buChar char="▪"/>
            </a:pPr>
            <a:r>
              <a:rPr lang="en-US" sz="1350" dirty="0">
                <a:solidFill>
                  <a:srgbClr val="1A2238"/>
                </a:solidFill>
                <a:latin typeface="Calibri" pitchFamily="34" charset="0"/>
                <a:ea typeface="Calibri" pitchFamily="34" charset="-122"/>
                <a:cs typeface="Calibri" pitchFamily="34" charset="-120"/>
              </a:rPr>
              <a:t>Gradient Clipping — chặn cứng exploding gradient bất kể nguyên nhân</a:t>
            </a:r>
            <a:endParaRPr lang="en-US" sz="1350" dirty="0"/>
          </a:p>
        </p:txBody>
      </p:sp>
      <p:sp>
        <p:nvSpPr>
          <p:cNvPr id="16" name="Text 14"/>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30/31</a:t>
            </a:r>
            <a:endParaRPr lang="en-US" sz="900" dirty="0"/>
          </a:p>
        </p:txBody>
      </p:sp>
      <p:sp>
        <p:nvSpPr>
          <p:cNvPr id="17" name="Shape 15"/>
          <p:cNvSpPr/>
          <p:nvPr/>
        </p:nvSpPr>
        <p:spPr>
          <a:xfrm>
            <a:off x="610362" y="6473952"/>
            <a:ext cx="59436" cy="59436"/>
          </a:xfrm>
          <a:prstGeom prst="ellipse">
            <a:avLst/>
          </a:prstGeom>
          <a:solidFill>
            <a:srgbClr val="D9DEE8"/>
          </a:solidFill>
          <a:ln/>
        </p:spPr>
      </p:sp>
      <p:sp>
        <p:nvSpPr>
          <p:cNvPr id="18" name="Shape 16"/>
          <p:cNvSpPr/>
          <p:nvPr/>
        </p:nvSpPr>
        <p:spPr>
          <a:xfrm>
            <a:off x="829818" y="6473952"/>
            <a:ext cx="59436" cy="59436"/>
          </a:xfrm>
          <a:prstGeom prst="ellipse">
            <a:avLst/>
          </a:prstGeom>
          <a:solidFill>
            <a:srgbClr val="D9DEE8"/>
          </a:solidFill>
          <a:ln/>
        </p:spPr>
      </p:sp>
      <p:sp>
        <p:nvSpPr>
          <p:cNvPr id="19" name="Shape 17"/>
          <p:cNvSpPr/>
          <p:nvPr/>
        </p:nvSpPr>
        <p:spPr>
          <a:xfrm>
            <a:off x="1049274" y="6473952"/>
            <a:ext cx="59436" cy="59436"/>
          </a:xfrm>
          <a:prstGeom prst="ellipse">
            <a:avLst/>
          </a:prstGeom>
          <a:solidFill>
            <a:srgbClr val="D9DEE8"/>
          </a:solidFill>
          <a:ln/>
        </p:spPr>
      </p:sp>
      <p:sp>
        <p:nvSpPr>
          <p:cNvPr id="20" name="Shape 18"/>
          <p:cNvSpPr/>
          <p:nvPr/>
        </p:nvSpPr>
        <p:spPr>
          <a:xfrm>
            <a:off x="1253871" y="6459093"/>
            <a:ext cx="89154" cy="89154"/>
          </a:xfrm>
          <a:prstGeom prst="ellipse">
            <a:avLst/>
          </a:prstGeom>
          <a:solidFill>
            <a:srgbClr val="285AB4"/>
          </a:solidFill>
          <a:ln/>
        </p:spPr>
      </p:sp>
      <p:sp>
        <p:nvSpPr>
          <p:cNvPr id="21" name="Text 19"/>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CONCLUSION</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6213E"/>
        </a:solidFill>
      </p:bgPr>
    </p:bg>
    <p:spTree>
      <p:nvGrpSpPr>
        <p:cNvPr id="1" name=""/>
        <p:cNvGrpSpPr/>
        <p:nvPr/>
      </p:nvGrpSpPr>
      <p:grpSpPr>
        <a:xfrm>
          <a:off x="0" y="0"/>
          <a:ext cx="0" cy="0"/>
          <a:chOff x="0" y="0"/>
          <a:chExt cx="0" cy="0"/>
        </a:xfrm>
      </p:grpSpPr>
      <p:sp>
        <p:nvSpPr>
          <p:cNvPr id="2" name="Text 0"/>
          <p:cNvSpPr txBox="1"/>
          <p:nvPr/>
        </p:nvSpPr>
        <p:spPr>
          <a:xfrm>
            <a:off x="640080" y="502920"/>
            <a:ext cx="9144000" cy="320040"/>
          </a:xfrm>
          <a:prstGeom prst="rect">
            <a:avLst/>
          </a:prstGeom>
          <a:noFill/>
          <a:ln/>
        </p:spPr>
        <p:txBody>
          <a:bodyPr wrap="square" lIns="0" tIns="0" rIns="0" bIns="0" rtlCol="0" anchor="ctr"/>
          <a:lstStyle/>
          <a:p>
            <a:pPr indent="0" marL="0">
              <a:buNone/>
            </a:pPr>
            <a:r>
              <a:rPr lang="en-US" sz="1300" b="1" spc="100" kern="0" dirty="0">
                <a:solidFill>
                  <a:srgbClr val="8FA3C9"/>
                </a:solidFill>
                <a:latin typeface="Calibri" pitchFamily="34" charset="0"/>
                <a:ea typeface="Calibri" pitchFamily="34" charset="-122"/>
                <a:cs typeface="Calibri" pitchFamily="34" charset="-120"/>
              </a:rPr>
              <a:t>TÀI LIỆU THAM KHẢO</a:t>
            </a:r>
            <a:endParaRPr lang="en-US" sz="1300" dirty="0"/>
          </a:p>
        </p:txBody>
      </p:sp>
      <p:sp>
        <p:nvSpPr>
          <p:cNvPr id="3" name="Text 1"/>
          <p:cNvSpPr txBox="1"/>
          <p:nvPr/>
        </p:nvSpPr>
        <p:spPr>
          <a:xfrm>
            <a:off x="640080" y="914400"/>
            <a:ext cx="10911535" cy="822960"/>
          </a:xfrm>
          <a:prstGeom prst="rect">
            <a:avLst/>
          </a:prstGeom>
          <a:noFill/>
          <a:ln/>
        </p:spPr>
        <p:txBody>
          <a:bodyPr wrap="square" lIns="0" tIns="0" rIns="0" bIns="0" rtlCol="0" anchor="t"/>
          <a:lstStyle/>
          <a:p>
            <a:pPr indent="0" marL="0">
              <a:buNone/>
            </a:pPr>
            <a:r>
              <a:rPr lang="en-US" sz="2900" b="1" dirty="0">
                <a:solidFill>
                  <a:srgbClr val="FFFFFF"/>
                </a:solidFill>
                <a:latin typeface="Cambria" pitchFamily="34" charset="0"/>
                <a:ea typeface="Cambria" pitchFamily="34" charset="-122"/>
                <a:cs typeface="Cambria" pitchFamily="34" charset="-120"/>
              </a:rPr>
              <a:t>References</a:t>
            </a:r>
            <a:endParaRPr lang="en-US" sz="2900" dirty="0"/>
          </a:p>
        </p:txBody>
      </p:sp>
      <p:sp>
        <p:nvSpPr>
          <p:cNvPr id="4" name="Text 2"/>
          <p:cNvSpPr txBox="1"/>
          <p:nvPr/>
        </p:nvSpPr>
        <p:spPr>
          <a:xfrm>
            <a:off x="640080" y="1783080"/>
            <a:ext cx="10911535" cy="4572000"/>
          </a:xfrm>
          <a:prstGeom prst="rect">
            <a:avLst/>
          </a:prstGeom>
          <a:noFill/>
          <a:ln/>
        </p:spPr>
        <p:txBody>
          <a:bodyPr wrap="square" lIns="0" tIns="0" rIns="0" bIns="0" rtlCol="0" anchor="t"/>
          <a:lstStyle/>
          <a:p>
            <a:pPr indent="0" marL="0">
              <a:spcAft>
                <a:spcPts val="1000"/>
              </a:spcAft>
              <a:buNone/>
            </a:pPr>
            <a:r>
              <a:rPr lang="en-US" sz="1300" dirty="0">
                <a:solidFill>
                  <a:srgbClr val="D8E0EF"/>
                </a:solidFill>
                <a:latin typeface="Calibri" pitchFamily="34" charset="0"/>
                <a:ea typeface="Calibri" pitchFamily="34" charset="-122"/>
                <a:cs typeface="Calibri" pitchFamily="34" charset="-120"/>
              </a:rPr>
              <a:t>[1] Rumelhart, Hinton &amp; Williams (1986). Learning representations by back-propagating errors. Nature, 323(6088):533–536.</a:t>
            </a:r>
            <a:endParaRPr lang="en-US" sz="1300" dirty="0"/>
          </a:p>
          <a:p>
            <a:pPr indent="0" marL="0">
              <a:spcAft>
                <a:spcPts val="1000"/>
              </a:spcAft>
              <a:buNone/>
            </a:pPr>
            <a:r>
              <a:rPr lang="en-US" sz="1300" dirty="0">
                <a:solidFill>
                  <a:srgbClr val="D8E0EF"/>
                </a:solidFill>
                <a:latin typeface="Calibri" pitchFamily="34" charset="0"/>
                <a:ea typeface="Calibri" pitchFamily="34" charset="-122"/>
                <a:cs typeface="Calibri" pitchFamily="34" charset="-120"/>
              </a:rPr>
              <a:t>[2] LeCun, Bottou, Orr &amp; Müller (1998/2012). Efficient BackProp. Neural Networks: Tricks of the Trade.</a:t>
            </a:r>
            <a:endParaRPr lang="en-US" sz="1300" dirty="0"/>
          </a:p>
          <a:p>
            <a:pPr indent="0" marL="0">
              <a:spcAft>
                <a:spcPts val="1000"/>
              </a:spcAft>
              <a:buNone/>
            </a:pPr>
            <a:r>
              <a:rPr lang="en-US" sz="1300" dirty="0">
                <a:solidFill>
                  <a:srgbClr val="D8E0EF"/>
                </a:solidFill>
                <a:latin typeface="Calibri" pitchFamily="34" charset="0"/>
                <a:ea typeface="Calibri" pitchFamily="34" charset="-122"/>
                <a:cs typeface="Calibri" pitchFamily="34" charset="-120"/>
              </a:rPr>
              <a:t>[3] Glorot &amp; Bengio (2010). Understanding the difficulty of training deep feedforward neural networks. AISTATS.</a:t>
            </a:r>
            <a:endParaRPr lang="en-US" sz="1300" dirty="0"/>
          </a:p>
          <a:p>
            <a:pPr indent="0" marL="0">
              <a:spcAft>
                <a:spcPts val="1000"/>
              </a:spcAft>
              <a:buNone/>
            </a:pPr>
            <a:r>
              <a:rPr lang="en-US" sz="1300" dirty="0">
                <a:solidFill>
                  <a:srgbClr val="D8E0EF"/>
                </a:solidFill>
                <a:latin typeface="Calibri" pitchFamily="34" charset="0"/>
                <a:ea typeface="Calibri" pitchFamily="34" charset="-122"/>
                <a:cs typeface="Calibri" pitchFamily="34" charset="-120"/>
              </a:rPr>
              <a:t>[4] He, Zhang, Ren &amp; Sun (2015). Delving Deep into Rectifiers. ICCV. arXiv:1502.01852.</a:t>
            </a:r>
            <a:endParaRPr lang="en-US" sz="1300" dirty="0"/>
          </a:p>
          <a:p>
            <a:pPr indent="0" marL="0">
              <a:spcAft>
                <a:spcPts val="1000"/>
              </a:spcAft>
              <a:buNone/>
            </a:pPr>
            <a:r>
              <a:rPr lang="en-US" sz="1300" dirty="0">
                <a:solidFill>
                  <a:srgbClr val="D8E0EF"/>
                </a:solidFill>
                <a:latin typeface="Calibri" pitchFamily="34" charset="0"/>
                <a:ea typeface="Calibri" pitchFamily="34" charset="-122"/>
                <a:cs typeface="Calibri" pitchFamily="34" charset="-120"/>
              </a:rPr>
              <a:t>[5] Goodfellow, Bengio &amp; Courville (2016). Deep Learning. MIT Press.</a:t>
            </a:r>
            <a:endParaRPr lang="en-US" sz="1300" dirty="0"/>
          </a:p>
          <a:p>
            <a:pPr indent="0" marL="0">
              <a:spcAft>
                <a:spcPts val="1000"/>
              </a:spcAft>
              <a:buNone/>
            </a:pPr>
            <a:r>
              <a:rPr lang="en-US" sz="1300" dirty="0">
                <a:solidFill>
                  <a:srgbClr val="D8E0EF"/>
                </a:solidFill>
                <a:latin typeface="Calibri" pitchFamily="34" charset="0"/>
                <a:ea typeface="Calibri" pitchFamily="34" charset="-122"/>
                <a:cs typeface="Calibri" pitchFamily="34" charset="-120"/>
              </a:rPr>
              <a:t>[6] Xiao, Rasul &amp; Vollgraf (2017). Fashion-MNIST. arXiv:1708.07747.</a:t>
            </a:r>
            <a:endParaRPr lang="en-US" sz="1300" dirty="0"/>
          </a:p>
          <a:p>
            <a:pPr indent="0" marL="0">
              <a:spcAft>
                <a:spcPts val="1000"/>
              </a:spcAft>
              <a:buNone/>
            </a:pPr>
            <a:r>
              <a:rPr lang="en-US" sz="1300" dirty="0">
                <a:solidFill>
                  <a:srgbClr val="D8E0EF"/>
                </a:solidFill>
                <a:latin typeface="Calibri" pitchFamily="34" charset="0"/>
                <a:ea typeface="Calibri" pitchFamily="34" charset="-122"/>
                <a:cs typeface="Calibri" pitchFamily="34" charset="-120"/>
              </a:rPr>
              <a:t>[7] Paszke et al. (2019). PyTorch: An Imperative Style, High-Performance Deep Learning Library. NeurIPS.</a:t>
            </a:r>
            <a:endParaRPr lang="en-US" sz="1300" dirty="0"/>
          </a:p>
        </p:txBody>
      </p:sp>
      <p:sp>
        <p:nvSpPr>
          <p:cNvPr id="5" name="Shape 3"/>
          <p:cNvSpPr/>
          <p:nvPr/>
        </p:nvSpPr>
        <p:spPr>
          <a:xfrm>
            <a:off x="610362" y="6473952"/>
            <a:ext cx="59436" cy="59436"/>
          </a:xfrm>
          <a:prstGeom prst="ellipse">
            <a:avLst/>
          </a:prstGeom>
          <a:solidFill>
            <a:srgbClr val="3A4A70"/>
          </a:solidFill>
          <a:ln/>
        </p:spPr>
      </p:sp>
      <p:sp>
        <p:nvSpPr>
          <p:cNvPr id="6" name="Shape 4"/>
          <p:cNvSpPr/>
          <p:nvPr/>
        </p:nvSpPr>
        <p:spPr>
          <a:xfrm>
            <a:off x="829818" y="6473952"/>
            <a:ext cx="59436" cy="59436"/>
          </a:xfrm>
          <a:prstGeom prst="ellipse">
            <a:avLst/>
          </a:prstGeom>
          <a:solidFill>
            <a:srgbClr val="3A4A70"/>
          </a:solidFill>
          <a:ln/>
        </p:spPr>
      </p:sp>
      <p:sp>
        <p:nvSpPr>
          <p:cNvPr id="7" name="Shape 5"/>
          <p:cNvSpPr/>
          <p:nvPr/>
        </p:nvSpPr>
        <p:spPr>
          <a:xfrm>
            <a:off x="1049274" y="6473952"/>
            <a:ext cx="59436" cy="59436"/>
          </a:xfrm>
          <a:prstGeom prst="ellipse">
            <a:avLst/>
          </a:prstGeom>
          <a:solidFill>
            <a:srgbClr val="3A4A70"/>
          </a:solidFill>
          <a:ln/>
        </p:spPr>
      </p:sp>
      <p:sp>
        <p:nvSpPr>
          <p:cNvPr id="8" name="Shape 6"/>
          <p:cNvSpPr/>
          <p:nvPr/>
        </p:nvSpPr>
        <p:spPr>
          <a:xfrm>
            <a:off x="1253871" y="6459093"/>
            <a:ext cx="89154" cy="89154"/>
          </a:xfrm>
          <a:prstGeom prst="ellipse">
            <a:avLst/>
          </a:prstGeom>
          <a:solidFill>
            <a:srgbClr val="6FA3E0"/>
          </a:solidFill>
          <a:ln/>
        </p:spPr>
      </p:sp>
      <p:sp>
        <p:nvSpPr>
          <p:cNvPr id="9" name="Text 7"/>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6FA3E0"/>
                </a:solidFill>
                <a:latin typeface="Calibri" pitchFamily="34" charset="0"/>
                <a:ea typeface="Calibri" pitchFamily="34" charset="-122"/>
                <a:cs typeface="Calibri" pitchFamily="34" charset="-120"/>
              </a:rPr>
              <a:t>CONCLUSION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2026-09-20T14:22:52Z</dcterms:created>
  <dcterms:modified xsi:type="dcterms:W3CDTF">2026-09-20T14:22:52Z</dcterms:modified>
</cp:coreProperties>
</file>
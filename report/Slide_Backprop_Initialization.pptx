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Đặt khung nghiên cứu ngay từ đầu: bài trình bày trả lời CÂU HỎI 'Khởi tạo tham số ảnh hưởng thế nào đến lan truyền gradient và khả năng hội tụ của mạng sâu?' — không chỉ giảng lại công thức.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Câu hỏi nghiên cứu đóng khung toàn bài: 'Khởi tạo tham số ảnh hưởng thế nào đến lan truyền gradient và khả năng hội tụ của mạng sâu?'. Ba câu hỏi con: (1) Backprop tính gradient thế nào, (2) vì sao mạng sâu gặp vanishing/exploding, (3) Zero/Random/Xavier/He ảnh hưởng thế nào tới huấn luyện.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Không dành nhiều thời gian cho calculus cơ bản — chỉ nhắc lại đúng 1 slide, đủ để làm nền cho gradient/chain rule sau đây.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mạnh: gradient không phải một số, mà là MỘT VECTOR — mỗi toạ độ trả lời câu hỏi riêng cho đúng một tham số.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 Descent là QUY TẮC CẬP NHẬT dùng gradient đã có — khác với Backpropagation (thuật toán TÍNH gradient) — sẽ làm rõ phân biệt này ở slide Multi-layer Backpropagation.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Forward pass không liên quan gì tới gradient — chỉ tính giá trị và lưu cache cho backward pass dùng lại (đây là điều PyTorch autograd làm ngầm khi xây computational graph).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 rule đa biến là TOÀN BỘ nội dung toán học của Backpropagation — không có gì thần kỳ hơn thế.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Ví dụ tối giản để 'chạy tay' toàn bộ chain rule 2 bước — mũi tên đỏ đứt nét minh hoạ dòng chảy NGƯỢC của backward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Cầu nối cực kỳ quan trọng: lớp 1 (xa Loss nhất) có gradient = tích của NHIỀU đạo hàm cục bộ nhất — vì sao vanishing/exploding luôn nặng nhất ở các lớp đầu.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 hoạ trực quan bằng thanh giảm dần — số liệu thực nghiệm CHÍNH XÁC cho trường hợp này sẽ xuất hiện lại ở phần Demo (Experiment 1&amp;2, Depth Experiment).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'Hai mặt của cùng một đồng xu' với slide trước — chỉ khác hệ số g&lt;1 hay g&gt;1. Experiment 3 (Random large, std=1.0) sẽ tái hiện đúng hiện tượng này bằng số liệu thật (train loss = NaN).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bên dưới lấy trực tiếp từ results/logs/run_zero_sigmoid.json — gradient lớp ẩn đo được đúng bằng 0.0, không phải xấp xỉ.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Bắc cầu trực tiếp sang Xavier/He: cả hai đều là cách CHỌN ĐÚNG variance thay vì chọn tuỳ tiện.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lấy từ results/logs/run_xavier_relu.json (lưới chính 6 hidden layer) — riêng cho kiến trúc 10-layer của phần demo, số chính xác sẽ ở slide Experiment 4&amp;5.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lấy từ results/logs/run_he_relu.json. Trung thực khoa học: chênh lệch nhỏ giữa He/Xavier cho ReLU (xem slide So sánh) KHÔNG có ý nghĩa thống kê với 1 seed duy nhất.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Trung thực: hàng Orthogonal chỉ mang tính lý thuyết/tham khảo, KHÔNG có thực nghiệm đi kèm trong project này — tránh ngộ nhận đã test đủ 5 phương pháp.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Đóng khung demo như một MINI RESEARCH EXPERIMENT thay vì chỉ 'train CNN rồi show accuracy' — đúng tinh thần đề xuất: cùng kiến trúc/optimizer/dataset, chỉ đổi initialization.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Không chỉ đo accuracy — 4 nhóm metric cho phép PHÂN BIỆT nguyên nhân thất bại (vanishing vs. exploding vs. overfitting) thay vì chỉ thấy 'model tệ'.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lấy trực tiếp từ results/logs/deep_demo_zero.json và deep_demo_random_normal.json — không làm tròn/che giấu: cả hai đều test_acc=10.0%, đúng mức đoán ngẫu nhiên của bài toán 10 lớp.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thật từ results/logs/deep_demo_random_large.json — không phải minh hoạ lý thuyết, đây là NaN thật xảy ra khi chạy thí nghiệm. Đối xứng hoàn hảo với Experiment 1&amp;2 (vanishing): hai thái cực của cùng một sai lầm 'không scale theo fan_in'.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thật từ deep_demo_xavier.json/deep_demo_he.json. Điểm thuyết phục nhất của toàn bộ demo: CÙNG kiến trúc, CÙNG optimizer, CÙNG dataset — chỉ đổi cách khởi tạo mà kết quả lệch từ 10% (ngẫu nhiên/NaN) lên gần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Biểu đồ tổng hợp cả 5 đường cùng lúc — hình ảnh 'ăn điểm' đầu tiên vì gói gọn toàn bộ câu chuyện demo trong 1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biểu đồ trực quan chứng minh RÕ NHẤT tác động của initialization tới gradient flow — mỗi ô là một số liệu thật, không phải minh hoạ cách điệu.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thật từ results/logs/depth_experiment_v2.json. He giữ gradient ổn định xuyên suốt (kể cả L=50: grad_rms≈1.08e-2) nhưng test accuracy vẫn dao động (L=12: 32.6%, L=20: 53.6%, L=50: 19.6%) — bằng chứng rằng initialization là ĐIỀU KIỆN CẦN cho gradient flow, không phải điều kiện ĐỦ cho generalization tốt.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ánh xạ trực tiếp từ CSV thật, kể cả NaN của Random-large — trung thực khoa học, không che giấu kết quả thất bại.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tổng kết toàn bộ mạch trình bày — 3 takeaway đọc thẳng ra từ sơ đồ, chốt bằng câu hỏi nghiên cứu đã đặt ra ở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Chỉ giới thiệu ngắn, KHÔNG đi sâu — tránh lệch trọng tâm khỏi Backprop + Initialization là chủ đề chính của báo cáo.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nguồn, khớp danh mục tham khảo IEEE trong báo cáo LaTeX — không có nguồn bịa.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7863840" y="1965960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2532888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532888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2532888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0" y="2532888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0" y="2532888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7863840" y="1965960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863840" y="2532888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7863840" y="3099816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3099816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0" y="3099816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3099816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863840" y="1965960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7863840" y="2532888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7863840" y="3099816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3666744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3666744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3666744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7863840" y="1965960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863840" y="2532888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863840" y="3099816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7863840" y="3666744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4233672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0" y="4233672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98280" y="1965960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98280" y="1965960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98280" y="1965960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98280" y="1965960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98280" y="1965960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98280" y="1965960"/>
            <a:ext cx="1234440" cy="283464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098280" y="1965960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98280" y="2532888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98280" y="2532888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98280" y="2532888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98280" y="2532888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98280" y="2532888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9098280" y="1965960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9098280" y="2532888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98280" y="3099816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98280" y="3099816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98280" y="3099816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098280" y="3099816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9098280" y="1965960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9098280" y="2532888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9098280" y="3099816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098280" y="3666744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098280" y="3666744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98280" y="3666744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9098280" y="1965960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9098280" y="2532888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9098280" y="3099816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9098280" y="3666744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098280" y="4233672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098280" y="4233672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9098280" y="1965960"/>
            <a:ext cx="1234440" cy="283464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9098280" y="2532888"/>
            <a:ext cx="1234440" cy="226771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9098280" y="3099816"/>
            <a:ext cx="1234440" cy="170078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9098280" y="3666744"/>
            <a:ext cx="1234440" cy="1133856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9098280" y="4233672"/>
            <a:ext cx="1234440" cy="56692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098280" y="4800600"/>
            <a:ext cx="1234440" cy="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332720" y="1965960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332720" y="1965960"/>
            <a:ext cx="1234440" cy="141732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332720" y="1965960"/>
            <a:ext cx="1234440" cy="198424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332720" y="2532888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332720" y="2532888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332720" y="2532888"/>
            <a:ext cx="1234440" cy="141732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332720" y="2816352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332720" y="3099816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332720" y="3099816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10332720" y="2816352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10332720" y="3383280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332720" y="3666744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10332720" y="2816352"/>
            <a:ext cx="1234440" cy="141732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10332720" y="3383280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10332720" y="3950208"/>
            <a:ext cx="1234440" cy="283464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0332720" y="2816352"/>
            <a:ext cx="1234440" cy="1984248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0332720" y="3383280"/>
            <a:ext cx="1234440" cy="1417320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0332720" y="3950208"/>
            <a:ext cx="1234440" cy="850392"/>
          </a:xfrm>
          <a:prstGeom prst="line">
            <a:avLst/>
          </a:prstGeom>
          <a:noFill/>
          <a:ln w="6350">
            <a:solidFill>
              <a:srgbClr val="3A4A70">
                <a:alpha val="4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795260" y="2464308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95260" y="3031236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95260" y="3598164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95260" y="4165092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029700" y="1897380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029700" y="2464308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029700" y="3031236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029700" y="3598164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029700" y="4165092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029700" y="4732020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264140" y="1897380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264140" y="2464308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264140" y="3031236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264140" y="3598164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264140" y="4165092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64140" y="4732020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1498580" y="2747772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498580" y="3314700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1498580" y="3881628"/>
            <a:ext cx="137160" cy="137160"/>
          </a:xfrm>
          <a:prstGeom prst="ellipse">
            <a:avLst/>
          </a:prstGeom>
          <a:solidFill>
            <a:srgbClr val="6FA3E0">
              <a:alpha val="65000"/>
            </a:srgbClr>
          </a:solidFill>
          <a:ln w="9525">
            <a:solidFill>
              <a:srgbClr val="8FA3C9">
                <a:alpha val="60000"/>
              </a:srgbClr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640080" y="19659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Backpropagation &amp; Parameter Initialization</a:t>
            </a:r>
            <a:endParaRPr lang="en-US" sz="3400" dirty="0"/>
          </a:p>
        </p:txBody>
      </p:sp>
      <p:sp>
        <p:nvSpPr>
          <p:cNvPr id="100" name="Text 98"/>
          <p:cNvSpPr txBox="1"/>
          <p:nvPr/>
        </p:nvSpPr>
        <p:spPr>
          <a:xfrm>
            <a:off x="640080" y="27889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Deep Neural Networks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640080" y="3520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gradients and initialization determine whether a neural network can learn</a:t>
            </a:r>
            <a:endParaRPr lang="en-US" sz="1500" dirty="0"/>
          </a:p>
        </p:txBody>
      </p:sp>
      <p:sp>
        <p:nvSpPr>
          <p:cNvPr id="102" name="Shape 100"/>
          <p:cNvSpPr/>
          <p:nvPr/>
        </p:nvSpPr>
        <p:spPr>
          <a:xfrm>
            <a:off x="5272888" y="4160520"/>
            <a:ext cx="1645920" cy="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640080" y="43891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Đạo hàm &amp; Khởi tạo trong Deep Learning — Backpropagation và Parameter Initialization</a:t>
            </a:r>
            <a:endParaRPr lang="en-US" sz="1250" dirty="0"/>
          </a:p>
        </p:txBody>
      </p:sp>
      <p:sp>
        <p:nvSpPr>
          <p:cNvPr id="104" name="Text 102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Bùi Đức Quân · Học phần Deep Learning (Thạc sĩ) · Tháng 9,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a 50-layer network learn?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907128" y="178308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907128" y="1783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Input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95848" y="2286000"/>
            <a:ext cx="0" cy="292608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907128" y="2578608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07128" y="25786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Layer 1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5848" y="3081528"/>
            <a:ext cx="0" cy="292608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907128" y="3374136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07128" y="337413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Layer 2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95848" y="3877056"/>
            <a:ext cx="0" cy="292608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907128" y="4169664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07128" y="41696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...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095848" y="4672584"/>
            <a:ext cx="0" cy="292608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07128" y="4965192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07128" y="496519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Layer 50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095848" y="5468112"/>
            <a:ext cx="0" cy="292608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907128" y="576072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BEEEC"/>
          </a:solidFill>
          <a:ln w="15875">
            <a:solidFill>
              <a:srgbClr val="BE3C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07128" y="5760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Loss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7373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Layer 1 know how it should change?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560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5A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⇒ Backpropagation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619695" y="3977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then a new problem appears: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619695" y="4526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E3C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gradient → 0 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BE3C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gradient → ∞ ?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619695" y="5577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⇒ Parameter Initialization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2/28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8" name="Shape 26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9" name="Shape 27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MATH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Derivative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f'(x) = lim_{h→0} [f(x+h) − f(x)] / h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34640"/>
            <a:ext cx="10911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7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Derivative đo mức độ thay đổi của output khi input thay đổi một lượng nhỏ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7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dụ: f(x) = x²  ⇒  f′(x) = 2x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7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Đây là viên gạch nền tảng duy nhất cần nhớ — mọi thứ sau đây (gradient, chain rule, backprop) chỉ là ÁP DỤNG CÓ HỆ THỐNG của khái niệm này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9" name="Shape 7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0" name="Shape 8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MATH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 Derivative &amp; Gradient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có hàng triệu tham số: L(w₁, w₂, ..., wₙ)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= vector gồm TẤT CẢ đạo hàm riêng, một cho mỗi tham số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cho biết cần thay đổi TỪNG tham số theo hướng nào để giảm Loss nhanh nhất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675120" y="2103120"/>
            <a:ext cx="4876495" cy="2377440"/>
          </a:xfrm>
          <a:prstGeom prst="roundRect">
            <a:avLst>
              <a:gd name="adj" fmla="val 3077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903720" y="2103120"/>
            <a:ext cx="44192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∇L = [ ∂L/∂w₁ ; ∂L/∂w₂ ; ... ; ∂L/∂wₙ ]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9" name="Shape 7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0" name="Shape 8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MATH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Descent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w_new = w_old − η · ∂L/∂w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34640"/>
            <a:ext cx="1091153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— parameter cần cập nhật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(learning rate) — bước nhảy mỗi lần cập nhật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— loss function cần tối thiểu hoá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giác: một quả bóng lăn xuống 'loss landscape' theo hướng dốc nhất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9" name="Shape 7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0" name="Shape 8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MATH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Propagation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14400" y="15544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554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237744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96596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EAF0FB"/>
          </a:solidFill>
          <a:ln w="15875">
            <a:solidFill>
              <a:srgbClr val="285A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91840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03520" y="19659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EAF0FB"/>
          </a:solidFill>
          <a:ln w="15875">
            <a:solidFill>
              <a:srgbClr val="285AB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0" y="1965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activation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0" y="196596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FBEEEC"/>
          </a:solidFill>
          <a:ln w="15875">
            <a:solidFill>
              <a:srgbClr val="BE3C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0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 → 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03120" y="1783080"/>
            <a:ext cx="1188720" cy="457200"/>
          </a:xfrm>
          <a:prstGeom prst="line">
            <a:avLst/>
          </a:prstGeom>
          <a:noFill/>
          <a:ln w="22225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103120" y="2240280"/>
            <a:ext cx="1188720" cy="365760"/>
          </a:xfrm>
          <a:prstGeom prst="line">
            <a:avLst/>
          </a:prstGeom>
          <a:noFill/>
          <a:ln w="22225">
            <a:solidFill>
              <a:srgbClr val="285AB4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480560" y="2240280"/>
            <a:ext cx="822960" cy="0"/>
          </a:xfrm>
          <a:prstGeom prst="line">
            <a:avLst/>
          </a:prstGeom>
          <a:noFill/>
          <a:ln w="22225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858000" y="2240280"/>
            <a:ext cx="640080" cy="0"/>
          </a:xfrm>
          <a:prstGeom prst="line">
            <a:avLst/>
          </a:prstGeom>
          <a:noFill/>
          <a:ln w="22225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0080" y="33832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68680" y="338328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 = w₁x₁ + w₂x₂ + b        a = f(z)        L = L(a, y)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48056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 tính đầu ra VÀ lưu lại giá trị trung gian (z, a) — cần dùng lại khi backward</a:t>
            </a:r>
            <a:endParaRPr lang="en-US" sz="15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cuối cùng: tính được ∂L/∂w₁ (và mọi tham số khác) để cập nhật bằng Gradient Descent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6/28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3" name="Shape 21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MATH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 Rule — trái tim của Backpropagation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554480" y="1828800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54480" y="1828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2331720"/>
            <a:ext cx="0" cy="384048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554480" y="2715768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54480" y="27157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0" y="3218688"/>
            <a:ext cx="0" cy="384048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554480" y="3602736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360273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86000" y="4105656"/>
            <a:ext cx="0" cy="384048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554480" y="4489704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FBEEEC"/>
          </a:solidFill>
          <a:ln w="15875">
            <a:solidFill>
              <a:srgbClr val="BE3C3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54480" y="448970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Forward: mỗi mũi tên là 1 phép biến đổi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931920" y="2651760"/>
            <a:ext cx="7619695" cy="9144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160520" y="2651760"/>
            <a:ext cx="7162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∂L/∂w  =  (∂L/∂a) · (∂a/∂z) · (∂z/∂w)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840480"/>
            <a:ext cx="7619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Muốn biết w ảnh hưởng L thế nào, ta NHÂN các đạo hàm cục bộ dọc theo đường đi w → z → a → 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Đây chính là ý tưởng cốt lõi của Backpropagation: đi ngược đồ thị, nhân dồn đạo hàm cục bộ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1" name="Shape 19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3" name="Shape 21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MATH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Backpropagation Example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05840" y="201168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 = 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283464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1A22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 = 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80560" y="201168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EAF0FB"/>
          </a:solidFill>
          <a:ln w="15875">
            <a:solidFill>
              <a:srgbClr val="285A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 = wx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FBEEEC"/>
          </a:solidFill>
          <a:ln w="15875">
            <a:solidFill>
              <a:srgbClr val="BE3C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 = z²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94560" y="2263140"/>
            <a:ext cx="2286000" cy="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337560" y="2514600"/>
            <a:ext cx="1737360" cy="32004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2263140"/>
            <a:ext cx="548640" cy="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0080" y="3566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Forward:  z = 3×2 = 6      y = 6² = 36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074920" y="2560320"/>
            <a:ext cx="1737360" cy="457200"/>
          </a:xfrm>
          <a:prstGeom prst="line">
            <a:avLst/>
          </a:prstGeom>
          <a:noFill/>
          <a:ln w="28575">
            <a:solidFill>
              <a:srgbClr val="BE3C32"/>
            </a:solidFill>
            <a:prstDash val="dash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3337560" y="3017520"/>
            <a:ext cx="1737360" cy="320040"/>
          </a:xfrm>
          <a:prstGeom prst="line">
            <a:avLst/>
          </a:prstGeom>
          <a:noFill/>
          <a:ln w="28575">
            <a:solidFill>
              <a:srgbClr val="BE3C32"/>
            </a:solidFill>
            <a:prstDash val="dash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640080" y="44805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EEEC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68680" y="4480560"/>
            <a:ext cx="104543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E3C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∂y/∂z = 2z = 12          ∂z/∂w = x = 2          ⇒  ∂y/∂w = 12 × 2 = 24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8/28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2" name="Shape 20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4" name="Shape 22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MATH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Multi-layer Backpropagation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14400" y="169164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600200" y="2075688"/>
            <a:ext cx="0" cy="164592"/>
          </a:xfrm>
          <a:prstGeom prst="line">
            <a:avLst/>
          </a:prstGeom>
          <a:noFill/>
          <a:ln w="2286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14400" y="224028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240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W₁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600200" y="2624328"/>
            <a:ext cx="0" cy="164592"/>
          </a:xfrm>
          <a:prstGeom prst="line">
            <a:avLst/>
          </a:prstGeom>
          <a:noFill/>
          <a:ln w="2286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4400" y="278892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788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600200" y="3172968"/>
            <a:ext cx="0" cy="164592"/>
          </a:xfrm>
          <a:prstGeom prst="line">
            <a:avLst/>
          </a:prstGeom>
          <a:noFill/>
          <a:ln w="2286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4400" y="333756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3375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600200" y="3721608"/>
            <a:ext cx="0" cy="164592"/>
          </a:xfrm>
          <a:prstGeom prst="line">
            <a:avLst/>
          </a:prstGeom>
          <a:noFill/>
          <a:ln w="2286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4400" y="388620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8862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600200" y="4270248"/>
            <a:ext cx="0" cy="164592"/>
          </a:xfrm>
          <a:prstGeom prst="line">
            <a:avLst/>
          </a:prstGeom>
          <a:noFill/>
          <a:ln w="2286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4400" y="443484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4348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W₃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600200" y="4818888"/>
            <a:ext cx="0" cy="164592"/>
          </a:xfrm>
          <a:prstGeom prst="line">
            <a:avLst/>
          </a:prstGeom>
          <a:noFill/>
          <a:ln w="2286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4400" y="498348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983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600200" y="5367528"/>
            <a:ext cx="0" cy="164592"/>
          </a:xfrm>
          <a:prstGeom prst="line">
            <a:avLst/>
          </a:prstGeom>
          <a:noFill/>
          <a:ln w="2286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14400" y="553212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FBEEEC"/>
          </a:solidFill>
          <a:ln w="15875">
            <a:solidFill>
              <a:srgbClr val="BE3C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532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Loss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3931920" y="169164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FBEEEC"/>
          </a:solidFill>
          <a:ln w="15875">
            <a:solidFill>
              <a:srgbClr val="BE3C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31920" y="16916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Loss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754880" y="2075688"/>
            <a:ext cx="0" cy="896112"/>
          </a:xfrm>
          <a:prstGeom prst="line">
            <a:avLst/>
          </a:prstGeom>
          <a:noFill/>
          <a:ln w="22860">
            <a:solidFill>
              <a:srgbClr val="BE3C3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931920" y="297180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AF0FB"/>
          </a:solidFill>
          <a:ln w="15875">
            <a:solidFill>
              <a:srgbClr val="285AB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931920" y="2971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∇W₃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54880" y="3355848"/>
            <a:ext cx="0" cy="896112"/>
          </a:xfrm>
          <a:prstGeom prst="line">
            <a:avLst/>
          </a:prstGeom>
          <a:noFill/>
          <a:ln w="22860">
            <a:solidFill>
              <a:srgbClr val="BE3C3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931920" y="425196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AF0FB"/>
          </a:solidFill>
          <a:ln w="15875">
            <a:solidFill>
              <a:srgbClr val="285AB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931920" y="425196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∇W₂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754880" y="4636008"/>
            <a:ext cx="0" cy="896112"/>
          </a:xfrm>
          <a:prstGeom prst="line">
            <a:avLst/>
          </a:prstGeom>
          <a:noFill/>
          <a:ln w="22860">
            <a:solidFill>
              <a:srgbClr val="BE3C3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931920" y="55321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AF0FB"/>
          </a:solidFill>
          <a:ln w="15875">
            <a:solidFill>
              <a:srgbClr val="285AB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931920" y="55321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∇W₁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6035040" y="1965960"/>
            <a:ext cx="55165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của lớp CÀNG GẦN INPUT phụ thuộc vào TÍCH của CÀNG NHIỀU đạo hàm cục bộ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Đây chính là cầu nối trực tiếp sang vấn đề tiếp theo: điều gì xảy ra khi tích đó có nhiều số hạng?</a:t>
            </a:r>
            <a:endParaRPr lang="en-US" sz="1550" dirty="0"/>
          </a:p>
        </p:txBody>
      </p:sp>
      <p:sp>
        <p:nvSpPr>
          <p:cNvPr id="39" name="Text 37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5503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41" name="Shape 39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42" name="Shape 40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43" name="Shape 41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MATH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 / EXPLODING GRADIENT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Vanishing Gradient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Nếu mỗi đạo hàm cục bộ ≈ 0.5, qua 20 layer:  0.5²⁰ ≈ 0.00000095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2651760" y="2834640"/>
            <a:ext cx="6949440" cy="365760"/>
          </a:xfrm>
          <a:prstGeom prst="roundRect">
            <a:avLst>
              <a:gd name="adj" fmla="val 10000"/>
            </a:avLst>
          </a:prstGeom>
          <a:solidFill>
            <a:srgbClr val="BE3C3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834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651760" y="3328416"/>
            <a:ext cx="3840480" cy="365760"/>
          </a:xfrm>
          <a:prstGeom prst="roundRect">
            <a:avLst>
              <a:gd name="adj" fmla="val 10000"/>
            </a:avLst>
          </a:prstGeom>
          <a:solidFill>
            <a:srgbClr val="BE3C3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3284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15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651760" y="3822192"/>
            <a:ext cx="1737360" cy="365760"/>
          </a:xfrm>
          <a:prstGeom prst="roundRect">
            <a:avLst>
              <a:gd name="adj" fmla="val 10000"/>
            </a:avLst>
          </a:prstGeom>
          <a:solidFill>
            <a:srgbClr val="BE3C3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822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10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651760" y="4315968"/>
            <a:ext cx="548640" cy="365760"/>
          </a:xfrm>
          <a:prstGeom prst="roundRect">
            <a:avLst>
              <a:gd name="adj" fmla="val 10000"/>
            </a:avLst>
          </a:prstGeom>
          <a:solidFill>
            <a:srgbClr val="BE3C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651760" y="4809744"/>
            <a:ext cx="109728" cy="365760"/>
          </a:xfrm>
          <a:prstGeom prst="roundRect">
            <a:avLst>
              <a:gd name="adj" fmla="val 33333"/>
            </a:avLst>
          </a:prstGeom>
          <a:solidFill>
            <a:srgbClr val="BE3C3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80974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layer đầu gần như không nhận được tín hiệu học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gần input hầu như đứng yên suốt quá trình huấn luyện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1" name="Shape 19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VANISHING/EXPLODING &amp; INIT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 / EXPLODING GRADIENT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Exploding Gradient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Nếu mỗi đạo hàm cục bộ ≈ 1.5, qua 20 layer:  1.5²⁰ ≈ 3325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2651760" y="2834640"/>
            <a:ext cx="109728" cy="365760"/>
          </a:xfrm>
          <a:prstGeom prst="roundRect">
            <a:avLst>
              <a:gd name="adj" fmla="val 33333"/>
            </a:avLst>
          </a:prstGeom>
          <a:solidFill>
            <a:srgbClr val="7D3C9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834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651760" y="3328416"/>
            <a:ext cx="457200" cy="365760"/>
          </a:xfrm>
          <a:prstGeom prst="roundRect">
            <a:avLst>
              <a:gd name="adj" fmla="val 10000"/>
            </a:avLst>
          </a:prstGeom>
          <a:solidFill>
            <a:srgbClr val="7D3C9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3284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651760" y="3822192"/>
            <a:ext cx="1463040" cy="365760"/>
          </a:xfrm>
          <a:prstGeom prst="roundRect">
            <a:avLst>
              <a:gd name="adj" fmla="val 10000"/>
            </a:avLst>
          </a:prstGeom>
          <a:solidFill>
            <a:srgbClr val="7D3C9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822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10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651760" y="4315968"/>
            <a:ext cx="4023360" cy="365760"/>
          </a:xfrm>
          <a:prstGeom prst="roundRect">
            <a:avLst>
              <a:gd name="adj" fmla="val 10000"/>
            </a:avLst>
          </a:prstGeom>
          <a:solidFill>
            <a:srgbClr val="7D3C9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651760" y="4809744"/>
            <a:ext cx="7498080" cy="365760"/>
          </a:xfrm>
          <a:prstGeom prst="roundRect">
            <a:avLst>
              <a:gd name="adj" fmla="val 10000"/>
            </a:avLst>
          </a:prstGeom>
          <a:solidFill>
            <a:srgbClr val="7D3C9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80974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20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53212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Hậu quả: loss dao động mạnh hoặc trở thành NaN, weight tăng vọt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cơ chế với vanishing — chỉ khác dấu của (đạo hàm cục bộ − 1)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Sẽ thấy hiện tượng này XẢY RA THẬT ở Experiment 3 (Random large init) ngay sau đây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1" name="Shape 19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VANISHING/EXPLODING &amp; INIT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INITIALIZATION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Tại sao không đặt tất cả weight = 0?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 = np.zeros(...)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09115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neuron trong 1 lớp nhận CÙNG input, CÙNG weight ⇒ CÙNG z, CÙNG a, CÙNG gradient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update: trọng số của chúng vẫn giống hệt nhau — MÃI MÃI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 tượng: Symmetry Problem — mạng có 100 neuron nhưng hoạt động như chỉ có 1 neuron duy nhất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292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E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521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lớp ẩn đo được (thực nghiệm thật, Zero-init) — test acc = 10.0%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5257800"/>
            <a:ext cx="6705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thật: Zero-init không phải "rất nhỏ" mà là CHẶN ĐỨNG tuyệt đối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VANISHING/EXPLODING &amp; INIT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INITIALIZATION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Initialization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 = np.random.randn(...) × std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EAF0FB"/>
          </a:solidFill>
          <a:ln w="12700">
            <a:solidFill>
              <a:srgbClr val="285AB4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28072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85A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std quá NHỎ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7472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nhỏ → activation nhỏ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gradient nhỏ dần qua mỗi lớp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VANISHING GRADIENT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30975" y="260604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F3EAFB"/>
          </a:solidFill>
          <a:ln w="12700">
            <a:solidFill>
              <a:srgbClr val="7D3C9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705295" y="28072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D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std quá LỚN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705295" y="347472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lớn → activation bùng nổ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gradient tăng vọt qua mỗi lớp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EXPLODING GRADIENT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44068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giải quyết được Symmetry Problem — nhưng chọn sai variance thì vẫn thất bại theo 1 trong 2 hướng trên. Hai thí nghiệm sau (Experiment 2 &amp; 3) sẽ tái hiện đúng cả hai bằng số liệu thật.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13/28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VANISHING/EXPLODING &amp; INIT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INITIALIZATION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Xavier / Glorot Initialization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Var(W) = 2 / (n_in + n_out)          [dành cho Tanh / Sigmoid]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34640"/>
            <a:ext cx="109115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giữ variance của tín hiệu ỔN ĐỊNH qua từng lớp (Layer 1 variance ≈ Layer 2 ≈ Layer 3 ≈ ...)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Cân bằng 2 điều kiện: giữ Var(z) khi forward VÀ giữ Var(gradient) khi backward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với activation đối xứng quanh 0 (Tanh, Sigmoid)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20640"/>
            <a:ext cx="3474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67.4%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88736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Xavier + ReLU — test accuracy (thực nghiệm thật, 6 hidden layer)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VANISHING/EXPLODING &amp; INIT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INITIALIZATION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/ Kaiming Initialization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Var(W) = 2 / n_in          [dành cho ReLU / Leaky ReLU]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34640"/>
            <a:ext cx="109115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triệt tiêu khoảng MỘT NỬA output (phần z&lt;0 → 0)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nhân đôi variance so với công thức forward-preserving thuần (1/n_in) để bù phần 'mất' này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6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quả: giữ Var(a) ≈ Var(x) qua mỗi lớp ReLU, kể cả mạng rất sâu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20640"/>
            <a:ext cx="3474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66.7%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88736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+ ReLU — test accuracy (thực nghiệm thật, 6 hidden layer)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9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VANISHING/EXPLODING &amp; INIT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INITIALIZATION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các phương pháp khởi tạo</a:t>
            </a:r>
            <a:endParaRPr lang="en-US" sz="2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11535" cy="2651760"/>
        </p:xfrm>
        <a:graphic>
          <a:graphicData uri="http://schemas.openxmlformats.org/drawingml/2006/table">
            <a:tbl>
              <a:tblPr/>
              <a:tblGrid>
                <a:gridCol w="2926080"/>
                <a:gridCol w="3685032"/>
                <a:gridCol w="4325112"/>
              </a:tblGrid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Initialization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Formula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Activation phù hợp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2238"/>
                          </a:solidFill>
                        </a:rPr>
                        <a:t>Zero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W = 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Không nên dùng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2238"/>
                          </a:solidFill>
                        </a:rPr>
                        <a:t>Small Random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N(0, 0.01²)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Chỉ mạng rất nông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2238"/>
                          </a:solidFill>
                        </a:rPr>
                        <a:t>Xavier / Glorot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2 / (n_in+n_out)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Sigmoid / Tanh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2238"/>
                          </a:solidFill>
                        </a:rPr>
                        <a:t>He / Kaiming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2 / n_in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ReLU / Leaky ReLU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2238"/>
                          </a:solidFill>
                        </a:rPr>
                        <a:t>Orthogonal*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WᵀW = I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Deep / RNN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7091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Orthogonal initialization không nằm trong lưới thực nghiệm của báo cáo này (chỉ Zero/Random/LeCun/Xavier/He được test) — liệt kê ở đây cho đầy đủ bức tranh lý thuyết, không có số liệu thực nghiệm đi kèm.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3949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▪"/>
            </a:pPr>
            <a:r>
              <a:rPr lang="en-US" sz="14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Đây là một trong những slide quan trọng nhất — mọi thí nghiệm tiếp theo đều nhằm KIỂM CHỨNG bảng này bằng số liệu thật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6"/>
          <p:cNvSpPr/>
          <p:nvPr/>
        </p:nvSpPr>
        <p:spPr>
          <a:xfrm>
            <a:off x="814959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Shape 7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Shape 8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VANISHING/EXPLODING &amp; INIT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MINI RESEARCH EXPERIMENT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Thiết kế thực nghiệm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F1F4F9"/>
          </a:solidFill>
          <a:ln w="9525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6213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How does weight initialization affect gradient flow and convergence?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2450592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505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Input 784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852928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Linear 128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255264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EAF0FB"/>
          </a:solidFill>
          <a:ln w="15875">
            <a:solidFill>
              <a:srgbClr val="285AB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2552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ReLU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657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Linear 128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059936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EAF0FB"/>
          </a:solidFill>
          <a:ln w="15875">
            <a:solidFill>
              <a:srgbClr val="285AB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0599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ReLU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62272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4622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864608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8646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Linear 128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266944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EAF0FB"/>
          </a:solidFill>
          <a:ln w="15875">
            <a:solidFill>
              <a:srgbClr val="285AB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2669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ReLU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56692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Linear 10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2450592"/>
            <a:ext cx="8534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trúc: 784 → (Linear 128 → ReLU) × 10 → 10 — cố tình khá sâu (10 hidden layer) để vấn đề gradient thể hiện rõ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Fashion-MNIST subset (5,000 train / 1,000 val / 2,000 test) — giống hệt lưới thực nghiệm chính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Biến duy nhất thay đổi: cách khởi tạo weight (Zero, Random nhỏ, Random lớn, Xavier, He)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thứ khác GIỮ NGUYÊN: cùng optimizer (SGD, lr=0.05), cùng seed=42, cùng 15 epoch — fair experiment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17/28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7" name="Shape 25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8" name="Shape 26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MINI RESEARCH EXPERIMENT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nhóm metric được log mỗi cấu hình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 w="6350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Training Loss &amp; Accuracy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920240"/>
            <a:ext cx="6339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epoch — train + validation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911535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 w="6350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14400" y="29718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Gradient Norm theo layer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971800"/>
            <a:ext cx="6339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RMS(∂L/∂W⁽ˡ⁾) tại bước khởi tạo đầu tiên — layer.weight.grad.norm()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023360"/>
            <a:ext cx="10911535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 w="6350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14400" y="40233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Activation Variance theo layer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4023360"/>
            <a:ext cx="6339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Var(A⁽ˡ⁾) tại bước khởi tạo — phát hiện bão hoà/co cụm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10911535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 w="6350">
            <a:solidFill>
              <a:srgbClr val="D9DEE8"/>
            </a:solidFill>
            <a:prstDash val="solid"/>
          </a:ln>
          <a:effectLst>
            <a:outerShdw sx="100000" sy="100000" kx="0" ky="0" algn="bl" rotWithShape="0" blurRad="114300" dist="38100" dir="5400000">
              <a:srgbClr val="1A1A2E">
                <a:alpha val="2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4400" y="50749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Weight Variance theo layer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5074920"/>
            <a:ext cx="6339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chiếu Var(W) đo thực tế vs. công thức lý thuyết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9" name="Shape 17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0" name="Shape 18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EXPERIMENT 1 &amp;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vs. Random nhỏ (std=0.01) — cả hai đều VANISHING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1554480"/>
          </a:xfrm>
          <a:prstGeom prst="roundRect">
            <a:avLst>
              <a:gd name="adj" fmla="val 2941"/>
            </a:avLst>
          </a:prstGeom>
          <a:solidFill>
            <a:srgbClr val="1E2A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01368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layer in model.modules():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8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isinstance(layer, nn.Linear):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8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nn.init.zeros_(layer.weight)          # Experiment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8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hoặc: nn.init.normal_(layer.weight, std=0.01)   # Experiment 2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66160"/>
            <a:ext cx="345429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E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34256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— gradient RMS lớp 1 (khởi tạo)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68698" y="3566160"/>
            <a:ext cx="345429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E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1.13e-13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4334256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nhỏ — gradient RMS lớp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097317" y="3566160"/>
            <a:ext cx="345429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64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97317" y="4334256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 — cả 2 cấu hình (mức ngẫu nhiên)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120640"/>
            <a:ext cx="10911535" cy="777240"/>
          </a:xfrm>
          <a:prstGeom prst="roundRect">
            <a:avLst>
              <a:gd name="adj" fmla="val 7059"/>
            </a:avLst>
          </a:prstGeom>
          <a:solidFill>
            <a:srgbClr val="FBEEEC"/>
          </a:solidFill>
          <a:ln w="9525">
            <a:solidFill>
              <a:srgbClr val="BE3C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12064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E3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thật (10 hidden layer, ReLU, 15 epoch): CẢ HAI kẹt đúng ở mức ngẫu nhiên 10.0% — Zero vì symmetry breaking, Random nhỏ vì gradient co lại theo hàm mũ qua 10 lớp.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19/28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8" name="Shape 16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EXPERIMENT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LỚN (std=1.0) — EXPLODING GRADIENT thật sự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594360"/>
          </a:xfrm>
          <a:prstGeom prst="roundRect">
            <a:avLst>
              <a:gd name="adj" fmla="val 7692"/>
            </a:avLst>
          </a:prstGeom>
          <a:solidFill>
            <a:srgbClr val="1E2A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01368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nn.init.normal_(layer.weight, mean=0, std=1.0)   # Experiment 3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345429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D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1.87e+7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74136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RMS lớp 1 (khởi tạo) — bùng nổ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68698" y="2606040"/>
            <a:ext cx="345429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D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3374136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loss ngay từ epoch 1 — huấn luyện PHÂN KỲ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097317" y="2606040"/>
            <a:ext cx="345429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64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97317" y="3374136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 cuối cùng (không học được gì)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10911535" cy="777240"/>
          </a:xfrm>
          <a:prstGeom prst="roundRect">
            <a:avLst>
              <a:gd name="adj" fmla="val 7059"/>
            </a:avLst>
          </a:prstGeom>
          <a:solidFill>
            <a:srgbClr val="FBEEEC"/>
          </a:solidFill>
          <a:ln w="9525">
            <a:solidFill>
              <a:srgbClr val="7D3C9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16052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Đây là bằng chứng thực nghiệm TRỰC TIẾP cho Slide "Exploding Gradient": std quá lớn (1.0) trên 10 lớp khiến gradient bùng nổ tới 1.9e+7 ngay bước đầu, loss thành NaN vĩnh viễn.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20/28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8" name="Shape 16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EXPERIMENT 4 &amp; 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Xavier vs. He — cả hai ỔN ĐỊNH và học được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914400"/>
          </a:xfrm>
          <a:prstGeom prst="roundRect">
            <a:avLst>
              <a:gd name="adj" fmla="val 5000"/>
            </a:avLst>
          </a:prstGeom>
          <a:solidFill>
            <a:srgbClr val="1E2A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01368"/>
            <a:ext cx="10454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nn.init.xavier_normal_(layer.weight)                                    # Experiment 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8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nn.init.kaiming_normal_(layer.weight, mode='fan_in', nonlinearity='relu')  # Experiment 5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26080"/>
            <a:ext cx="345429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68.2%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94176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Xavier — test accuracy (10 hidden layer, ReLU)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68698" y="2926080"/>
            <a:ext cx="345429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67.4%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3694176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— test accuracy (10 hidden layer, ReLU)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097317" y="2926080"/>
            <a:ext cx="345429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1.11e-2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97317" y="3694176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— gradient RMS lớp 1 (ổn định, không vanish/explode)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480560"/>
            <a:ext cx="10911535" cy="777240"/>
          </a:xfrm>
          <a:prstGeom prst="roundRect">
            <a:avLst>
              <a:gd name="adj" fmla="val 7059"/>
            </a:avLst>
          </a:prstGeom>
          <a:solidFill>
            <a:srgbClr val="EAF3EE"/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48056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kiến trúc 10 lớp mà Zero/Random thất bại hoàn toàn — Xavier và He đều học được thật, chênh lệch nhỏ giữa hai scheme nằm trong biên độ nhiễu 1-seed (không kết luận cái nào vượt trội cho ReLU).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21/28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8" name="Shape 16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KẾT QUẢ TỔNG HỢP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thí nghiệm, 1 kiến trúc, 1 biểu đồ</a:t>
            </a:r>
            <a:endParaRPr lang="en-US" sz="2500" dirty="0"/>
          </a:p>
        </p:txBody>
      </p:sp>
      <p:pic>
        <p:nvPicPr>
          <p:cNvPr id="4" name="Image 0" descr="..\results\figures\deep_demo_accuracy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6928" y="1554480"/>
            <a:ext cx="5577840" cy="38425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534152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▪"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&amp; Random nhỏ: đường phẳng ngang mức 10% — không học được gì</a:t>
            </a:r>
            <a:endParaRPr lang="en-US" sz="1350" dirty="0"/>
          </a:p>
          <a:p>
            <a:pPr marL="228600" indent="-228600">
              <a:spcAft>
                <a:spcPts val="500"/>
              </a:spcAft>
              <a:buSzPct val="100000"/>
              <a:buChar char="▪"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lớn: không xuất hiện trên biểu đồ (loss = NaN ngay từ epoch 1)</a:t>
            </a:r>
            <a:endParaRPr lang="en-US" sz="1350" dirty="0"/>
          </a:p>
          <a:p>
            <a:pPr marL="228600" indent="-228600">
              <a:spcAft>
                <a:spcPts val="500"/>
              </a:spcAft>
              <a:buSzPct val="100000"/>
              <a:buChar char="▪"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Xavier &amp; He: hội tụ rõ ràng, đạt ~67–68% dù kiến trúc sâu tới 10 lớp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8" name="Shape 5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6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Shape 7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VISUALIZATION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Norm Heatmap — layer × initialization</a:t>
            </a:r>
            <a:endParaRPr lang="en-US" sz="2300" dirty="0"/>
          </a:p>
        </p:txBody>
      </p:sp>
      <p:pic>
        <p:nvPicPr>
          <p:cNvPr id="4" name="Image 0" descr="..\results\figures\gradient_heatmap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8168" y="1600200"/>
            <a:ext cx="8595360" cy="406326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754901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log₁₀(RMS gradient) đo thật tại bước khởi tạo, 10 hidden layer, activation ReLU — xanh dương = quá nhỏ (vanish), đỏ = quá lớn (explode), cam nhạt/vàng = vùng ổn định.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23/28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8" name="Shape 5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6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Shape 7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DEPTH EXPERIMENT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vs. Xavier vs. He — theo độ sâu (2→50 lớp)</a:t>
            </a:r>
            <a:endParaRPr lang="en-US" sz="2200" dirty="0"/>
          </a:p>
        </p:txBody>
      </p:sp>
      <p:pic>
        <p:nvPicPr>
          <p:cNvPr id="4" name="Image 0" descr="..\results\figures\depth_comparison_v2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6035040" cy="415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040880" y="1828800"/>
            <a:ext cx="45107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(naive): gradient chết hẳn (=0.0) từ độ sâu 20 trở lên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Xavier: suy giảm dần đều — sụp hẳn ở độ sâu 50 (≈3×10⁻¹⁰)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He: giữ gradient ổn định (~10⁻²) ở MỌI độ sâu, kể cả 50 lớp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Nhưng giữ được gradient KHÔNG đồng nghĩa học tốt: He@L=12 test acc chỉ 32.6% (overfitting, không phải vanishing — khớp đúng phát hiện của báo cáo chính)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24/28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8" name="Shape 5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6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Shape 7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Bảng tổng hợp — 5 thí nghiệm, số liệu thật</a:t>
            </a:r>
            <a:endParaRPr lang="en-US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2743200"/>
        </p:xfrm>
        <a:graphic>
          <a:graphicData uri="http://schemas.openxmlformats.org/drawingml/2006/table">
            <a:tbl>
              <a:tblPr/>
              <a:tblGrid>
                <a:gridCol w="2679192"/>
                <a:gridCol w="2679192"/>
                <a:gridCol w="2679192"/>
                <a:gridCol w="289864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Init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Final Loss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Gradient stability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2238"/>
                          </a:solidFill>
                        </a:rPr>
                        <a:t>Zero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2.303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10.0%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E3C32"/>
                          </a:solidFill>
                        </a:rPr>
                        <a:t>Vanishing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2238"/>
                          </a:solidFill>
                        </a:rPr>
                        <a:t>Random (small)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2.303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10.0%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E3C32"/>
                          </a:solidFill>
                        </a:rPr>
                        <a:t>Vanishing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2238"/>
                          </a:solidFill>
                        </a:rPr>
                        <a:t>Random (large)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NaN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10.0%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D3C98"/>
                          </a:solidFill>
                        </a:rPr>
                        <a:t>Exploding (NaN)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2238"/>
                          </a:solidFill>
                        </a:rPr>
                        <a:t>Xavier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0.474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68.2%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</a:rPr>
                        <a:t>Ổn định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2238"/>
                          </a:solidFill>
                        </a:rPr>
                        <a:t>He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0.365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8"/>
                          </a:solidFill>
                        </a:rPr>
                        <a:t>67.4%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</a:rPr>
                        <a:t>Ổn định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8463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lấy nguyên văn từ results/tables/deep_demo_summary.csv — không làm tròn để "đẹp bảng", không có kết quả nào bị bỏ sót.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25/28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8" name="Shape 5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9" name="Shape 6"/>
          <p:cNvSpPr/>
          <p:nvPr/>
        </p:nvSpPr>
        <p:spPr>
          <a:xfrm>
            <a:off x="1034415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10" name="Shape 7"/>
          <p:cNvSpPr/>
          <p:nvPr/>
        </p:nvSpPr>
        <p:spPr>
          <a:xfrm>
            <a:off x="1268730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7E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Derivative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97864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A3E0"/>
                </a:solidFill>
              </a:rPr>
              <a:t>↓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1732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7E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 Rule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46504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A3E0"/>
                </a:solidFill>
              </a:rPr>
              <a:t>↓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7E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Backpropagation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95144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A3E0"/>
                </a:solidFill>
              </a:rPr>
              <a:t>↓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1460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7E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Flow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43784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A3E0"/>
                </a:solidFill>
              </a:rPr>
              <a:t>↓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06324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7E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Vanishing / Exploding Gradient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92424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A3E0"/>
                </a:solidFill>
              </a:rPr>
              <a:t>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61188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7E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 Initialization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41064"/>
            <a:ext cx="10911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FA3E0"/>
                </a:solidFill>
              </a:rPr>
              <a:t>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6052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6FA3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Training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84632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Backpropagation chỉ là ứng dụng có hệ thống của Chain Rule.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Deep network làm gradient trở thành tích của rất nhiều đạo hàm ⇒ vanishing/exploding.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Xavier và He được thiết kế để giữ variance của activation/gradient ổn định qua nhiều lớp.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18" name="Shape 16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20" name="Shape 18"/>
          <p:cNvSpPr/>
          <p:nvPr/>
        </p:nvSpPr>
        <p:spPr>
          <a:xfrm>
            <a:off x="1253871" y="6459093"/>
            <a:ext cx="89154" cy="89154"/>
          </a:xfrm>
          <a:prstGeom prst="ellipse">
            <a:avLst/>
          </a:prstGeom>
          <a:solidFill>
            <a:srgbClr val="6FA3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6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85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(THAM KHẢO)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Initialization tới mạng hiện đại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41368" y="182880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EAF0FB"/>
          </a:solidFill>
          <a:ln w="15875">
            <a:solidFill>
              <a:srgbClr val="285A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41368" y="18288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Initialization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95848" y="2331720"/>
            <a:ext cx="0" cy="32004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541368" y="265176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41368" y="2651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+ Normalization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5848" y="3154680"/>
            <a:ext cx="0" cy="32004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41368" y="347472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F1F4F9"/>
          </a:solidFill>
          <a:ln w="15875">
            <a:solidFill>
              <a:srgbClr val="D9DE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41368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+ Residual Connections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41368" y="429768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FBEEEC"/>
          </a:solidFill>
          <a:ln w="15875">
            <a:solidFill>
              <a:srgbClr val="BE3C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41368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Modern Deep Networks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5848" y="3977640"/>
            <a:ext cx="0" cy="320040"/>
          </a:xfrm>
          <a:prstGeom prst="line">
            <a:avLst/>
          </a:prstGeom>
          <a:noFill/>
          <a:ln w="25400">
            <a:solidFill>
              <a:srgbClr val="285AB4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0080" y="521208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Normalization / Layer Normalization — chuẩn hoá lại tín hiệu MỖI lớp, không chỉ dựa vào 1 lần khởi tạo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Networks — cho gradient một 'đường tắt' (skip connection) bỏ qua tích luỹ nhiều lớp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Clipping — chặn cứng exploding gradient bất kể nguyên nhân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27/28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D9D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1253871" y="6459093"/>
            <a:ext cx="89154" cy="89154"/>
          </a:xfrm>
          <a:prstGeom prst="ellipse">
            <a:avLst/>
          </a:prstGeom>
          <a:solidFill>
            <a:srgbClr val="285AB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Rumelhart, Hinton &amp; Williams (1986). Learning representations by back-propagating errors. Nature, 323(6088):533–536.</a:t>
            </a:r>
            <a:endParaRPr lang="en-US" sz="1100" dirty="0"/>
          </a:p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LeCun, Bottou, Orr &amp; Müller (1998/2012). Efficient BackProp. Neural Networks: Tricks of the Trade.</a:t>
            </a:r>
            <a:endParaRPr lang="en-US" sz="1100" dirty="0"/>
          </a:p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Glorot &amp; Bengio (2010). Understanding the difficulty of training deep feedforward neural networks. AISTATS.</a:t>
            </a:r>
            <a:endParaRPr lang="en-US" sz="1100" dirty="0"/>
          </a:p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He, Zhang, Ren &amp; Sun (2015). Delving Deep into Rectifiers. ICCV. arXiv:1502.01852.</a:t>
            </a:r>
            <a:endParaRPr lang="en-US" sz="1100" dirty="0"/>
          </a:p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Bishop (2006). Pattern Recognition and Machine Learning. Springer.</a:t>
            </a:r>
            <a:endParaRPr lang="en-US" sz="1100" dirty="0"/>
          </a:p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Goodfellow, Bengio &amp; Courville (2016). Deep Learning. MIT Press.</a:t>
            </a:r>
            <a:endParaRPr lang="en-US" sz="1100" dirty="0"/>
          </a:p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Kingma &amp; Ba (2015). Adam: A Method for Stochastic Optimization. ICLR. arXiv:1412.6980.</a:t>
            </a:r>
            <a:endParaRPr lang="en-US" sz="1100" dirty="0"/>
          </a:p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Clevert, Unterthiner &amp; Hochreiter (2016). Fast and Accurate Deep Network Learning by ELUs. ICLR. arXiv:1511.07289.</a:t>
            </a:r>
            <a:endParaRPr lang="en-US" sz="1100" dirty="0"/>
          </a:p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Klambauer, Unterthiner, Mayr &amp; Hochreiter (2017). Self-Normalizing Neural Networks. NeurIPS. arXiv:1706.02515.</a:t>
            </a:r>
            <a:endParaRPr lang="en-US" sz="1100" dirty="0"/>
          </a:p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Xiao, Rasul &amp; Vollgraf (2017). Fashion-MNIST. arXiv:1708.07747.</a:t>
            </a:r>
            <a:endParaRPr lang="en-US" sz="1100" dirty="0"/>
          </a:p>
          <a:p>
            <a:pPr indent="0" marL="0">
              <a:spcAft>
                <a:spcPts val="650"/>
              </a:spcAft>
              <a:buNone/>
            </a:pPr>
            <a:r>
              <a:rPr lang="en-US" sz="1100" dirty="0">
                <a:solidFill>
                  <a:srgbClr val="D8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Paszke et al. (2019). PyTorch: An Imperative Style, High-Performance Deep Learning Library. NeurIPS.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0362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6" name="Shape 4"/>
          <p:cNvSpPr/>
          <p:nvPr/>
        </p:nvSpPr>
        <p:spPr>
          <a:xfrm>
            <a:off x="829818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7" name="Shape 5"/>
          <p:cNvSpPr/>
          <p:nvPr/>
        </p:nvSpPr>
        <p:spPr>
          <a:xfrm>
            <a:off x="1049274" y="6473952"/>
            <a:ext cx="59436" cy="59436"/>
          </a:xfrm>
          <a:prstGeom prst="ellipse">
            <a:avLst/>
          </a:prstGeom>
          <a:solidFill>
            <a:srgbClr val="3A4A70"/>
          </a:solidFill>
          <a:ln/>
        </p:spPr>
      </p:sp>
      <p:sp>
        <p:nvSpPr>
          <p:cNvPr id="8" name="Shape 6"/>
          <p:cNvSpPr/>
          <p:nvPr/>
        </p:nvSpPr>
        <p:spPr>
          <a:xfrm>
            <a:off x="1253871" y="6459093"/>
            <a:ext cx="89154" cy="89154"/>
          </a:xfrm>
          <a:prstGeom prst="ellipse">
            <a:avLst/>
          </a:prstGeom>
          <a:solidFill>
            <a:srgbClr val="6FA3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63624" y="63916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6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2026-09-20T10:19:27Z</dcterms:created>
  <dcterms:modified xsi:type="dcterms:W3CDTF">2026-09-20T10:19:27Z</dcterms:modified>
</cp:coreProperties>
</file>
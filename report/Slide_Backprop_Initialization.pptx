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tên nhóm, chủ đề, và nói 1 câu định hướng: báo cáo trả lời 2 câu hỏi — tính gradient thế nào (Backpropagation) và bắt đầu từ đâu (Initialization).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không phải 2 chủ đề tách rời — cả hai đều nói về việc tín hiệu học (gradient) di chuyển trong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5 mục tiêu — đây cũng chính là dàn ý của toàn bộ bài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Dùng hình tiếp tuyến để minh hoạ. Nếu bị hỏi 'đạo hàm âm nghĩa là gì' — tăng w thì loss giảm, nên optimizer sẽ TĂNG w (đi ngược dấu gradient).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viên gạch nền tảng của toàn bộ Backpropagation. Ẩn dụ dây chuyền/truyền tin đồn giúp sinh viên nhớ trực giác chain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lại hình này trên bảng nếu được hỏi thêm. Nhấn: mỗi nút chỉ cần biết đạo hàm CỦA CHÍNH NÓ — đó là điều làm computational graph mạnh mẽ.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 pass là bước 'đi xuôi', cần cho cả training lẫn inference; backward chỉ cần khi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Ẩn dụ dây chuyền sản xuất bị lỗi, truy ngược công đoạn nào gây lỗi nhiều nhất — tương ứng với việc backprop hỏi từng lớp 'anh khuếch đại lỗi bao nhiêu?'.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CHỦ ĐẠO xuyên suốt bài — nhắc lại số liệu ở slide 20 (manual backprop) và slide 21 (gradient check) dùng ĐÚNG ví dụ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bị hỏi 'vì sao chuyển vị ở đây' → kiểm tra kích thước ma trận là cách tự-debug đáng tin cậy nhất khi tự viết code backprop.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câu hỏi hay bị hỏi phản biện nhất — trả lời dứt khoát: Backprop trả lời CÁI GÌ (gradient), Gradient Descent trả lời NÊN LÀM GÌ với cái đó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Cầu nối sang phần 2 của báo cáo — từ 'cách tính gradient' sang 'điểm khởi đầu để gradient đó có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'0 tuyệt đối' không phải 'rất nhỏ' — đây là điểm khác Random init, và được xác nhận đúng bằng số liệu thực nghiệm thật ở Mục 9 của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Cầu nối: phá đối xứng chỉ là bước đầu. Điều này dẫn tới các scheme 'khoa học' hơn ở các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hỏi 'vì sao trung bình n_in, n_out' → 2 điều kiện (giữ Var(z) và Var(gradient)) chỉ khớp khi n_in=n_out; Glorot chọn điểm dung hoà 2/(n_in+n_out).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hội thể hiện tư duy phản biện nếu bị hỏi: không phải mọi dự đoán lý thuyết đều được xác nhận rõ ràng ở thực nghiệm nhỏ — đây là điểm trung thực, không phải điểm yếu.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bảng 'hệ số g^L theo L' rất trực quan để trình bày — đọc thẳng từ báo cáo Mục 6. Thanh đỏ co lại minh hoạ trực quan độ lớn gradient.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đây là 'hai mặt của cùng một đồng xu' với slide trước — không phải hiện tượng riêng biệt, chỉ khác g&lt;1 hay g&gt;1.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'fair experiment' — chỉ đổi đúng 1-2 biến khi so sánh, mọi thứ khác giữ nguyên.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Part A của project — chứng minh Backprop = Chain Rule bằng code thật, không chỉ lý thuyết suông.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hỏi 'sao không dùng finite-diff luôn cho training' → vì nó cần O(P) forward pass, quá chậm cho mạng triệu tham số (xem Slide 10 / Mục 4.4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bảng theo hàng rồi theo cột — hàng cho thấy Zero/Random luôn thất bại, cột Sigmoid cho thấy ngay cả initialization tốt cũng thất bại ở độ sâu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bằng chứng thực nghiệm trực tiếp nhất cho lý thuyết vanishing gradient Mục 6 /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'big picture' — dùng để tổng kết trước khi sang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thể hiện tư duy phản biện — hai nguyên nhân ĐỘC LẬP: (1) trần đạo hàm 0.25 làm tín hiệu yếu, (2) lệch tâm dương làm SGD đi đường dích dắc (như LeCun 1998 'Efficient BackProp' khuyến nghị centering). He vs Xavier cho ReLU: chênh lệch nằm trong nhiễu 1-seed, không có ý nghĩa thống kê, không kết luận dứt khoát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'cheat sheet' thực dụng — hữu ích khi làm project khác. Có thể đọc nhanh 4 dòng này khi được hỏi 'vậy nên dùng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Trung thực về giới hạn — không giấu, đây là điểm cộng học thuật khi trả lời câu hỏi phản biện. Cột trái = lựa chọn có chủ đích (không phải sơ suất); cột phải = giới hạn thật + hướng khắc phục.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tắt bằng câu chốt ở cuối slide, chuẩn bị cho phần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Sẵn sàng nêu nguồn cụ thể nếu giảng viên hỏi 'câu này lấy từ đâu' — 11 nguồn, khớp 100% với danh mục tham khảo IEEE trong báo cáo PDF, đều đã verify qua tìm kiếm thực tế, không có nguồn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Shape 0"/>
          <p:cNvSpPr/>
          <p:nvPr/>
        </p:nvSpPr>
        <p:spPr>
          <a:xfrm flipV="1">
            <a:off x="7863840" y="1965960"/>
            <a:ext cx="1234440" cy="566928"/>
          </a:xfrm>
          <a:prstGeom prst="line">
            <a:avLst/>
          </a:prstGeom>
          <a:noFill/>
          <a:ln w="6350">
            <a:solidFill>
              <a:srgbClr val="3A4A70">
                <a:alpha val="45000"/>
              </a:srgbClr>
            </a:solidFill>
            <a:prstDash val="solid"/>
          </a:ln>
        </p:spPr>
      </p:sp>
      <p:sp>
        <p:nvSpPr>
          <p:cNvPr id="3" name="Shape 1"/>
          <p:cNvSpPr/>
          <p:nvPr/>
        </p:nvSpPr>
        <p:spPr>
          <a:xfrm>
            <a:off x="7863840" y="2532888"/>
            <a:ext cx="1234440" cy="0"/>
          </a:xfrm>
          <a:prstGeom prst="line">
            <a:avLst/>
          </a:prstGeom>
          <a:noFill/>
          <a:ln w="6350">
            <a:solidFill>
              <a:srgbClr val="3A4A70">
                <a:alpha val="45000"/>
              </a:srgbClr>
            </a:solidFill>
            <a:prstDash val="solid"/>
          </a:ln>
        </p:spPr>
      </p:sp>
      <p:sp>
        <p:nvSpPr>
          <p:cNvPr id="4" name="Shape 2"/>
          <p:cNvSpPr/>
          <p:nvPr/>
        </p:nvSpPr>
        <p:spPr>
          <a:xfrm>
            <a:off x="7863840" y="2532888"/>
            <a:ext cx="1234440" cy="566928"/>
          </a:xfrm>
          <a:prstGeom prst="line">
            <a:avLst/>
          </a:prstGeom>
          <a:noFill/>
          <a:ln w="6350">
            <a:solidFill>
              <a:srgbClr val="3A4A70">
                <a:alpha val="45000"/>
              </a:srgbClr>
            </a:solidFill>
            <a:prstDash val="solid"/>
          </a:ln>
        </p:spPr>
      </p:sp>
      <p:sp>
        <p:nvSpPr>
          <p:cNvPr id="5" name="Shape 3"/>
          <p:cNvSpPr/>
          <p:nvPr/>
        </p:nvSpPr>
        <p:spPr>
          <a:xfrm>
            <a:off x="7863840" y="2532888"/>
            <a:ext cx="1234440" cy="1133856"/>
          </a:xfrm>
          <a:prstGeom prst="line">
            <a:avLst/>
          </a:prstGeom>
          <a:noFill/>
          <a:ln w="6350">
            <a:solidFill>
              <a:srgbClr val="3A4A70">
                <a:alpha val="45000"/>
              </a:srgbClr>
            </a:solidFill>
            <a:prstDash val="solid"/>
          </a:ln>
        </p:spPr>
      </p:sp>
      <p:sp>
        <p:nvSpPr>
          <p:cNvPr id="6" name="Shape 4"/>
          <p:cNvSpPr/>
          <p:nvPr/>
        </p:nvSpPr>
        <p:spPr>
          <a:xfrm>
            <a:off x="7863840" y="2532888"/>
            <a:ext cx="1234440" cy="1700784"/>
          </a:xfrm>
          <a:prstGeom prst="line">
            <a:avLst/>
          </a:prstGeom>
          <a:noFill/>
          <a:ln w="6350">
            <a:solidFill>
              <a:srgbClr val="3A4A70">
                <a:alpha val="45000"/>
              </a:srgbClr>
            </a:solidFill>
            <a:prstDash val="solid"/>
          </a:ln>
        </p:spPr>
      </p:sp>
      <p:sp>
        <p:nvSpPr>
          <p:cNvPr id="7" name="Shape 5"/>
          <p:cNvSpPr/>
          <p:nvPr/>
        </p:nvSpPr>
        <p:spPr>
          <a:xfrm>
            <a:off x="7863840" y="2532888"/>
            <a:ext cx="1234440" cy="2267712"/>
          </a:xfrm>
          <a:prstGeom prst="line">
            <a:avLst/>
          </a:prstGeom>
          <a:noFill/>
          <a:ln w="6350">
            <a:solidFill>
              <a:srgbClr val="3A4A70">
                <a:alpha val="45000"/>
              </a:srgbClr>
            </a:solidFill>
            <a:prstDash val="solid"/>
          </a:ln>
        </p:spPr>
      </p:sp>
      <p:sp>
        <p:nvSpPr>
          <p:cNvPr id="8" name="Shape 6"/>
          <p:cNvSpPr/>
          <p:nvPr/>
        </p:nvSpPr>
        <p:spPr>
          <a:xfrm flipV="1">
            <a:off x="7863840" y="1965960"/>
            <a:ext cx="1234440" cy="1133856"/>
          </a:xfrm>
          <a:prstGeom prst="line">
            <a:avLst/>
          </a:prstGeom>
          <a:noFill/>
          <a:ln w="6350">
            <a:solidFill>
              <a:srgbClr val="3A4A70">
                <a:alpha val="45000"/>
              </a:srgbClr>
            </a:solidFill>
            <a:prstDash val="solid"/>
          </a:ln>
        </p:spPr>
      </p:sp>
      <p:sp>
        <p:nvSpPr>
          <p:cNvPr id="9" name="Shape 7"/>
          <p:cNvSpPr/>
          <p:nvPr/>
        </p:nvSpPr>
        <p:spPr>
          <a:xfrm flipV="1">
            <a:off x="7863840" y="2532888"/>
            <a:ext cx="1234440" cy="566928"/>
          </a:xfrm>
          <a:prstGeom prst="line">
            <a:avLst/>
          </a:prstGeom>
          <a:noFill/>
          <a:ln w="6350">
            <a:solidFill>
              <a:srgbClr val="3A4A70">
                <a:alpha val="45000"/>
              </a:srgbClr>
            </a:solidFill>
            <a:prstDash val="solid"/>
          </a:ln>
        </p:spPr>
      </p:sp>
      <p:sp>
        <p:nvSpPr>
          <p:cNvPr id="10" name="Shape 8"/>
          <p:cNvSpPr/>
          <p:nvPr/>
        </p:nvSpPr>
        <p:spPr>
          <a:xfrm flipV="1">
            <a:off x="7863840" y="3099816"/>
            <a:ext cx="1234440" cy="0"/>
          </a:xfrm>
          <a:prstGeom prst="line">
            <a:avLst/>
          </a:prstGeom>
          <a:noFill/>
          <a:ln w="6350">
            <a:solidFill>
              <a:srgbClr val="3A4A70">
                <a:alpha val="45000"/>
              </a:srgbClr>
            </a:solidFill>
            <a:prstDash val="solid"/>
          </a:ln>
        </p:spPr>
      </p:sp>
      <p:sp>
        <p:nvSpPr>
          <p:cNvPr id="11" name="Shape 9"/>
          <p:cNvSpPr/>
          <p:nvPr/>
        </p:nvSpPr>
        <p:spPr>
          <a:xfrm>
            <a:off x="7863840" y="3099816"/>
            <a:ext cx="1234440" cy="566928"/>
          </a:xfrm>
          <a:prstGeom prst="line">
            <a:avLst/>
          </a:prstGeom>
          <a:noFill/>
          <a:ln w="6350">
            <a:solidFill>
              <a:srgbClr val="3A4A70">
                <a:alpha val="45000"/>
              </a:srgbClr>
            </a:solidFill>
            <a:prstDash val="solid"/>
          </a:ln>
        </p:spPr>
      </p:sp>
      <p:sp>
        <p:nvSpPr>
          <p:cNvPr id="12" name="Shape 10"/>
          <p:cNvSpPr/>
          <p:nvPr/>
        </p:nvSpPr>
        <p:spPr>
          <a:xfrm>
            <a:off x="7863840" y="3099816"/>
            <a:ext cx="1234440" cy="1133856"/>
          </a:xfrm>
          <a:prstGeom prst="line">
            <a:avLst/>
          </a:prstGeom>
          <a:noFill/>
          <a:ln w="6350">
            <a:solidFill>
              <a:srgbClr val="3A4A70">
                <a:alpha val="45000"/>
              </a:srgbClr>
            </a:solidFill>
            <a:prstDash val="solid"/>
          </a:ln>
        </p:spPr>
      </p:sp>
      <p:sp>
        <p:nvSpPr>
          <p:cNvPr id="13" name="Shape 11"/>
          <p:cNvSpPr/>
          <p:nvPr/>
        </p:nvSpPr>
        <p:spPr>
          <a:xfrm>
            <a:off x="7863840" y="3099816"/>
            <a:ext cx="1234440" cy="1700784"/>
          </a:xfrm>
          <a:prstGeom prst="line">
            <a:avLst/>
          </a:prstGeom>
          <a:noFill/>
          <a:ln w="6350">
            <a:solidFill>
              <a:srgbClr val="3A4A70">
                <a:alpha val="45000"/>
              </a:srgbClr>
            </a:solidFill>
            <a:prstDash val="solid"/>
          </a:ln>
        </p:spPr>
      </p:sp>
      <p:sp>
        <p:nvSpPr>
          <p:cNvPr id="14" name="Shape 12"/>
          <p:cNvSpPr/>
          <p:nvPr/>
        </p:nvSpPr>
        <p:spPr>
          <a:xfrm flipV="1">
            <a:off x="7863840" y="1965960"/>
            <a:ext cx="1234440" cy="1700784"/>
          </a:xfrm>
          <a:prstGeom prst="line">
            <a:avLst/>
          </a:prstGeom>
          <a:noFill/>
          <a:ln w="6350">
            <a:solidFill>
              <a:srgbClr val="3A4A70">
                <a:alpha val="45000"/>
              </a:srgbClr>
            </a:solidFill>
            <a:prstDash val="solid"/>
          </a:ln>
        </p:spPr>
      </p:sp>
      <p:sp>
        <p:nvSpPr>
          <p:cNvPr id="15" name="Shape 13"/>
          <p:cNvSpPr/>
          <p:nvPr/>
        </p:nvSpPr>
        <p:spPr>
          <a:xfrm flipV="1">
            <a:off x="7863840" y="2532888"/>
            <a:ext cx="1234440" cy="1133856"/>
          </a:xfrm>
          <a:prstGeom prst="line">
            <a:avLst/>
          </a:prstGeom>
          <a:noFill/>
          <a:ln w="6350">
            <a:solidFill>
              <a:srgbClr val="3A4A70">
                <a:alpha val="45000"/>
              </a:srgbClr>
            </a:solidFill>
            <a:prstDash val="solid"/>
          </a:ln>
        </p:spPr>
      </p:sp>
      <p:sp>
        <p:nvSpPr>
          <p:cNvPr id="16" name="Shape 14"/>
          <p:cNvSpPr/>
          <p:nvPr/>
        </p:nvSpPr>
        <p:spPr>
          <a:xfrm flipV="1">
            <a:off x="7863840" y="3099816"/>
            <a:ext cx="1234440" cy="566928"/>
          </a:xfrm>
          <a:prstGeom prst="line">
            <a:avLst/>
          </a:prstGeom>
          <a:noFill/>
          <a:ln w="6350">
            <a:solidFill>
              <a:srgbClr val="3A4A70">
                <a:alpha val="45000"/>
              </a:srgbClr>
            </a:solidFill>
            <a:prstDash val="solid"/>
          </a:ln>
        </p:spPr>
      </p:sp>
      <p:sp>
        <p:nvSpPr>
          <p:cNvPr id="17" name="Shape 15"/>
          <p:cNvSpPr/>
          <p:nvPr/>
        </p:nvSpPr>
        <p:spPr>
          <a:xfrm>
            <a:off x="7863840" y="3666744"/>
            <a:ext cx="1234440" cy="0"/>
          </a:xfrm>
          <a:prstGeom prst="line">
            <a:avLst/>
          </a:prstGeom>
          <a:noFill/>
          <a:ln w="6350">
            <a:solidFill>
              <a:srgbClr val="3A4A70">
                <a:alpha val="45000"/>
              </a:srgbClr>
            </a:solidFill>
            <a:prstDash val="solid"/>
          </a:ln>
        </p:spPr>
      </p:sp>
      <p:sp>
        <p:nvSpPr>
          <p:cNvPr id="18" name="Shape 16"/>
          <p:cNvSpPr/>
          <p:nvPr/>
        </p:nvSpPr>
        <p:spPr>
          <a:xfrm>
            <a:off x="7863840" y="3666744"/>
            <a:ext cx="1234440" cy="566928"/>
          </a:xfrm>
          <a:prstGeom prst="line">
            <a:avLst/>
          </a:prstGeom>
          <a:noFill/>
          <a:ln w="6350">
            <a:solidFill>
              <a:srgbClr val="3A4A70">
                <a:alpha val="45000"/>
              </a:srgbClr>
            </a:solidFill>
            <a:prstDash val="solid"/>
          </a:ln>
        </p:spPr>
      </p:sp>
      <p:sp>
        <p:nvSpPr>
          <p:cNvPr id="19" name="Shape 17"/>
          <p:cNvSpPr/>
          <p:nvPr/>
        </p:nvSpPr>
        <p:spPr>
          <a:xfrm>
            <a:off x="7863840" y="3666744"/>
            <a:ext cx="1234440" cy="1133856"/>
          </a:xfrm>
          <a:prstGeom prst="line">
            <a:avLst/>
          </a:prstGeom>
          <a:noFill/>
          <a:ln w="6350">
            <a:solidFill>
              <a:srgbClr val="3A4A70">
                <a:alpha val="45000"/>
              </a:srgbClr>
            </a:solidFill>
            <a:prstDash val="solid"/>
          </a:ln>
        </p:spPr>
      </p:sp>
      <p:sp>
        <p:nvSpPr>
          <p:cNvPr id="20" name="Shape 18"/>
          <p:cNvSpPr/>
          <p:nvPr/>
        </p:nvSpPr>
        <p:spPr>
          <a:xfrm flipV="1">
            <a:off x="7863840" y="1965960"/>
            <a:ext cx="1234440" cy="2267712"/>
          </a:xfrm>
          <a:prstGeom prst="line">
            <a:avLst/>
          </a:prstGeom>
          <a:noFill/>
          <a:ln w="6350">
            <a:solidFill>
              <a:srgbClr val="3A4A70">
                <a:alpha val="45000"/>
              </a:srgbClr>
            </a:solidFill>
            <a:prstDash val="solid"/>
          </a:ln>
        </p:spPr>
      </p:sp>
      <p:sp>
        <p:nvSpPr>
          <p:cNvPr id="21" name="Shape 19"/>
          <p:cNvSpPr/>
          <p:nvPr/>
        </p:nvSpPr>
        <p:spPr>
          <a:xfrm flipV="1">
            <a:off x="7863840" y="2532888"/>
            <a:ext cx="1234440" cy="1700784"/>
          </a:xfrm>
          <a:prstGeom prst="line">
            <a:avLst/>
          </a:prstGeom>
          <a:noFill/>
          <a:ln w="6350">
            <a:solidFill>
              <a:srgbClr val="3A4A70">
                <a:alpha val="45000"/>
              </a:srgbClr>
            </a:solidFill>
            <a:prstDash val="solid"/>
          </a:ln>
        </p:spPr>
      </p:sp>
      <p:sp>
        <p:nvSpPr>
          <p:cNvPr id="22" name="Shape 20"/>
          <p:cNvSpPr/>
          <p:nvPr/>
        </p:nvSpPr>
        <p:spPr>
          <a:xfrm flipV="1">
            <a:off x="7863840" y="3099816"/>
            <a:ext cx="1234440" cy="1133856"/>
          </a:xfrm>
          <a:prstGeom prst="line">
            <a:avLst/>
          </a:prstGeom>
          <a:noFill/>
          <a:ln w="6350">
            <a:solidFill>
              <a:srgbClr val="3A4A70">
                <a:alpha val="45000"/>
              </a:srgbClr>
            </a:solidFill>
            <a:prstDash val="solid"/>
          </a:ln>
        </p:spPr>
      </p:sp>
      <p:sp>
        <p:nvSpPr>
          <p:cNvPr id="23" name="Shape 21"/>
          <p:cNvSpPr/>
          <p:nvPr/>
        </p:nvSpPr>
        <p:spPr>
          <a:xfrm flipV="1">
            <a:off x="7863840" y="3666744"/>
            <a:ext cx="1234440" cy="566928"/>
          </a:xfrm>
          <a:prstGeom prst="line">
            <a:avLst/>
          </a:prstGeom>
          <a:noFill/>
          <a:ln w="6350">
            <a:solidFill>
              <a:srgbClr val="3A4A70">
                <a:alpha val="45000"/>
              </a:srgbClr>
            </a:solidFill>
            <a:prstDash val="solid"/>
          </a:ln>
        </p:spPr>
      </p:sp>
      <p:sp>
        <p:nvSpPr>
          <p:cNvPr id="24" name="Shape 22"/>
          <p:cNvSpPr/>
          <p:nvPr/>
        </p:nvSpPr>
        <p:spPr>
          <a:xfrm>
            <a:off x="7863840" y="4233672"/>
            <a:ext cx="1234440" cy="0"/>
          </a:xfrm>
          <a:prstGeom prst="line">
            <a:avLst/>
          </a:prstGeom>
          <a:noFill/>
          <a:ln w="6350">
            <a:solidFill>
              <a:srgbClr val="3A4A70">
                <a:alpha val="45000"/>
              </a:srgbClr>
            </a:solidFill>
            <a:prstDash val="solid"/>
          </a:ln>
        </p:spPr>
      </p:sp>
      <p:sp>
        <p:nvSpPr>
          <p:cNvPr id="25" name="Shape 23"/>
          <p:cNvSpPr/>
          <p:nvPr/>
        </p:nvSpPr>
        <p:spPr>
          <a:xfrm>
            <a:off x="7863840" y="4233672"/>
            <a:ext cx="1234440" cy="566928"/>
          </a:xfrm>
          <a:prstGeom prst="line">
            <a:avLst/>
          </a:prstGeom>
          <a:noFill/>
          <a:ln w="6350">
            <a:solidFill>
              <a:srgbClr val="3A4A70">
                <a:alpha val="45000"/>
              </a:srgbClr>
            </a:solidFill>
            <a:prstDash val="solid"/>
          </a:ln>
        </p:spPr>
      </p:sp>
      <p:sp>
        <p:nvSpPr>
          <p:cNvPr id="26" name="Shape 24"/>
          <p:cNvSpPr/>
          <p:nvPr/>
        </p:nvSpPr>
        <p:spPr>
          <a:xfrm>
            <a:off x="9098280" y="1965960"/>
            <a:ext cx="1234440" cy="0"/>
          </a:xfrm>
          <a:prstGeom prst="line">
            <a:avLst/>
          </a:prstGeom>
          <a:noFill/>
          <a:ln w="6350">
            <a:solidFill>
              <a:srgbClr val="3A4A70">
                <a:alpha val="45000"/>
              </a:srgbClr>
            </a:solidFill>
            <a:prstDash val="solid"/>
          </a:ln>
        </p:spPr>
      </p:sp>
      <p:sp>
        <p:nvSpPr>
          <p:cNvPr id="27" name="Shape 25"/>
          <p:cNvSpPr/>
          <p:nvPr/>
        </p:nvSpPr>
        <p:spPr>
          <a:xfrm>
            <a:off x="9098280" y="1965960"/>
            <a:ext cx="1234440" cy="566928"/>
          </a:xfrm>
          <a:prstGeom prst="line">
            <a:avLst/>
          </a:prstGeom>
          <a:noFill/>
          <a:ln w="6350">
            <a:solidFill>
              <a:srgbClr val="3A4A70">
                <a:alpha val="45000"/>
              </a:srgbClr>
            </a:solidFill>
            <a:prstDash val="solid"/>
          </a:ln>
        </p:spPr>
      </p:sp>
      <p:sp>
        <p:nvSpPr>
          <p:cNvPr id="28" name="Shape 26"/>
          <p:cNvSpPr/>
          <p:nvPr/>
        </p:nvSpPr>
        <p:spPr>
          <a:xfrm>
            <a:off x="9098280" y="1965960"/>
            <a:ext cx="1234440" cy="1133856"/>
          </a:xfrm>
          <a:prstGeom prst="line">
            <a:avLst/>
          </a:prstGeom>
          <a:noFill/>
          <a:ln w="6350">
            <a:solidFill>
              <a:srgbClr val="3A4A70">
                <a:alpha val="45000"/>
              </a:srgbClr>
            </a:solidFill>
            <a:prstDash val="solid"/>
          </a:ln>
        </p:spPr>
      </p:sp>
      <p:sp>
        <p:nvSpPr>
          <p:cNvPr id="29" name="Shape 27"/>
          <p:cNvSpPr/>
          <p:nvPr/>
        </p:nvSpPr>
        <p:spPr>
          <a:xfrm>
            <a:off x="9098280" y="1965960"/>
            <a:ext cx="1234440" cy="1700784"/>
          </a:xfrm>
          <a:prstGeom prst="line">
            <a:avLst/>
          </a:prstGeom>
          <a:noFill/>
          <a:ln w="6350">
            <a:solidFill>
              <a:srgbClr val="3A4A70">
                <a:alpha val="45000"/>
              </a:srgbClr>
            </a:solidFill>
            <a:prstDash val="solid"/>
          </a:ln>
        </p:spPr>
      </p:sp>
      <p:sp>
        <p:nvSpPr>
          <p:cNvPr id="30" name="Shape 28"/>
          <p:cNvSpPr/>
          <p:nvPr/>
        </p:nvSpPr>
        <p:spPr>
          <a:xfrm>
            <a:off x="9098280" y="1965960"/>
            <a:ext cx="1234440" cy="2267712"/>
          </a:xfrm>
          <a:prstGeom prst="line">
            <a:avLst/>
          </a:prstGeom>
          <a:noFill/>
          <a:ln w="6350">
            <a:solidFill>
              <a:srgbClr val="3A4A70">
                <a:alpha val="45000"/>
              </a:srgbClr>
            </a:solidFill>
            <a:prstDash val="solid"/>
          </a:ln>
        </p:spPr>
      </p:sp>
      <p:sp>
        <p:nvSpPr>
          <p:cNvPr id="31" name="Shape 29"/>
          <p:cNvSpPr/>
          <p:nvPr/>
        </p:nvSpPr>
        <p:spPr>
          <a:xfrm>
            <a:off x="9098280" y="1965960"/>
            <a:ext cx="1234440" cy="2834640"/>
          </a:xfrm>
          <a:prstGeom prst="line">
            <a:avLst/>
          </a:prstGeom>
          <a:noFill/>
          <a:ln w="6350">
            <a:solidFill>
              <a:srgbClr val="3A4A70">
                <a:alpha val="45000"/>
              </a:srgbClr>
            </a:solidFill>
            <a:prstDash val="solid"/>
          </a:ln>
        </p:spPr>
      </p:sp>
      <p:sp>
        <p:nvSpPr>
          <p:cNvPr id="32" name="Shape 30"/>
          <p:cNvSpPr/>
          <p:nvPr/>
        </p:nvSpPr>
        <p:spPr>
          <a:xfrm flipV="1">
            <a:off x="9098280" y="1965960"/>
            <a:ext cx="1234440" cy="566928"/>
          </a:xfrm>
          <a:prstGeom prst="line">
            <a:avLst/>
          </a:prstGeom>
          <a:noFill/>
          <a:ln w="6350">
            <a:solidFill>
              <a:srgbClr val="3A4A70">
                <a:alpha val="45000"/>
              </a:srgbClr>
            </a:solidFill>
            <a:prstDash val="solid"/>
          </a:ln>
        </p:spPr>
      </p:sp>
      <p:sp>
        <p:nvSpPr>
          <p:cNvPr id="33" name="Shape 31"/>
          <p:cNvSpPr/>
          <p:nvPr/>
        </p:nvSpPr>
        <p:spPr>
          <a:xfrm>
            <a:off x="9098280" y="2532888"/>
            <a:ext cx="1234440" cy="0"/>
          </a:xfrm>
          <a:prstGeom prst="line">
            <a:avLst/>
          </a:prstGeom>
          <a:noFill/>
          <a:ln w="6350">
            <a:solidFill>
              <a:srgbClr val="3A4A70">
                <a:alpha val="45000"/>
              </a:srgbClr>
            </a:solidFill>
            <a:prstDash val="solid"/>
          </a:ln>
        </p:spPr>
      </p:sp>
      <p:sp>
        <p:nvSpPr>
          <p:cNvPr id="34" name="Shape 32"/>
          <p:cNvSpPr/>
          <p:nvPr/>
        </p:nvSpPr>
        <p:spPr>
          <a:xfrm>
            <a:off x="9098280" y="2532888"/>
            <a:ext cx="1234440" cy="566928"/>
          </a:xfrm>
          <a:prstGeom prst="line">
            <a:avLst/>
          </a:prstGeom>
          <a:noFill/>
          <a:ln w="6350">
            <a:solidFill>
              <a:srgbClr val="3A4A70">
                <a:alpha val="45000"/>
              </a:srgbClr>
            </a:solidFill>
            <a:prstDash val="solid"/>
          </a:ln>
        </p:spPr>
      </p:sp>
      <p:sp>
        <p:nvSpPr>
          <p:cNvPr id="35" name="Shape 33"/>
          <p:cNvSpPr/>
          <p:nvPr/>
        </p:nvSpPr>
        <p:spPr>
          <a:xfrm>
            <a:off x="9098280" y="2532888"/>
            <a:ext cx="1234440" cy="1133856"/>
          </a:xfrm>
          <a:prstGeom prst="line">
            <a:avLst/>
          </a:prstGeom>
          <a:noFill/>
          <a:ln w="6350">
            <a:solidFill>
              <a:srgbClr val="3A4A70">
                <a:alpha val="45000"/>
              </a:srgbClr>
            </a:solidFill>
            <a:prstDash val="solid"/>
          </a:ln>
        </p:spPr>
      </p:sp>
      <p:sp>
        <p:nvSpPr>
          <p:cNvPr id="36" name="Shape 34"/>
          <p:cNvSpPr/>
          <p:nvPr/>
        </p:nvSpPr>
        <p:spPr>
          <a:xfrm>
            <a:off x="9098280" y="2532888"/>
            <a:ext cx="1234440" cy="1700784"/>
          </a:xfrm>
          <a:prstGeom prst="line">
            <a:avLst/>
          </a:prstGeom>
          <a:noFill/>
          <a:ln w="6350">
            <a:solidFill>
              <a:srgbClr val="3A4A70">
                <a:alpha val="45000"/>
              </a:srgbClr>
            </a:solidFill>
            <a:prstDash val="solid"/>
          </a:ln>
        </p:spPr>
      </p:sp>
      <p:sp>
        <p:nvSpPr>
          <p:cNvPr id="37" name="Shape 35"/>
          <p:cNvSpPr/>
          <p:nvPr/>
        </p:nvSpPr>
        <p:spPr>
          <a:xfrm>
            <a:off x="9098280" y="2532888"/>
            <a:ext cx="1234440" cy="2267712"/>
          </a:xfrm>
          <a:prstGeom prst="line">
            <a:avLst/>
          </a:prstGeom>
          <a:noFill/>
          <a:ln w="6350">
            <a:solidFill>
              <a:srgbClr val="3A4A70">
                <a:alpha val="45000"/>
              </a:srgbClr>
            </a:solidFill>
            <a:prstDash val="solid"/>
          </a:ln>
        </p:spPr>
      </p:sp>
      <p:sp>
        <p:nvSpPr>
          <p:cNvPr id="38" name="Shape 36"/>
          <p:cNvSpPr/>
          <p:nvPr/>
        </p:nvSpPr>
        <p:spPr>
          <a:xfrm flipV="1">
            <a:off x="9098280" y="1965960"/>
            <a:ext cx="1234440" cy="1133856"/>
          </a:xfrm>
          <a:prstGeom prst="line">
            <a:avLst/>
          </a:prstGeom>
          <a:noFill/>
          <a:ln w="6350">
            <a:solidFill>
              <a:srgbClr val="3A4A70">
                <a:alpha val="45000"/>
              </a:srgbClr>
            </a:solidFill>
            <a:prstDash val="solid"/>
          </a:ln>
        </p:spPr>
      </p:sp>
      <p:sp>
        <p:nvSpPr>
          <p:cNvPr id="39" name="Shape 37"/>
          <p:cNvSpPr/>
          <p:nvPr/>
        </p:nvSpPr>
        <p:spPr>
          <a:xfrm flipV="1">
            <a:off x="9098280" y="2532888"/>
            <a:ext cx="1234440" cy="566928"/>
          </a:xfrm>
          <a:prstGeom prst="line">
            <a:avLst/>
          </a:prstGeom>
          <a:noFill/>
          <a:ln w="6350">
            <a:solidFill>
              <a:srgbClr val="3A4A70">
                <a:alpha val="45000"/>
              </a:srgbClr>
            </a:solidFill>
            <a:prstDash val="solid"/>
          </a:ln>
        </p:spPr>
      </p:sp>
      <p:sp>
        <p:nvSpPr>
          <p:cNvPr id="40" name="Shape 38"/>
          <p:cNvSpPr/>
          <p:nvPr/>
        </p:nvSpPr>
        <p:spPr>
          <a:xfrm>
            <a:off x="9098280" y="3099816"/>
            <a:ext cx="1234440" cy="0"/>
          </a:xfrm>
          <a:prstGeom prst="line">
            <a:avLst/>
          </a:prstGeom>
          <a:noFill/>
          <a:ln w="6350">
            <a:solidFill>
              <a:srgbClr val="3A4A70">
                <a:alpha val="45000"/>
              </a:srgbClr>
            </a:solidFill>
            <a:prstDash val="solid"/>
          </a:ln>
        </p:spPr>
      </p:sp>
      <p:sp>
        <p:nvSpPr>
          <p:cNvPr id="41" name="Shape 39"/>
          <p:cNvSpPr/>
          <p:nvPr/>
        </p:nvSpPr>
        <p:spPr>
          <a:xfrm>
            <a:off x="9098280" y="3099816"/>
            <a:ext cx="1234440" cy="566928"/>
          </a:xfrm>
          <a:prstGeom prst="line">
            <a:avLst/>
          </a:prstGeom>
          <a:noFill/>
          <a:ln w="6350">
            <a:solidFill>
              <a:srgbClr val="3A4A70">
                <a:alpha val="45000"/>
              </a:srgbClr>
            </a:solidFill>
            <a:prstDash val="solid"/>
          </a:ln>
        </p:spPr>
      </p:sp>
      <p:sp>
        <p:nvSpPr>
          <p:cNvPr id="42" name="Shape 40"/>
          <p:cNvSpPr/>
          <p:nvPr/>
        </p:nvSpPr>
        <p:spPr>
          <a:xfrm>
            <a:off x="9098280" y="3099816"/>
            <a:ext cx="1234440" cy="1133856"/>
          </a:xfrm>
          <a:prstGeom prst="line">
            <a:avLst/>
          </a:prstGeom>
          <a:noFill/>
          <a:ln w="6350">
            <a:solidFill>
              <a:srgbClr val="3A4A70">
                <a:alpha val="45000"/>
              </a:srgbClr>
            </a:solidFill>
            <a:prstDash val="solid"/>
          </a:ln>
        </p:spPr>
      </p:sp>
      <p:sp>
        <p:nvSpPr>
          <p:cNvPr id="43" name="Shape 41"/>
          <p:cNvSpPr/>
          <p:nvPr/>
        </p:nvSpPr>
        <p:spPr>
          <a:xfrm>
            <a:off x="9098280" y="3099816"/>
            <a:ext cx="1234440" cy="1700784"/>
          </a:xfrm>
          <a:prstGeom prst="line">
            <a:avLst/>
          </a:prstGeom>
          <a:noFill/>
          <a:ln w="6350">
            <a:solidFill>
              <a:srgbClr val="3A4A70">
                <a:alpha val="45000"/>
              </a:srgbClr>
            </a:solidFill>
            <a:prstDash val="solid"/>
          </a:ln>
        </p:spPr>
      </p:sp>
      <p:sp>
        <p:nvSpPr>
          <p:cNvPr id="44" name="Shape 42"/>
          <p:cNvSpPr/>
          <p:nvPr/>
        </p:nvSpPr>
        <p:spPr>
          <a:xfrm flipV="1">
            <a:off x="9098280" y="1965960"/>
            <a:ext cx="1234440" cy="1700784"/>
          </a:xfrm>
          <a:prstGeom prst="line">
            <a:avLst/>
          </a:prstGeom>
          <a:noFill/>
          <a:ln w="6350">
            <a:solidFill>
              <a:srgbClr val="3A4A70">
                <a:alpha val="45000"/>
              </a:srgbClr>
            </a:solidFill>
            <a:prstDash val="solid"/>
          </a:ln>
        </p:spPr>
      </p:sp>
      <p:sp>
        <p:nvSpPr>
          <p:cNvPr id="45" name="Shape 43"/>
          <p:cNvSpPr/>
          <p:nvPr/>
        </p:nvSpPr>
        <p:spPr>
          <a:xfrm flipV="1">
            <a:off x="9098280" y="2532888"/>
            <a:ext cx="1234440" cy="1133856"/>
          </a:xfrm>
          <a:prstGeom prst="line">
            <a:avLst/>
          </a:prstGeom>
          <a:noFill/>
          <a:ln w="6350">
            <a:solidFill>
              <a:srgbClr val="3A4A70">
                <a:alpha val="45000"/>
              </a:srgbClr>
            </a:solidFill>
            <a:prstDash val="solid"/>
          </a:ln>
        </p:spPr>
      </p:sp>
      <p:sp>
        <p:nvSpPr>
          <p:cNvPr id="46" name="Shape 44"/>
          <p:cNvSpPr/>
          <p:nvPr/>
        </p:nvSpPr>
        <p:spPr>
          <a:xfrm flipV="1">
            <a:off x="9098280" y="3099816"/>
            <a:ext cx="1234440" cy="566928"/>
          </a:xfrm>
          <a:prstGeom prst="line">
            <a:avLst/>
          </a:prstGeom>
          <a:noFill/>
          <a:ln w="6350">
            <a:solidFill>
              <a:srgbClr val="3A4A70">
                <a:alpha val="45000"/>
              </a:srgbClr>
            </a:solidFill>
            <a:prstDash val="solid"/>
          </a:ln>
        </p:spPr>
      </p:sp>
      <p:sp>
        <p:nvSpPr>
          <p:cNvPr id="47" name="Shape 45"/>
          <p:cNvSpPr/>
          <p:nvPr/>
        </p:nvSpPr>
        <p:spPr>
          <a:xfrm>
            <a:off x="9098280" y="3666744"/>
            <a:ext cx="1234440" cy="0"/>
          </a:xfrm>
          <a:prstGeom prst="line">
            <a:avLst/>
          </a:prstGeom>
          <a:noFill/>
          <a:ln w="6350">
            <a:solidFill>
              <a:srgbClr val="3A4A70">
                <a:alpha val="45000"/>
              </a:srgbClr>
            </a:solidFill>
            <a:prstDash val="solid"/>
          </a:ln>
        </p:spPr>
      </p:sp>
      <p:sp>
        <p:nvSpPr>
          <p:cNvPr id="48" name="Shape 46"/>
          <p:cNvSpPr/>
          <p:nvPr/>
        </p:nvSpPr>
        <p:spPr>
          <a:xfrm>
            <a:off x="9098280" y="3666744"/>
            <a:ext cx="1234440" cy="566928"/>
          </a:xfrm>
          <a:prstGeom prst="line">
            <a:avLst/>
          </a:prstGeom>
          <a:noFill/>
          <a:ln w="6350">
            <a:solidFill>
              <a:srgbClr val="3A4A70">
                <a:alpha val="45000"/>
              </a:srgbClr>
            </a:solidFill>
            <a:prstDash val="solid"/>
          </a:ln>
        </p:spPr>
      </p:sp>
      <p:sp>
        <p:nvSpPr>
          <p:cNvPr id="49" name="Shape 47"/>
          <p:cNvSpPr/>
          <p:nvPr/>
        </p:nvSpPr>
        <p:spPr>
          <a:xfrm>
            <a:off x="9098280" y="3666744"/>
            <a:ext cx="1234440" cy="1133856"/>
          </a:xfrm>
          <a:prstGeom prst="line">
            <a:avLst/>
          </a:prstGeom>
          <a:noFill/>
          <a:ln w="6350">
            <a:solidFill>
              <a:srgbClr val="3A4A70">
                <a:alpha val="45000"/>
              </a:srgbClr>
            </a:solidFill>
            <a:prstDash val="solid"/>
          </a:ln>
        </p:spPr>
      </p:sp>
      <p:sp>
        <p:nvSpPr>
          <p:cNvPr id="50" name="Shape 48"/>
          <p:cNvSpPr/>
          <p:nvPr/>
        </p:nvSpPr>
        <p:spPr>
          <a:xfrm flipV="1">
            <a:off x="9098280" y="1965960"/>
            <a:ext cx="1234440" cy="2267712"/>
          </a:xfrm>
          <a:prstGeom prst="line">
            <a:avLst/>
          </a:prstGeom>
          <a:noFill/>
          <a:ln w="6350">
            <a:solidFill>
              <a:srgbClr val="3A4A70">
                <a:alpha val="45000"/>
              </a:srgbClr>
            </a:solidFill>
            <a:prstDash val="solid"/>
          </a:ln>
        </p:spPr>
      </p:sp>
      <p:sp>
        <p:nvSpPr>
          <p:cNvPr id="51" name="Shape 49"/>
          <p:cNvSpPr/>
          <p:nvPr/>
        </p:nvSpPr>
        <p:spPr>
          <a:xfrm flipV="1">
            <a:off x="9098280" y="2532888"/>
            <a:ext cx="1234440" cy="1700784"/>
          </a:xfrm>
          <a:prstGeom prst="line">
            <a:avLst/>
          </a:prstGeom>
          <a:noFill/>
          <a:ln w="6350">
            <a:solidFill>
              <a:srgbClr val="3A4A70">
                <a:alpha val="45000"/>
              </a:srgbClr>
            </a:solidFill>
            <a:prstDash val="solid"/>
          </a:ln>
        </p:spPr>
      </p:sp>
      <p:sp>
        <p:nvSpPr>
          <p:cNvPr id="52" name="Shape 50"/>
          <p:cNvSpPr/>
          <p:nvPr/>
        </p:nvSpPr>
        <p:spPr>
          <a:xfrm flipV="1">
            <a:off x="9098280" y="3099816"/>
            <a:ext cx="1234440" cy="1133856"/>
          </a:xfrm>
          <a:prstGeom prst="line">
            <a:avLst/>
          </a:prstGeom>
          <a:noFill/>
          <a:ln w="6350">
            <a:solidFill>
              <a:srgbClr val="3A4A70">
                <a:alpha val="45000"/>
              </a:srgbClr>
            </a:solidFill>
            <a:prstDash val="solid"/>
          </a:ln>
        </p:spPr>
      </p:sp>
      <p:sp>
        <p:nvSpPr>
          <p:cNvPr id="53" name="Shape 51"/>
          <p:cNvSpPr/>
          <p:nvPr/>
        </p:nvSpPr>
        <p:spPr>
          <a:xfrm flipV="1">
            <a:off x="9098280" y="3666744"/>
            <a:ext cx="1234440" cy="566928"/>
          </a:xfrm>
          <a:prstGeom prst="line">
            <a:avLst/>
          </a:prstGeom>
          <a:noFill/>
          <a:ln w="6350">
            <a:solidFill>
              <a:srgbClr val="3A4A70">
                <a:alpha val="45000"/>
              </a:srgbClr>
            </a:solidFill>
            <a:prstDash val="solid"/>
          </a:ln>
        </p:spPr>
      </p:sp>
      <p:sp>
        <p:nvSpPr>
          <p:cNvPr id="54" name="Shape 52"/>
          <p:cNvSpPr/>
          <p:nvPr/>
        </p:nvSpPr>
        <p:spPr>
          <a:xfrm>
            <a:off x="9098280" y="4233672"/>
            <a:ext cx="1234440" cy="0"/>
          </a:xfrm>
          <a:prstGeom prst="line">
            <a:avLst/>
          </a:prstGeom>
          <a:noFill/>
          <a:ln w="6350">
            <a:solidFill>
              <a:srgbClr val="3A4A70">
                <a:alpha val="45000"/>
              </a:srgbClr>
            </a:solidFill>
            <a:prstDash val="solid"/>
          </a:ln>
        </p:spPr>
      </p:sp>
      <p:sp>
        <p:nvSpPr>
          <p:cNvPr id="55" name="Shape 53"/>
          <p:cNvSpPr/>
          <p:nvPr/>
        </p:nvSpPr>
        <p:spPr>
          <a:xfrm>
            <a:off x="9098280" y="4233672"/>
            <a:ext cx="1234440" cy="566928"/>
          </a:xfrm>
          <a:prstGeom prst="line">
            <a:avLst/>
          </a:prstGeom>
          <a:noFill/>
          <a:ln w="6350">
            <a:solidFill>
              <a:srgbClr val="3A4A70">
                <a:alpha val="45000"/>
              </a:srgbClr>
            </a:solidFill>
            <a:prstDash val="solid"/>
          </a:ln>
        </p:spPr>
      </p:sp>
      <p:sp>
        <p:nvSpPr>
          <p:cNvPr id="56" name="Shape 54"/>
          <p:cNvSpPr/>
          <p:nvPr/>
        </p:nvSpPr>
        <p:spPr>
          <a:xfrm flipV="1">
            <a:off x="9098280" y="1965960"/>
            <a:ext cx="1234440" cy="2834640"/>
          </a:xfrm>
          <a:prstGeom prst="line">
            <a:avLst/>
          </a:prstGeom>
          <a:noFill/>
          <a:ln w="6350">
            <a:solidFill>
              <a:srgbClr val="3A4A70">
                <a:alpha val="45000"/>
              </a:srgbClr>
            </a:solidFill>
            <a:prstDash val="solid"/>
          </a:ln>
        </p:spPr>
      </p:sp>
      <p:sp>
        <p:nvSpPr>
          <p:cNvPr id="57" name="Shape 55"/>
          <p:cNvSpPr/>
          <p:nvPr/>
        </p:nvSpPr>
        <p:spPr>
          <a:xfrm flipV="1">
            <a:off x="9098280" y="2532888"/>
            <a:ext cx="1234440" cy="2267712"/>
          </a:xfrm>
          <a:prstGeom prst="line">
            <a:avLst/>
          </a:prstGeom>
          <a:noFill/>
          <a:ln w="6350">
            <a:solidFill>
              <a:srgbClr val="3A4A70">
                <a:alpha val="45000"/>
              </a:srgbClr>
            </a:solidFill>
            <a:prstDash val="solid"/>
          </a:ln>
        </p:spPr>
      </p:sp>
      <p:sp>
        <p:nvSpPr>
          <p:cNvPr id="58" name="Shape 56"/>
          <p:cNvSpPr/>
          <p:nvPr/>
        </p:nvSpPr>
        <p:spPr>
          <a:xfrm flipV="1">
            <a:off x="9098280" y="3099816"/>
            <a:ext cx="1234440" cy="1700784"/>
          </a:xfrm>
          <a:prstGeom prst="line">
            <a:avLst/>
          </a:prstGeom>
          <a:noFill/>
          <a:ln w="6350">
            <a:solidFill>
              <a:srgbClr val="3A4A70">
                <a:alpha val="45000"/>
              </a:srgbClr>
            </a:solidFill>
            <a:prstDash val="solid"/>
          </a:ln>
        </p:spPr>
      </p:sp>
      <p:sp>
        <p:nvSpPr>
          <p:cNvPr id="59" name="Shape 57"/>
          <p:cNvSpPr/>
          <p:nvPr/>
        </p:nvSpPr>
        <p:spPr>
          <a:xfrm flipV="1">
            <a:off x="9098280" y="3666744"/>
            <a:ext cx="1234440" cy="1133856"/>
          </a:xfrm>
          <a:prstGeom prst="line">
            <a:avLst/>
          </a:prstGeom>
          <a:noFill/>
          <a:ln w="6350">
            <a:solidFill>
              <a:srgbClr val="3A4A70">
                <a:alpha val="45000"/>
              </a:srgbClr>
            </a:solidFill>
            <a:prstDash val="solid"/>
          </a:ln>
        </p:spPr>
      </p:sp>
      <p:sp>
        <p:nvSpPr>
          <p:cNvPr id="60" name="Shape 58"/>
          <p:cNvSpPr/>
          <p:nvPr/>
        </p:nvSpPr>
        <p:spPr>
          <a:xfrm flipV="1">
            <a:off x="9098280" y="4233672"/>
            <a:ext cx="1234440" cy="566928"/>
          </a:xfrm>
          <a:prstGeom prst="line">
            <a:avLst/>
          </a:prstGeom>
          <a:noFill/>
          <a:ln w="6350">
            <a:solidFill>
              <a:srgbClr val="3A4A70">
                <a:alpha val="45000"/>
              </a:srgbClr>
            </a:solidFill>
            <a:prstDash val="solid"/>
          </a:ln>
        </p:spPr>
      </p:sp>
      <p:sp>
        <p:nvSpPr>
          <p:cNvPr id="61" name="Shape 59"/>
          <p:cNvSpPr/>
          <p:nvPr/>
        </p:nvSpPr>
        <p:spPr>
          <a:xfrm>
            <a:off x="9098280" y="4800600"/>
            <a:ext cx="1234440" cy="0"/>
          </a:xfrm>
          <a:prstGeom prst="line">
            <a:avLst/>
          </a:prstGeom>
          <a:noFill/>
          <a:ln w="6350">
            <a:solidFill>
              <a:srgbClr val="3A4A70">
                <a:alpha val="45000"/>
              </a:srgbClr>
            </a:solidFill>
            <a:prstDash val="solid"/>
          </a:ln>
        </p:spPr>
      </p:sp>
      <p:sp>
        <p:nvSpPr>
          <p:cNvPr id="62" name="Shape 60"/>
          <p:cNvSpPr/>
          <p:nvPr/>
        </p:nvSpPr>
        <p:spPr>
          <a:xfrm>
            <a:off x="10332720" y="1965960"/>
            <a:ext cx="1234440" cy="850392"/>
          </a:xfrm>
          <a:prstGeom prst="line">
            <a:avLst/>
          </a:prstGeom>
          <a:noFill/>
          <a:ln w="6350">
            <a:solidFill>
              <a:srgbClr val="3A4A70">
                <a:alpha val="45000"/>
              </a:srgbClr>
            </a:solidFill>
            <a:prstDash val="solid"/>
          </a:ln>
        </p:spPr>
      </p:sp>
      <p:sp>
        <p:nvSpPr>
          <p:cNvPr id="63" name="Shape 61"/>
          <p:cNvSpPr/>
          <p:nvPr/>
        </p:nvSpPr>
        <p:spPr>
          <a:xfrm>
            <a:off x="10332720" y="1965960"/>
            <a:ext cx="1234440" cy="1417320"/>
          </a:xfrm>
          <a:prstGeom prst="line">
            <a:avLst/>
          </a:prstGeom>
          <a:noFill/>
          <a:ln w="6350">
            <a:solidFill>
              <a:srgbClr val="3A4A70">
                <a:alpha val="45000"/>
              </a:srgbClr>
            </a:solidFill>
            <a:prstDash val="solid"/>
          </a:ln>
        </p:spPr>
      </p:sp>
      <p:sp>
        <p:nvSpPr>
          <p:cNvPr id="64" name="Shape 62"/>
          <p:cNvSpPr/>
          <p:nvPr/>
        </p:nvSpPr>
        <p:spPr>
          <a:xfrm>
            <a:off x="10332720" y="1965960"/>
            <a:ext cx="1234440" cy="1984248"/>
          </a:xfrm>
          <a:prstGeom prst="line">
            <a:avLst/>
          </a:prstGeom>
          <a:noFill/>
          <a:ln w="6350">
            <a:solidFill>
              <a:srgbClr val="3A4A70">
                <a:alpha val="45000"/>
              </a:srgbClr>
            </a:solidFill>
            <a:prstDash val="solid"/>
          </a:ln>
        </p:spPr>
      </p:sp>
      <p:sp>
        <p:nvSpPr>
          <p:cNvPr id="65" name="Shape 63"/>
          <p:cNvSpPr/>
          <p:nvPr/>
        </p:nvSpPr>
        <p:spPr>
          <a:xfrm>
            <a:off x="10332720" y="2532888"/>
            <a:ext cx="1234440" cy="283464"/>
          </a:xfrm>
          <a:prstGeom prst="line">
            <a:avLst/>
          </a:prstGeom>
          <a:noFill/>
          <a:ln w="6350">
            <a:solidFill>
              <a:srgbClr val="3A4A70">
                <a:alpha val="45000"/>
              </a:srgbClr>
            </a:solidFill>
            <a:prstDash val="solid"/>
          </a:ln>
        </p:spPr>
      </p:sp>
      <p:sp>
        <p:nvSpPr>
          <p:cNvPr id="66" name="Shape 64"/>
          <p:cNvSpPr/>
          <p:nvPr/>
        </p:nvSpPr>
        <p:spPr>
          <a:xfrm>
            <a:off x="10332720" y="2532888"/>
            <a:ext cx="1234440" cy="850392"/>
          </a:xfrm>
          <a:prstGeom prst="line">
            <a:avLst/>
          </a:prstGeom>
          <a:noFill/>
          <a:ln w="6350">
            <a:solidFill>
              <a:srgbClr val="3A4A70">
                <a:alpha val="45000"/>
              </a:srgbClr>
            </a:solidFill>
            <a:prstDash val="solid"/>
          </a:ln>
        </p:spPr>
      </p:sp>
      <p:sp>
        <p:nvSpPr>
          <p:cNvPr id="67" name="Shape 65"/>
          <p:cNvSpPr/>
          <p:nvPr/>
        </p:nvSpPr>
        <p:spPr>
          <a:xfrm>
            <a:off x="10332720" y="2532888"/>
            <a:ext cx="1234440" cy="1417320"/>
          </a:xfrm>
          <a:prstGeom prst="line">
            <a:avLst/>
          </a:prstGeom>
          <a:noFill/>
          <a:ln w="6350">
            <a:solidFill>
              <a:srgbClr val="3A4A70">
                <a:alpha val="45000"/>
              </a:srgbClr>
            </a:solidFill>
            <a:prstDash val="solid"/>
          </a:ln>
        </p:spPr>
      </p:sp>
      <p:sp>
        <p:nvSpPr>
          <p:cNvPr id="68" name="Shape 66"/>
          <p:cNvSpPr/>
          <p:nvPr/>
        </p:nvSpPr>
        <p:spPr>
          <a:xfrm flipV="1">
            <a:off x="10332720" y="2816352"/>
            <a:ext cx="1234440" cy="283464"/>
          </a:xfrm>
          <a:prstGeom prst="line">
            <a:avLst/>
          </a:prstGeom>
          <a:noFill/>
          <a:ln w="6350">
            <a:solidFill>
              <a:srgbClr val="3A4A70">
                <a:alpha val="45000"/>
              </a:srgbClr>
            </a:solidFill>
            <a:prstDash val="solid"/>
          </a:ln>
        </p:spPr>
      </p:sp>
      <p:sp>
        <p:nvSpPr>
          <p:cNvPr id="69" name="Shape 67"/>
          <p:cNvSpPr/>
          <p:nvPr/>
        </p:nvSpPr>
        <p:spPr>
          <a:xfrm>
            <a:off x="10332720" y="3099816"/>
            <a:ext cx="1234440" cy="283464"/>
          </a:xfrm>
          <a:prstGeom prst="line">
            <a:avLst/>
          </a:prstGeom>
          <a:noFill/>
          <a:ln w="6350">
            <a:solidFill>
              <a:srgbClr val="3A4A70">
                <a:alpha val="45000"/>
              </a:srgbClr>
            </a:solidFill>
            <a:prstDash val="solid"/>
          </a:ln>
        </p:spPr>
      </p:sp>
      <p:sp>
        <p:nvSpPr>
          <p:cNvPr id="70" name="Shape 68"/>
          <p:cNvSpPr/>
          <p:nvPr/>
        </p:nvSpPr>
        <p:spPr>
          <a:xfrm>
            <a:off x="10332720" y="3099816"/>
            <a:ext cx="1234440" cy="850392"/>
          </a:xfrm>
          <a:prstGeom prst="line">
            <a:avLst/>
          </a:prstGeom>
          <a:noFill/>
          <a:ln w="6350">
            <a:solidFill>
              <a:srgbClr val="3A4A70">
                <a:alpha val="45000"/>
              </a:srgbClr>
            </a:solidFill>
            <a:prstDash val="solid"/>
          </a:ln>
        </p:spPr>
      </p:sp>
      <p:sp>
        <p:nvSpPr>
          <p:cNvPr id="71" name="Shape 69"/>
          <p:cNvSpPr/>
          <p:nvPr/>
        </p:nvSpPr>
        <p:spPr>
          <a:xfrm flipV="1">
            <a:off x="10332720" y="2816352"/>
            <a:ext cx="1234440" cy="850392"/>
          </a:xfrm>
          <a:prstGeom prst="line">
            <a:avLst/>
          </a:prstGeom>
          <a:noFill/>
          <a:ln w="6350">
            <a:solidFill>
              <a:srgbClr val="3A4A70">
                <a:alpha val="45000"/>
              </a:srgbClr>
            </a:solidFill>
            <a:prstDash val="solid"/>
          </a:ln>
        </p:spPr>
      </p:sp>
      <p:sp>
        <p:nvSpPr>
          <p:cNvPr id="72" name="Shape 70"/>
          <p:cNvSpPr/>
          <p:nvPr/>
        </p:nvSpPr>
        <p:spPr>
          <a:xfrm flipV="1">
            <a:off x="10332720" y="3383280"/>
            <a:ext cx="1234440" cy="283464"/>
          </a:xfrm>
          <a:prstGeom prst="line">
            <a:avLst/>
          </a:prstGeom>
          <a:noFill/>
          <a:ln w="6350">
            <a:solidFill>
              <a:srgbClr val="3A4A70">
                <a:alpha val="45000"/>
              </a:srgbClr>
            </a:solidFill>
            <a:prstDash val="solid"/>
          </a:ln>
        </p:spPr>
      </p:sp>
      <p:sp>
        <p:nvSpPr>
          <p:cNvPr id="73" name="Shape 71"/>
          <p:cNvSpPr/>
          <p:nvPr/>
        </p:nvSpPr>
        <p:spPr>
          <a:xfrm>
            <a:off x="10332720" y="3666744"/>
            <a:ext cx="1234440" cy="283464"/>
          </a:xfrm>
          <a:prstGeom prst="line">
            <a:avLst/>
          </a:prstGeom>
          <a:noFill/>
          <a:ln w="6350">
            <a:solidFill>
              <a:srgbClr val="3A4A70">
                <a:alpha val="45000"/>
              </a:srgbClr>
            </a:solidFill>
            <a:prstDash val="solid"/>
          </a:ln>
        </p:spPr>
      </p:sp>
      <p:sp>
        <p:nvSpPr>
          <p:cNvPr id="74" name="Shape 72"/>
          <p:cNvSpPr/>
          <p:nvPr/>
        </p:nvSpPr>
        <p:spPr>
          <a:xfrm flipV="1">
            <a:off x="10332720" y="2816352"/>
            <a:ext cx="1234440" cy="1417320"/>
          </a:xfrm>
          <a:prstGeom prst="line">
            <a:avLst/>
          </a:prstGeom>
          <a:noFill/>
          <a:ln w="6350">
            <a:solidFill>
              <a:srgbClr val="3A4A70">
                <a:alpha val="45000"/>
              </a:srgbClr>
            </a:solidFill>
            <a:prstDash val="solid"/>
          </a:ln>
        </p:spPr>
      </p:sp>
      <p:sp>
        <p:nvSpPr>
          <p:cNvPr id="75" name="Shape 73"/>
          <p:cNvSpPr/>
          <p:nvPr/>
        </p:nvSpPr>
        <p:spPr>
          <a:xfrm flipV="1">
            <a:off x="10332720" y="3383280"/>
            <a:ext cx="1234440" cy="850392"/>
          </a:xfrm>
          <a:prstGeom prst="line">
            <a:avLst/>
          </a:prstGeom>
          <a:noFill/>
          <a:ln w="6350">
            <a:solidFill>
              <a:srgbClr val="3A4A70">
                <a:alpha val="45000"/>
              </a:srgbClr>
            </a:solidFill>
            <a:prstDash val="solid"/>
          </a:ln>
        </p:spPr>
      </p:sp>
      <p:sp>
        <p:nvSpPr>
          <p:cNvPr id="76" name="Shape 74"/>
          <p:cNvSpPr/>
          <p:nvPr/>
        </p:nvSpPr>
        <p:spPr>
          <a:xfrm flipV="1">
            <a:off x="10332720" y="3950208"/>
            <a:ext cx="1234440" cy="283464"/>
          </a:xfrm>
          <a:prstGeom prst="line">
            <a:avLst/>
          </a:prstGeom>
          <a:noFill/>
          <a:ln w="6350">
            <a:solidFill>
              <a:srgbClr val="3A4A70">
                <a:alpha val="45000"/>
              </a:srgbClr>
            </a:solidFill>
            <a:prstDash val="solid"/>
          </a:ln>
        </p:spPr>
      </p:sp>
      <p:sp>
        <p:nvSpPr>
          <p:cNvPr id="77" name="Shape 75"/>
          <p:cNvSpPr/>
          <p:nvPr/>
        </p:nvSpPr>
        <p:spPr>
          <a:xfrm flipV="1">
            <a:off x="10332720" y="2816352"/>
            <a:ext cx="1234440" cy="1984248"/>
          </a:xfrm>
          <a:prstGeom prst="line">
            <a:avLst/>
          </a:prstGeom>
          <a:noFill/>
          <a:ln w="6350">
            <a:solidFill>
              <a:srgbClr val="3A4A70">
                <a:alpha val="45000"/>
              </a:srgbClr>
            </a:solidFill>
            <a:prstDash val="solid"/>
          </a:ln>
        </p:spPr>
      </p:sp>
      <p:sp>
        <p:nvSpPr>
          <p:cNvPr id="78" name="Shape 76"/>
          <p:cNvSpPr/>
          <p:nvPr/>
        </p:nvSpPr>
        <p:spPr>
          <a:xfrm flipV="1">
            <a:off x="10332720" y="3383280"/>
            <a:ext cx="1234440" cy="1417320"/>
          </a:xfrm>
          <a:prstGeom prst="line">
            <a:avLst/>
          </a:prstGeom>
          <a:noFill/>
          <a:ln w="6350">
            <a:solidFill>
              <a:srgbClr val="3A4A70">
                <a:alpha val="45000"/>
              </a:srgbClr>
            </a:solidFill>
            <a:prstDash val="solid"/>
          </a:ln>
        </p:spPr>
      </p:sp>
      <p:sp>
        <p:nvSpPr>
          <p:cNvPr id="79" name="Shape 77"/>
          <p:cNvSpPr/>
          <p:nvPr/>
        </p:nvSpPr>
        <p:spPr>
          <a:xfrm flipV="1">
            <a:off x="10332720" y="3950208"/>
            <a:ext cx="1234440" cy="850392"/>
          </a:xfrm>
          <a:prstGeom prst="line">
            <a:avLst/>
          </a:prstGeom>
          <a:noFill/>
          <a:ln w="6350">
            <a:solidFill>
              <a:srgbClr val="3A4A70">
                <a:alpha val="45000"/>
              </a:srgbClr>
            </a:solidFill>
            <a:prstDash val="solid"/>
          </a:ln>
        </p:spPr>
      </p:sp>
      <p:sp>
        <p:nvSpPr>
          <p:cNvPr id="80" name="Shape 78"/>
          <p:cNvSpPr/>
          <p:nvPr/>
        </p:nvSpPr>
        <p:spPr>
          <a:xfrm>
            <a:off x="7795260" y="2464308"/>
            <a:ext cx="137160" cy="137160"/>
          </a:xfrm>
          <a:prstGeom prst="ellipse">
            <a:avLst/>
          </a:prstGeom>
          <a:solidFill>
            <a:srgbClr val="6FA3E0">
              <a:alpha val="65000"/>
            </a:srgbClr>
          </a:solidFill>
          <a:ln w="9525">
            <a:solidFill>
              <a:srgbClr val="8FA3C9">
                <a:alpha val="60000"/>
              </a:srgbClr>
            </a:solidFill>
            <a:prstDash val="solid"/>
          </a:ln>
        </p:spPr>
      </p:sp>
      <p:sp>
        <p:nvSpPr>
          <p:cNvPr id="81" name="Shape 79"/>
          <p:cNvSpPr/>
          <p:nvPr/>
        </p:nvSpPr>
        <p:spPr>
          <a:xfrm>
            <a:off x="7795260" y="3031236"/>
            <a:ext cx="137160" cy="137160"/>
          </a:xfrm>
          <a:prstGeom prst="ellipse">
            <a:avLst/>
          </a:prstGeom>
          <a:solidFill>
            <a:srgbClr val="6FA3E0">
              <a:alpha val="65000"/>
            </a:srgbClr>
          </a:solidFill>
          <a:ln w="9525">
            <a:solidFill>
              <a:srgbClr val="8FA3C9">
                <a:alpha val="60000"/>
              </a:srgbClr>
            </a:solidFill>
            <a:prstDash val="solid"/>
          </a:ln>
        </p:spPr>
      </p:sp>
      <p:sp>
        <p:nvSpPr>
          <p:cNvPr id="82" name="Shape 80"/>
          <p:cNvSpPr/>
          <p:nvPr/>
        </p:nvSpPr>
        <p:spPr>
          <a:xfrm>
            <a:off x="7795260" y="3598164"/>
            <a:ext cx="137160" cy="137160"/>
          </a:xfrm>
          <a:prstGeom prst="ellipse">
            <a:avLst/>
          </a:prstGeom>
          <a:solidFill>
            <a:srgbClr val="6FA3E0">
              <a:alpha val="65000"/>
            </a:srgbClr>
          </a:solidFill>
          <a:ln w="9525">
            <a:solidFill>
              <a:srgbClr val="8FA3C9">
                <a:alpha val="60000"/>
              </a:srgbClr>
            </a:solidFill>
            <a:prstDash val="solid"/>
          </a:ln>
        </p:spPr>
      </p:sp>
      <p:sp>
        <p:nvSpPr>
          <p:cNvPr id="83" name="Shape 81"/>
          <p:cNvSpPr/>
          <p:nvPr/>
        </p:nvSpPr>
        <p:spPr>
          <a:xfrm>
            <a:off x="7795260" y="4165092"/>
            <a:ext cx="137160" cy="137160"/>
          </a:xfrm>
          <a:prstGeom prst="ellipse">
            <a:avLst/>
          </a:prstGeom>
          <a:solidFill>
            <a:srgbClr val="6FA3E0">
              <a:alpha val="65000"/>
            </a:srgbClr>
          </a:solidFill>
          <a:ln w="9525">
            <a:solidFill>
              <a:srgbClr val="8FA3C9">
                <a:alpha val="60000"/>
              </a:srgbClr>
            </a:solidFill>
            <a:prstDash val="solid"/>
          </a:ln>
        </p:spPr>
      </p:sp>
      <p:sp>
        <p:nvSpPr>
          <p:cNvPr id="84" name="Shape 82"/>
          <p:cNvSpPr/>
          <p:nvPr/>
        </p:nvSpPr>
        <p:spPr>
          <a:xfrm>
            <a:off x="9029700" y="1897380"/>
            <a:ext cx="137160" cy="137160"/>
          </a:xfrm>
          <a:prstGeom prst="ellipse">
            <a:avLst/>
          </a:prstGeom>
          <a:solidFill>
            <a:srgbClr val="6FA3E0">
              <a:alpha val="65000"/>
            </a:srgbClr>
          </a:solidFill>
          <a:ln w="9525">
            <a:solidFill>
              <a:srgbClr val="8FA3C9">
                <a:alpha val="60000"/>
              </a:srgbClr>
            </a:solidFill>
            <a:prstDash val="solid"/>
          </a:ln>
        </p:spPr>
      </p:sp>
      <p:sp>
        <p:nvSpPr>
          <p:cNvPr id="85" name="Shape 83"/>
          <p:cNvSpPr/>
          <p:nvPr/>
        </p:nvSpPr>
        <p:spPr>
          <a:xfrm>
            <a:off x="9029700" y="2464308"/>
            <a:ext cx="137160" cy="137160"/>
          </a:xfrm>
          <a:prstGeom prst="ellipse">
            <a:avLst/>
          </a:prstGeom>
          <a:solidFill>
            <a:srgbClr val="6FA3E0">
              <a:alpha val="65000"/>
            </a:srgbClr>
          </a:solidFill>
          <a:ln w="9525">
            <a:solidFill>
              <a:srgbClr val="8FA3C9">
                <a:alpha val="60000"/>
              </a:srgbClr>
            </a:solidFill>
            <a:prstDash val="solid"/>
          </a:ln>
        </p:spPr>
      </p:sp>
      <p:sp>
        <p:nvSpPr>
          <p:cNvPr id="86" name="Shape 84"/>
          <p:cNvSpPr/>
          <p:nvPr/>
        </p:nvSpPr>
        <p:spPr>
          <a:xfrm>
            <a:off x="9029700" y="3031236"/>
            <a:ext cx="137160" cy="137160"/>
          </a:xfrm>
          <a:prstGeom prst="ellipse">
            <a:avLst/>
          </a:prstGeom>
          <a:solidFill>
            <a:srgbClr val="6FA3E0">
              <a:alpha val="65000"/>
            </a:srgbClr>
          </a:solidFill>
          <a:ln w="9525">
            <a:solidFill>
              <a:srgbClr val="8FA3C9">
                <a:alpha val="60000"/>
              </a:srgbClr>
            </a:solidFill>
            <a:prstDash val="solid"/>
          </a:ln>
        </p:spPr>
      </p:sp>
      <p:sp>
        <p:nvSpPr>
          <p:cNvPr id="87" name="Shape 85"/>
          <p:cNvSpPr/>
          <p:nvPr/>
        </p:nvSpPr>
        <p:spPr>
          <a:xfrm>
            <a:off x="9029700" y="3598164"/>
            <a:ext cx="137160" cy="137160"/>
          </a:xfrm>
          <a:prstGeom prst="ellipse">
            <a:avLst/>
          </a:prstGeom>
          <a:solidFill>
            <a:srgbClr val="6FA3E0">
              <a:alpha val="65000"/>
            </a:srgbClr>
          </a:solidFill>
          <a:ln w="9525">
            <a:solidFill>
              <a:srgbClr val="8FA3C9">
                <a:alpha val="60000"/>
              </a:srgbClr>
            </a:solidFill>
            <a:prstDash val="solid"/>
          </a:ln>
        </p:spPr>
      </p:sp>
      <p:sp>
        <p:nvSpPr>
          <p:cNvPr id="88" name="Shape 86"/>
          <p:cNvSpPr/>
          <p:nvPr/>
        </p:nvSpPr>
        <p:spPr>
          <a:xfrm>
            <a:off x="9029700" y="4165092"/>
            <a:ext cx="137160" cy="137160"/>
          </a:xfrm>
          <a:prstGeom prst="ellipse">
            <a:avLst/>
          </a:prstGeom>
          <a:solidFill>
            <a:srgbClr val="6FA3E0">
              <a:alpha val="65000"/>
            </a:srgbClr>
          </a:solidFill>
          <a:ln w="9525">
            <a:solidFill>
              <a:srgbClr val="8FA3C9">
                <a:alpha val="60000"/>
              </a:srgbClr>
            </a:solidFill>
            <a:prstDash val="solid"/>
          </a:ln>
        </p:spPr>
      </p:sp>
      <p:sp>
        <p:nvSpPr>
          <p:cNvPr id="89" name="Shape 87"/>
          <p:cNvSpPr/>
          <p:nvPr/>
        </p:nvSpPr>
        <p:spPr>
          <a:xfrm>
            <a:off x="9029700" y="4732020"/>
            <a:ext cx="137160" cy="137160"/>
          </a:xfrm>
          <a:prstGeom prst="ellipse">
            <a:avLst/>
          </a:prstGeom>
          <a:solidFill>
            <a:srgbClr val="6FA3E0">
              <a:alpha val="65000"/>
            </a:srgbClr>
          </a:solidFill>
          <a:ln w="9525">
            <a:solidFill>
              <a:srgbClr val="8FA3C9">
                <a:alpha val="60000"/>
              </a:srgbClr>
            </a:solidFill>
            <a:prstDash val="solid"/>
          </a:ln>
        </p:spPr>
      </p:sp>
      <p:sp>
        <p:nvSpPr>
          <p:cNvPr id="90" name="Shape 88"/>
          <p:cNvSpPr/>
          <p:nvPr/>
        </p:nvSpPr>
        <p:spPr>
          <a:xfrm>
            <a:off x="10264140" y="1897380"/>
            <a:ext cx="137160" cy="137160"/>
          </a:xfrm>
          <a:prstGeom prst="ellipse">
            <a:avLst/>
          </a:prstGeom>
          <a:solidFill>
            <a:srgbClr val="6FA3E0">
              <a:alpha val="65000"/>
            </a:srgbClr>
          </a:solidFill>
          <a:ln w="9525">
            <a:solidFill>
              <a:srgbClr val="8FA3C9">
                <a:alpha val="60000"/>
              </a:srgbClr>
            </a:solidFill>
            <a:prstDash val="solid"/>
          </a:ln>
        </p:spPr>
      </p:sp>
      <p:sp>
        <p:nvSpPr>
          <p:cNvPr id="91" name="Shape 89"/>
          <p:cNvSpPr/>
          <p:nvPr/>
        </p:nvSpPr>
        <p:spPr>
          <a:xfrm>
            <a:off x="10264140" y="2464308"/>
            <a:ext cx="137160" cy="137160"/>
          </a:xfrm>
          <a:prstGeom prst="ellipse">
            <a:avLst/>
          </a:prstGeom>
          <a:solidFill>
            <a:srgbClr val="6FA3E0">
              <a:alpha val="65000"/>
            </a:srgbClr>
          </a:solidFill>
          <a:ln w="9525">
            <a:solidFill>
              <a:srgbClr val="8FA3C9">
                <a:alpha val="60000"/>
              </a:srgbClr>
            </a:solidFill>
            <a:prstDash val="solid"/>
          </a:ln>
        </p:spPr>
      </p:sp>
      <p:sp>
        <p:nvSpPr>
          <p:cNvPr id="92" name="Shape 90"/>
          <p:cNvSpPr/>
          <p:nvPr/>
        </p:nvSpPr>
        <p:spPr>
          <a:xfrm>
            <a:off x="10264140" y="3031236"/>
            <a:ext cx="137160" cy="137160"/>
          </a:xfrm>
          <a:prstGeom prst="ellipse">
            <a:avLst/>
          </a:prstGeom>
          <a:solidFill>
            <a:srgbClr val="6FA3E0">
              <a:alpha val="65000"/>
            </a:srgbClr>
          </a:solidFill>
          <a:ln w="9525">
            <a:solidFill>
              <a:srgbClr val="8FA3C9">
                <a:alpha val="60000"/>
              </a:srgbClr>
            </a:solidFill>
            <a:prstDash val="solid"/>
          </a:ln>
        </p:spPr>
      </p:sp>
      <p:sp>
        <p:nvSpPr>
          <p:cNvPr id="93" name="Shape 91"/>
          <p:cNvSpPr/>
          <p:nvPr/>
        </p:nvSpPr>
        <p:spPr>
          <a:xfrm>
            <a:off x="10264140" y="3598164"/>
            <a:ext cx="137160" cy="137160"/>
          </a:xfrm>
          <a:prstGeom prst="ellipse">
            <a:avLst/>
          </a:prstGeom>
          <a:solidFill>
            <a:srgbClr val="6FA3E0">
              <a:alpha val="65000"/>
            </a:srgbClr>
          </a:solidFill>
          <a:ln w="9525">
            <a:solidFill>
              <a:srgbClr val="8FA3C9">
                <a:alpha val="60000"/>
              </a:srgbClr>
            </a:solidFill>
            <a:prstDash val="solid"/>
          </a:ln>
        </p:spPr>
      </p:sp>
      <p:sp>
        <p:nvSpPr>
          <p:cNvPr id="94" name="Shape 92"/>
          <p:cNvSpPr/>
          <p:nvPr/>
        </p:nvSpPr>
        <p:spPr>
          <a:xfrm>
            <a:off x="10264140" y="4165092"/>
            <a:ext cx="137160" cy="137160"/>
          </a:xfrm>
          <a:prstGeom prst="ellipse">
            <a:avLst/>
          </a:prstGeom>
          <a:solidFill>
            <a:srgbClr val="6FA3E0">
              <a:alpha val="65000"/>
            </a:srgbClr>
          </a:solidFill>
          <a:ln w="9525">
            <a:solidFill>
              <a:srgbClr val="8FA3C9">
                <a:alpha val="60000"/>
              </a:srgbClr>
            </a:solidFill>
            <a:prstDash val="solid"/>
          </a:ln>
        </p:spPr>
      </p:sp>
      <p:sp>
        <p:nvSpPr>
          <p:cNvPr id="95" name="Shape 93"/>
          <p:cNvSpPr/>
          <p:nvPr/>
        </p:nvSpPr>
        <p:spPr>
          <a:xfrm>
            <a:off x="10264140" y="4732020"/>
            <a:ext cx="137160" cy="137160"/>
          </a:xfrm>
          <a:prstGeom prst="ellipse">
            <a:avLst/>
          </a:prstGeom>
          <a:solidFill>
            <a:srgbClr val="6FA3E0">
              <a:alpha val="65000"/>
            </a:srgbClr>
          </a:solidFill>
          <a:ln w="9525">
            <a:solidFill>
              <a:srgbClr val="8FA3C9">
                <a:alpha val="60000"/>
              </a:srgbClr>
            </a:solidFill>
            <a:prstDash val="solid"/>
          </a:ln>
        </p:spPr>
      </p:sp>
      <p:sp>
        <p:nvSpPr>
          <p:cNvPr id="96" name="Shape 94"/>
          <p:cNvSpPr/>
          <p:nvPr/>
        </p:nvSpPr>
        <p:spPr>
          <a:xfrm>
            <a:off x="11498580" y="2747772"/>
            <a:ext cx="137160" cy="137160"/>
          </a:xfrm>
          <a:prstGeom prst="ellipse">
            <a:avLst/>
          </a:prstGeom>
          <a:solidFill>
            <a:srgbClr val="6FA3E0">
              <a:alpha val="65000"/>
            </a:srgbClr>
          </a:solidFill>
          <a:ln w="9525">
            <a:solidFill>
              <a:srgbClr val="8FA3C9">
                <a:alpha val="60000"/>
              </a:srgbClr>
            </a:solidFill>
            <a:prstDash val="solid"/>
          </a:ln>
        </p:spPr>
      </p:sp>
      <p:sp>
        <p:nvSpPr>
          <p:cNvPr id="97" name="Shape 95"/>
          <p:cNvSpPr/>
          <p:nvPr/>
        </p:nvSpPr>
        <p:spPr>
          <a:xfrm>
            <a:off x="11498580" y="3314700"/>
            <a:ext cx="137160" cy="137160"/>
          </a:xfrm>
          <a:prstGeom prst="ellipse">
            <a:avLst/>
          </a:prstGeom>
          <a:solidFill>
            <a:srgbClr val="6FA3E0">
              <a:alpha val="65000"/>
            </a:srgbClr>
          </a:solidFill>
          <a:ln w="9525">
            <a:solidFill>
              <a:srgbClr val="8FA3C9">
                <a:alpha val="60000"/>
              </a:srgbClr>
            </a:solidFill>
            <a:prstDash val="solid"/>
          </a:ln>
        </p:spPr>
      </p:sp>
      <p:sp>
        <p:nvSpPr>
          <p:cNvPr id="98" name="Shape 96"/>
          <p:cNvSpPr/>
          <p:nvPr/>
        </p:nvSpPr>
        <p:spPr>
          <a:xfrm>
            <a:off x="11498580" y="3881628"/>
            <a:ext cx="137160" cy="137160"/>
          </a:xfrm>
          <a:prstGeom prst="ellipse">
            <a:avLst/>
          </a:prstGeom>
          <a:solidFill>
            <a:srgbClr val="6FA3E0">
              <a:alpha val="65000"/>
            </a:srgbClr>
          </a:solidFill>
          <a:ln w="9525">
            <a:solidFill>
              <a:srgbClr val="8FA3C9">
                <a:alpha val="60000"/>
              </a:srgbClr>
            </a:solidFill>
            <a:prstDash val="solid"/>
          </a:ln>
        </p:spPr>
      </p:sp>
      <p:sp>
        <p:nvSpPr>
          <p:cNvPr id="99" name="Text 97"/>
          <p:cNvSpPr txBox="1"/>
          <p:nvPr/>
        </p:nvSpPr>
        <p:spPr>
          <a:xfrm>
            <a:off x="640080" y="2057400"/>
            <a:ext cx="10911535" cy="137160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ĐẠO HÀM &amp; KHỞI TẠO TRONG DEEP LEARNING</a:t>
            </a:r>
            <a:endParaRPr lang="en-US" sz="3600" dirty="0"/>
          </a:p>
        </p:txBody>
      </p:sp>
      <p:sp>
        <p:nvSpPr>
          <p:cNvPr id="100" name="Text 98"/>
          <p:cNvSpPr txBox="1"/>
          <p:nvPr/>
        </p:nvSpPr>
        <p:spPr>
          <a:xfrm>
            <a:off x="640080" y="3200400"/>
            <a:ext cx="10911535" cy="548640"/>
          </a:xfrm>
          <a:prstGeom prst="rect">
            <a:avLst/>
          </a:prstGeom>
          <a:noFill/>
          <a:ln/>
        </p:spPr>
        <p:txBody>
          <a:bodyPr wrap="square" lIns="0" tIns="0" rIns="0" bIns="0" rtlCol="0" anchor="ctr"/>
          <a:lstStyle/>
          <a:p>
            <a:pPr algn="ctr" indent="0" marL="0">
              <a:buNone/>
            </a:pPr>
            <a:r>
              <a:rPr lang="en-US" sz="2000" dirty="0">
                <a:solidFill>
                  <a:srgbClr val="CADCFC"/>
                </a:solidFill>
                <a:latin typeface="Calibri" pitchFamily="34" charset="0"/>
                <a:ea typeface="Calibri" pitchFamily="34" charset="-122"/>
                <a:cs typeface="Calibri" pitchFamily="34" charset="-120"/>
              </a:rPr>
              <a:t>Backpropagation và Parameter Initialization</a:t>
            </a:r>
            <a:endParaRPr lang="en-US" sz="2000" dirty="0"/>
          </a:p>
        </p:txBody>
      </p:sp>
      <p:sp>
        <p:nvSpPr>
          <p:cNvPr id="101" name="Text 99"/>
          <p:cNvSpPr txBox="1"/>
          <p:nvPr/>
        </p:nvSpPr>
        <p:spPr>
          <a:xfrm>
            <a:off x="640080" y="3749040"/>
            <a:ext cx="10911535" cy="411480"/>
          </a:xfrm>
          <a:prstGeom prst="rect">
            <a:avLst/>
          </a:prstGeom>
          <a:noFill/>
          <a:ln/>
        </p:spPr>
        <p:txBody>
          <a:bodyPr wrap="square" lIns="0" tIns="0" rIns="0" bIns="0" rtlCol="0" anchor="ctr"/>
          <a:lstStyle/>
          <a:p>
            <a:pPr algn="ctr" indent="0" marL="0">
              <a:buNone/>
            </a:pPr>
            <a:r>
              <a:rPr lang="en-US" sz="1300" i="1" dirty="0">
                <a:solidFill>
                  <a:srgbClr val="8FA3C9"/>
                </a:solidFill>
                <a:latin typeface="Calibri" pitchFamily="34" charset="0"/>
                <a:ea typeface="Calibri" pitchFamily="34" charset="-122"/>
                <a:cs typeface="Calibri" pitchFamily="34" charset="-120"/>
              </a:rPr>
              <a:t>Derivatives &amp; Initialization in Deep Learning: Backpropagation and Parameter Initialization</a:t>
            </a:r>
            <a:endParaRPr lang="en-US" sz="1300" dirty="0"/>
          </a:p>
        </p:txBody>
      </p:sp>
      <p:sp>
        <p:nvSpPr>
          <p:cNvPr id="102" name="Shape 100"/>
          <p:cNvSpPr/>
          <p:nvPr/>
        </p:nvSpPr>
        <p:spPr>
          <a:xfrm>
            <a:off x="5272888" y="4389120"/>
            <a:ext cx="1645920" cy="0"/>
          </a:xfrm>
          <a:prstGeom prst="line">
            <a:avLst/>
          </a:prstGeom>
          <a:noFill/>
          <a:ln w="25400">
            <a:solidFill>
              <a:srgbClr val="285AB4"/>
            </a:solidFill>
            <a:prstDash val="solid"/>
          </a:ln>
        </p:spPr>
      </p:sp>
      <p:sp>
        <p:nvSpPr>
          <p:cNvPr id="103" name="Text 101"/>
          <p:cNvSpPr txBox="1"/>
          <p:nvPr/>
        </p:nvSpPr>
        <p:spPr>
          <a:xfrm>
            <a:off x="640080" y="5943600"/>
            <a:ext cx="10911535" cy="365760"/>
          </a:xfrm>
          <a:prstGeom prst="rect">
            <a:avLst/>
          </a:prstGeom>
          <a:noFill/>
          <a:ln/>
        </p:spPr>
        <p:txBody>
          <a:bodyPr wrap="square" lIns="0" tIns="0" rIns="0" bIns="0" rtlCol="0" anchor="ctr"/>
          <a:lstStyle/>
          <a:p>
            <a:pPr algn="ctr" indent="0" marL="0">
              <a:buNone/>
            </a:pPr>
            <a:r>
              <a:rPr lang="en-US" sz="1300" dirty="0">
                <a:solidFill>
                  <a:srgbClr val="8FA3C9"/>
                </a:solidFill>
                <a:latin typeface="Calibri" pitchFamily="34" charset="0"/>
                <a:ea typeface="Calibri" pitchFamily="34" charset="-122"/>
                <a:cs typeface="Calibri" pitchFamily="34" charset="-120"/>
              </a:rPr>
              <a:t>Nhóm sinh viên · Học phần Deep Learning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GIỚI THIỆU</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Huấn luyện mạng nơ-ron = một bài toán tối ưu</a:t>
            </a:r>
            <a:endParaRPr lang="en-US" sz="2900" dirty="0"/>
          </a:p>
        </p:txBody>
      </p:sp>
      <p:sp>
        <p:nvSpPr>
          <p:cNvPr id="4" name="Text 2"/>
          <p:cNvSpPr txBox="1"/>
          <p:nvPr/>
        </p:nvSpPr>
        <p:spPr>
          <a:xfrm>
            <a:off x="640080" y="1920240"/>
            <a:ext cx="6675120" cy="365760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Mục tiêu: tìm bộ tham số θ (W, b) để hàm mất mát L(θ) nhỏ nhất</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Câu hỏi 1 — TÍNH gradient hiệu quả thế nào? (Backpropagation)</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Câu hỏi 2 — BẮT ĐẦU từ giá trị tham số nào? (Initialization)</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Sai một trong hai → mạng không học được, bất kể kiến trúc “hay” đến đâu</a:t>
            </a:r>
            <a:endParaRPr lang="en-US" sz="1600" dirty="0"/>
          </a:p>
        </p:txBody>
      </p:sp>
      <p:sp>
        <p:nvSpPr>
          <p:cNvPr id="5" name="Shape 3"/>
          <p:cNvSpPr/>
          <p:nvPr/>
        </p:nvSpPr>
        <p:spPr>
          <a:xfrm>
            <a:off x="7772400" y="1920240"/>
            <a:ext cx="3749040" cy="3749040"/>
          </a:xfrm>
          <a:prstGeom prst="roundRect">
            <a:avLst>
              <a:gd name="adj" fmla="val 1951"/>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6" name="Text 4"/>
          <p:cNvSpPr txBox="1"/>
          <p:nvPr/>
        </p:nvSpPr>
        <p:spPr>
          <a:xfrm>
            <a:off x="8046720" y="2148840"/>
            <a:ext cx="3200400" cy="365760"/>
          </a:xfrm>
          <a:prstGeom prst="rect">
            <a:avLst/>
          </a:prstGeom>
          <a:noFill/>
          <a:ln/>
        </p:spPr>
        <p:txBody>
          <a:bodyPr wrap="square" lIns="0" tIns="0" rIns="0" bIns="0" rtlCol="0" anchor="ctr"/>
          <a:lstStyle/>
          <a:p>
            <a:pPr indent="0" marL="0">
              <a:buNone/>
            </a:pPr>
            <a:r>
              <a:rPr lang="en-US" sz="1400" b="1" dirty="0">
                <a:solidFill>
                  <a:srgbClr val="16213E"/>
                </a:solidFill>
                <a:latin typeface="Cambria" pitchFamily="34" charset="0"/>
                <a:ea typeface="Cambria" pitchFamily="34" charset="-122"/>
                <a:cs typeface="Cambria" pitchFamily="34" charset="-120"/>
              </a:rPr>
              <a:t>Hai mặt của một câu hỏi</a:t>
            </a:r>
            <a:endParaRPr lang="en-US" sz="1400" dirty="0"/>
          </a:p>
        </p:txBody>
      </p:sp>
      <p:sp>
        <p:nvSpPr>
          <p:cNvPr id="7" name="Text 5"/>
          <p:cNvSpPr txBox="1"/>
          <p:nvPr/>
        </p:nvSpPr>
        <p:spPr>
          <a:xfrm>
            <a:off x="8046720" y="2651760"/>
            <a:ext cx="3200400" cy="1737360"/>
          </a:xfrm>
          <a:prstGeom prst="rect">
            <a:avLst/>
          </a:prstGeom>
          <a:noFill/>
          <a:ln/>
        </p:spPr>
        <p:txBody>
          <a:bodyPr wrap="square" lIns="0" tIns="0" rIns="0" bIns="0" rtlCol="0" anchor="t"/>
          <a:lstStyle/>
          <a:p>
            <a:pPr indent="0" marL="0">
              <a:buNone/>
            </a:pPr>
            <a:r>
              <a:rPr lang="en-US" sz="1450" i="1" dirty="0">
                <a:solidFill>
                  <a:srgbClr val="1A2238"/>
                </a:solidFill>
                <a:latin typeface="Calibri" pitchFamily="34" charset="0"/>
                <a:ea typeface="Calibri" pitchFamily="34" charset="-122"/>
                <a:cs typeface="Calibri" pitchFamily="34" charset="-120"/>
              </a:rPr>
              <a:t>Làm sao tín hiệu học (gradient) đi xuyên suốt một mạng nhiều lớp mà không biến mất hay bùng nổ?</a:t>
            </a:r>
            <a:endParaRPr lang="en-US" sz="1450" dirty="0"/>
          </a:p>
        </p:txBody>
      </p:sp>
      <p:sp>
        <p:nvSpPr>
          <p:cNvPr id="8" name="Text 6"/>
          <p:cNvSpPr txBox="1"/>
          <p:nvPr/>
        </p:nvSpPr>
        <p:spPr>
          <a:xfrm>
            <a:off x="8046720" y="4572000"/>
            <a:ext cx="3200400" cy="91440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Backprop tính dòng chảy đó · Initialization quyết định dòng chảy đó có sống sót qua nhiều lớp</a:t>
            </a:r>
            <a:endParaRPr lang="en-US" sz="12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2/29</a:t>
            </a:r>
            <a:endParaRPr lang="en-US" sz="900" dirty="0"/>
          </a:p>
        </p:txBody>
      </p:sp>
      <p:sp>
        <p:nvSpPr>
          <p:cNvPr id="10" name="Shape 8"/>
          <p:cNvSpPr/>
          <p:nvPr/>
        </p:nvSpPr>
        <p:spPr>
          <a:xfrm>
            <a:off x="595503" y="6459093"/>
            <a:ext cx="89154" cy="89154"/>
          </a:xfrm>
          <a:prstGeom prst="ellipse">
            <a:avLst/>
          </a:prstGeom>
          <a:solidFill>
            <a:srgbClr val="285AB4"/>
          </a:solidFill>
          <a:ln/>
        </p:spPr>
      </p:sp>
      <p:sp>
        <p:nvSpPr>
          <p:cNvPr id="11" name="Shape 9"/>
          <p:cNvSpPr/>
          <p:nvPr/>
        </p:nvSpPr>
        <p:spPr>
          <a:xfrm>
            <a:off x="829818" y="6473952"/>
            <a:ext cx="59436" cy="59436"/>
          </a:xfrm>
          <a:prstGeom prst="ellipse">
            <a:avLst/>
          </a:prstGeom>
          <a:solidFill>
            <a:srgbClr val="D9DEE8"/>
          </a:solidFill>
          <a:ln/>
        </p:spPr>
      </p:sp>
      <p:sp>
        <p:nvSpPr>
          <p:cNvPr id="12" name="Shape 10"/>
          <p:cNvSpPr/>
          <p:nvPr/>
        </p:nvSpPr>
        <p:spPr>
          <a:xfrm>
            <a:off x="1049274" y="6473952"/>
            <a:ext cx="59436" cy="59436"/>
          </a:xfrm>
          <a:prstGeom prst="ellipse">
            <a:avLst/>
          </a:prstGeom>
          <a:solidFill>
            <a:srgbClr val="D9DEE8"/>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MỤC TIÊU BÀI TRÌNH BÀY</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5 điều nhóm sẽ chứng minh được</a:t>
            </a:r>
            <a:endParaRPr lang="en-US" sz="2900" dirty="0"/>
          </a:p>
        </p:txBody>
      </p:sp>
      <p:sp>
        <p:nvSpPr>
          <p:cNvPr id="4" name="Shape 2"/>
          <p:cNvSpPr/>
          <p:nvPr/>
        </p:nvSpPr>
        <p:spPr>
          <a:xfrm>
            <a:off x="640080" y="1965960"/>
            <a:ext cx="457200" cy="457200"/>
          </a:xfrm>
          <a:prstGeom prst="ellipse">
            <a:avLst/>
          </a:prstGeom>
          <a:solidFill>
            <a:srgbClr val="285AB4"/>
          </a:solidFill>
          <a:ln/>
        </p:spPr>
      </p:sp>
      <p:sp>
        <p:nvSpPr>
          <p:cNvPr id="5" name="Text 3"/>
          <p:cNvSpPr txBox="1"/>
          <p:nvPr/>
        </p:nvSpPr>
        <p:spPr>
          <a:xfrm>
            <a:off x="640080" y="1965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325880" y="192024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Backpropagation = Chain Rule có hệ thống, KHÁC Gradient Descent</a:t>
            </a:r>
            <a:endParaRPr lang="en-US" sz="1600" dirty="0"/>
          </a:p>
        </p:txBody>
      </p:sp>
      <p:sp>
        <p:nvSpPr>
          <p:cNvPr id="7" name="Shape 5"/>
          <p:cNvSpPr/>
          <p:nvPr/>
        </p:nvSpPr>
        <p:spPr>
          <a:xfrm>
            <a:off x="640080" y="2697480"/>
            <a:ext cx="457200" cy="457200"/>
          </a:xfrm>
          <a:prstGeom prst="ellipse">
            <a:avLst/>
          </a:prstGeom>
          <a:solidFill>
            <a:srgbClr val="285AB4"/>
          </a:solidFill>
          <a:ln/>
        </p:spPr>
      </p:sp>
      <p:sp>
        <p:nvSpPr>
          <p:cNvPr id="8" name="Text 6"/>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325880" y="265176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Suy ra công thức gradient — dạng vô hướng và dạng ma trận — cho một MLP</a:t>
            </a:r>
            <a:endParaRPr lang="en-US" sz="1600" dirty="0"/>
          </a:p>
        </p:txBody>
      </p:sp>
      <p:sp>
        <p:nvSpPr>
          <p:cNvPr id="10" name="Shape 8"/>
          <p:cNvSpPr/>
          <p:nvPr/>
        </p:nvSpPr>
        <p:spPr>
          <a:xfrm>
            <a:off x="640080" y="3429000"/>
            <a:ext cx="457200" cy="457200"/>
          </a:xfrm>
          <a:prstGeom prst="ellipse">
            <a:avLst/>
          </a:prstGeom>
          <a:solidFill>
            <a:srgbClr val="285AB4"/>
          </a:solidFill>
          <a:ln/>
        </p:spPr>
      </p:sp>
      <p:sp>
        <p:nvSpPr>
          <p:cNvPr id="11" name="Text 9"/>
          <p:cNvSpPr txBox="1"/>
          <p:nvPr/>
        </p:nvSpPr>
        <p:spPr>
          <a:xfrm>
            <a:off x="640080" y="3429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1325880" y="338328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Vì sao W=0 khiến mạng không học được; Xavier/He giải quyết vấn đề gì</a:t>
            </a:r>
            <a:endParaRPr lang="en-US" sz="1600" dirty="0"/>
          </a:p>
        </p:txBody>
      </p:sp>
      <p:sp>
        <p:nvSpPr>
          <p:cNvPr id="13" name="Shape 11"/>
          <p:cNvSpPr/>
          <p:nvPr/>
        </p:nvSpPr>
        <p:spPr>
          <a:xfrm>
            <a:off x="640080" y="4160520"/>
            <a:ext cx="457200" cy="457200"/>
          </a:xfrm>
          <a:prstGeom prst="ellipse">
            <a:avLst/>
          </a:prstGeom>
          <a:solidFill>
            <a:srgbClr val="285AB4"/>
          </a:solidFill>
          <a:ln/>
        </p:spPr>
      </p:sp>
      <p:sp>
        <p:nvSpPr>
          <p:cNvPr id="14" name="Text 12"/>
          <p:cNvSpPr txBox="1"/>
          <p:nvPr/>
        </p:nvSpPr>
        <p:spPr>
          <a:xfrm>
            <a:off x="640080" y="4160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5" name="Text 13"/>
          <p:cNvSpPr txBox="1"/>
          <p:nvPr/>
        </p:nvSpPr>
        <p:spPr>
          <a:xfrm>
            <a:off x="1325880" y="411480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Cơ chế toán học của vanishing / exploding gradient</a:t>
            </a:r>
            <a:endParaRPr lang="en-US" sz="1600" dirty="0"/>
          </a:p>
        </p:txBody>
      </p:sp>
      <p:sp>
        <p:nvSpPr>
          <p:cNvPr id="16" name="Shape 14"/>
          <p:cNvSpPr/>
          <p:nvPr/>
        </p:nvSpPr>
        <p:spPr>
          <a:xfrm>
            <a:off x="640080" y="4892040"/>
            <a:ext cx="457200" cy="457200"/>
          </a:xfrm>
          <a:prstGeom prst="ellipse">
            <a:avLst/>
          </a:prstGeom>
          <a:solidFill>
            <a:srgbClr val="285AB4"/>
          </a:solidFill>
          <a:ln/>
        </p:spPr>
      </p:sp>
      <p:sp>
        <p:nvSpPr>
          <p:cNvPr id="17" name="Text 15"/>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18" name="Text 16"/>
          <p:cNvSpPr txBox="1"/>
          <p:nvPr/>
        </p:nvSpPr>
        <p:spPr>
          <a:xfrm>
            <a:off x="1325880" y="4846320"/>
            <a:ext cx="10225735" cy="731520"/>
          </a:xfrm>
          <a:prstGeom prst="rect">
            <a:avLst/>
          </a:prstGeom>
          <a:noFill/>
          <a:ln/>
        </p:spPr>
        <p:txBody>
          <a:bodyPr wrap="square" lIns="0" tIns="0" rIns="0" bIns="0" rtlCol="0" anchor="ctr"/>
          <a:lstStyle/>
          <a:p>
            <a:pPr indent="0" marL="0">
              <a:buNone/>
            </a:pPr>
            <a:r>
              <a:rPr lang="en-US" sz="1600" dirty="0">
                <a:solidFill>
                  <a:srgbClr val="1A2238"/>
                </a:solidFill>
                <a:latin typeface="Calibri" pitchFamily="34" charset="0"/>
                <a:ea typeface="Calibri" pitchFamily="34" charset="-122"/>
                <a:cs typeface="Calibri" pitchFamily="34" charset="-120"/>
              </a:rPr>
              <a:t>Kiểm chứng toàn bộ bằng thực nghiệm thật trên Fashion-MNIST</a:t>
            </a:r>
            <a:endParaRPr lang="en-US" sz="1600" dirty="0"/>
          </a:p>
        </p:txBody>
      </p:sp>
      <p:sp>
        <p:nvSpPr>
          <p:cNvPr id="19" name="Text 1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3/29</a:t>
            </a:r>
            <a:endParaRPr lang="en-US" sz="900" dirty="0"/>
          </a:p>
        </p:txBody>
      </p:sp>
      <p:sp>
        <p:nvSpPr>
          <p:cNvPr id="20" name="Shape 18"/>
          <p:cNvSpPr/>
          <p:nvPr/>
        </p:nvSpPr>
        <p:spPr>
          <a:xfrm>
            <a:off x="595503" y="6459093"/>
            <a:ext cx="89154" cy="89154"/>
          </a:xfrm>
          <a:prstGeom prst="ellipse">
            <a:avLst/>
          </a:prstGeom>
          <a:solidFill>
            <a:srgbClr val="285AB4"/>
          </a:solidFill>
          <a:ln/>
        </p:spPr>
      </p:sp>
      <p:sp>
        <p:nvSpPr>
          <p:cNvPr id="21" name="Shape 19"/>
          <p:cNvSpPr/>
          <p:nvPr/>
        </p:nvSpPr>
        <p:spPr>
          <a:xfrm>
            <a:off x="829818" y="6473952"/>
            <a:ext cx="59436" cy="59436"/>
          </a:xfrm>
          <a:prstGeom prst="ellipse">
            <a:avLst/>
          </a:prstGeom>
          <a:solidFill>
            <a:srgbClr val="D9DEE8"/>
          </a:solidFill>
          <a:ln/>
        </p:spPr>
      </p:sp>
      <p:sp>
        <p:nvSpPr>
          <p:cNvPr id="22" name="Shape 20"/>
          <p:cNvSpPr/>
          <p:nvPr/>
        </p:nvSpPr>
        <p:spPr>
          <a:xfrm>
            <a:off x="1049274" y="6473952"/>
            <a:ext cx="59436" cy="59436"/>
          </a:xfrm>
          <a:prstGeom prst="ellipse">
            <a:avLst/>
          </a:prstGeom>
          <a:solidFill>
            <a:srgbClr val="D9DEE8"/>
          </a:solidFill>
          <a:ln/>
        </p:spPr>
      </p:sp>
      <p:sp>
        <p:nvSpPr>
          <p:cNvPr id="23" name="Shape 21"/>
          <p:cNvSpPr/>
          <p:nvPr/>
        </p:nvSpPr>
        <p:spPr>
          <a:xfrm>
            <a:off x="1268730" y="6473952"/>
            <a:ext cx="59436" cy="59436"/>
          </a:xfrm>
          <a:prstGeom prst="ellipse">
            <a:avLst/>
          </a:prstGeom>
          <a:solidFill>
            <a:srgbClr val="D9DEE8"/>
          </a:solidFill>
          <a:ln/>
        </p:spPr>
      </p:sp>
      <p:sp>
        <p:nvSpPr>
          <p:cNvPr id="24" name="Text 2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NỀN TẢNG TOÁN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Đạo hàm = độ nhạy cục bộ</a:t>
            </a:r>
            <a:endParaRPr lang="en-US" sz="2900" dirty="0"/>
          </a:p>
        </p:txBody>
      </p:sp>
      <p:sp>
        <p:nvSpPr>
          <p:cNvPr id="4" name="Text 2"/>
          <p:cNvSpPr txBox="1"/>
          <p:nvPr/>
        </p:nvSpPr>
        <p:spPr>
          <a:xfrm>
            <a:off x="640080" y="1965960"/>
            <a:ext cx="5852160" cy="34747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Đạo hàm trả lời: nhích x một chút, y=f(x) đổi bao nhiêu?</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Ví dụ: y = x²  ⇒  dy/dx = 2x</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Trong Deep Learning: ∂L/∂w = “nên chỉnh w theo hướng nào?”</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Không có đạo hàm → optimizer không biết hướng nào để đi</a:t>
            </a:r>
            <a:endParaRPr lang="en-US" sz="1600" dirty="0"/>
          </a:p>
        </p:txBody>
      </p:sp>
      <p:sp>
        <p:nvSpPr>
          <p:cNvPr id="5" name="Shape 3"/>
          <p:cNvSpPr/>
          <p:nvPr/>
        </p:nvSpPr>
        <p:spPr>
          <a:xfrm>
            <a:off x="6858000" y="1965960"/>
            <a:ext cx="4663440" cy="3657600"/>
          </a:xfrm>
          <a:prstGeom prst="roundRect">
            <a:avLst>
              <a:gd name="adj" fmla="val 1500"/>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6" name="Shape 4"/>
          <p:cNvSpPr/>
          <p:nvPr/>
        </p:nvSpPr>
        <p:spPr>
          <a:xfrm>
            <a:off x="7223760" y="5120640"/>
            <a:ext cx="3931920" cy="0"/>
          </a:xfrm>
          <a:prstGeom prst="line">
            <a:avLst/>
          </a:prstGeom>
          <a:noFill/>
          <a:ln w="12700">
            <a:solidFill>
              <a:srgbClr val="5B6478"/>
            </a:solidFill>
            <a:prstDash val="solid"/>
          </a:ln>
        </p:spPr>
      </p:sp>
      <p:sp>
        <p:nvSpPr>
          <p:cNvPr id="7" name="Shape 5"/>
          <p:cNvSpPr/>
          <p:nvPr/>
        </p:nvSpPr>
        <p:spPr>
          <a:xfrm>
            <a:off x="9189720" y="2240280"/>
            <a:ext cx="0" cy="2880360"/>
          </a:xfrm>
          <a:prstGeom prst="line">
            <a:avLst/>
          </a:prstGeom>
          <a:noFill/>
          <a:ln w="12700">
            <a:solidFill>
              <a:srgbClr val="5B6478"/>
            </a:solidFill>
            <a:prstDash val="solid"/>
          </a:ln>
        </p:spPr>
      </p:sp>
      <p:sp>
        <p:nvSpPr>
          <p:cNvPr id="8" name="Shape 6"/>
          <p:cNvSpPr/>
          <p:nvPr/>
        </p:nvSpPr>
        <p:spPr>
          <a:xfrm>
            <a:off x="7231075" y="2340864"/>
            <a:ext cx="97932" cy="271028"/>
          </a:xfrm>
          <a:prstGeom prst="line">
            <a:avLst/>
          </a:prstGeom>
          <a:noFill/>
          <a:ln w="31750">
            <a:solidFill>
              <a:srgbClr val="285AB4"/>
            </a:solidFill>
            <a:prstDash val="solid"/>
          </a:ln>
        </p:spPr>
      </p:sp>
      <p:sp>
        <p:nvSpPr>
          <p:cNvPr id="9" name="Shape 7"/>
          <p:cNvSpPr/>
          <p:nvPr/>
        </p:nvSpPr>
        <p:spPr>
          <a:xfrm>
            <a:off x="7329007" y="2611892"/>
            <a:ext cx="97932" cy="257129"/>
          </a:xfrm>
          <a:prstGeom prst="line">
            <a:avLst/>
          </a:prstGeom>
          <a:noFill/>
          <a:ln w="31750">
            <a:solidFill>
              <a:srgbClr val="285AB4"/>
            </a:solidFill>
            <a:prstDash val="solid"/>
          </a:ln>
        </p:spPr>
      </p:sp>
      <p:sp>
        <p:nvSpPr>
          <p:cNvPr id="10" name="Shape 8"/>
          <p:cNvSpPr/>
          <p:nvPr/>
        </p:nvSpPr>
        <p:spPr>
          <a:xfrm>
            <a:off x="7426940" y="2869021"/>
            <a:ext cx="97932" cy="243230"/>
          </a:xfrm>
          <a:prstGeom prst="line">
            <a:avLst/>
          </a:prstGeom>
          <a:noFill/>
          <a:ln w="31750">
            <a:solidFill>
              <a:srgbClr val="285AB4"/>
            </a:solidFill>
            <a:prstDash val="solid"/>
          </a:ln>
        </p:spPr>
      </p:sp>
      <p:sp>
        <p:nvSpPr>
          <p:cNvPr id="11" name="Shape 9"/>
          <p:cNvSpPr/>
          <p:nvPr/>
        </p:nvSpPr>
        <p:spPr>
          <a:xfrm>
            <a:off x="7524872" y="3112252"/>
            <a:ext cx="97932" cy="229332"/>
          </a:xfrm>
          <a:prstGeom prst="line">
            <a:avLst/>
          </a:prstGeom>
          <a:noFill/>
          <a:ln w="31750">
            <a:solidFill>
              <a:srgbClr val="285AB4"/>
            </a:solidFill>
            <a:prstDash val="solid"/>
          </a:ln>
        </p:spPr>
      </p:sp>
      <p:sp>
        <p:nvSpPr>
          <p:cNvPr id="12" name="Shape 10"/>
          <p:cNvSpPr/>
          <p:nvPr/>
        </p:nvSpPr>
        <p:spPr>
          <a:xfrm>
            <a:off x="7622804" y="3341583"/>
            <a:ext cx="97932" cy="215433"/>
          </a:xfrm>
          <a:prstGeom prst="line">
            <a:avLst/>
          </a:prstGeom>
          <a:noFill/>
          <a:ln w="31750">
            <a:solidFill>
              <a:srgbClr val="285AB4"/>
            </a:solidFill>
            <a:prstDash val="solid"/>
          </a:ln>
        </p:spPr>
      </p:sp>
      <p:sp>
        <p:nvSpPr>
          <p:cNvPr id="13" name="Shape 11"/>
          <p:cNvSpPr/>
          <p:nvPr/>
        </p:nvSpPr>
        <p:spPr>
          <a:xfrm>
            <a:off x="7720736" y="3557016"/>
            <a:ext cx="97932" cy="201534"/>
          </a:xfrm>
          <a:prstGeom prst="line">
            <a:avLst/>
          </a:prstGeom>
          <a:noFill/>
          <a:ln w="31750">
            <a:solidFill>
              <a:srgbClr val="285AB4"/>
            </a:solidFill>
            <a:prstDash val="solid"/>
          </a:ln>
        </p:spPr>
      </p:sp>
      <p:sp>
        <p:nvSpPr>
          <p:cNvPr id="14" name="Shape 12"/>
          <p:cNvSpPr/>
          <p:nvPr/>
        </p:nvSpPr>
        <p:spPr>
          <a:xfrm>
            <a:off x="7818669" y="3758550"/>
            <a:ext cx="97932" cy="187635"/>
          </a:xfrm>
          <a:prstGeom prst="line">
            <a:avLst/>
          </a:prstGeom>
          <a:noFill/>
          <a:ln w="31750">
            <a:solidFill>
              <a:srgbClr val="285AB4"/>
            </a:solidFill>
            <a:prstDash val="solid"/>
          </a:ln>
        </p:spPr>
      </p:sp>
      <p:sp>
        <p:nvSpPr>
          <p:cNvPr id="15" name="Shape 13"/>
          <p:cNvSpPr/>
          <p:nvPr/>
        </p:nvSpPr>
        <p:spPr>
          <a:xfrm>
            <a:off x="7916601" y="3946185"/>
            <a:ext cx="97932" cy="173736"/>
          </a:xfrm>
          <a:prstGeom prst="line">
            <a:avLst/>
          </a:prstGeom>
          <a:noFill/>
          <a:ln w="31750">
            <a:solidFill>
              <a:srgbClr val="285AB4"/>
            </a:solidFill>
            <a:prstDash val="solid"/>
          </a:ln>
        </p:spPr>
      </p:sp>
      <p:sp>
        <p:nvSpPr>
          <p:cNvPr id="16" name="Shape 14"/>
          <p:cNvSpPr/>
          <p:nvPr/>
        </p:nvSpPr>
        <p:spPr>
          <a:xfrm>
            <a:off x="8014533" y="4119921"/>
            <a:ext cx="97932" cy="159837"/>
          </a:xfrm>
          <a:prstGeom prst="line">
            <a:avLst/>
          </a:prstGeom>
          <a:noFill/>
          <a:ln w="31750">
            <a:solidFill>
              <a:srgbClr val="285AB4"/>
            </a:solidFill>
            <a:prstDash val="solid"/>
          </a:ln>
        </p:spPr>
      </p:sp>
      <p:sp>
        <p:nvSpPr>
          <p:cNvPr id="17" name="Shape 15"/>
          <p:cNvSpPr/>
          <p:nvPr/>
        </p:nvSpPr>
        <p:spPr>
          <a:xfrm>
            <a:off x="8112465" y="4279758"/>
            <a:ext cx="97932" cy="145938"/>
          </a:xfrm>
          <a:prstGeom prst="line">
            <a:avLst/>
          </a:prstGeom>
          <a:noFill/>
          <a:ln w="31750">
            <a:solidFill>
              <a:srgbClr val="285AB4"/>
            </a:solidFill>
            <a:prstDash val="solid"/>
          </a:ln>
        </p:spPr>
      </p:sp>
      <p:sp>
        <p:nvSpPr>
          <p:cNvPr id="18" name="Shape 16"/>
          <p:cNvSpPr/>
          <p:nvPr/>
        </p:nvSpPr>
        <p:spPr>
          <a:xfrm>
            <a:off x="8210398" y="4425696"/>
            <a:ext cx="97932" cy="132039"/>
          </a:xfrm>
          <a:prstGeom prst="line">
            <a:avLst/>
          </a:prstGeom>
          <a:noFill/>
          <a:ln w="31750">
            <a:solidFill>
              <a:srgbClr val="285AB4"/>
            </a:solidFill>
            <a:prstDash val="solid"/>
          </a:ln>
        </p:spPr>
      </p:sp>
      <p:sp>
        <p:nvSpPr>
          <p:cNvPr id="19" name="Shape 17"/>
          <p:cNvSpPr/>
          <p:nvPr/>
        </p:nvSpPr>
        <p:spPr>
          <a:xfrm>
            <a:off x="8308330" y="4557735"/>
            <a:ext cx="97932" cy="118140"/>
          </a:xfrm>
          <a:prstGeom prst="line">
            <a:avLst/>
          </a:prstGeom>
          <a:noFill/>
          <a:ln w="31750">
            <a:solidFill>
              <a:srgbClr val="285AB4"/>
            </a:solidFill>
            <a:prstDash val="solid"/>
          </a:ln>
        </p:spPr>
      </p:sp>
      <p:sp>
        <p:nvSpPr>
          <p:cNvPr id="20" name="Shape 18"/>
          <p:cNvSpPr/>
          <p:nvPr/>
        </p:nvSpPr>
        <p:spPr>
          <a:xfrm>
            <a:off x="8406262" y="4675876"/>
            <a:ext cx="97932" cy="104242"/>
          </a:xfrm>
          <a:prstGeom prst="line">
            <a:avLst/>
          </a:prstGeom>
          <a:noFill/>
          <a:ln w="31750">
            <a:solidFill>
              <a:srgbClr val="285AB4"/>
            </a:solidFill>
            <a:prstDash val="solid"/>
          </a:ln>
        </p:spPr>
      </p:sp>
      <p:sp>
        <p:nvSpPr>
          <p:cNvPr id="21" name="Shape 19"/>
          <p:cNvSpPr/>
          <p:nvPr/>
        </p:nvSpPr>
        <p:spPr>
          <a:xfrm>
            <a:off x="8504194" y="4780117"/>
            <a:ext cx="97932" cy="90343"/>
          </a:xfrm>
          <a:prstGeom prst="line">
            <a:avLst/>
          </a:prstGeom>
          <a:noFill/>
          <a:ln w="31750">
            <a:solidFill>
              <a:srgbClr val="285AB4"/>
            </a:solidFill>
            <a:prstDash val="solid"/>
          </a:ln>
        </p:spPr>
      </p:sp>
      <p:sp>
        <p:nvSpPr>
          <p:cNvPr id="22" name="Shape 20"/>
          <p:cNvSpPr/>
          <p:nvPr/>
        </p:nvSpPr>
        <p:spPr>
          <a:xfrm>
            <a:off x="8602127" y="4870460"/>
            <a:ext cx="97932" cy="76444"/>
          </a:xfrm>
          <a:prstGeom prst="line">
            <a:avLst/>
          </a:prstGeom>
          <a:noFill/>
          <a:ln w="31750">
            <a:solidFill>
              <a:srgbClr val="285AB4"/>
            </a:solidFill>
            <a:prstDash val="solid"/>
          </a:ln>
        </p:spPr>
      </p:sp>
      <p:sp>
        <p:nvSpPr>
          <p:cNvPr id="23" name="Shape 21"/>
          <p:cNvSpPr/>
          <p:nvPr/>
        </p:nvSpPr>
        <p:spPr>
          <a:xfrm>
            <a:off x="8700059" y="4946904"/>
            <a:ext cx="97932" cy="62545"/>
          </a:xfrm>
          <a:prstGeom prst="line">
            <a:avLst/>
          </a:prstGeom>
          <a:noFill/>
          <a:ln w="31750">
            <a:solidFill>
              <a:srgbClr val="285AB4"/>
            </a:solidFill>
            <a:prstDash val="solid"/>
          </a:ln>
        </p:spPr>
      </p:sp>
      <p:sp>
        <p:nvSpPr>
          <p:cNvPr id="24" name="Shape 22"/>
          <p:cNvSpPr/>
          <p:nvPr/>
        </p:nvSpPr>
        <p:spPr>
          <a:xfrm>
            <a:off x="8797991" y="5009449"/>
            <a:ext cx="97932" cy="48646"/>
          </a:xfrm>
          <a:prstGeom prst="line">
            <a:avLst/>
          </a:prstGeom>
          <a:noFill/>
          <a:ln w="31750">
            <a:solidFill>
              <a:srgbClr val="285AB4"/>
            </a:solidFill>
            <a:prstDash val="solid"/>
          </a:ln>
        </p:spPr>
      </p:sp>
      <p:sp>
        <p:nvSpPr>
          <p:cNvPr id="25" name="Shape 23"/>
          <p:cNvSpPr/>
          <p:nvPr/>
        </p:nvSpPr>
        <p:spPr>
          <a:xfrm>
            <a:off x="8895923" y="5058095"/>
            <a:ext cx="97932" cy="34747"/>
          </a:xfrm>
          <a:prstGeom prst="line">
            <a:avLst/>
          </a:prstGeom>
          <a:noFill/>
          <a:ln w="31750">
            <a:solidFill>
              <a:srgbClr val="285AB4"/>
            </a:solidFill>
            <a:prstDash val="solid"/>
          </a:ln>
        </p:spPr>
      </p:sp>
      <p:sp>
        <p:nvSpPr>
          <p:cNvPr id="26" name="Shape 24"/>
          <p:cNvSpPr/>
          <p:nvPr/>
        </p:nvSpPr>
        <p:spPr>
          <a:xfrm>
            <a:off x="8993856" y="5092842"/>
            <a:ext cx="97932" cy="20848"/>
          </a:xfrm>
          <a:prstGeom prst="line">
            <a:avLst/>
          </a:prstGeom>
          <a:noFill/>
          <a:ln w="31750">
            <a:solidFill>
              <a:srgbClr val="285AB4"/>
            </a:solidFill>
            <a:prstDash val="solid"/>
          </a:ln>
        </p:spPr>
      </p:sp>
      <p:sp>
        <p:nvSpPr>
          <p:cNvPr id="27" name="Shape 25"/>
          <p:cNvSpPr/>
          <p:nvPr/>
        </p:nvSpPr>
        <p:spPr>
          <a:xfrm>
            <a:off x="9091788" y="5113691"/>
            <a:ext cx="97932" cy="6949"/>
          </a:xfrm>
          <a:prstGeom prst="line">
            <a:avLst/>
          </a:prstGeom>
          <a:noFill/>
          <a:ln w="31750">
            <a:solidFill>
              <a:srgbClr val="285AB4"/>
            </a:solidFill>
            <a:prstDash val="solid"/>
          </a:ln>
        </p:spPr>
      </p:sp>
      <p:sp>
        <p:nvSpPr>
          <p:cNvPr id="28" name="Shape 26"/>
          <p:cNvSpPr/>
          <p:nvPr/>
        </p:nvSpPr>
        <p:spPr>
          <a:xfrm flipV="1">
            <a:off x="9189720" y="5113691"/>
            <a:ext cx="97932" cy="6949"/>
          </a:xfrm>
          <a:prstGeom prst="line">
            <a:avLst/>
          </a:prstGeom>
          <a:noFill/>
          <a:ln w="31750">
            <a:solidFill>
              <a:srgbClr val="285AB4"/>
            </a:solidFill>
            <a:prstDash val="solid"/>
          </a:ln>
        </p:spPr>
      </p:sp>
      <p:sp>
        <p:nvSpPr>
          <p:cNvPr id="29" name="Shape 27"/>
          <p:cNvSpPr/>
          <p:nvPr/>
        </p:nvSpPr>
        <p:spPr>
          <a:xfrm flipV="1">
            <a:off x="9287652" y="5092842"/>
            <a:ext cx="97932" cy="20848"/>
          </a:xfrm>
          <a:prstGeom prst="line">
            <a:avLst/>
          </a:prstGeom>
          <a:noFill/>
          <a:ln w="31750">
            <a:solidFill>
              <a:srgbClr val="285AB4"/>
            </a:solidFill>
            <a:prstDash val="solid"/>
          </a:ln>
        </p:spPr>
      </p:sp>
      <p:sp>
        <p:nvSpPr>
          <p:cNvPr id="30" name="Shape 28"/>
          <p:cNvSpPr/>
          <p:nvPr/>
        </p:nvSpPr>
        <p:spPr>
          <a:xfrm flipV="1">
            <a:off x="9385584" y="5058095"/>
            <a:ext cx="97932" cy="34747"/>
          </a:xfrm>
          <a:prstGeom prst="line">
            <a:avLst/>
          </a:prstGeom>
          <a:noFill/>
          <a:ln w="31750">
            <a:solidFill>
              <a:srgbClr val="285AB4"/>
            </a:solidFill>
            <a:prstDash val="solid"/>
          </a:ln>
        </p:spPr>
      </p:sp>
      <p:sp>
        <p:nvSpPr>
          <p:cNvPr id="31" name="Shape 29"/>
          <p:cNvSpPr/>
          <p:nvPr/>
        </p:nvSpPr>
        <p:spPr>
          <a:xfrm flipV="1">
            <a:off x="9483517" y="5009449"/>
            <a:ext cx="97932" cy="48646"/>
          </a:xfrm>
          <a:prstGeom prst="line">
            <a:avLst/>
          </a:prstGeom>
          <a:noFill/>
          <a:ln w="31750">
            <a:solidFill>
              <a:srgbClr val="285AB4"/>
            </a:solidFill>
            <a:prstDash val="solid"/>
          </a:ln>
        </p:spPr>
      </p:sp>
      <p:sp>
        <p:nvSpPr>
          <p:cNvPr id="32" name="Shape 30"/>
          <p:cNvSpPr/>
          <p:nvPr/>
        </p:nvSpPr>
        <p:spPr>
          <a:xfrm flipV="1">
            <a:off x="9581449" y="4946904"/>
            <a:ext cx="97932" cy="62545"/>
          </a:xfrm>
          <a:prstGeom prst="line">
            <a:avLst/>
          </a:prstGeom>
          <a:noFill/>
          <a:ln w="31750">
            <a:solidFill>
              <a:srgbClr val="285AB4"/>
            </a:solidFill>
            <a:prstDash val="solid"/>
          </a:ln>
        </p:spPr>
      </p:sp>
      <p:sp>
        <p:nvSpPr>
          <p:cNvPr id="33" name="Shape 31"/>
          <p:cNvSpPr/>
          <p:nvPr/>
        </p:nvSpPr>
        <p:spPr>
          <a:xfrm flipV="1">
            <a:off x="9679381" y="4870460"/>
            <a:ext cx="97932" cy="76444"/>
          </a:xfrm>
          <a:prstGeom prst="line">
            <a:avLst/>
          </a:prstGeom>
          <a:noFill/>
          <a:ln w="31750">
            <a:solidFill>
              <a:srgbClr val="285AB4"/>
            </a:solidFill>
            <a:prstDash val="solid"/>
          </a:ln>
        </p:spPr>
      </p:sp>
      <p:sp>
        <p:nvSpPr>
          <p:cNvPr id="34" name="Shape 32"/>
          <p:cNvSpPr/>
          <p:nvPr/>
        </p:nvSpPr>
        <p:spPr>
          <a:xfrm flipV="1">
            <a:off x="9777313" y="4780117"/>
            <a:ext cx="97932" cy="90343"/>
          </a:xfrm>
          <a:prstGeom prst="line">
            <a:avLst/>
          </a:prstGeom>
          <a:noFill/>
          <a:ln w="31750">
            <a:solidFill>
              <a:srgbClr val="285AB4"/>
            </a:solidFill>
            <a:prstDash val="solid"/>
          </a:ln>
        </p:spPr>
      </p:sp>
      <p:sp>
        <p:nvSpPr>
          <p:cNvPr id="35" name="Shape 33"/>
          <p:cNvSpPr/>
          <p:nvPr/>
        </p:nvSpPr>
        <p:spPr>
          <a:xfrm flipV="1">
            <a:off x="9875246" y="4675876"/>
            <a:ext cx="97932" cy="104242"/>
          </a:xfrm>
          <a:prstGeom prst="line">
            <a:avLst/>
          </a:prstGeom>
          <a:noFill/>
          <a:ln w="31750">
            <a:solidFill>
              <a:srgbClr val="285AB4"/>
            </a:solidFill>
            <a:prstDash val="solid"/>
          </a:ln>
        </p:spPr>
      </p:sp>
      <p:sp>
        <p:nvSpPr>
          <p:cNvPr id="36" name="Shape 34"/>
          <p:cNvSpPr/>
          <p:nvPr/>
        </p:nvSpPr>
        <p:spPr>
          <a:xfrm flipV="1">
            <a:off x="9973178" y="4557735"/>
            <a:ext cx="97932" cy="118140"/>
          </a:xfrm>
          <a:prstGeom prst="line">
            <a:avLst/>
          </a:prstGeom>
          <a:noFill/>
          <a:ln w="31750">
            <a:solidFill>
              <a:srgbClr val="285AB4"/>
            </a:solidFill>
            <a:prstDash val="solid"/>
          </a:ln>
        </p:spPr>
      </p:sp>
      <p:sp>
        <p:nvSpPr>
          <p:cNvPr id="37" name="Shape 35"/>
          <p:cNvSpPr/>
          <p:nvPr/>
        </p:nvSpPr>
        <p:spPr>
          <a:xfrm flipV="1">
            <a:off x="10071110" y="4425696"/>
            <a:ext cx="97932" cy="132039"/>
          </a:xfrm>
          <a:prstGeom prst="line">
            <a:avLst/>
          </a:prstGeom>
          <a:noFill/>
          <a:ln w="31750">
            <a:solidFill>
              <a:srgbClr val="285AB4"/>
            </a:solidFill>
            <a:prstDash val="solid"/>
          </a:ln>
        </p:spPr>
      </p:sp>
      <p:sp>
        <p:nvSpPr>
          <p:cNvPr id="38" name="Shape 36"/>
          <p:cNvSpPr/>
          <p:nvPr/>
        </p:nvSpPr>
        <p:spPr>
          <a:xfrm flipV="1">
            <a:off x="10169042" y="4279758"/>
            <a:ext cx="97932" cy="145938"/>
          </a:xfrm>
          <a:prstGeom prst="line">
            <a:avLst/>
          </a:prstGeom>
          <a:noFill/>
          <a:ln w="31750">
            <a:solidFill>
              <a:srgbClr val="285AB4"/>
            </a:solidFill>
            <a:prstDash val="solid"/>
          </a:ln>
        </p:spPr>
      </p:sp>
      <p:sp>
        <p:nvSpPr>
          <p:cNvPr id="39" name="Shape 37"/>
          <p:cNvSpPr/>
          <p:nvPr/>
        </p:nvSpPr>
        <p:spPr>
          <a:xfrm flipV="1">
            <a:off x="10266975" y="4119921"/>
            <a:ext cx="97932" cy="159837"/>
          </a:xfrm>
          <a:prstGeom prst="line">
            <a:avLst/>
          </a:prstGeom>
          <a:noFill/>
          <a:ln w="31750">
            <a:solidFill>
              <a:srgbClr val="285AB4"/>
            </a:solidFill>
            <a:prstDash val="solid"/>
          </a:ln>
        </p:spPr>
      </p:sp>
      <p:sp>
        <p:nvSpPr>
          <p:cNvPr id="40" name="Shape 38"/>
          <p:cNvSpPr/>
          <p:nvPr/>
        </p:nvSpPr>
        <p:spPr>
          <a:xfrm flipV="1">
            <a:off x="10364907" y="3946185"/>
            <a:ext cx="97932" cy="173736"/>
          </a:xfrm>
          <a:prstGeom prst="line">
            <a:avLst/>
          </a:prstGeom>
          <a:noFill/>
          <a:ln w="31750">
            <a:solidFill>
              <a:srgbClr val="285AB4"/>
            </a:solidFill>
            <a:prstDash val="solid"/>
          </a:ln>
        </p:spPr>
      </p:sp>
      <p:sp>
        <p:nvSpPr>
          <p:cNvPr id="41" name="Shape 39"/>
          <p:cNvSpPr/>
          <p:nvPr/>
        </p:nvSpPr>
        <p:spPr>
          <a:xfrm flipV="1">
            <a:off x="10462839" y="3758550"/>
            <a:ext cx="97932" cy="187635"/>
          </a:xfrm>
          <a:prstGeom prst="line">
            <a:avLst/>
          </a:prstGeom>
          <a:noFill/>
          <a:ln w="31750">
            <a:solidFill>
              <a:srgbClr val="285AB4"/>
            </a:solidFill>
            <a:prstDash val="solid"/>
          </a:ln>
        </p:spPr>
      </p:sp>
      <p:sp>
        <p:nvSpPr>
          <p:cNvPr id="42" name="Shape 40"/>
          <p:cNvSpPr/>
          <p:nvPr/>
        </p:nvSpPr>
        <p:spPr>
          <a:xfrm flipV="1">
            <a:off x="10560771" y="3557016"/>
            <a:ext cx="97932" cy="201534"/>
          </a:xfrm>
          <a:prstGeom prst="line">
            <a:avLst/>
          </a:prstGeom>
          <a:noFill/>
          <a:ln w="31750">
            <a:solidFill>
              <a:srgbClr val="285AB4"/>
            </a:solidFill>
            <a:prstDash val="solid"/>
          </a:ln>
        </p:spPr>
      </p:sp>
      <p:sp>
        <p:nvSpPr>
          <p:cNvPr id="43" name="Shape 41"/>
          <p:cNvSpPr/>
          <p:nvPr/>
        </p:nvSpPr>
        <p:spPr>
          <a:xfrm flipV="1">
            <a:off x="10658704" y="3341583"/>
            <a:ext cx="97932" cy="215433"/>
          </a:xfrm>
          <a:prstGeom prst="line">
            <a:avLst/>
          </a:prstGeom>
          <a:noFill/>
          <a:ln w="31750">
            <a:solidFill>
              <a:srgbClr val="285AB4"/>
            </a:solidFill>
            <a:prstDash val="solid"/>
          </a:ln>
        </p:spPr>
      </p:sp>
      <p:sp>
        <p:nvSpPr>
          <p:cNvPr id="44" name="Shape 42"/>
          <p:cNvSpPr/>
          <p:nvPr/>
        </p:nvSpPr>
        <p:spPr>
          <a:xfrm flipV="1">
            <a:off x="10756636" y="3112252"/>
            <a:ext cx="97932" cy="229332"/>
          </a:xfrm>
          <a:prstGeom prst="line">
            <a:avLst/>
          </a:prstGeom>
          <a:noFill/>
          <a:ln w="31750">
            <a:solidFill>
              <a:srgbClr val="285AB4"/>
            </a:solidFill>
            <a:prstDash val="solid"/>
          </a:ln>
        </p:spPr>
      </p:sp>
      <p:sp>
        <p:nvSpPr>
          <p:cNvPr id="45" name="Shape 43"/>
          <p:cNvSpPr/>
          <p:nvPr/>
        </p:nvSpPr>
        <p:spPr>
          <a:xfrm flipV="1">
            <a:off x="10854568" y="2869021"/>
            <a:ext cx="97932" cy="243230"/>
          </a:xfrm>
          <a:prstGeom prst="line">
            <a:avLst/>
          </a:prstGeom>
          <a:noFill/>
          <a:ln w="31750">
            <a:solidFill>
              <a:srgbClr val="285AB4"/>
            </a:solidFill>
            <a:prstDash val="solid"/>
          </a:ln>
        </p:spPr>
      </p:sp>
      <p:sp>
        <p:nvSpPr>
          <p:cNvPr id="46" name="Shape 44"/>
          <p:cNvSpPr/>
          <p:nvPr/>
        </p:nvSpPr>
        <p:spPr>
          <a:xfrm flipV="1">
            <a:off x="10952500" y="2611892"/>
            <a:ext cx="97932" cy="257129"/>
          </a:xfrm>
          <a:prstGeom prst="line">
            <a:avLst/>
          </a:prstGeom>
          <a:noFill/>
          <a:ln w="31750">
            <a:solidFill>
              <a:srgbClr val="285AB4"/>
            </a:solidFill>
            <a:prstDash val="solid"/>
          </a:ln>
        </p:spPr>
      </p:sp>
      <p:sp>
        <p:nvSpPr>
          <p:cNvPr id="47" name="Shape 45"/>
          <p:cNvSpPr/>
          <p:nvPr/>
        </p:nvSpPr>
        <p:spPr>
          <a:xfrm flipV="1">
            <a:off x="11050433" y="2340864"/>
            <a:ext cx="97932" cy="271028"/>
          </a:xfrm>
          <a:prstGeom prst="line">
            <a:avLst/>
          </a:prstGeom>
          <a:noFill/>
          <a:ln w="31750">
            <a:solidFill>
              <a:srgbClr val="285AB4"/>
            </a:solidFill>
            <a:prstDash val="solid"/>
          </a:ln>
        </p:spPr>
      </p:sp>
      <p:sp>
        <p:nvSpPr>
          <p:cNvPr id="48" name="Shape 46"/>
          <p:cNvSpPr/>
          <p:nvPr/>
        </p:nvSpPr>
        <p:spPr>
          <a:xfrm>
            <a:off x="10603840" y="3502152"/>
            <a:ext cx="109728" cy="109728"/>
          </a:xfrm>
          <a:prstGeom prst="ellipse">
            <a:avLst/>
          </a:prstGeom>
          <a:solidFill>
            <a:srgbClr val="BE3C32"/>
          </a:solidFill>
          <a:ln/>
        </p:spPr>
      </p:sp>
      <p:sp>
        <p:nvSpPr>
          <p:cNvPr id="49" name="Text 47"/>
          <p:cNvSpPr txBox="1"/>
          <p:nvPr/>
        </p:nvSpPr>
        <p:spPr>
          <a:xfrm>
            <a:off x="10058400" y="2194560"/>
            <a:ext cx="1280160" cy="320040"/>
          </a:xfrm>
          <a:prstGeom prst="rect">
            <a:avLst/>
          </a:prstGeom>
          <a:noFill/>
          <a:ln/>
        </p:spPr>
        <p:txBody>
          <a:bodyPr wrap="square" lIns="0" tIns="0" rIns="0" bIns="0" rtlCol="0" anchor="ctr"/>
          <a:lstStyle/>
          <a:p>
            <a:pPr indent="0" marL="0">
              <a:buNone/>
            </a:pPr>
            <a:r>
              <a:rPr lang="en-US" sz="1300" b="1" dirty="0">
                <a:solidFill>
                  <a:srgbClr val="285AB4"/>
                </a:solidFill>
                <a:latin typeface="Cambria Math" pitchFamily="34" charset="0"/>
                <a:ea typeface="Cambria Math" pitchFamily="34" charset="-122"/>
                <a:cs typeface="Cambria Math" pitchFamily="34" charset="-120"/>
              </a:rPr>
              <a:t>y = x²</a:t>
            </a:r>
            <a:endParaRPr lang="en-US" sz="1300" dirty="0"/>
          </a:p>
        </p:txBody>
      </p:sp>
      <p:sp>
        <p:nvSpPr>
          <p:cNvPr id="50" name="Text 48"/>
          <p:cNvSpPr txBox="1"/>
          <p:nvPr/>
        </p:nvSpPr>
        <p:spPr>
          <a:xfrm>
            <a:off x="7178040" y="5212080"/>
            <a:ext cx="4023360" cy="292608"/>
          </a:xfrm>
          <a:prstGeom prst="rect">
            <a:avLst/>
          </a:prstGeom>
          <a:noFill/>
          <a:ln/>
        </p:spPr>
        <p:txBody>
          <a:bodyPr wrap="square" lIns="0" tIns="0" rIns="0" bIns="0" rtlCol="0" anchor="ctr"/>
          <a:lstStyle/>
          <a:p>
            <a:pPr indent="0" marL="0">
              <a:buNone/>
            </a:pPr>
            <a:r>
              <a:rPr lang="en-US" sz="1150" dirty="0">
                <a:solidFill>
                  <a:srgbClr val="BE3C32"/>
                </a:solidFill>
                <a:latin typeface="Calibri" pitchFamily="34" charset="0"/>
                <a:ea typeface="Calibri" pitchFamily="34" charset="-122"/>
                <a:cs typeface="Calibri" pitchFamily="34" charset="-120"/>
              </a:rPr>
              <a:t>tại x=1.5: dy/dx = 3</a:t>
            </a:r>
            <a:endParaRPr lang="en-US" sz="1150" dirty="0"/>
          </a:p>
        </p:txBody>
      </p:sp>
      <p:sp>
        <p:nvSpPr>
          <p:cNvPr id="51" name="Text 49"/>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4/29</a:t>
            </a:r>
            <a:endParaRPr lang="en-US" sz="900" dirty="0"/>
          </a:p>
        </p:txBody>
      </p:sp>
      <p:sp>
        <p:nvSpPr>
          <p:cNvPr id="52" name="Shape 50"/>
          <p:cNvSpPr/>
          <p:nvPr/>
        </p:nvSpPr>
        <p:spPr>
          <a:xfrm>
            <a:off x="595503" y="6459093"/>
            <a:ext cx="89154" cy="89154"/>
          </a:xfrm>
          <a:prstGeom prst="ellipse">
            <a:avLst/>
          </a:prstGeom>
          <a:solidFill>
            <a:srgbClr val="285AB4"/>
          </a:solidFill>
          <a:ln/>
        </p:spPr>
      </p:sp>
      <p:sp>
        <p:nvSpPr>
          <p:cNvPr id="53" name="Shape 51"/>
          <p:cNvSpPr/>
          <p:nvPr/>
        </p:nvSpPr>
        <p:spPr>
          <a:xfrm>
            <a:off x="829818" y="6473952"/>
            <a:ext cx="59436" cy="59436"/>
          </a:xfrm>
          <a:prstGeom prst="ellipse">
            <a:avLst/>
          </a:prstGeom>
          <a:solidFill>
            <a:srgbClr val="D9DEE8"/>
          </a:solidFill>
          <a:ln/>
        </p:spPr>
      </p:sp>
      <p:sp>
        <p:nvSpPr>
          <p:cNvPr id="54" name="Shape 52"/>
          <p:cNvSpPr/>
          <p:nvPr/>
        </p:nvSpPr>
        <p:spPr>
          <a:xfrm>
            <a:off x="1049274" y="6473952"/>
            <a:ext cx="59436" cy="59436"/>
          </a:xfrm>
          <a:prstGeom prst="ellipse">
            <a:avLst/>
          </a:prstGeom>
          <a:solidFill>
            <a:srgbClr val="D9DEE8"/>
          </a:solidFill>
          <a:ln/>
        </p:spPr>
      </p:sp>
      <p:sp>
        <p:nvSpPr>
          <p:cNvPr id="55" name="Shape 53"/>
          <p:cNvSpPr/>
          <p:nvPr/>
        </p:nvSpPr>
        <p:spPr>
          <a:xfrm>
            <a:off x="1268730" y="6473952"/>
            <a:ext cx="59436" cy="59436"/>
          </a:xfrm>
          <a:prstGeom prst="ellipse">
            <a:avLst/>
          </a:prstGeom>
          <a:solidFill>
            <a:srgbClr val="D9DEE8"/>
          </a:solidFill>
          <a:ln/>
        </p:spPr>
      </p:sp>
      <p:sp>
        <p:nvSpPr>
          <p:cNvPr id="56" name="Text 54"/>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NỀN TẢNG TOÁN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Quy tắc chuỗi (Chain Rule)</a:t>
            </a:r>
            <a:endParaRPr lang="en-US" sz="2900" dirty="0"/>
          </a:p>
        </p:txBody>
      </p:sp>
      <p:sp>
        <p:nvSpPr>
          <p:cNvPr id="4" name="Shape 2"/>
          <p:cNvSpPr/>
          <p:nvPr/>
        </p:nvSpPr>
        <p:spPr>
          <a:xfrm>
            <a:off x="640080" y="182880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28800"/>
            <a:ext cx="10454335" cy="777240"/>
          </a:xfrm>
          <a:prstGeom prst="rect">
            <a:avLst/>
          </a:prstGeom>
          <a:noFill/>
          <a:ln/>
        </p:spPr>
        <p:txBody>
          <a:bodyPr wrap="square" lIns="0" tIns="0" rIns="0" bIns="0" rtlCol="0" anchor="ctr"/>
          <a:lstStyle/>
          <a:p>
            <a:pPr algn="ctr" indent="0" marL="0">
              <a:buNone/>
            </a:pPr>
            <a:r>
              <a:rPr lang="en-US" sz="2000" dirty="0">
                <a:solidFill>
                  <a:srgbClr val="16213E"/>
                </a:solidFill>
                <a:latin typeface="Cambria Math" pitchFamily="34" charset="0"/>
                <a:ea typeface="Cambria Math" pitchFamily="34" charset="-122"/>
                <a:cs typeface="Cambria Math" pitchFamily="34" charset="-120"/>
              </a:rPr>
              <a:t>y = f(g(x))      ⇒      dy/dx = (dy/dg)·(dg/dx)</a:t>
            </a:r>
            <a:endParaRPr lang="en-US" sz="2000" dirty="0"/>
          </a:p>
        </p:txBody>
      </p:sp>
      <p:sp>
        <p:nvSpPr>
          <p:cNvPr id="6" name="Text 4"/>
          <p:cNvSpPr txBox="1"/>
          <p:nvPr/>
        </p:nvSpPr>
        <p:spPr>
          <a:xfrm>
            <a:off x="640080" y="2834640"/>
            <a:ext cx="6400800" cy="182880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 biến x → đại lượng trung gian; f biến đại lượng đó → y</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Độ nhạy tổng = tích độ nhạy từng bước (nhân dồn)</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Ẩn dụ: tin đồn qua nhiều người — sai lệch cuối phụ thuộc MỖI khâu</a:t>
            </a:r>
            <a:endParaRPr lang="en-US" sz="1600" dirty="0"/>
          </a:p>
        </p:txBody>
      </p:sp>
      <p:sp>
        <p:nvSpPr>
          <p:cNvPr id="7" name="Shape 5"/>
          <p:cNvSpPr/>
          <p:nvPr/>
        </p:nvSpPr>
        <p:spPr>
          <a:xfrm>
            <a:off x="2026768" y="4937760"/>
            <a:ext cx="1554480" cy="594360"/>
          </a:xfrm>
          <a:prstGeom prst="roundRect">
            <a:avLst>
              <a:gd name="adj" fmla="val 9231"/>
            </a:avLst>
          </a:prstGeom>
          <a:solidFill>
            <a:srgbClr val="FFFFFF"/>
          </a:solidFill>
          <a:ln w="15875">
            <a:solidFill>
              <a:srgbClr val="1A2238"/>
            </a:solidFill>
            <a:prstDash val="solid"/>
          </a:ln>
        </p:spPr>
      </p:sp>
      <p:sp>
        <p:nvSpPr>
          <p:cNvPr id="8" name="Text 6"/>
          <p:cNvSpPr txBox="1"/>
          <p:nvPr/>
        </p:nvSpPr>
        <p:spPr>
          <a:xfrm>
            <a:off x="2026768" y="4937760"/>
            <a:ext cx="1554480" cy="59436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x</a:t>
            </a:r>
            <a:endParaRPr lang="en-US" sz="1400" dirty="0"/>
          </a:p>
        </p:txBody>
      </p:sp>
      <p:sp>
        <p:nvSpPr>
          <p:cNvPr id="9" name="Shape 7"/>
          <p:cNvSpPr/>
          <p:nvPr/>
        </p:nvSpPr>
        <p:spPr>
          <a:xfrm>
            <a:off x="4221328" y="4937760"/>
            <a:ext cx="1554480" cy="594360"/>
          </a:xfrm>
          <a:prstGeom prst="roundRect">
            <a:avLst>
              <a:gd name="adj" fmla="val 9231"/>
            </a:avLst>
          </a:prstGeom>
          <a:solidFill>
            <a:srgbClr val="FFFFFF"/>
          </a:solidFill>
          <a:ln w="15875">
            <a:solidFill>
              <a:srgbClr val="1A2238"/>
            </a:solidFill>
            <a:prstDash val="solid"/>
          </a:ln>
        </p:spPr>
      </p:sp>
      <p:sp>
        <p:nvSpPr>
          <p:cNvPr id="10" name="Text 8"/>
          <p:cNvSpPr txBox="1"/>
          <p:nvPr/>
        </p:nvSpPr>
        <p:spPr>
          <a:xfrm>
            <a:off x="4221328" y="4937760"/>
            <a:ext cx="1554480" cy="59436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z=wx+b</a:t>
            </a:r>
            <a:endParaRPr lang="en-US" sz="1400" dirty="0"/>
          </a:p>
        </p:txBody>
      </p:sp>
      <p:sp>
        <p:nvSpPr>
          <p:cNvPr id="11" name="Shape 9"/>
          <p:cNvSpPr/>
          <p:nvPr/>
        </p:nvSpPr>
        <p:spPr>
          <a:xfrm>
            <a:off x="6415888" y="4937760"/>
            <a:ext cx="1554480" cy="594360"/>
          </a:xfrm>
          <a:prstGeom prst="roundRect">
            <a:avLst>
              <a:gd name="adj" fmla="val 9231"/>
            </a:avLst>
          </a:prstGeom>
          <a:solidFill>
            <a:srgbClr val="FFFFFF"/>
          </a:solidFill>
          <a:ln w="15875">
            <a:solidFill>
              <a:srgbClr val="1A2238"/>
            </a:solidFill>
            <a:prstDash val="solid"/>
          </a:ln>
        </p:spPr>
      </p:sp>
      <p:sp>
        <p:nvSpPr>
          <p:cNvPr id="12" name="Text 10"/>
          <p:cNvSpPr txBox="1"/>
          <p:nvPr/>
        </p:nvSpPr>
        <p:spPr>
          <a:xfrm>
            <a:off x="6415888" y="4937760"/>
            <a:ext cx="1554480" cy="59436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a=σ(z)</a:t>
            </a:r>
            <a:endParaRPr lang="en-US" sz="1400" dirty="0"/>
          </a:p>
        </p:txBody>
      </p:sp>
      <p:sp>
        <p:nvSpPr>
          <p:cNvPr id="13" name="Shape 11"/>
          <p:cNvSpPr/>
          <p:nvPr/>
        </p:nvSpPr>
        <p:spPr>
          <a:xfrm>
            <a:off x="8610448" y="4937760"/>
            <a:ext cx="1554480" cy="594360"/>
          </a:xfrm>
          <a:prstGeom prst="roundRect">
            <a:avLst>
              <a:gd name="adj" fmla="val 9231"/>
            </a:avLst>
          </a:prstGeom>
          <a:solidFill>
            <a:srgbClr val="FFFFFF"/>
          </a:solidFill>
          <a:ln w="15875">
            <a:solidFill>
              <a:srgbClr val="1A2238"/>
            </a:solidFill>
            <a:prstDash val="solid"/>
          </a:ln>
        </p:spPr>
      </p:sp>
      <p:sp>
        <p:nvSpPr>
          <p:cNvPr id="14" name="Text 12"/>
          <p:cNvSpPr txBox="1"/>
          <p:nvPr/>
        </p:nvSpPr>
        <p:spPr>
          <a:xfrm>
            <a:off x="8610448" y="4937760"/>
            <a:ext cx="1554480" cy="59436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L</a:t>
            </a:r>
            <a:endParaRPr lang="en-US" sz="1400" dirty="0"/>
          </a:p>
        </p:txBody>
      </p:sp>
      <p:sp>
        <p:nvSpPr>
          <p:cNvPr id="15" name="Shape 13"/>
          <p:cNvSpPr/>
          <p:nvPr/>
        </p:nvSpPr>
        <p:spPr>
          <a:xfrm>
            <a:off x="3581248" y="5234940"/>
            <a:ext cx="640080" cy="0"/>
          </a:xfrm>
          <a:prstGeom prst="line">
            <a:avLst/>
          </a:prstGeom>
          <a:noFill/>
          <a:ln w="28575">
            <a:solidFill>
              <a:srgbClr val="285AB4"/>
            </a:solidFill>
            <a:prstDash val="solid"/>
            <a:tailEnd type="triangle"/>
          </a:ln>
        </p:spPr>
      </p:sp>
      <p:sp>
        <p:nvSpPr>
          <p:cNvPr id="16" name="Shape 14"/>
          <p:cNvSpPr/>
          <p:nvPr/>
        </p:nvSpPr>
        <p:spPr>
          <a:xfrm>
            <a:off x="5775808" y="5234940"/>
            <a:ext cx="640080" cy="0"/>
          </a:xfrm>
          <a:prstGeom prst="line">
            <a:avLst/>
          </a:prstGeom>
          <a:noFill/>
          <a:ln w="28575">
            <a:solidFill>
              <a:srgbClr val="285AB4"/>
            </a:solidFill>
            <a:prstDash val="solid"/>
            <a:tailEnd type="triangle"/>
          </a:ln>
        </p:spPr>
      </p:sp>
      <p:sp>
        <p:nvSpPr>
          <p:cNvPr id="17" name="Shape 15"/>
          <p:cNvSpPr/>
          <p:nvPr/>
        </p:nvSpPr>
        <p:spPr>
          <a:xfrm>
            <a:off x="7970368" y="5234940"/>
            <a:ext cx="640080" cy="0"/>
          </a:xfrm>
          <a:prstGeom prst="line">
            <a:avLst/>
          </a:prstGeom>
          <a:noFill/>
          <a:ln w="28575">
            <a:solidFill>
              <a:srgbClr val="285AB4"/>
            </a:solidFill>
            <a:prstDash val="solid"/>
            <a:tailEnd type="triangle"/>
          </a:ln>
        </p:spPr>
      </p:sp>
      <p:sp>
        <p:nvSpPr>
          <p:cNvPr id="18" name="Shape 16"/>
          <p:cNvSpPr/>
          <p:nvPr/>
        </p:nvSpPr>
        <p:spPr>
          <a:xfrm>
            <a:off x="640080" y="5760720"/>
            <a:ext cx="10911535" cy="640080"/>
          </a:xfrm>
          <a:prstGeom prst="roundRect">
            <a:avLst>
              <a:gd name="adj" fmla="val 1142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9" name="Text 17"/>
          <p:cNvSpPr txBox="1"/>
          <p:nvPr/>
        </p:nvSpPr>
        <p:spPr>
          <a:xfrm>
            <a:off x="868680" y="5760720"/>
            <a:ext cx="10454335" cy="64008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∂L/∂w = (∂L/∂a)·(∂a/∂z)·(∂z/∂w)</a:t>
            </a:r>
            <a:endParaRPr lang="en-US" sz="1700" dirty="0"/>
          </a:p>
        </p:txBody>
      </p:sp>
      <p:sp>
        <p:nvSpPr>
          <p:cNvPr id="20" name="Text 1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5/29</a:t>
            </a:r>
            <a:endParaRPr lang="en-US" sz="900" dirty="0"/>
          </a:p>
        </p:txBody>
      </p:sp>
      <p:sp>
        <p:nvSpPr>
          <p:cNvPr id="21" name="Shape 19"/>
          <p:cNvSpPr/>
          <p:nvPr/>
        </p:nvSpPr>
        <p:spPr>
          <a:xfrm>
            <a:off x="595503" y="6459093"/>
            <a:ext cx="89154" cy="89154"/>
          </a:xfrm>
          <a:prstGeom prst="ellipse">
            <a:avLst/>
          </a:prstGeom>
          <a:solidFill>
            <a:srgbClr val="285AB4"/>
          </a:solidFill>
          <a:ln/>
        </p:spPr>
      </p:sp>
      <p:sp>
        <p:nvSpPr>
          <p:cNvPr id="22" name="Shape 20"/>
          <p:cNvSpPr/>
          <p:nvPr/>
        </p:nvSpPr>
        <p:spPr>
          <a:xfrm>
            <a:off x="829818" y="6473952"/>
            <a:ext cx="59436" cy="59436"/>
          </a:xfrm>
          <a:prstGeom prst="ellipse">
            <a:avLst/>
          </a:prstGeom>
          <a:solidFill>
            <a:srgbClr val="D9DEE8"/>
          </a:solidFill>
          <a:ln/>
        </p:spPr>
      </p:sp>
      <p:sp>
        <p:nvSpPr>
          <p:cNvPr id="23" name="Shape 21"/>
          <p:cNvSpPr/>
          <p:nvPr/>
        </p:nvSpPr>
        <p:spPr>
          <a:xfrm>
            <a:off x="1049274" y="6473952"/>
            <a:ext cx="59436" cy="59436"/>
          </a:xfrm>
          <a:prstGeom prst="ellipse">
            <a:avLst/>
          </a:prstGeom>
          <a:solidFill>
            <a:srgbClr val="D9DEE8"/>
          </a:solidFill>
          <a:ln/>
        </p:spPr>
      </p:sp>
      <p:sp>
        <p:nvSpPr>
          <p:cNvPr id="24" name="Shape 22"/>
          <p:cNvSpPr/>
          <p:nvPr/>
        </p:nvSpPr>
        <p:spPr>
          <a:xfrm>
            <a:off x="1268730" y="6473952"/>
            <a:ext cx="59436" cy="59436"/>
          </a:xfrm>
          <a:prstGeom prst="ellipse">
            <a:avLst/>
          </a:prstGeom>
          <a:solidFill>
            <a:srgbClr val="D9DEE8"/>
          </a:solidFill>
          <a:ln/>
        </p:spPr>
      </p:sp>
      <p:sp>
        <p:nvSpPr>
          <p:cNvPr id="25" name="Text 2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NỀN TẢNG TOÁN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Computational Graph</a:t>
            </a:r>
            <a:endParaRPr lang="en-US" sz="2900" dirty="0"/>
          </a:p>
        </p:txBody>
      </p:sp>
      <p:sp>
        <p:nvSpPr>
          <p:cNvPr id="4" name="Text 2"/>
          <p:cNvSpPr txBox="1"/>
          <p:nvPr/>
        </p:nvSpPr>
        <p:spPr>
          <a:xfrm>
            <a:off x="640080" y="1874520"/>
            <a:ext cx="10911535" cy="1737360"/>
          </a:xfrm>
          <a:prstGeom prst="rect">
            <a:avLst/>
          </a:prstGeom>
          <a:noFill/>
          <a:ln/>
        </p:spPr>
        <p:txBody>
          <a:bodyPr wrap="square" lIns="0" tIns="0" rIns="0" bIns="0" rtlCol="0" anchor="t"/>
          <a:lstStyle/>
          <a:p>
            <a:pPr marL="228600" indent="-228600">
              <a:spcAft>
                <a:spcPts val="1200"/>
              </a:spcAft>
              <a:buSzPct val="100000"/>
              <a:buChar char="▪"/>
            </a:pPr>
            <a:r>
              <a:rPr lang="en-US" sz="1500" dirty="0">
                <a:solidFill>
                  <a:srgbClr val="1A2238"/>
                </a:solidFill>
                <a:latin typeface="Calibri" pitchFamily="34" charset="0"/>
                <a:ea typeface="Calibri" pitchFamily="34" charset="-122"/>
                <a:cs typeface="Calibri" pitchFamily="34" charset="-120"/>
              </a:rPr>
              <a:t>Mỗi nút = 1 phép toán; forward tính giá trị, backward nhân đạo hàm cục bộ</a:t>
            </a:r>
            <a:endParaRPr lang="en-US" sz="1500" dirty="0"/>
          </a:p>
          <a:p>
            <a:pPr marL="228600" indent="-228600">
              <a:spcAft>
                <a:spcPts val="1200"/>
              </a:spcAft>
              <a:buSzPct val="100000"/>
              <a:buChar char="▪"/>
            </a:pPr>
            <a:r>
              <a:rPr lang="en-US" sz="1500" dirty="0">
                <a:solidFill>
                  <a:srgbClr val="1A2238"/>
                </a:solidFill>
                <a:latin typeface="Calibri" pitchFamily="34" charset="0"/>
                <a:ea typeface="Calibri" pitchFamily="34" charset="-122"/>
                <a:cs typeface="Calibri" pitchFamily="34" charset="-120"/>
              </a:rPr>
              <a:t>Ví dụ: z=wx+b → a=ReLU(z) → L=½(a−y)²</a:t>
            </a:r>
            <a:endParaRPr lang="en-US" sz="1500" dirty="0"/>
          </a:p>
          <a:p>
            <a:pPr marL="228600" indent="-228600">
              <a:spcAft>
                <a:spcPts val="1200"/>
              </a:spcAft>
              <a:buSzPct val="100000"/>
              <a:buChar char="▪"/>
            </a:pPr>
            <a:r>
              <a:rPr lang="en-US" sz="1500" dirty="0">
                <a:solidFill>
                  <a:srgbClr val="1A2238"/>
                </a:solidFill>
                <a:latin typeface="Calibri" pitchFamily="34" charset="0"/>
                <a:ea typeface="Calibri" pitchFamily="34" charset="-122"/>
                <a:cs typeface="Calibri" pitchFamily="34" charset="-120"/>
              </a:rPr>
              <a:t>x=2, w=0.5, b=−0.3, y=1  ⇒  L=0.045</a:t>
            </a:r>
            <a:endParaRPr lang="en-US" sz="1500" dirty="0"/>
          </a:p>
          <a:p>
            <a:pPr marL="228600" indent="-228600">
              <a:spcAft>
                <a:spcPts val="1200"/>
              </a:spcAft>
              <a:buSzPct val="100000"/>
              <a:buChar char="▪"/>
            </a:pPr>
            <a:r>
              <a:rPr lang="en-US" sz="1500" dirty="0">
                <a:solidFill>
                  <a:srgbClr val="1A2238"/>
                </a:solidFill>
                <a:latin typeface="Calibri" pitchFamily="34" charset="0"/>
                <a:ea typeface="Calibri" pitchFamily="34" charset="-122"/>
                <a:cs typeface="Calibri" pitchFamily="34" charset="-120"/>
              </a:rPr>
              <a:t>∂L/∂w = −0.6  (khớp PyTorch autograd &amp; finite-difference tuyệt đối)</a:t>
            </a:r>
            <a:endParaRPr lang="en-US" sz="1500" dirty="0"/>
          </a:p>
        </p:txBody>
      </p:sp>
      <p:sp>
        <p:nvSpPr>
          <p:cNvPr id="5" name="Shape 3"/>
          <p:cNvSpPr/>
          <p:nvPr/>
        </p:nvSpPr>
        <p:spPr>
          <a:xfrm>
            <a:off x="2461108" y="3749040"/>
            <a:ext cx="1234440" cy="640080"/>
          </a:xfrm>
          <a:prstGeom prst="roundRect">
            <a:avLst>
              <a:gd name="adj" fmla="val 8571"/>
            </a:avLst>
          </a:prstGeom>
          <a:solidFill>
            <a:srgbClr val="FFFFFF"/>
          </a:solidFill>
          <a:ln w="15875">
            <a:solidFill>
              <a:srgbClr val="1A2238"/>
            </a:solidFill>
            <a:prstDash val="solid"/>
          </a:ln>
        </p:spPr>
      </p:sp>
      <p:sp>
        <p:nvSpPr>
          <p:cNvPr id="6" name="Text 4"/>
          <p:cNvSpPr txBox="1"/>
          <p:nvPr/>
        </p:nvSpPr>
        <p:spPr>
          <a:xfrm>
            <a:off x="2461108" y="3749040"/>
            <a:ext cx="1234440" cy="640080"/>
          </a:xfrm>
          <a:prstGeom prst="rect">
            <a:avLst/>
          </a:prstGeom>
          <a:noFill/>
          <a:ln/>
        </p:spPr>
        <p:txBody>
          <a:bodyPr wrap="square" lIns="0" tIns="0" rIns="0" bIns="0" rtlCol="0" anchor="ctr"/>
          <a:lstStyle/>
          <a:p>
            <a:pPr algn="ctr" indent="0" marL="0">
              <a:buNone/>
            </a:pPr>
            <a:r>
              <a:rPr lang="en-US" sz="1500" dirty="0">
                <a:solidFill>
                  <a:srgbClr val="1A2238"/>
                </a:solidFill>
                <a:latin typeface="Cambria Math" pitchFamily="34" charset="0"/>
                <a:ea typeface="Cambria Math" pitchFamily="34" charset="-122"/>
                <a:cs typeface="Cambria Math" pitchFamily="34" charset="-120"/>
              </a:rPr>
              <a:t>x</a:t>
            </a:r>
            <a:endParaRPr lang="en-US" sz="1500" dirty="0"/>
          </a:p>
        </p:txBody>
      </p:sp>
      <p:sp>
        <p:nvSpPr>
          <p:cNvPr id="7" name="Shape 5"/>
          <p:cNvSpPr/>
          <p:nvPr/>
        </p:nvSpPr>
        <p:spPr>
          <a:xfrm>
            <a:off x="4472788" y="3749040"/>
            <a:ext cx="1234440" cy="640080"/>
          </a:xfrm>
          <a:prstGeom prst="roundRect">
            <a:avLst>
              <a:gd name="adj" fmla="val 8571"/>
            </a:avLst>
          </a:prstGeom>
          <a:solidFill>
            <a:srgbClr val="FFFFFF"/>
          </a:solidFill>
          <a:ln w="15875">
            <a:solidFill>
              <a:srgbClr val="1A2238"/>
            </a:solidFill>
            <a:prstDash val="solid"/>
          </a:ln>
        </p:spPr>
      </p:sp>
      <p:sp>
        <p:nvSpPr>
          <p:cNvPr id="8" name="Text 6"/>
          <p:cNvSpPr txBox="1"/>
          <p:nvPr/>
        </p:nvSpPr>
        <p:spPr>
          <a:xfrm>
            <a:off x="4472788" y="3749040"/>
            <a:ext cx="1234440" cy="640080"/>
          </a:xfrm>
          <a:prstGeom prst="rect">
            <a:avLst/>
          </a:prstGeom>
          <a:noFill/>
          <a:ln/>
        </p:spPr>
        <p:txBody>
          <a:bodyPr wrap="square" lIns="0" tIns="0" rIns="0" bIns="0" rtlCol="0" anchor="ctr"/>
          <a:lstStyle/>
          <a:p>
            <a:pPr algn="ctr" indent="0" marL="0">
              <a:buNone/>
            </a:pPr>
            <a:r>
              <a:rPr lang="en-US" sz="1500" dirty="0">
                <a:solidFill>
                  <a:srgbClr val="1A2238"/>
                </a:solidFill>
                <a:latin typeface="Cambria Math" pitchFamily="34" charset="0"/>
                <a:ea typeface="Cambria Math" pitchFamily="34" charset="-122"/>
                <a:cs typeface="Cambria Math" pitchFamily="34" charset="-120"/>
              </a:rPr>
              <a:t>z</a:t>
            </a:r>
            <a:endParaRPr lang="en-US" sz="1500" dirty="0"/>
          </a:p>
        </p:txBody>
      </p:sp>
      <p:sp>
        <p:nvSpPr>
          <p:cNvPr id="9" name="Shape 7"/>
          <p:cNvSpPr/>
          <p:nvPr/>
        </p:nvSpPr>
        <p:spPr>
          <a:xfrm>
            <a:off x="6484468" y="3749040"/>
            <a:ext cx="1234440" cy="640080"/>
          </a:xfrm>
          <a:prstGeom prst="roundRect">
            <a:avLst>
              <a:gd name="adj" fmla="val 8571"/>
            </a:avLst>
          </a:prstGeom>
          <a:solidFill>
            <a:srgbClr val="FFFFFF"/>
          </a:solidFill>
          <a:ln w="15875">
            <a:solidFill>
              <a:srgbClr val="1A2238"/>
            </a:solidFill>
            <a:prstDash val="solid"/>
          </a:ln>
        </p:spPr>
      </p:sp>
      <p:sp>
        <p:nvSpPr>
          <p:cNvPr id="10" name="Text 8"/>
          <p:cNvSpPr txBox="1"/>
          <p:nvPr/>
        </p:nvSpPr>
        <p:spPr>
          <a:xfrm>
            <a:off x="6484468" y="3749040"/>
            <a:ext cx="1234440" cy="640080"/>
          </a:xfrm>
          <a:prstGeom prst="rect">
            <a:avLst/>
          </a:prstGeom>
          <a:noFill/>
          <a:ln/>
        </p:spPr>
        <p:txBody>
          <a:bodyPr wrap="square" lIns="0" tIns="0" rIns="0" bIns="0" rtlCol="0" anchor="ctr"/>
          <a:lstStyle/>
          <a:p>
            <a:pPr algn="ctr" indent="0" marL="0">
              <a:buNone/>
            </a:pPr>
            <a:r>
              <a:rPr lang="en-US" sz="1500" dirty="0">
                <a:solidFill>
                  <a:srgbClr val="1A2238"/>
                </a:solidFill>
                <a:latin typeface="Cambria Math" pitchFamily="34" charset="0"/>
                <a:ea typeface="Cambria Math" pitchFamily="34" charset="-122"/>
                <a:cs typeface="Cambria Math" pitchFamily="34" charset="-120"/>
              </a:rPr>
              <a:t>a</a:t>
            </a:r>
            <a:endParaRPr lang="en-US" sz="1500" dirty="0"/>
          </a:p>
        </p:txBody>
      </p:sp>
      <p:sp>
        <p:nvSpPr>
          <p:cNvPr id="11" name="Shape 9"/>
          <p:cNvSpPr/>
          <p:nvPr/>
        </p:nvSpPr>
        <p:spPr>
          <a:xfrm>
            <a:off x="8496148" y="3749040"/>
            <a:ext cx="1234440" cy="640080"/>
          </a:xfrm>
          <a:prstGeom prst="roundRect">
            <a:avLst>
              <a:gd name="adj" fmla="val 8571"/>
            </a:avLst>
          </a:prstGeom>
          <a:solidFill>
            <a:srgbClr val="FFFFFF"/>
          </a:solidFill>
          <a:ln w="15875">
            <a:solidFill>
              <a:srgbClr val="1A2238"/>
            </a:solidFill>
            <a:prstDash val="solid"/>
          </a:ln>
        </p:spPr>
      </p:sp>
      <p:sp>
        <p:nvSpPr>
          <p:cNvPr id="12" name="Text 10"/>
          <p:cNvSpPr txBox="1"/>
          <p:nvPr/>
        </p:nvSpPr>
        <p:spPr>
          <a:xfrm>
            <a:off x="8496148" y="3749040"/>
            <a:ext cx="1234440" cy="640080"/>
          </a:xfrm>
          <a:prstGeom prst="rect">
            <a:avLst/>
          </a:prstGeom>
          <a:noFill/>
          <a:ln/>
        </p:spPr>
        <p:txBody>
          <a:bodyPr wrap="square" lIns="0" tIns="0" rIns="0" bIns="0" rtlCol="0" anchor="ctr"/>
          <a:lstStyle/>
          <a:p>
            <a:pPr algn="ctr" indent="0" marL="0">
              <a:buNone/>
            </a:pPr>
            <a:r>
              <a:rPr lang="en-US" sz="1500" dirty="0">
                <a:solidFill>
                  <a:srgbClr val="1A2238"/>
                </a:solidFill>
                <a:latin typeface="Cambria Math" pitchFamily="34" charset="0"/>
                <a:ea typeface="Cambria Math" pitchFamily="34" charset="-122"/>
                <a:cs typeface="Cambria Math" pitchFamily="34" charset="-120"/>
              </a:rPr>
              <a:t>L</a:t>
            </a:r>
            <a:endParaRPr lang="en-US" sz="1500" dirty="0"/>
          </a:p>
        </p:txBody>
      </p:sp>
      <p:sp>
        <p:nvSpPr>
          <p:cNvPr id="13" name="Shape 11"/>
          <p:cNvSpPr/>
          <p:nvPr/>
        </p:nvSpPr>
        <p:spPr>
          <a:xfrm>
            <a:off x="3695548" y="4069080"/>
            <a:ext cx="777240" cy="0"/>
          </a:xfrm>
          <a:prstGeom prst="line">
            <a:avLst/>
          </a:prstGeom>
          <a:noFill/>
          <a:ln w="28575">
            <a:solidFill>
              <a:srgbClr val="285AB4"/>
            </a:solidFill>
            <a:prstDash val="solid"/>
            <a:tailEnd type="triangle"/>
          </a:ln>
        </p:spPr>
      </p:sp>
      <p:sp>
        <p:nvSpPr>
          <p:cNvPr id="14" name="Text 12"/>
          <p:cNvSpPr txBox="1"/>
          <p:nvPr/>
        </p:nvSpPr>
        <p:spPr>
          <a:xfrm>
            <a:off x="3078328" y="3364992"/>
            <a:ext cx="201168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Cambria Math" pitchFamily="34" charset="0"/>
                <a:ea typeface="Cambria Math" pitchFamily="34" charset="-122"/>
                <a:cs typeface="Cambria Math" pitchFamily="34" charset="-120"/>
              </a:rPr>
              <a:t>z=wx+b</a:t>
            </a:r>
            <a:endParaRPr lang="en-US" sz="1100" dirty="0"/>
          </a:p>
        </p:txBody>
      </p:sp>
      <p:sp>
        <p:nvSpPr>
          <p:cNvPr id="15" name="Shape 13"/>
          <p:cNvSpPr/>
          <p:nvPr/>
        </p:nvSpPr>
        <p:spPr>
          <a:xfrm>
            <a:off x="5707228" y="4069080"/>
            <a:ext cx="777240" cy="0"/>
          </a:xfrm>
          <a:prstGeom prst="line">
            <a:avLst/>
          </a:prstGeom>
          <a:noFill/>
          <a:ln w="28575">
            <a:solidFill>
              <a:srgbClr val="285AB4"/>
            </a:solidFill>
            <a:prstDash val="solid"/>
            <a:tailEnd type="triangle"/>
          </a:ln>
        </p:spPr>
      </p:sp>
      <p:sp>
        <p:nvSpPr>
          <p:cNvPr id="16" name="Text 14"/>
          <p:cNvSpPr txBox="1"/>
          <p:nvPr/>
        </p:nvSpPr>
        <p:spPr>
          <a:xfrm>
            <a:off x="5090008" y="3364992"/>
            <a:ext cx="201168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Cambria Math" pitchFamily="34" charset="0"/>
                <a:ea typeface="Cambria Math" pitchFamily="34" charset="-122"/>
                <a:cs typeface="Cambria Math" pitchFamily="34" charset="-120"/>
              </a:rPr>
              <a:t>a=ReLU(z)</a:t>
            </a:r>
            <a:endParaRPr lang="en-US" sz="1100" dirty="0"/>
          </a:p>
        </p:txBody>
      </p:sp>
      <p:sp>
        <p:nvSpPr>
          <p:cNvPr id="17" name="Shape 15"/>
          <p:cNvSpPr/>
          <p:nvPr/>
        </p:nvSpPr>
        <p:spPr>
          <a:xfrm>
            <a:off x="7718908" y="4069080"/>
            <a:ext cx="777240" cy="0"/>
          </a:xfrm>
          <a:prstGeom prst="line">
            <a:avLst/>
          </a:prstGeom>
          <a:noFill/>
          <a:ln w="28575">
            <a:solidFill>
              <a:srgbClr val="285AB4"/>
            </a:solidFill>
            <a:prstDash val="solid"/>
            <a:tailEnd type="triangle"/>
          </a:ln>
        </p:spPr>
      </p:sp>
      <p:sp>
        <p:nvSpPr>
          <p:cNvPr id="18" name="Text 16"/>
          <p:cNvSpPr txBox="1"/>
          <p:nvPr/>
        </p:nvSpPr>
        <p:spPr>
          <a:xfrm>
            <a:off x="7101688" y="3364992"/>
            <a:ext cx="201168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Cambria Math" pitchFamily="34" charset="0"/>
                <a:ea typeface="Cambria Math" pitchFamily="34" charset="-122"/>
                <a:cs typeface="Cambria Math" pitchFamily="34" charset="-120"/>
              </a:rPr>
              <a:t>L=½(a−y)²</a:t>
            </a:r>
            <a:endParaRPr lang="en-US" sz="1100" dirty="0"/>
          </a:p>
        </p:txBody>
      </p:sp>
      <p:sp>
        <p:nvSpPr>
          <p:cNvPr id="19" name="Shape 17"/>
          <p:cNvSpPr/>
          <p:nvPr/>
        </p:nvSpPr>
        <p:spPr>
          <a:xfrm>
            <a:off x="7718908" y="4892040"/>
            <a:ext cx="777240" cy="0"/>
          </a:xfrm>
          <a:prstGeom prst="line">
            <a:avLst/>
          </a:prstGeom>
          <a:noFill/>
          <a:ln w="28575">
            <a:solidFill>
              <a:srgbClr val="BE3C32"/>
            </a:solidFill>
            <a:prstDash val="dash"/>
            <a:headEnd type="triangle"/>
          </a:ln>
        </p:spPr>
      </p:sp>
      <p:sp>
        <p:nvSpPr>
          <p:cNvPr id="20" name="Shape 18"/>
          <p:cNvSpPr/>
          <p:nvPr/>
        </p:nvSpPr>
        <p:spPr>
          <a:xfrm>
            <a:off x="5707228" y="4892040"/>
            <a:ext cx="777240" cy="0"/>
          </a:xfrm>
          <a:prstGeom prst="line">
            <a:avLst/>
          </a:prstGeom>
          <a:noFill/>
          <a:ln w="28575">
            <a:solidFill>
              <a:srgbClr val="BE3C32"/>
            </a:solidFill>
            <a:prstDash val="dash"/>
            <a:headEnd type="triangle"/>
          </a:ln>
        </p:spPr>
      </p:sp>
      <p:sp>
        <p:nvSpPr>
          <p:cNvPr id="21" name="Shape 19"/>
          <p:cNvSpPr/>
          <p:nvPr/>
        </p:nvSpPr>
        <p:spPr>
          <a:xfrm>
            <a:off x="3695548" y="4892040"/>
            <a:ext cx="777240" cy="0"/>
          </a:xfrm>
          <a:prstGeom prst="line">
            <a:avLst/>
          </a:prstGeom>
          <a:noFill/>
          <a:ln w="28575">
            <a:solidFill>
              <a:srgbClr val="BE3C32"/>
            </a:solidFill>
            <a:prstDash val="dash"/>
            <a:headEnd type="triangle"/>
          </a:ln>
        </p:spPr>
      </p:sp>
      <p:sp>
        <p:nvSpPr>
          <p:cNvPr id="22" name="Text 20"/>
          <p:cNvSpPr txBox="1"/>
          <p:nvPr/>
        </p:nvSpPr>
        <p:spPr>
          <a:xfrm>
            <a:off x="3078328" y="4983480"/>
            <a:ext cx="2011680" cy="274320"/>
          </a:xfrm>
          <a:prstGeom prst="rect">
            <a:avLst/>
          </a:prstGeom>
          <a:noFill/>
          <a:ln/>
        </p:spPr>
        <p:txBody>
          <a:bodyPr wrap="square" lIns="0" tIns="0" rIns="0" bIns="0" rtlCol="0" anchor="ctr"/>
          <a:lstStyle/>
          <a:p>
            <a:pPr algn="ctr" indent="0" marL="0">
              <a:buNone/>
            </a:pPr>
            <a:r>
              <a:rPr lang="en-US" sz="1100" dirty="0">
                <a:solidFill>
                  <a:srgbClr val="BE3C32"/>
                </a:solidFill>
                <a:latin typeface="Cambria Math" pitchFamily="34" charset="0"/>
                <a:ea typeface="Cambria Math" pitchFamily="34" charset="-122"/>
                <a:cs typeface="Cambria Math" pitchFamily="34" charset="-120"/>
              </a:rPr>
              <a:t>∂L/∂z</a:t>
            </a:r>
            <a:endParaRPr lang="en-US" sz="1100" dirty="0"/>
          </a:p>
        </p:txBody>
      </p:sp>
      <p:sp>
        <p:nvSpPr>
          <p:cNvPr id="23" name="Text 21"/>
          <p:cNvSpPr txBox="1"/>
          <p:nvPr/>
        </p:nvSpPr>
        <p:spPr>
          <a:xfrm>
            <a:off x="5090008" y="4983480"/>
            <a:ext cx="2011680" cy="274320"/>
          </a:xfrm>
          <a:prstGeom prst="rect">
            <a:avLst/>
          </a:prstGeom>
          <a:noFill/>
          <a:ln/>
        </p:spPr>
        <p:txBody>
          <a:bodyPr wrap="square" lIns="0" tIns="0" rIns="0" bIns="0" rtlCol="0" anchor="ctr"/>
          <a:lstStyle/>
          <a:p>
            <a:pPr algn="ctr" indent="0" marL="0">
              <a:buNone/>
            </a:pPr>
            <a:r>
              <a:rPr lang="en-US" sz="1100" dirty="0">
                <a:solidFill>
                  <a:srgbClr val="BE3C32"/>
                </a:solidFill>
                <a:latin typeface="Cambria Math" pitchFamily="34" charset="0"/>
                <a:ea typeface="Cambria Math" pitchFamily="34" charset="-122"/>
                <a:cs typeface="Cambria Math" pitchFamily="34" charset="-120"/>
              </a:rPr>
              <a:t>∂L/∂a</a:t>
            </a:r>
            <a:endParaRPr lang="en-US" sz="1100" dirty="0"/>
          </a:p>
        </p:txBody>
      </p:sp>
      <p:sp>
        <p:nvSpPr>
          <p:cNvPr id="24" name="Text 22"/>
          <p:cNvSpPr txBox="1"/>
          <p:nvPr/>
        </p:nvSpPr>
        <p:spPr>
          <a:xfrm>
            <a:off x="7101688" y="4983480"/>
            <a:ext cx="2011680" cy="274320"/>
          </a:xfrm>
          <a:prstGeom prst="rect">
            <a:avLst/>
          </a:prstGeom>
          <a:noFill/>
          <a:ln/>
        </p:spPr>
        <p:txBody>
          <a:bodyPr wrap="square" lIns="0" tIns="0" rIns="0" bIns="0" rtlCol="0" anchor="ctr"/>
          <a:lstStyle/>
          <a:p>
            <a:pPr algn="ctr" indent="0" marL="0">
              <a:buNone/>
            </a:pPr>
            <a:r>
              <a:rPr lang="en-US" sz="1100" dirty="0">
                <a:solidFill>
                  <a:srgbClr val="BE3C32"/>
                </a:solidFill>
                <a:latin typeface="Cambria Math" pitchFamily="34" charset="0"/>
                <a:ea typeface="Cambria Math" pitchFamily="34" charset="-122"/>
                <a:cs typeface="Cambria Math" pitchFamily="34" charset="-120"/>
              </a:rPr>
              <a:t>∂L/∂L=1</a:t>
            </a:r>
            <a:endParaRPr lang="en-US" sz="1100" dirty="0"/>
          </a:p>
        </p:txBody>
      </p:sp>
      <p:sp>
        <p:nvSpPr>
          <p:cNvPr id="25" name="Text 23"/>
          <p:cNvSpPr txBox="1"/>
          <p:nvPr/>
        </p:nvSpPr>
        <p:spPr>
          <a:xfrm>
            <a:off x="640080" y="5989320"/>
            <a:ext cx="10911535" cy="320040"/>
          </a:xfrm>
          <a:prstGeom prst="rect">
            <a:avLst/>
          </a:prstGeom>
          <a:noFill/>
          <a:ln/>
        </p:spPr>
        <p:txBody>
          <a:bodyPr wrap="square" lIns="0" tIns="0" rIns="0" bIns="0"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mũi tên xanh = forward   ·   mũi tên đỏ đứt = backward</a:t>
            </a:r>
            <a:endParaRPr lang="en-US" sz="1100" dirty="0"/>
          </a:p>
        </p:txBody>
      </p:sp>
      <p:sp>
        <p:nvSpPr>
          <p:cNvPr id="26" name="Text 2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6/29</a:t>
            </a:r>
            <a:endParaRPr lang="en-US" sz="900" dirty="0"/>
          </a:p>
        </p:txBody>
      </p:sp>
      <p:sp>
        <p:nvSpPr>
          <p:cNvPr id="27" name="Shape 25"/>
          <p:cNvSpPr/>
          <p:nvPr/>
        </p:nvSpPr>
        <p:spPr>
          <a:xfrm>
            <a:off x="595503" y="6459093"/>
            <a:ext cx="89154" cy="89154"/>
          </a:xfrm>
          <a:prstGeom prst="ellipse">
            <a:avLst/>
          </a:prstGeom>
          <a:solidFill>
            <a:srgbClr val="285AB4"/>
          </a:solidFill>
          <a:ln/>
        </p:spPr>
      </p:sp>
      <p:sp>
        <p:nvSpPr>
          <p:cNvPr id="28" name="Shape 26"/>
          <p:cNvSpPr/>
          <p:nvPr/>
        </p:nvSpPr>
        <p:spPr>
          <a:xfrm>
            <a:off x="829818" y="6473952"/>
            <a:ext cx="59436" cy="59436"/>
          </a:xfrm>
          <a:prstGeom prst="ellipse">
            <a:avLst/>
          </a:prstGeom>
          <a:solidFill>
            <a:srgbClr val="D9DEE8"/>
          </a:solidFill>
          <a:ln/>
        </p:spPr>
      </p:sp>
      <p:sp>
        <p:nvSpPr>
          <p:cNvPr id="29" name="Shape 27"/>
          <p:cNvSpPr/>
          <p:nvPr/>
        </p:nvSpPr>
        <p:spPr>
          <a:xfrm>
            <a:off x="1049274" y="6473952"/>
            <a:ext cx="59436" cy="59436"/>
          </a:xfrm>
          <a:prstGeom prst="ellipse">
            <a:avLst/>
          </a:prstGeom>
          <a:solidFill>
            <a:srgbClr val="D9DEE8"/>
          </a:solidFill>
          <a:ln/>
        </p:spPr>
      </p:sp>
      <p:sp>
        <p:nvSpPr>
          <p:cNvPr id="30" name="Shape 28"/>
          <p:cNvSpPr/>
          <p:nvPr/>
        </p:nvSpPr>
        <p:spPr>
          <a:xfrm>
            <a:off x="1268730" y="6473952"/>
            <a:ext cx="59436" cy="59436"/>
          </a:xfrm>
          <a:prstGeom prst="ellipse">
            <a:avLst/>
          </a:prstGeom>
          <a:solidFill>
            <a:srgbClr val="D9DEE8"/>
          </a:solidFill>
          <a:ln/>
        </p:spPr>
      </p:sp>
      <p:sp>
        <p:nvSpPr>
          <p:cNvPr id="31" name="Text 2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NỀN TẢNG TOÁN HỌC</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Lan truyền tiến (Forward Propagation)</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1900" dirty="0">
                <a:solidFill>
                  <a:srgbClr val="16213E"/>
                </a:solidFill>
                <a:latin typeface="Cambria Math" pitchFamily="34" charset="0"/>
                <a:ea typeface="Cambria Math" pitchFamily="34" charset="-122"/>
                <a:cs typeface="Cambria Math" pitchFamily="34" charset="-120"/>
              </a:rPr>
              <a:t>z⁽ˡ⁾ = W⁽ˡ⁾a⁽ˡ⁻¹⁾ + b⁽ˡ⁾        a⁽ˡ⁾ = f(z⁽ˡ⁾)</a:t>
            </a:r>
            <a:endParaRPr lang="en-US" sz="1900" dirty="0"/>
          </a:p>
        </p:txBody>
      </p:sp>
      <p:sp>
        <p:nvSpPr>
          <p:cNvPr id="6" name="Text 4"/>
          <p:cNvSpPr txBox="1"/>
          <p:nvPr/>
        </p:nvSpPr>
        <p:spPr>
          <a:xfrm>
            <a:off x="640080" y="2834640"/>
            <a:ext cx="10911535" cy="3017520"/>
          </a:xfrm>
          <a:prstGeom prst="rect">
            <a:avLst/>
          </a:prstGeom>
          <a:noFill/>
          <a:ln/>
        </p:spPr>
        <p:txBody>
          <a:bodyPr wrap="square" lIns="0" tIns="0" rIns="0" bIns="0" rtlCol="0" anchor="t"/>
          <a:lstStyle/>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Lặp lại “nhân ma trận → cộng bias → activation” qua từng lớp</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Lớp cuối (classification) thường KHÔNG qua activation phi tuyến — giữ logits thô để Cross-Entropy tự áp dụng softmax bên trong</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Forward KHÔNG liên quan gradient — chỉ tính và LƯU LẠI giá trị trung gian</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PyTorch autograd giữ đúng các giá trị này trong một computational graph ngầm suốt forward pass</a:t>
            </a:r>
            <a:endParaRPr lang="en-US" sz="155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7/29</a:t>
            </a:r>
            <a:endParaRPr lang="en-US" sz="900" dirty="0"/>
          </a:p>
        </p:txBody>
      </p:sp>
      <p:sp>
        <p:nvSpPr>
          <p:cNvPr id="8" name="Shape 6"/>
          <p:cNvSpPr/>
          <p:nvPr/>
        </p:nvSpPr>
        <p:spPr>
          <a:xfrm>
            <a:off x="595503" y="6459093"/>
            <a:ext cx="89154" cy="89154"/>
          </a:xfrm>
          <a:prstGeom prst="ellipse">
            <a:avLst/>
          </a:prstGeom>
          <a:solidFill>
            <a:srgbClr val="285AB4"/>
          </a:solidFill>
          <a:ln/>
        </p:spPr>
      </p:sp>
      <p:sp>
        <p:nvSpPr>
          <p:cNvPr id="9" name="Shape 7"/>
          <p:cNvSpPr/>
          <p:nvPr/>
        </p:nvSpPr>
        <p:spPr>
          <a:xfrm>
            <a:off x="829818" y="6473952"/>
            <a:ext cx="59436" cy="59436"/>
          </a:xfrm>
          <a:prstGeom prst="ellipse">
            <a:avLst/>
          </a:prstGeom>
          <a:solidFill>
            <a:srgbClr val="D9DEE8"/>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Trực giác: không phải thuật toán thần kỳ</a:t>
            </a:r>
            <a:endParaRPr lang="en-US" sz="2900" dirty="0"/>
          </a:p>
        </p:txBody>
      </p:sp>
      <p:sp>
        <p:nvSpPr>
          <p:cNvPr id="4" name="Text 2"/>
          <p:cNvSpPr txBox="1"/>
          <p:nvPr/>
        </p:nvSpPr>
        <p:spPr>
          <a:xfrm>
            <a:off x="640080" y="1920240"/>
            <a:ext cx="10911535" cy="1737360"/>
          </a:xfrm>
          <a:prstGeom prst="rect">
            <a:avLst/>
          </a:prstGeom>
          <a:noFill/>
          <a:ln/>
        </p:spPr>
        <p:txBody>
          <a:bodyPr wrap="square" lIns="0" tIns="0" rIns="0" bIns="0" rtlCol="0" anchor="t"/>
          <a:lstStyle/>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Backprop = Chain Rule áp dụng CÓ HỆ THỐNG trên computational graph</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Đi ngược từ Loss: mỗi bước hỏi “khuếch đại/giảm lỗi bao nhiêu?”</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Tận dụng giá trị forward đã lưu (cache) — không tính lại từ đầu</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Phổ biến bởi Rumelhart, Hinton &amp; Williams (1986)</a:t>
            </a:r>
            <a:endParaRPr lang="en-US" sz="1650" dirty="0"/>
          </a:p>
        </p:txBody>
      </p:sp>
      <p:sp>
        <p:nvSpPr>
          <p:cNvPr id="5" name="Shape 3"/>
          <p:cNvSpPr/>
          <p:nvPr/>
        </p:nvSpPr>
        <p:spPr>
          <a:xfrm>
            <a:off x="2232508" y="4160520"/>
            <a:ext cx="1554480" cy="685800"/>
          </a:xfrm>
          <a:prstGeom prst="roundRect">
            <a:avLst>
              <a:gd name="adj" fmla="val 8000"/>
            </a:avLst>
          </a:prstGeom>
          <a:solidFill>
            <a:srgbClr val="FFFFFF"/>
          </a:solidFill>
          <a:ln w="15875">
            <a:solidFill>
              <a:srgbClr val="1A2238"/>
            </a:solidFill>
            <a:prstDash val="solid"/>
          </a:ln>
        </p:spPr>
      </p:sp>
      <p:sp>
        <p:nvSpPr>
          <p:cNvPr id="6" name="Text 4"/>
          <p:cNvSpPr txBox="1"/>
          <p:nvPr/>
        </p:nvSpPr>
        <p:spPr>
          <a:xfrm>
            <a:off x="2232508" y="4160520"/>
            <a:ext cx="1554480" cy="68580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Công đoạn 1</a:t>
            </a:r>
            <a:endParaRPr lang="en-US" sz="1200" dirty="0"/>
          </a:p>
        </p:txBody>
      </p:sp>
      <p:sp>
        <p:nvSpPr>
          <p:cNvPr id="7" name="Shape 5"/>
          <p:cNvSpPr/>
          <p:nvPr/>
        </p:nvSpPr>
        <p:spPr>
          <a:xfrm>
            <a:off x="4289908" y="4160520"/>
            <a:ext cx="1554480" cy="685800"/>
          </a:xfrm>
          <a:prstGeom prst="roundRect">
            <a:avLst>
              <a:gd name="adj" fmla="val 8000"/>
            </a:avLst>
          </a:prstGeom>
          <a:solidFill>
            <a:srgbClr val="FFFFFF"/>
          </a:solidFill>
          <a:ln w="15875">
            <a:solidFill>
              <a:srgbClr val="1A2238"/>
            </a:solidFill>
            <a:prstDash val="solid"/>
          </a:ln>
        </p:spPr>
      </p:sp>
      <p:sp>
        <p:nvSpPr>
          <p:cNvPr id="8" name="Text 6"/>
          <p:cNvSpPr txBox="1"/>
          <p:nvPr/>
        </p:nvSpPr>
        <p:spPr>
          <a:xfrm>
            <a:off x="4289908" y="4160520"/>
            <a:ext cx="1554480" cy="68580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Công đoạn 2</a:t>
            </a:r>
            <a:endParaRPr lang="en-US" sz="1200" dirty="0"/>
          </a:p>
        </p:txBody>
      </p:sp>
      <p:sp>
        <p:nvSpPr>
          <p:cNvPr id="9" name="Shape 7"/>
          <p:cNvSpPr/>
          <p:nvPr/>
        </p:nvSpPr>
        <p:spPr>
          <a:xfrm>
            <a:off x="6347308" y="4160520"/>
            <a:ext cx="1554480" cy="685800"/>
          </a:xfrm>
          <a:prstGeom prst="roundRect">
            <a:avLst>
              <a:gd name="adj" fmla="val 8000"/>
            </a:avLst>
          </a:prstGeom>
          <a:solidFill>
            <a:srgbClr val="FFFFFF"/>
          </a:solidFill>
          <a:ln w="15875">
            <a:solidFill>
              <a:srgbClr val="1A2238"/>
            </a:solidFill>
            <a:prstDash val="solid"/>
          </a:ln>
        </p:spPr>
      </p:sp>
      <p:sp>
        <p:nvSpPr>
          <p:cNvPr id="10" name="Text 8"/>
          <p:cNvSpPr txBox="1"/>
          <p:nvPr/>
        </p:nvSpPr>
        <p:spPr>
          <a:xfrm>
            <a:off x="6347308" y="4160520"/>
            <a:ext cx="1554480" cy="68580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Công đoạn 3</a:t>
            </a:r>
            <a:endParaRPr lang="en-US" sz="1200" dirty="0"/>
          </a:p>
        </p:txBody>
      </p:sp>
      <p:sp>
        <p:nvSpPr>
          <p:cNvPr id="11" name="Shape 9"/>
          <p:cNvSpPr/>
          <p:nvPr/>
        </p:nvSpPr>
        <p:spPr>
          <a:xfrm>
            <a:off x="8404708" y="4160520"/>
            <a:ext cx="1554480" cy="685800"/>
          </a:xfrm>
          <a:prstGeom prst="roundRect">
            <a:avLst>
              <a:gd name="adj" fmla="val 8000"/>
            </a:avLst>
          </a:prstGeom>
          <a:solidFill>
            <a:srgbClr val="FBEEEC"/>
          </a:solidFill>
          <a:ln w="15875">
            <a:solidFill>
              <a:srgbClr val="BE3C32"/>
            </a:solidFill>
            <a:prstDash val="solid"/>
          </a:ln>
        </p:spPr>
      </p:sp>
      <p:sp>
        <p:nvSpPr>
          <p:cNvPr id="12" name="Text 10"/>
          <p:cNvSpPr txBox="1"/>
          <p:nvPr/>
        </p:nvSpPr>
        <p:spPr>
          <a:xfrm>
            <a:off x="8404708" y="4160520"/>
            <a:ext cx="1554480" cy="68580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Sản phẩm (lỗi)</a:t>
            </a:r>
            <a:endParaRPr lang="en-US" sz="1200" dirty="0"/>
          </a:p>
        </p:txBody>
      </p:sp>
      <p:sp>
        <p:nvSpPr>
          <p:cNvPr id="13" name="Shape 11"/>
          <p:cNvSpPr/>
          <p:nvPr/>
        </p:nvSpPr>
        <p:spPr>
          <a:xfrm>
            <a:off x="3786988" y="4503420"/>
            <a:ext cx="502920" cy="0"/>
          </a:xfrm>
          <a:prstGeom prst="line">
            <a:avLst/>
          </a:prstGeom>
          <a:noFill/>
          <a:ln w="28575">
            <a:solidFill>
              <a:srgbClr val="285AB4"/>
            </a:solidFill>
            <a:prstDash val="solid"/>
            <a:tailEnd type="triangle"/>
          </a:ln>
        </p:spPr>
      </p:sp>
      <p:sp>
        <p:nvSpPr>
          <p:cNvPr id="14" name="Shape 12"/>
          <p:cNvSpPr/>
          <p:nvPr/>
        </p:nvSpPr>
        <p:spPr>
          <a:xfrm>
            <a:off x="5844388" y="4503420"/>
            <a:ext cx="502920" cy="0"/>
          </a:xfrm>
          <a:prstGeom prst="line">
            <a:avLst/>
          </a:prstGeom>
          <a:noFill/>
          <a:ln w="28575">
            <a:solidFill>
              <a:srgbClr val="285AB4"/>
            </a:solidFill>
            <a:prstDash val="solid"/>
            <a:tailEnd type="triangle"/>
          </a:ln>
        </p:spPr>
      </p:sp>
      <p:sp>
        <p:nvSpPr>
          <p:cNvPr id="15" name="Shape 13"/>
          <p:cNvSpPr/>
          <p:nvPr/>
        </p:nvSpPr>
        <p:spPr>
          <a:xfrm>
            <a:off x="7901788" y="4503420"/>
            <a:ext cx="502920" cy="0"/>
          </a:xfrm>
          <a:prstGeom prst="line">
            <a:avLst/>
          </a:prstGeom>
          <a:noFill/>
          <a:ln w="28575">
            <a:solidFill>
              <a:srgbClr val="285AB4"/>
            </a:solidFill>
            <a:prstDash val="solid"/>
            <a:tailEnd type="triangle"/>
          </a:ln>
        </p:spPr>
      </p:sp>
      <p:sp>
        <p:nvSpPr>
          <p:cNvPr id="16" name="Shape 14"/>
          <p:cNvSpPr/>
          <p:nvPr/>
        </p:nvSpPr>
        <p:spPr>
          <a:xfrm>
            <a:off x="7901788" y="5303520"/>
            <a:ext cx="502920" cy="0"/>
          </a:xfrm>
          <a:prstGeom prst="line">
            <a:avLst/>
          </a:prstGeom>
          <a:noFill/>
          <a:ln w="28575">
            <a:solidFill>
              <a:srgbClr val="BE3C32"/>
            </a:solidFill>
            <a:prstDash val="dash"/>
            <a:headEnd type="triangle"/>
          </a:ln>
        </p:spPr>
      </p:sp>
      <p:sp>
        <p:nvSpPr>
          <p:cNvPr id="17" name="Shape 15"/>
          <p:cNvSpPr/>
          <p:nvPr/>
        </p:nvSpPr>
        <p:spPr>
          <a:xfrm>
            <a:off x="5844388" y="5303520"/>
            <a:ext cx="502920" cy="0"/>
          </a:xfrm>
          <a:prstGeom prst="line">
            <a:avLst/>
          </a:prstGeom>
          <a:noFill/>
          <a:ln w="28575">
            <a:solidFill>
              <a:srgbClr val="BE3C32"/>
            </a:solidFill>
            <a:prstDash val="dash"/>
            <a:headEnd type="triangle"/>
          </a:ln>
        </p:spPr>
      </p:sp>
      <p:sp>
        <p:nvSpPr>
          <p:cNvPr id="18" name="Shape 16"/>
          <p:cNvSpPr/>
          <p:nvPr/>
        </p:nvSpPr>
        <p:spPr>
          <a:xfrm>
            <a:off x="3786988" y="5303520"/>
            <a:ext cx="502920" cy="0"/>
          </a:xfrm>
          <a:prstGeom prst="line">
            <a:avLst/>
          </a:prstGeom>
          <a:noFill/>
          <a:ln w="28575">
            <a:solidFill>
              <a:srgbClr val="BE3C32"/>
            </a:solidFill>
            <a:prstDash val="dash"/>
            <a:headEnd type="triangle"/>
          </a:ln>
        </p:spPr>
      </p:sp>
      <p:sp>
        <p:nvSpPr>
          <p:cNvPr id="19" name="Text 17"/>
          <p:cNvSpPr txBox="1"/>
          <p:nvPr/>
        </p:nvSpPr>
        <p:spPr>
          <a:xfrm>
            <a:off x="640080" y="5413248"/>
            <a:ext cx="10911535" cy="320040"/>
          </a:xfrm>
          <a:prstGeom prst="rect">
            <a:avLst/>
          </a:prstGeom>
          <a:noFill/>
          <a:ln/>
        </p:spPr>
        <p:txBody>
          <a:bodyPr wrap="square" lIns="0" tIns="0" rIns="0" bIns="0" rtlCol="0" anchor="ctr"/>
          <a:lstStyle/>
          <a:p>
            <a:pPr algn="ctr" indent="0" marL="0">
              <a:buNone/>
            </a:pPr>
            <a:r>
              <a:rPr lang="en-US" sz="1200" i="1" dirty="0">
                <a:solidFill>
                  <a:srgbClr val="5B6478"/>
                </a:solidFill>
                <a:latin typeface="Calibri" pitchFamily="34" charset="0"/>
                <a:ea typeface="Calibri" pitchFamily="34" charset="-122"/>
                <a:cs typeface="Calibri" pitchFamily="34" charset="-120"/>
              </a:rPr>
              <a:t>“Công đoạn nào gây lỗi nhiều nhất?” — đi ngược, hỏi từng bước</a:t>
            </a:r>
            <a:endParaRPr lang="en-US" sz="1200" dirty="0"/>
          </a:p>
        </p:txBody>
      </p:sp>
      <p:sp>
        <p:nvSpPr>
          <p:cNvPr id="20" name="Text 18"/>
          <p:cNvSpPr txBox="1"/>
          <p:nvPr/>
        </p:nvSpPr>
        <p:spPr>
          <a:xfrm>
            <a:off x="640080" y="5806440"/>
            <a:ext cx="10911535" cy="274320"/>
          </a:xfrm>
          <a:prstGeom prst="rect">
            <a:avLst/>
          </a:prstGeom>
          <a:noFill/>
          <a:ln/>
        </p:spPr>
        <p:txBody>
          <a:bodyPr wrap="square" lIns="0" tIns="0" rIns="0" bIns="0" rtlCol="0" anchor="ctr"/>
          <a:lstStyle/>
          <a:p>
            <a:pPr algn="ctr" indent="0" marL="0">
              <a:buNone/>
            </a:pPr>
            <a:r>
              <a:rPr lang="en-US" sz="1050" i="1" dirty="0">
                <a:solidFill>
                  <a:srgbClr val="5B6478"/>
                </a:solidFill>
                <a:latin typeface="Calibri" pitchFamily="34" charset="0"/>
                <a:ea typeface="Calibri" pitchFamily="34" charset="-122"/>
                <a:cs typeface="Calibri" pitchFamily="34" charset="-120"/>
              </a:rPr>
              <a:t>mũi tên xanh = forward (sản xuất)   ·   mũi tên đỏ đứt = backward (truy lỗi)</a:t>
            </a:r>
            <a:endParaRPr lang="en-US" sz="1050" dirty="0"/>
          </a:p>
        </p:txBody>
      </p:sp>
      <p:sp>
        <p:nvSpPr>
          <p:cNvPr id="21" name="Text 19"/>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8/29</a:t>
            </a:r>
            <a:endParaRPr lang="en-US" sz="900" dirty="0"/>
          </a:p>
        </p:txBody>
      </p:sp>
      <p:sp>
        <p:nvSpPr>
          <p:cNvPr id="22" name="Shape 20"/>
          <p:cNvSpPr/>
          <p:nvPr/>
        </p:nvSpPr>
        <p:spPr>
          <a:xfrm>
            <a:off x="595503" y="6459093"/>
            <a:ext cx="89154" cy="89154"/>
          </a:xfrm>
          <a:prstGeom prst="ellipse">
            <a:avLst/>
          </a:prstGeom>
          <a:solidFill>
            <a:srgbClr val="285AB4"/>
          </a:solidFill>
          <a:ln/>
        </p:spPr>
      </p:sp>
      <p:sp>
        <p:nvSpPr>
          <p:cNvPr id="23" name="Shape 21"/>
          <p:cNvSpPr/>
          <p:nvPr/>
        </p:nvSpPr>
        <p:spPr>
          <a:xfrm>
            <a:off x="829818" y="6473952"/>
            <a:ext cx="59436" cy="59436"/>
          </a:xfrm>
          <a:prstGeom prst="ellipse">
            <a:avLst/>
          </a:prstGeom>
          <a:solidFill>
            <a:srgbClr val="D9DEE8"/>
          </a:solidFill>
          <a:ln/>
        </p:spPr>
      </p:sp>
      <p:sp>
        <p:nvSpPr>
          <p:cNvPr id="24" name="Shape 22"/>
          <p:cNvSpPr/>
          <p:nvPr/>
        </p:nvSpPr>
        <p:spPr>
          <a:xfrm>
            <a:off x="1049274" y="6473952"/>
            <a:ext cx="59436" cy="59436"/>
          </a:xfrm>
          <a:prstGeom prst="ellipse">
            <a:avLst/>
          </a:prstGeom>
          <a:solidFill>
            <a:srgbClr val="D9DEE8"/>
          </a:solidFill>
          <a:ln/>
        </p:spPr>
      </p:sp>
      <p:sp>
        <p:nvSpPr>
          <p:cNvPr id="25" name="Shape 23"/>
          <p:cNvSpPr/>
          <p:nvPr/>
        </p:nvSpPr>
        <p:spPr>
          <a:xfrm>
            <a:off x="1268730" y="6473952"/>
            <a:ext cx="59436" cy="59436"/>
          </a:xfrm>
          <a:prstGeom prst="ellipse">
            <a:avLst/>
          </a:prstGeom>
          <a:solidFill>
            <a:srgbClr val="D9DEE8"/>
          </a:solidFill>
          <a:ln/>
        </p:spPr>
      </p:sp>
      <p:sp>
        <p:nvSpPr>
          <p:cNvPr id="26" name="Text 24"/>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700" b="1" dirty="0">
                <a:solidFill>
                  <a:srgbClr val="1A2238"/>
                </a:solidFill>
                <a:latin typeface="Cambria" pitchFamily="34" charset="0"/>
                <a:ea typeface="Cambria" pitchFamily="34" charset="-122"/>
                <a:cs typeface="Cambria" pitchFamily="34" charset="-120"/>
              </a:rPr>
              <a:t>Suy ra gradient: mạng 2 lớp</a:t>
            </a:r>
            <a:endParaRPr lang="en-US" sz="2700" dirty="0"/>
          </a:p>
        </p:txBody>
      </p:sp>
      <p:sp>
        <p:nvSpPr>
          <p:cNvPr id="4" name="Shape 2"/>
          <p:cNvSpPr/>
          <p:nvPr/>
        </p:nvSpPr>
        <p:spPr>
          <a:xfrm>
            <a:off x="640080" y="1920240"/>
            <a:ext cx="822960" cy="566928"/>
          </a:xfrm>
          <a:prstGeom prst="roundRect">
            <a:avLst>
              <a:gd name="adj" fmla="val 9677"/>
            </a:avLst>
          </a:prstGeom>
          <a:solidFill>
            <a:srgbClr val="FFFFFF"/>
          </a:solidFill>
          <a:ln w="15875">
            <a:solidFill>
              <a:srgbClr val="1A2238"/>
            </a:solidFill>
            <a:prstDash val="solid"/>
          </a:ln>
        </p:spPr>
      </p:sp>
      <p:sp>
        <p:nvSpPr>
          <p:cNvPr id="5" name="Text 3"/>
          <p:cNvSpPr txBox="1"/>
          <p:nvPr/>
        </p:nvSpPr>
        <p:spPr>
          <a:xfrm>
            <a:off x="640080" y="1920240"/>
            <a:ext cx="82296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x</a:t>
            </a:r>
            <a:endParaRPr lang="en-US" sz="1200" dirty="0"/>
          </a:p>
        </p:txBody>
      </p:sp>
      <p:sp>
        <p:nvSpPr>
          <p:cNvPr id="6" name="Shape 4"/>
          <p:cNvSpPr/>
          <p:nvPr/>
        </p:nvSpPr>
        <p:spPr>
          <a:xfrm>
            <a:off x="1783080" y="1920240"/>
            <a:ext cx="1417320" cy="566928"/>
          </a:xfrm>
          <a:prstGeom prst="roundRect">
            <a:avLst>
              <a:gd name="adj" fmla="val 9677"/>
            </a:avLst>
          </a:prstGeom>
          <a:solidFill>
            <a:srgbClr val="FFFFFF"/>
          </a:solidFill>
          <a:ln w="15875">
            <a:solidFill>
              <a:srgbClr val="1A2238"/>
            </a:solidFill>
            <a:prstDash val="solid"/>
          </a:ln>
        </p:spPr>
      </p:sp>
      <p:sp>
        <p:nvSpPr>
          <p:cNvPr id="7" name="Text 5"/>
          <p:cNvSpPr txBox="1"/>
          <p:nvPr/>
        </p:nvSpPr>
        <p:spPr>
          <a:xfrm>
            <a:off x="1783080" y="1920240"/>
            <a:ext cx="141732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Linear W₁,b₁</a:t>
            </a:r>
            <a:endParaRPr lang="en-US" sz="1200" dirty="0"/>
          </a:p>
        </p:txBody>
      </p:sp>
      <p:sp>
        <p:nvSpPr>
          <p:cNvPr id="8" name="Shape 6"/>
          <p:cNvSpPr/>
          <p:nvPr/>
        </p:nvSpPr>
        <p:spPr>
          <a:xfrm>
            <a:off x="3520440" y="1920240"/>
            <a:ext cx="1051560" cy="566928"/>
          </a:xfrm>
          <a:prstGeom prst="roundRect">
            <a:avLst>
              <a:gd name="adj" fmla="val 9677"/>
            </a:avLst>
          </a:prstGeom>
          <a:solidFill>
            <a:srgbClr val="FFFFFF"/>
          </a:solidFill>
          <a:ln w="15875">
            <a:solidFill>
              <a:srgbClr val="1A2238"/>
            </a:solidFill>
            <a:prstDash val="solid"/>
          </a:ln>
        </p:spPr>
      </p:sp>
      <p:sp>
        <p:nvSpPr>
          <p:cNvPr id="9" name="Text 7"/>
          <p:cNvSpPr txBox="1"/>
          <p:nvPr/>
        </p:nvSpPr>
        <p:spPr>
          <a:xfrm>
            <a:off x="3520440" y="1920240"/>
            <a:ext cx="105156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ReLU</a:t>
            </a:r>
            <a:endParaRPr lang="en-US" sz="1200" dirty="0"/>
          </a:p>
        </p:txBody>
      </p:sp>
      <p:sp>
        <p:nvSpPr>
          <p:cNvPr id="10" name="Shape 8"/>
          <p:cNvSpPr/>
          <p:nvPr/>
        </p:nvSpPr>
        <p:spPr>
          <a:xfrm>
            <a:off x="4892040" y="1920240"/>
            <a:ext cx="1417320" cy="566928"/>
          </a:xfrm>
          <a:prstGeom prst="roundRect">
            <a:avLst>
              <a:gd name="adj" fmla="val 9677"/>
            </a:avLst>
          </a:prstGeom>
          <a:solidFill>
            <a:srgbClr val="FFFFFF"/>
          </a:solidFill>
          <a:ln w="15875">
            <a:solidFill>
              <a:srgbClr val="1A2238"/>
            </a:solidFill>
            <a:prstDash val="solid"/>
          </a:ln>
        </p:spPr>
      </p:sp>
      <p:sp>
        <p:nvSpPr>
          <p:cNvPr id="11" name="Text 9"/>
          <p:cNvSpPr txBox="1"/>
          <p:nvPr/>
        </p:nvSpPr>
        <p:spPr>
          <a:xfrm>
            <a:off x="4892040" y="1920240"/>
            <a:ext cx="141732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Linear W₂,b₂</a:t>
            </a:r>
            <a:endParaRPr lang="en-US" sz="1200" dirty="0"/>
          </a:p>
        </p:txBody>
      </p:sp>
      <p:sp>
        <p:nvSpPr>
          <p:cNvPr id="12" name="Shape 10"/>
          <p:cNvSpPr/>
          <p:nvPr/>
        </p:nvSpPr>
        <p:spPr>
          <a:xfrm>
            <a:off x="6629400" y="1920240"/>
            <a:ext cx="822960" cy="566928"/>
          </a:xfrm>
          <a:prstGeom prst="roundRect">
            <a:avLst>
              <a:gd name="adj" fmla="val 9677"/>
            </a:avLst>
          </a:prstGeom>
          <a:solidFill>
            <a:srgbClr val="FFFFFF"/>
          </a:solidFill>
          <a:ln w="15875">
            <a:solidFill>
              <a:srgbClr val="1A2238"/>
            </a:solidFill>
            <a:prstDash val="solid"/>
          </a:ln>
        </p:spPr>
      </p:sp>
      <p:sp>
        <p:nvSpPr>
          <p:cNvPr id="13" name="Text 11"/>
          <p:cNvSpPr txBox="1"/>
          <p:nvPr/>
        </p:nvSpPr>
        <p:spPr>
          <a:xfrm>
            <a:off x="6629400" y="1920240"/>
            <a:ext cx="82296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ŷ</a:t>
            </a:r>
            <a:endParaRPr lang="en-US" sz="1200" dirty="0"/>
          </a:p>
        </p:txBody>
      </p:sp>
      <p:sp>
        <p:nvSpPr>
          <p:cNvPr id="14" name="Shape 12"/>
          <p:cNvSpPr/>
          <p:nvPr/>
        </p:nvSpPr>
        <p:spPr>
          <a:xfrm>
            <a:off x="7772400" y="1920240"/>
            <a:ext cx="822960" cy="566928"/>
          </a:xfrm>
          <a:prstGeom prst="roundRect">
            <a:avLst>
              <a:gd name="adj" fmla="val 9677"/>
            </a:avLst>
          </a:prstGeom>
          <a:solidFill>
            <a:srgbClr val="FFFFFF"/>
          </a:solidFill>
          <a:ln w="15875">
            <a:solidFill>
              <a:srgbClr val="1A2238"/>
            </a:solidFill>
            <a:prstDash val="solid"/>
          </a:ln>
        </p:spPr>
      </p:sp>
      <p:sp>
        <p:nvSpPr>
          <p:cNvPr id="15" name="Text 13"/>
          <p:cNvSpPr txBox="1"/>
          <p:nvPr/>
        </p:nvSpPr>
        <p:spPr>
          <a:xfrm>
            <a:off x="7772400" y="1920240"/>
            <a:ext cx="822960" cy="566928"/>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L</a:t>
            </a:r>
            <a:endParaRPr lang="en-US" sz="1200" dirty="0"/>
          </a:p>
        </p:txBody>
      </p:sp>
      <p:sp>
        <p:nvSpPr>
          <p:cNvPr id="16" name="Shape 14"/>
          <p:cNvSpPr/>
          <p:nvPr/>
        </p:nvSpPr>
        <p:spPr>
          <a:xfrm>
            <a:off x="1463040" y="2203704"/>
            <a:ext cx="320040" cy="0"/>
          </a:xfrm>
          <a:prstGeom prst="line">
            <a:avLst/>
          </a:prstGeom>
          <a:noFill/>
          <a:ln w="25400">
            <a:solidFill>
              <a:srgbClr val="285AB4"/>
            </a:solidFill>
            <a:prstDash val="solid"/>
            <a:tailEnd type="triangle"/>
          </a:ln>
        </p:spPr>
      </p:sp>
      <p:sp>
        <p:nvSpPr>
          <p:cNvPr id="17" name="Shape 15"/>
          <p:cNvSpPr/>
          <p:nvPr/>
        </p:nvSpPr>
        <p:spPr>
          <a:xfrm>
            <a:off x="3200400" y="2203704"/>
            <a:ext cx="320040" cy="0"/>
          </a:xfrm>
          <a:prstGeom prst="line">
            <a:avLst/>
          </a:prstGeom>
          <a:noFill/>
          <a:ln w="25400">
            <a:solidFill>
              <a:srgbClr val="285AB4"/>
            </a:solidFill>
            <a:prstDash val="solid"/>
            <a:tailEnd type="triangle"/>
          </a:ln>
        </p:spPr>
      </p:sp>
      <p:sp>
        <p:nvSpPr>
          <p:cNvPr id="18" name="Shape 16"/>
          <p:cNvSpPr/>
          <p:nvPr/>
        </p:nvSpPr>
        <p:spPr>
          <a:xfrm>
            <a:off x="4572000" y="2203704"/>
            <a:ext cx="320040" cy="0"/>
          </a:xfrm>
          <a:prstGeom prst="line">
            <a:avLst/>
          </a:prstGeom>
          <a:noFill/>
          <a:ln w="25400">
            <a:solidFill>
              <a:srgbClr val="285AB4"/>
            </a:solidFill>
            <a:prstDash val="solid"/>
            <a:tailEnd type="triangle"/>
          </a:ln>
        </p:spPr>
      </p:sp>
      <p:sp>
        <p:nvSpPr>
          <p:cNvPr id="19" name="Shape 17"/>
          <p:cNvSpPr/>
          <p:nvPr/>
        </p:nvSpPr>
        <p:spPr>
          <a:xfrm>
            <a:off x="6309360" y="2203704"/>
            <a:ext cx="320040" cy="0"/>
          </a:xfrm>
          <a:prstGeom prst="line">
            <a:avLst/>
          </a:prstGeom>
          <a:noFill/>
          <a:ln w="25400">
            <a:solidFill>
              <a:srgbClr val="285AB4"/>
            </a:solidFill>
            <a:prstDash val="solid"/>
            <a:tailEnd type="triangle"/>
          </a:ln>
        </p:spPr>
      </p:sp>
      <p:sp>
        <p:nvSpPr>
          <p:cNvPr id="20" name="Shape 18"/>
          <p:cNvSpPr/>
          <p:nvPr/>
        </p:nvSpPr>
        <p:spPr>
          <a:xfrm>
            <a:off x="7452360" y="2203704"/>
            <a:ext cx="320040" cy="0"/>
          </a:xfrm>
          <a:prstGeom prst="line">
            <a:avLst/>
          </a:prstGeom>
          <a:noFill/>
          <a:ln w="25400">
            <a:solidFill>
              <a:srgbClr val="285AB4"/>
            </a:solidFill>
            <a:prstDash val="solid"/>
            <a:tailEnd type="triangle"/>
          </a:ln>
        </p:spPr>
      </p:sp>
      <p:sp>
        <p:nvSpPr>
          <p:cNvPr id="21" name="Shape 19"/>
          <p:cNvSpPr/>
          <p:nvPr/>
        </p:nvSpPr>
        <p:spPr>
          <a:xfrm>
            <a:off x="5600700" y="2990088"/>
            <a:ext cx="2583180" cy="0"/>
          </a:xfrm>
          <a:prstGeom prst="line">
            <a:avLst/>
          </a:prstGeom>
          <a:noFill/>
          <a:ln w="28575">
            <a:solidFill>
              <a:srgbClr val="BE3C32"/>
            </a:solidFill>
            <a:prstDash val="dash"/>
            <a:headEnd type="triangle"/>
          </a:ln>
        </p:spPr>
      </p:sp>
      <p:sp>
        <p:nvSpPr>
          <p:cNvPr id="22" name="Shape 20"/>
          <p:cNvSpPr/>
          <p:nvPr/>
        </p:nvSpPr>
        <p:spPr>
          <a:xfrm>
            <a:off x="2491740" y="2990088"/>
            <a:ext cx="3108960" cy="0"/>
          </a:xfrm>
          <a:prstGeom prst="line">
            <a:avLst/>
          </a:prstGeom>
          <a:noFill/>
          <a:ln w="28575">
            <a:solidFill>
              <a:srgbClr val="BE3C32"/>
            </a:solidFill>
            <a:prstDash val="dash"/>
            <a:headEnd type="triangle"/>
          </a:ln>
        </p:spPr>
      </p:sp>
      <p:sp>
        <p:nvSpPr>
          <p:cNvPr id="23" name="Text 21"/>
          <p:cNvSpPr txBox="1"/>
          <p:nvPr/>
        </p:nvSpPr>
        <p:spPr>
          <a:xfrm>
            <a:off x="4594860" y="3063240"/>
            <a:ext cx="2011680" cy="274320"/>
          </a:xfrm>
          <a:prstGeom prst="rect">
            <a:avLst/>
          </a:prstGeom>
          <a:noFill/>
          <a:ln/>
        </p:spPr>
        <p:txBody>
          <a:bodyPr wrap="square" lIns="0" tIns="0" rIns="0" bIns="0" rtlCol="0" anchor="ctr"/>
          <a:lstStyle/>
          <a:p>
            <a:pPr algn="ctr" indent="0" marL="0">
              <a:buNone/>
            </a:pPr>
            <a:r>
              <a:rPr lang="en-US" sz="1050" dirty="0">
                <a:solidFill>
                  <a:srgbClr val="BE3C32"/>
                </a:solidFill>
                <a:latin typeface="Cambria Math" pitchFamily="34" charset="0"/>
                <a:ea typeface="Cambria Math" pitchFamily="34" charset="-122"/>
                <a:cs typeface="Cambria Math" pitchFamily="34" charset="-120"/>
              </a:rPr>
              <a:t>δ₂ = ∂L/∂z₂  (cập nhật W₂,b₂)</a:t>
            </a:r>
            <a:endParaRPr lang="en-US" sz="1050" dirty="0"/>
          </a:p>
        </p:txBody>
      </p:sp>
      <p:sp>
        <p:nvSpPr>
          <p:cNvPr id="24" name="Text 22"/>
          <p:cNvSpPr txBox="1"/>
          <p:nvPr/>
        </p:nvSpPr>
        <p:spPr>
          <a:xfrm>
            <a:off x="1485900" y="3063240"/>
            <a:ext cx="2011680" cy="274320"/>
          </a:xfrm>
          <a:prstGeom prst="rect">
            <a:avLst/>
          </a:prstGeom>
          <a:noFill/>
          <a:ln/>
        </p:spPr>
        <p:txBody>
          <a:bodyPr wrap="square" lIns="0" tIns="0" rIns="0" bIns="0" rtlCol="0" anchor="ctr"/>
          <a:lstStyle/>
          <a:p>
            <a:pPr algn="ctr" indent="0" marL="0">
              <a:buNone/>
            </a:pPr>
            <a:r>
              <a:rPr lang="en-US" sz="1050" dirty="0">
                <a:solidFill>
                  <a:srgbClr val="BE3C32"/>
                </a:solidFill>
                <a:latin typeface="Cambria Math" pitchFamily="34" charset="0"/>
                <a:ea typeface="Cambria Math" pitchFamily="34" charset="-122"/>
                <a:cs typeface="Cambria Math" pitchFamily="34" charset="-120"/>
              </a:rPr>
              <a:t>δ₁ = ∂L/∂z₁  (cập nhật W₁,b₁)</a:t>
            </a:r>
            <a:endParaRPr lang="en-US" sz="1050" dirty="0"/>
          </a:p>
        </p:txBody>
      </p:sp>
      <p:sp>
        <p:nvSpPr>
          <p:cNvPr id="25" name="Text 23"/>
          <p:cNvSpPr txBox="1"/>
          <p:nvPr/>
        </p:nvSpPr>
        <p:spPr>
          <a:xfrm>
            <a:off x="640080" y="3977640"/>
            <a:ext cx="10911535" cy="2468880"/>
          </a:xfrm>
          <a:prstGeom prst="rect">
            <a:avLst/>
          </a:prstGeom>
          <a:noFill/>
          <a:ln/>
        </p:spPr>
        <p:txBody>
          <a:bodyPr wrap="square" lIns="0" tIns="0" rIns="0" bIns="0" rtlCol="0" anchor="t"/>
          <a:lstStyle/>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δ₂ = ŷ − y  (output activation = identity)</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∂L/∂W₂ = a₁δ₂ᵀ ,  ∂L/∂a₁ = W₂δ₂</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δ₁ = (∂L/∂a₁) ⊙ ReLU′(z₁)  →  ∂L/∂W₁ = xδ₁ᵀ</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Số liệu: neuron 2 “chết” (z₁[2]&lt;0) → cột 2 của CẢ HAI gradient = 0 — minh hoạ dead ReLU</a:t>
            </a:r>
            <a:endParaRPr lang="en-US" sz="1450" dirty="0"/>
          </a:p>
        </p:txBody>
      </p:sp>
      <p:sp>
        <p:nvSpPr>
          <p:cNvPr id="26" name="Text 2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9/29</a:t>
            </a:r>
            <a:endParaRPr lang="en-US" sz="900" dirty="0"/>
          </a:p>
        </p:txBody>
      </p:sp>
      <p:sp>
        <p:nvSpPr>
          <p:cNvPr id="27" name="Shape 25"/>
          <p:cNvSpPr/>
          <p:nvPr/>
        </p:nvSpPr>
        <p:spPr>
          <a:xfrm>
            <a:off x="595503" y="6459093"/>
            <a:ext cx="89154" cy="89154"/>
          </a:xfrm>
          <a:prstGeom prst="ellipse">
            <a:avLst/>
          </a:prstGeom>
          <a:solidFill>
            <a:srgbClr val="285AB4"/>
          </a:solidFill>
          <a:ln/>
        </p:spPr>
      </p:sp>
      <p:sp>
        <p:nvSpPr>
          <p:cNvPr id="28" name="Shape 26"/>
          <p:cNvSpPr/>
          <p:nvPr/>
        </p:nvSpPr>
        <p:spPr>
          <a:xfrm>
            <a:off x="829818" y="6473952"/>
            <a:ext cx="59436" cy="59436"/>
          </a:xfrm>
          <a:prstGeom prst="ellipse">
            <a:avLst/>
          </a:prstGeom>
          <a:solidFill>
            <a:srgbClr val="D9DEE8"/>
          </a:solidFill>
          <a:ln/>
        </p:spPr>
      </p:sp>
      <p:sp>
        <p:nvSpPr>
          <p:cNvPr id="29" name="Shape 27"/>
          <p:cNvSpPr/>
          <p:nvPr/>
        </p:nvSpPr>
        <p:spPr>
          <a:xfrm>
            <a:off x="1049274" y="6473952"/>
            <a:ext cx="59436" cy="59436"/>
          </a:xfrm>
          <a:prstGeom prst="ellipse">
            <a:avLst/>
          </a:prstGeom>
          <a:solidFill>
            <a:srgbClr val="D9DEE8"/>
          </a:solidFill>
          <a:ln/>
        </p:spPr>
      </p:sp>
      <p:sp>
        <p:nvSpPr>
          <p:cNvPr id="30" name="Shape 28"/>
          <p:cNvSpPr/>
          <p:nvPr/>
        </p:nvSpPr>
        <p:spPr>
          <a:xfrm>
            <a:off x="1268730" y="6473952"/>
            <a:ext cx="59436" cy="59436"/>
          </a:xfrm>
          <a:prstGeom prst="ellipse">
            <a:avLst/>
          </a:prstGeom>
          <a:solidFill>
            <a:srgbClr val="D9DEE8"/>
          </a:solidFill>
          <a:ln/>
        </p:spPr>
      </p:sp>
      <p:sp>
        <p:nvSpPr>
          <p:cNvPr id="31" name="Text 2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Dạng ma trận (khớp code NumPy/PyTorch)</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Z⁽ˡ⁾ = A⁽ˡ⁻¹⁾W⁽ˡ⁾ + b⁽ˡ⁾          (hàng = 1 mẫu, khớp batch code)</a:t>
            </a:r>
            <a:endParaRPr lang="en-US" sz="1700" dirty="0"/>
          </a:p>
        </p:txBody>
      </p:sp>
      <p:sp>
        <p:nvSpPr>
          <p:cNvPr id="6" name="Text 4"/>
          <p:cNvSpPr txBox="1"/>
          <p:nvPr/>
        </p:nvSpPr>
        <p:spPr>
          <a:xfrm>
            <a:off x="640080" y="2926080"/>
            <a:ext cx="10911535" cy="182880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∂L/∂W⁽ˡ⁾ = (A⁽ˡ⁻¹⁾)ᵀ · (∂L/∂Z⁽ˡ⁾)</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∂L/∂b⁽ˡ⁾ = tổng theo trục batch (hệ quả của broadcasting bias)</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∂L/∂A⁽ˡ⁻¹⁾ = (∂L/∂Z⁽ˡ⁾) · (W⁽ˡ⁾)ᵀ   — tiếp tục lan truyền ngược</a:t>
            </a:r>
            <a:endParaRPr lang="en-US" sz="1600" dirty="0"/>
          </a:p>
        </p:txBody>
      </p:sp>
      <p:sp>
        <p:nvSpPr>
          <p:cNvPr id="7" name="Shape 5"/>
          <p:cNvSpPr/>
          <p:nvPr/>
        </p:nvSpPr>
        <p:spPr>
          <a:xfrm>
            <a:off x="640080" y="4892040"/>
            <a:ext cx="10911535" cy="1234440"/>
          </a:xfrm>
          <a:prstGeom prst="roundRect">
            <a:avLst>
              <a:gd name="adj" fmla="val 4444"/>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5029200"/>
            <a:ext cx="10362895" cy="411480"/>
          </a:xfrm>
          <a:prstGeom prst="rect">
            <a:avLst/>
          </a:prstGeom>
          <a:noFill/>
          <a:ln/>
        </p:spPr>
        <p:txBody>
          <a:bodyPr wrap="square" lIns="0" tIns="0" rIns="0" bIns="0" rtlCol="0" anchor="ctr"/>
          <a:lstStyle/>
          <a:p>
            <a:pPr indent="0" marL="0">
              <a:buNone/>
            </a:pPr>
            <a:r>
              <a:rPr lang="en-US" sz="1350" dirty="0">
                <a:solidFill>
                  <a:srgbClr val="1A2238"/>
                </a:solidFill>
                <a:latin typeface="Cambria Math" pitchFamily="34" charset="0"/>
                <a:ea typeface="Cambria Math" pitchFamily="34" charset="-122"/>
                <a:cs typeface="Cambria Math" pitchFamily="34" charset="-120"/>
              </a:rPr>
              <a:t>Kiểm tra kích thước (cách tự-debug khi code):  (nₗ₋₁×N)(N×nₗ) = nₗ₋₁×nₗ  khớp W⁽ˡ⁾</a:t>
            </a:r>
            <a:endParaRPr lang="en-US" sz="1350" dirty="0"/>
          </a:p>
        </p:txBody>
      </p:sp>
      <p:sp>
        <p:nvSpPr>
          <p:cNvPr id="9" name="Text 7"/>
          <p:cNvSpPr txBox="1"/>
          <p:nvPr/>
        </p:nvSpPr>
        <p:spPr>
          <a:xfrm>
            <a:off x="914400" y="5440680"/>
            <a:ext cx="10362895" cy="411480"/>
          </a:xfrm>
          <a:prstGeom prst="rect">
            <a:avLst/>
          </a:prstGeom>
          <a:noFill/>
          <a:ln/>
        </p:spPr>
        <p:txBody>
          <a:bodyPr wrap="square" lIns="0" tIns="0" rIns="0" bIns="0" rtlCol="0" anchor="ctr"/>
          <a:lstStyle/>
          <a:p>
            <a:pPr indent="0" marL="0">
              <a:buNone/>
            </a:pPr>
            <a:r>
              <a:rPr lang="en-US" sz="1350" dirty="0">
                <a:solidFill>
                  <a:srgbClr val="1A2238"/>
                </a:solidFill>
                <a:latin typeface="Cambria Math" pitchFamily="34" charset="0"/>
                <a:ea typeface="Cambria Math" pitchFamily="34" charset="-122"/>
                <a:cs typeface="Cambria Math" pitchFamily="34" charset="-120"/>
              </a:rPr>
              <a:t>(N×nₗ)(nₗ×nₗ₋₁) = N×nₗ₋₁  khớp A⁽ˡ⁻¹⁾</a:t>
            </a:r>
            <a:endParaRPr lang="en-US" sz="1350" dirty="0"/>
          </a:p>
        </p:txBody>
      </p:sp>
      <p:sp>
        <p:nvSpPr>
          <p:cNvPr id="10" name="Text 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10/29</a:t>
            </a:r>
            <a:endParaRPr lang="en-US" sz="900" dirty="0"/>
          </a:p>
        </p:txBody>
      </p:sp>
      <p:sp>
        <p:nvSpPr>
          <p:cNvPr id="11" name="Shape 9"/>
          <p:cNvSpPr/>
          <p:nvPr/>
        </p:nvSpPr>
        <p:spPr>
          <a:xfrm>
            <a:off x="595503" y="6459093"/>
            <a:ext cx="89154" cy="89154"/>
          </a:xfrm>
          <a:prstGeom prst="ellipse">
            <a:avLst/>
          </a:prstGeom>
          <a:solidFill>
            <a:srgbClr val="285AB4"/>
          </a:solidFill>
          <a:ln/>
        </p:spPr>
      </p:sp>
      <p:sp>
        <p:nvSpPr>
          <p:cNvPr id="12" name="Shape 10"/>
          <p:cNvSpPr/>
          <p:nvPr/>
        </p:nvSpPr>
        <p:spPr>
          <a:xfrm>
            <a:off x="829818" y="6473952"/>
            <a:ext cx="59436" cy="59436"/>
          </a:xfrm>
          <a:prstGeom prst="ellipse">
            <a:avLst/>
          </a:prstGeom>
          <a:solidFill>
            <a:srgbClr val="D9DEE8"/>
          </a:solidFill>
          <a:ln/>
        </p:spPr>
      </p:sp>
      <p:sp>
        <p:nvSpPr>
          <p:cNvPr id="13" name="Shape 11"/>
          <p:cNvSpPr/>
          <p:nvPr/>
        </p:nvSpPr>
        <p:spPr>
          <a:xfrm>
            <a:off x="1049274" y="6473952"/>
            <a:ext cx="59436" cy="59436"/>
          </a:xfrm>
          <a:prstGeom prst="ellipse">
            <a:avLst/>
          </a:prstGeom>
          <a:solidFill>
            <a:srgbClr val="D9DEE8"/>
          </a:solidFill>
          <a:ln/>
        </p:spPr>
      </p:sp>
      <p:sp>
        <p:nvSpPr>
          <p:cNvPr id="14" name="Shape 12"/>
          <p:cNvSpPr/>
          <p:nvPr/>
        </p:nvSpPr>
        <p:spPr>
          <a:xfrm>
            <a:off x="1268730" y="6473952"/>
            <a:ext cx="59436" cy="59436"/>
          </a:xfrm>
          <a:prstGeom prst="ellipse">
            <a:avLst/>
          </a:prstGeom>
          <a:solidFill>
            <a:srgbClr val="D9DEE8"/>
          </a:solidFill>
          <a:ln/>
        </p:spPr>
      </p:sp>
      <p:sp>
        <p:nvSpPr>
          <p:cNvPr id="15" name="Text 1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700" b="1" dirty="0">
                <a:solidFill>
                  <a:srgbClr val="1A2238"/>
                </a:solidFill>
                <a:latin typeface="Cambria" pitchFamily="34" charset="0"/>
                <a:ea typeface="Cambria" pitchFamily="34" charset="-122"/>
                <a:cs typeface="Cambria" pitchFamily="34" charset="-120"/>
              </a:rPr>
              <a:t>Backpropagation ≠ Gradient Descent</a:t>
            </a:r>
            <a:endParaRPr lang="en-US" sz="2700" dirty="0"/>
          </a:p>
        </p:txBody>
      </p:sp>
      <p:sp>
        <p:nvSpPr>
          <p:cNvPr id="4" name="Shape 2"/>
          <p:cNvSpPr/>
          <p:nvPr/>
        </p:nvSpPr>
        <p:spPr>
          <a:xfrm>
            <a:off x="640080" y="1965960"/>
            <a:ext cx="5120640" cy="3566160"/>
          </a:xfrm>
          <a:prstGeom prst="roundRect">
            <a:avLst>
              <a:gd name="adj" fmla="val 2051"/>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194560"/>
            <a:ext cx="4572000" cy="365760"/>
          </a:xfrm>
          <a:prstGeom prst="rect">
            <a:avLst/>
          </a:prstGeom>
          <a:noFill/>
          <a:ln/>
        </p:spPr>
        <p:txBody>
          <a:bodyPr wrap="square" lIns="0" tIns="0" rIns="0" bIns="0" rtlCol="0" anchor="ctr"/>
          <a:lstStyle/>
          <a:p>
            <a:pPr indent="0" marL="0">
              <a:buNone/>
            </a:pPr>
            <a:r>
              <a:rPr lang="en-US" sz="1700" b="1" dirty="0">
                <a:solidFill>
                  <a:srgbClr val="285AB4"/>
                </a:solidFill>
                <a:latin typeface="Cambria" pitchFamily="34" charset="0"/>
                <a:ea typeface="Cambria" pitchFamily="34" charset="-122"/>
                <a:cs typeface="Cambria" pitchFamily="34" charset="-120"/>
              </a:rPr>
              <a:t>Backpropagation</a:t>
            </a:r>
            <a:endParaRPr lang="en-US" sz="1700" dirty="0"/>
          </a:p>
        </p:txBody>
      </p:sp>
      <p:sp>
        <p:nvSpPr>
          <p:cNvPr id="6" name="Text 4"/>
          <p:cNvSpPr txBox="1"/>
          <p:nvPr/>
        </p:nvSpPr>
        <p:spPr>
          <a:xfrm>
            <a:off x="914400" y="2697480"/>
            <a:ext cx="4572000" cy="2651760"/>
          </a:xfrm>
          <a:prstGeom prst="rect">
            <a:avLst/>
          </a:prstGeom>
          <a:noFill/>
          <a:ln/>
        </p:spPr>
        <p:txBody>
          <a:bodyPr wrap="square" lIns="0" tIns="0" rIns="0" bIns="0" rtlCol="0" anchor="t"/>
          <a:lstStyle/>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Thuật toán TÍNH ∇θL hiệu quả</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Dùng Chain Rule + computational graph</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Đầu ra: vector gradient</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Có thể thay bằng finite-difference (chậm, O(P) forward)</a:t>
            </a:r>
            <a:endParaRPr lang="en-US" sz="1400" dirty="0"/>
          </a:p>
        </p:txBody>
      </p:sp>
      <p:sp>
        <p:nvSpPr>
          <p:cNvPr id="7" name="Shape 5"/>
          <p:cNvSpPr/>
          <p:nvPr/>
        </p:nvSpPr>
        <p:spPr>
          <a:xfrm>
            <a:off x="6430975" y="1965960"/>
            <a:ext cx="5120640" cy="3566160"/>
          </a:xfrm>
          <a:prstGeom prst="roundRect">
            <a:avLst>
              <a:gd name="adj" fmla="val 2051"/>
            </a:avLst>
          </a:prstGeom>
          <a:solidFill>
            <a:srgbClr val="FBEEEC"/>
          </a:solidFill>
          <a:ln w="12700">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6705295" y="2194560"/>
            <a:ext cx="4572000" cy="365760"/>
          </a:xfrm>
          <a:prstGeom prst="rect">
            <a:avLst/>
          </a:prstGeom>
          <a:noFill/>
          <a:ln/>
        </p:spPr>
        <p:txBody>
          <a:bodyPr wrap="square" lIns="0" tIns="0" rIns="0" bIns="0" rtlCol="0" anchor="ctr"/>
          <a:lstStyle/>
          <a:p>
            <a:pPr indent="0" marL="0">
              <a:buNone/>
            </a:pPr>
            <a:r>
              <a:rPr lang="en-US" sz="1700" b="1" dirty="0">
                <a:solidFill>
                  <a:srgbClr val="BE3C32"/>
                </a:solidFill>
                <a:latin typeface="Cambria" pitchFamily="34" charset="0"/>
                <a:ea typeface="Cambria" pitchFamily="34" charset="-122"/>
                <a:cs typeface="Cambria" pitchFamily="34" charset="-120"/>
              </a:rPr>
              <a:t>Gradient Descent / Optimizer</a:t>
            </a:r>
            <a:endParaRPr lang="en-US" sz="1700" dirty="0"/>
          </a:p>
        </p:txBody>
      </p:sp>
      <p:sp>
        <p:nvSpPr>
          <p:cNvPr id="9" name="Text 7"/>
          <p:cNvSpPr txBox="1"/>
          <p:nvPr/>
        </p:nvSpPr>
        <p:spPr>
          <a:xfrm>
            <a:off x="6705295" y="2697480"/>
            <a:ext cx="4572000" cy="2651760"/>
          </a:xfrm>
          <a:prstGeom prst="rect">
            <a:avLst/>
          </a:prstGeom>
          <a:noFill/>
          <a:ln/>
        </p:spPr>
        <p:txBody>
          <a:bodyPr wrap="square" lIns="0" tIns="0" rIns="0" bIns="0" rtlCol="0" anchor="t"/>
          <a:lstStyle/>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Quy tắc CẬP NHẬT tham số: θ ← θ − η∇θL</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Dùng gradient đã có (từ bất kỳ nguồn nào)</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Đầu ra: tham số mới</a:t>
            </a:r>
            <a:endParaRPr lang="en-US" sz="1400" dirty="0"/>
          </a:p>
          <a:p>
            <a:pPr marL="228600" indent="-228600">
              <a:spcAft>
                <a:spcPts val="1200"/>
              </a:spcAft>
              <a:buSzPct val="100000"/>
              <a:buChar char="▪"/>
            </a:pPr>
            <a:r>
              <a:rPr lang="en-US" sz="1400" dirty="0">
                <a:solidFill>
                  <a:srgbClr val="1A2238"/>
                </a:solidFill>
                <a:latin typeface="Calibri" pitchFamily="34" charset="0"/>
                <a:ea typeface="Calibri" pitchFamily="34" charset="-122"/>
                <a:cs typeface="Calibri" pitchFamily="34" charset="-120"/>
              </a:rPr>
              <a:t>Biến thể: SGD, Momentum, Adam, Newton's method…</a:t>
            </a:r>
            <a:endParaRPr lang="en-US" sz="1400" dirty="0"/>
          </a:p>
        </p:txBody>
      </p:sp>
      <p:sp>
        <p:nvSpPr>
          <p:cNvPr id="10" name="Text 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11/29</a:t>
            </a:r>
            <a:endParaRPr lang="en-US" sz="900" dirty="0"/>
          </a:p>
        </p:txBody>
      </p:sp>
      <p:sp>
        <p:nvSpPr>
          <p:cNvPr id="11" name="Shape 9"/>
          <p:cNvSpPr/>
          <p:nvPr/>
        </p:nvSpPr>
        <p:spPr>
          <a:xfrm>
            <a:off x="595503" y="6459093"/>
            <a:ext cx="89154" cy="89154"/>
          </a:xfrm>
          <a:prstGeom prst="ellipse">
            <a:avLst/>
          </a:prstGeom>
          <a:solidFill>
            <a:srgbClr val="285AB4"/>
          </a:solidFill>
          <a:ln/>
        </p:spPr>
      </p:sp>
      <p:sp>
        <p:nvSpPr>
          <p:cNvPr id="12" name="Shape 10"/>
          <p:cNvSpPr/>
          <p:nvPr/>
        </p:nvSpPr>
        <p:spPr>
          <a:xfrm>
            <a:off x="829818" y="6473952"/>
            <a:ext cx="59436" cy="59436"/>
          </a:xfrm>
          <a:prstGeom prst="ellipse">
            <a:avLst/>
          </a:prstGeom>
          <a:solidFill>
            <a:srgbClr val="D9DEE8"/>
          </a:solidFill>
          <a:ln/>
        </p:spPr>
      </p:sp>
      <p:sp>
        <p:nvSpPr>
          <p:cNvPr id="13" name="Shape 11"/>
          <p:cNvSpPr/>
          <p:nvPr/>
        </p:nvSpPr>
        <p:spPr>
          <a:xfrm>
            <a:off x="1049274" y="6473952"/>
            <a:ext cx="59436" cy="59436"/>
          </a:xfrm>
          <a:prstGeom prst="ellipse">
            <a:avLst/>
          </a:prstGeom>
          <a:solidFill>
            <a:srgbClr val="D9DEE8"/>
          </a:solidFill>
          <a:ln/>
        </p:spPr>
      </p:sp>
      <p:sp>
        <p:nvSpPr>
          <p:cNvPr id="14" name="Shape 12"/>
          <p:cNvSpPr/>
          <p:nvPr/>
        </p:nvSpPr>
        <p:spPr>
          <a:xfrm>
            <a:off x="1268730" y="6473952"/>
            <a:ext cx="59436" cy="59436"/>
          </a:xfrm>
          <a:prstGeom prst="ellipse">
            <a:avLst/>
          </a:prstGeom>
          <a:solidFill>
            <a:srgbClr val="D9DEE8"/>
          </a:solidFill>
          <a:ln/>
        </p:spPr>
      </p:sp>
      <p:sp>
        <p:nvSpPr>
          <p:cNvPr id="15" name="Text 1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TOÁN HỌC &amp; BACKPROP</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Vì sao Initialization quan trọng</a:t>
            </a:r>
            <a:endParaRPr lang="en-US" sz="2900" dirty="0"/>
          </a:p>
        </p:txBody>
      </p:sp>
      <p:sp>
        <p:nvSpPr>
          <p:cNvPr id="4" name="Text 2"/>
          <p:cNvSpPr txBox="1"/>
          <p:nvPr/>
        </p:nvSpPr>
        <p:spPr>
          <a:xfrm>
            <a:off x="640080" y="2011680"/>
            <a:ext cx="6583680" cy="2743200"/>
          </a:xfrm>
          <a:prstGeom prst="rect">
            <a:avLst/>
          </a:prstGeom>
          <a:noFill/>
          <a:ln/>
        </p:spPr>
        <p:txBody>
          <a:bodyPr wrap="square" lIns="0" tIns="0" rIns="0" bIns="0" rtlCol="0" anchor="t"/>
          <a:lstStyle/>
          <a:p>
            <a:pPr marL="228600" indent="-228600">
              <a:spcAft>
                <a:spcPts val="1200"/>
              </a:spcAft>
              <a:buSzPct val="100000"/>
              <a:buChar char="▪"/>
            </a:pPr>
            <a:r>
              <a:rPr lang="en-US" sz="1700" dirty="0">
                <a:solidFill>
                  <a:srgbClr val="1A2238"/>
                </a:solidFill>
                <a:latin typeface="Calibri" pitchFamily="34" charset="0"/>
                <a:ea typeface="Calibri" pitchFamily="34" charset="-122"/>
                <a:cs typeface="Calibri" pitchFamily="34" charset="-120"/>
              </a:rPr>
              <a:t>Gradient Descent chỉ di chuyển CỤC BỘ quanh điểm xuất phát θ₀</a:t>
            </a:r>
            <a:endParaRPr lang="en-US" sz="1700" dirty="0"/>
          </a:p>
          <a:p>
            <a:pPr marL="228600" indent="-228600">
              <a:spcAft>
                <a:spcPts val="1200"/>
              </a:spcAft>
              <a:buSzPct val="100000"/>
              <a:buChar char="▪"/>
            </a:pPr>
            <a:r>
              <a:rPr lang="en-US" sz="1700" dirty="0">
                <a:solidFill>
                  <a:srgbClr val="1A2238"/>
                </a:solidFill>
                <a:latin typeface="Calibri" pitchFamily="34" charset="0"/>
                <a:ea typeface="Calibri" pitchFamily="34" charset="-122"/>
                <a:cs typeface="Calibri" pitchFamily="34" charset="-120"/>
              </a:rPr>
              <a:t>Chọn θ₀ sai → mạng đứng yên mãi mãi (Zero-init), hoặc gradient nổ / biến mất trước khi kịp học</a:t>
            </a:r>
            <a:endParaRPr lang="en-US" sz="1700" dirty="0"/>
          </a:p>
          <a:p>
            <a:pPr marL="228600" indent="-228600">
              <a:spcAft>
                <a:spcPts val="1200"/>
              </a:spcAft>
              <a:buSzPct val="100000"/>
              <a:buChar char="▪"/>
            </a:pPr>
            <a:r>
              <a:rPr lang="en-US" sz="1700" dirty="0">
                <a:solidFill>
                  <a:srgbClr val="1A2238"/>
                </a:solidFill>
                <a:latin typeface="Calibri" pitchFamily="34" charset="0"/>
                <a:ea typeface="Calibri" pitchFamily="34" charset="-122"/>
                <a:cs typeface="Calibri" pitchFamily="34" charset="-120"/>
              </a:rPr>
              <a:t>…bất kể optimizer tốt đến đâu</a:t>
            </a:r>
            <a:endParaRPr lang="en-US" sz="1700" dirty="0"/>
          </a:p>
        </p:txBody>
      </p:sp>
      <p:sp>
        <p:nvSpPr>
          <p:cNvPr id="5" name="Shape 3"/>
          <p:cNvSpPr/>
          <p:nvPr/>
        </p:nvSpPr>
        <p:spPr>
          <a:xfrm>
            <a:off x="7772400" y="2011680"/>
            <a:ext cx="3749040" cy="3840480"/>
          </a:xfrm>
          <a:prstGeom prst="roundRect">
            <a:avLst>
              <a:gd name="adj" fmla="val 1951"/>
            </a:avLst>
          </a:prstGeom>
          <a:solidFill>
            <a:srgbClr val="16213E"/>
          </a:solidFill>
          <a:ln/>
          <a:effectLst>
            <a:outerShdw sx="100000" sy="100000" kx="0" ky="0" algn="bl" rotWithShape="0" blurRad="114300" dist="38100" dir="5400000">
              <a:srgbClr val="1A1A2E">
                <a:alpha val="20000"/>
              </a:srgbClr>
            </a:outerShdw>
          </a:effectLst>
        </p:spPr>
      </p:sp>
      <p:sp>
        <p:nvSpPr>
          <p:cNvPr id="6" name="Text 4"/>
          <p:cNvSpPr txBox="1"/>
          <p:nvPr/>
        </p:nvSpPr>
        <p:spPr>
          <a:xfrm>
            <a:off x="8046720" y="2286000"/>
            <a:ext cx="3200400" cy="365760"/>
          </a:xfrm>
          <a:prstGeom prst="rect">
            <a:avLst/>
          </a:prstGeom>
          <a:noFill/>
          <a:ln/>
        </p:spPr>
        <p:txBody>
          <a:bodyPr wrap="square" lIns="0" tIns="0" rIns="0" bIns="0" rtlCol="0" anchor="ctr"/>
          <a:lstStyle/>
          <a:p>
            <a:pPr indent="0" marL="0">
              <a:buNone/>
            </a:pPr>
            <a:r>
              <a:rPr lang="en-US" sz="1400" b="1" dirty="0">
                <a:solidFill>
                  <a:srgbClr val="CADCFC"/>
                </a:solidFill>
                <a:latin typeface="Cambria" pitchFamily="34" charset="0"/>
                <a:ea typeface="Cambria" pitchFamily="34" charset="-122"/>
                <a:cs typeface="Cambria" pitchFamily="34" charset="-120"/>
              </a:rPr>
              <a:t>θ₀ quyết định điều gì?</a:t>
            </a:r>
            <a:endParaRPr lang="en-US" sz="1400" dirty="0"/>
          </a:p>
        </p:txBody>
      </p:sp>
      <p:sp>
        <p:nvSpPr>
          <p:cNvPr id="7" name="Text 5"/>
          <p:cNvSpPr txBox="1"/>
          <p:nvPr/>
        </p:nvSpPr>
        <p:spPr>
          <a:xfrm>
            <a:off x="8046720" y="2788920"/>
            <a:ext cx="3200400" cy="1828800"/>
          </a:xfrm>
          <a:prstGeom prst="rect">
            <a:avLst/>
          </a:prstGeom>
          <a:noFill/>
          <a:ln/>
        </p:spPr>
        <p:txBody>
          <a:bodyPr wrap="square" lIns="0" tIns="0" rIns="0" bIns="0" rtlCol="0" anchor="t"/>
          <a:lstStyle/>
          <a:p>
            <a:pPr indent="0" marL="0">
              <a:buNone/>
            </a:pPr>
            <a:r>
              <a:rPr lang="en-US" sz="1400" i="1" dirty="0">
                <a:solidFill>
                  <a:srgbClr val="FFFFFF"/>
                </a:solidFill>
                <a:latin typeface="Calibri" pitchFamily="34" charset="0"/>
                <a:ea typeface="Calibri" pitchFamily="34" charset="-122"/>
                <a:cs typeface="Calibri" pitchFamily="34" charset="-120"/>
              </a:rPr>
              <a:t>Gradient có “sống sót” đủ lớn để đi xuyên suốt một mạng nhiều lớp hay không — chủ đề của toàn bộ phần này.</a:t>
            </a:r>
            <a:endParaRPr lang="en-US" sz="1400" dirty="0"/>
          </a:p>
        </p:txBody>
      </p:sp>
      <p:sp>
        <p:nvSpPr>
          <p:cNvPr id="8" name="Text 6"/>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12/29</a:t>
            </a:r>
            <a:endParaRPr lang="en-US" sz="900" dirty="0"/>
          </a:p>
        </p:txBody>
      </p:sp>
      <p:sp>
        <p:nvSpPr>
          <p:cNvPr id="9" name="Shape 7"/>
          <p:cNvSpPr/>
          <p:nvPr/>
        </p:nvSpPr>
        <p:spPr>
          <a:xfrm>
            <a:off x="610362" y="6473952"/>
            <a:ext cx="59436" cy="59436"/>
          </a:xfrm>
          <a:prstGeom prst="ellipse">
            <a:avLst/>
          </a:prstGeom>
          <a:solidFill>
            <a:srgbClr val="D9DEE8"/>
          </a:solidFill>
          <a:ln/>
        </p:spPr>
      </p:sp>
      <p:sp>
        <p:nvSpPr>
          <p:cNvPr id="10" name="Shape 8"/>
          <p:cNvSpPr/>
          <p:nvPr/>
        </p:nvSpPr>
        <p:spPr>
          <a:xfrm>
            <a:off x="814959" y="6459093"/>
            <a:ext cx="89154" cy="89154"/>
          </a:xfrm>
          <a:prstGeom prst="ellipse">
            <a:avLst/>
          </a:prstGeom>
          <a:solidFill>
            <a:srgbClr val="285AB4"/>
          </a:solidFill>
          <a:ln/>
        </p:spPr>
      </p:sp>
      <p:sp>
        <p:nvSpPr>
          <p:cNvPr id="11" name="Shape 9"/>
          <p:cNvSpPr/>
          <p:nvPr/>
        </p:nvSpPr>
        <p:spPr>
          <a:xfrm>
            <a:off x="1049274" y="6473952"/>
            <a:ext cx="59436" cy="59436"/>
          </a:xfrm>
          <a:prstGeom prst="ellipse">
            <a:avLst/>
          </a:prstGeom>
          <a:solidFill>
            <a:srgbClr val="D9DEE8"/>
          </a:solidFill>
          <a:ln/>
        </p:spPr>
      </p:sp>
      <p:sp>
        <p:nvSpPr>
          <p:cNvPr id="12" name="Shape 10"/>
          <p:cNvSpPr/>
          <p:nvPr/>
        </p:nvSpPr>
        <p:spPr>
          <a:xfrm>
            <a:off x="1268730" y="6473952"/>
            <a:ext cx="59436" cy="59436"/>
          </a:xfrm>
          <a:prstGeom prst="ellipse">
            <a:avLst/>
          </a:prstGeom>
          <a:solidFill>
            <a:srgbClr val="D9DEE8"/>
          </a:solidFill>
          <a:ln/>
        </p:spPr>
      </p:sp>
      <p:sp>
        <p:nvSpPr>
          <p:cNvPr id="13" name="Text 11"/>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Zero Initialization</a:t>
            </a:r>
            <a:endParaRPr lang="en-US" sz="2900" dirty="0"/>
          </a:p>
        </p:txBody>
      </p:sp>
      <p:sp>
        <p:nvSpPr>
          <p:cNvPr id="4" name="Text 2"/>
          <p:cNvSpPr txBox="1"/>
          <p:nvPr/>
        </p:nvSpPr>
        <p:spPr>
          <a:xfrm>
            <a:off x="640080" y="1920240"/>
            <a:ext cx="6400800" cy="292608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W giống nhau (kể cả 0) → mọi neuron cùng z, cùng a, cùng gradient — MÃI MÃI</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“Mất khả năng phá vỡ đối xứng” (symmetry breaking) — lớp n neuron chỉ có sức mạnh như 1</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Với W=0 ở MỌI lớp: gradient lớp ẩn = ĐÚNG BẰNG 0, không chỉ “rất nhỏ”</a:t>
            </a:r>
            <a:endParaRPr lang="en-US" sz="1600" dirty="0"/>
          </a:p>
        </p:txBody>
      </p:sp>
      <p:sp>
        <p:nvSpPr>
          <p:cNvPr id="5" name="Text 3"/>
          <p:cNvSpPr txBox="1"/>
          <p:nvPr/>
        </p:nvSpPr>
        <p:spPr>
          <a:xfrm>
            <a:off x="7589520" y="2377440"/>
            <a:ext cx="3931920" cy="987552"/>
          </a:xfrm>
          <a:prstGeom prst="rect">
            <a:avLst/>
          </a:prstGeom>
          <a:noFill/>
          <a:ln/>
        </p:spPr>
        <p:txBody>
          <a:bodyPr wrap="square" lIns="0" tIns="0" rIns="0" bIns="0" rtlCol="0" anchor="b"/>
          <a:lstStyle/>
          <a:p>
            <a:pPr algn="ctr" indent="0" marL="0">
              <a:buNone/>
            </a:pPr>
            <a:r>
              <a:rPr lang="en-US" sz="3200" b="1" dirty="0">
                <a:solidFill>
                  <a:srgbClr val="BE3C32"/>
                </a:solidFill>
                <a:latin typeface="Cambria" pitchFamily="34" charset="0"/>
                <a:ea typeface="Cambria" pitchFamily="34" charset="-122"/>
                <a:cs typeface="Cambria" pitchFamily="34" charset="-120"/>
              </a:rPr>
              <a:t>0.0</a:t>
            </a:r>
            <a:endParaRPr lang="en-US" sz="3200" dirty="0"/>
          </a:p>
        </p:txBody>
      </p:sp>
      <p:sp>
        <p:nvSpPr>
          <p:cNvPr id="6" name="Text 4"/>
          <p:cNvSpPr txBox="1"/>
          <p:nvPr/>
        </p:nvSpPr>
        <p:spPr>
          <a:xfrm>
            <a:off x="7589520" y="3364992"/>
            <a:ext cx="3931920" cy="65836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gradient đo được tại MỌI lớp ẩn (thực nghiệm, Mục 9)</a:t>
            </a:r>
            <a:endParaRPr lang="en-US" sz="1100" dirty="0"/>
          </a:p>
        </p:txBody>
      </p:sp>
      <p:sp>
        <p:nvSpPr>
          <p:cNvPr id="7" name="Text 5"/>
          <p:cNvSpPr txBox="1"/>
          <p:nvPr/>
        </p:nvSpPr>
        <p:spPr>
          <a:xfrm>
            <a:off x="7589520" y="4206240"/>
            <a:ext cx="3931920" cy="822960"/>
          </a:xfrm>
          <a:prstGeom prst="rect">
            <a:avLst/>
          </a:prstGeom>
          <a:noFill/>
          <a:ln/>
        </p:spPr>
        <p:txBody>
          <a:bodyPr wrap="square" lIns="0" tIns="0" rIns="0" bIns="0" rtlCol="0" anchor="ctr"/>
          <a:lstStyle/>
          <a:p>
            <a:pPr algn="ctr" indent="0" marL="0">
              <a:buNone/>
            </a:pPr>
            <a:r>
              <a:rPr lang="en-US" sz="1250" i="1" dirty="0">
                <a:solidFill>
                  <a:srgbClr val="5B6478"/>
                </a:solidFill>
                <a:latin typeface="Calibri" pitchFamily="34" charset="0"/>
                <a:ea typeface="Calibri" pitchFamily="34" charset="-122"/>
                <a:cs typeface="Calibri" pitchFamily="34" charset="-120"/>
              </a:rPr>
              <a:t>Zero-init không phải “rất nhỏ” — mà là CHẶN ĐỨNG tuyệt đối</a:t>
            </a:r>
            <a:endParaRPr lang="en-US" sz="1250" dirty="0"/>
          </a:p>
        </p:txBody>
      </p:sp>
      <p:sp>
        <p:nvSpPr>
          <p:cNvPr id="8" name="Text 6"/>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13/29</a:t>
            </a:r>
            <a:endParaRPr lang="en-US" sz="900" dirty="0"/>
          </a:p>
        </p:txBody>
      </p:sp>
      <p:sp>
        <p:nvSpPr>
          <p:cNvPr id="9" name="Shape 7"/>
          <p:cNvSpPr/>
          <p:nvPr/>
        </p:nvSpPr>
        <p:spPr>
          <a:xfrm>
            <a:off x="610362" y="6473952"/>
            <a:ext cx="59436" cy="59436"/>
          </a:xfrm>
          <a:prstGeom prst="ellipse">
            <a:avLst/>
          </a:prstGeom>
          <a:solidFill>
            <a:srgbClr val="D9DEE8"/>
          </a:solidFill>
          <a:ln/>
        </p:spPr>
      </p:sp>
      <p:sp>
        <p:nvSpPr>
          <p:cNvPr id="10" name="Shape 8"/>
          <p:cNvSpPr/>
          <p:nvPr/>
        </p:nvSpPr>
        <p:spPr>
          <a:xfrm>
            <a:off x="814959" y="6459093"/>
            <a:ext cx="89154" cy="89154"/>
          </a:xfrm>
          <a:prstGeom prst="ellipse">
            <a:avLst/>
          </a:prstGeom>
          <a:solidFill>
            <a:srgbClr val="285AB4"/>
          </a:solidFill>
          <a:ln/>
        </p:spPr>
      </p:sp>
      <p:sp>
        <p:nvSpPr>
          <p:cNvPr id="11" name="Shape 9"/>
          <p:cNvSpPr/>
          <p:nvPr/>
        </p:nvSpPr>
        <p:spPr>
          <a:xfrm>
            <a:off x="1049274" y="6473952"/>
            <a:ext cx="59436" cy="59436"/>
          </a:xfrm>
          <a:prstGeom prst="ellipse">
            <a:avLst/>
          </a:prstGeom>
          <a:solidFill>
            <a:srgbClr val="D9DEE8"/>
          </a:solidFill>
          <a:ln/>
        </p:spPr>
      </p:sp>
      <p:sp>
        <p:nvSpPr>
          <p:cNvPr id="12" name="Shape 10"/>
          <p:cNvSpPr/>
          <p:nvPr/>
        </p:nvSpPr>
        <p:spPr>
          <a:xfrm>
            <a:off x="1268730" y="6473952"/>
            <a:ext cx="59436" cy="59436"/>
          </a:xfrm>
          <a:prstGeom prst="ellipse">
            <a:avLst/>
          </a:prstGeom>
          <a:solidFill>
            <a:srgbClr val="D9DEE8"/>
          </a:solidFill>
          <a:ln/>
        </p:spPr>
      </p:sp>
      <p:sp>
        <p:nvSpPr>
          <p:cNvPr id="13" name="Text 11"/>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Random Initialization</a:t>
            </a:r>
            <a:endParaRPr lang="en-US" sz="2900" dirty="0"/>
          </a:p>
        </p:txBody>
      </p:sp>
      <p:sp>
        <p:nvSpPr>
          <p:cNvPr id="4" name="Text 2"/>
          <p:cNvSpPr txBox="1"/>
          <p:nvPr/>
        </p:nvSpPr>
        <p:spPr>
          <a:xfrm>
            <a:off x="640080" y="1965960"/>
            <a:ext cx="10911535" cy="2377440"/>
          </a:xfrm>
          <a:prstGeom prst="rect">
            <a:avLst/>
          </a:prstGeom>
          <a:noFill/>
          <a:ln/>
        </p:spPr>
        <p:txBody>
          <a:bodyPr wrap="square" lIns="0" tIns="0" rIns="0" bIns="0" rtlCol="0" anchor="t"/>
          <a:lstStyle/>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Phá đối xứng: mỗi neuron xuất phát khác nhau → học đặc trưng khác nhau</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Nhưng nếu σ không scale theo n_in → mạng SÂU vẫn có thể vanish/explode</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Thực nghiệm: gradient lớp 1 (Sigmoid, 6 lớp) chỉ ≈ 3×10⁻¹¹ — gần như 0</a:t>
            </a:r>
            <a:endParaRPr lang="en-US" sz="1650" dirty="0"/>
          </a:p>
        </p:txBody>
      </p:sp>
      <p:sp>
        <p:nvSpPr>
          <p:cNvPr id="5" name="Shape 3"/>
          <p:cNvSpPr/>
          <p:nvPr/>
        </p:nvSpPr>
        <p:spPr>
          <a:xfrm>
            <a:off x="640080" y="4572000"/>
            <a:ext cx="10911535" cy="1097280"/>
          </a:xfrm>
          <a:prstGeom prst="roundRect">
            <a:avLst>
              <a:gd name="adj" fmla="val 6667"/>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6" name="Text 4"/>
          <p:cNvSpPr txBox="1"/>
          <p:nvPr/>
        </p:nvSpPr>
        <p:spPr>
          <a:xfrm>
            <a:off x="914400" y="4572000"/>
            <a:ext cx="10362895" cy="1097280"/>
          </a:xfrm>
          <a:prstGeom prst="rect">
            <a:avLst/>
          </a:prstGeom>
          <a:noFill/>
          <a:ln/>
        </p:spPr>
        <p:txBody>
          <a:bodyPr wrap="square" lIns="0" tIns="0" rIns="0" bIns="0" rtlCol="0" anchor="ctr"/>
          <a:lstStyle/>
          <a:p>
            <a:pPr algn="ctr" indent="0" marL="0">
              <a:buNone/>
            </a:pPr>
            <a:r>
              <a:rPr lang="en-US" sz="1550" b="1" i="1" dirty="0">
                <a:solidFill>
                  <a:srgbClr val="16213E"/>
                </a:solidFill>
                <a:latin typeface="Calibri" pitchFamily="34" charset="0"/>
                <a:ea typeface="Calibri" pitchFamily="34" charset="-122"/>
                <a:cs typeface="Calibri" pitchFamily="34" charset="-120"/>
              </a:rPr>
              <a:t>Phá đối xứng là ĐIỀU KIỆN CẦN — chưa ĐỦ để đảm bảo gradient chảy tốt qua mạng sâu</a:t>
            </a:r>
            <a:endParaRPr lang="en-US" sz="155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14/29</a:t>
            </a:r>
            <a:endParaRPr lang="en-US" sz="900" dirty="0"/>
          </a:p>
        </p:txBody>
      </p:sp>
      <p:sp>
        <p:nvSpPr>
          <p:cNvPr id="8" name="Shape 6"/>
          <p:cNvSpPr/>
          <p:nvPr/>
        </p:nvSpPr>
        <p:spPr>
          <a:xfrm>
            <a:off x="610362" y="6473952"/>
            <a:ext cx="59436" cy="59436"/>
          </a:xfrm>
          <a:prstGeom prst="ellipse">
            <a:avLst/>
          </a:prstGeom>
          <a:solidFill>
            <a:srgbClr val="D9DEE8"/>
          </a:solidFill>
          <a:ln/>
        </p:spPr>
      </p:sp>
      <p:sp>
        <p:nvSpPr>
          <p:cNvPr id="9" name="Shape 7"/>
          <p:cNvSpPr/>
          <p:nvPr/>
        </p:nvSpPr>
        <p:spPr>
          <a:xfrm>
            <a:off x="814959" y="6459093"/>
            <a:ext cx="89154" cy="89154"/>
          </a:xfrm>
          <a:prstGeom prst="ellipse">
            <a:avLst/>
          </a:prstGeom>
          <a:solidFill>
            <a:srgbClr val="285AB4"/>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Xavier / Glorot Initialization</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2000" dirty="0">
                <a:solidFill>
                  <a:srgbClr val="16213E"/>
                </a:solidFill>
                <a:latin typeface="Cambria Math" pitchFamily="34" charset="0"/>
                <a:ea typeface="Cambria Math" pitchFamily="34" charset="-122"/>
                <a:cs typeface="Cambria Math" pitchFamily="34" charset="-120"/>
              </a:rPr>
              <a:t>Var(W) = 2 / (n_in + n_out)</a:t>
            </a:r>
            <a:endParaRPr lang="en-US" sz="2000" dirty="0"/>
          </a:p>
        </p:txBody>
      </p:sp>
      <p:sp>
        <p:nvSpPr>
          <p:cNvPr id="6" name="Text 4"/>
          <p:cNvSpPr txBox="1"/>
          <p:nvPr/>
        </p:nvSpPr>
        <p:spPr>
          <a:xfrm>
            <a:off x="640080" y="2926080"/>
            <a:ext cx="10911535" cy="201168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Dung hoà 2 điều kiện: giữ Var(z) khi forward VÀ giữ Var(gradient) khi backward</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Phù hợp Tanh/Sigmoid — activation đối xứng quanh 0</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Thực nghiệm: Tanh + Xavier đạt 69.2% test accuracy (cao nhất trong lưới 20 cấu hình)</a:t>
            </a:r>
            <a:endParaRPr lang="en-US" sz="1600" dirty="0"/>
          </a:p>
        </p:txBody>
      </p:sp>
      <p:sp>
        <p:nvSpPr>
          <p:cNvPr id="7" name="Text 5"/>
          <p:cNvSpPr txBox="1"/>
          <p:nvPr/>
        </p:nvSpPr>
        <p:spPr>
          <a:xfrm>
            <a:off x="640080" y="4937760"/>
            <a:ext cx="3291840" cy="713232"/>
          </a:xfrm>
          <a:prstGeom prst="rect">
            <a:avLst/>
          </a:prstGeom>
          <a:noFill/>
          <a:ln/>
        </p:spPr>
        <p:txBody>
          <a:bodyPr wrap="square" lIns="0" tIns="0" rIns="0" bIns="0" rtlCol="0" anchor="b"/>
          <a:lstStyle/>
          <a:p>
            <a:pPr algn="ctr" indent="0" marL="0">
              <a:buNone/>
            </a:pPr>
            <a:r>
              <a:rPr lang="en-US" sz="3200" b="1" dirty="0">
                <a:solidFill>
                  <a:srgbClr val="285AB4"/>
                </a:solidFill>
                <a:latin typeface="Cambria" pitchFamily="34" charset="0"/>
                <a:ea typeface="Cambria" pitchFamily="34" charset="-122"/>
                <a:cs typeface="Cambria" pitchFamily="34" charset="-120"/>
              </a:rPr>
              <a:t>69.2%</a:t>
            </a:r>
            <a:endParaRPr lang="en-US" sz="3200" dirty="0"/>
          </a:p>
        </p:txBody>
      </p:sp>
      <p:sp>
        <p:nvSpPr>
          <p:cNvPr id="8" name="Text 6"/>
          <p:cNvSpPr txBox="1"/>
          <p:nvPr/>
        </p:nvSpPr>
        <p:spPr>
          <a:xfrm>
            <a:off x="640080" y="5650992"/>
            <a:ext cx="329184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Tanh + Xavier — test accuracy</a:t>
            </a:r>
            <a:endParaRPr lang="en-US" sz="1100" dirty="0"/>
          </a:p>
        </p:txBody>
      </p:sp>
      <p:sp>
        <p:nvSpPr>
          <p:cNvPr id="9" name="Text 7"/>
          <p:cNvSpPr txBox="1"/>
          <p:nvPr/>
        </p:nvSpPr>
        <p:spPr>
          <a:xfrm>
            <a:off x="4480560" y="4937760"/>
            <a:ext cx="3291840" cy="713232"/>
          </a:xfrm>
          <a:prstGeom prst="rect">
            <a:avLst/>
          </a:prstGeom>
          <a:noFill/>
          <a:ln/>
        </p:spPr>
        <p:txBody>
          <a:bodyPr wrap="square" lIns="0" tIns="0" rIns="0" bIns="0" rtlCol="0" anchor="b"/>
          <a:lstStyle/>
          <a:p>
            <a:pPr algn="ctr" indent="0" marL="0">
              <a:buNone/>
            </a:pPr>
            <a:r>
              <a:rPr lang="en-US" sz="3200" b="1" dirty="0">
                <a:solidFill>
                  <a:srgbClr val="5B6478"/>
                </a:solidFill>
                <a:latin typeface="Cambria" pitchFamily="34" charset="0"/>
                <a:ea typeface="Cambria" pitchFamily="34" charset="-122"/>
                <a:cs typeface="Cambria" pitchFamily="34" charset="-120"/>
              </a:rPr>
              <a:t>n_in ≠ n_out</a:t>
            </a:r>
            <a:endParaRPr lang="en-US" sz="3200" dirty="0"/>
          </a:p>
        </p:txBody>
      </p:sp>
      <p:sp>
        <p:nvSpPr>
          <p:cNvPr id="10" name="Text 8"/>
          <p:cNvSpPr txBox="1"/>
          <p:nvPr/>
        </p:nvSpPr>
        <p:spPr>
          <a:xfrm>
            <a:off x="4480560" y="5650992"/>
            <a:ext cx="329184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2 điều kiện chỉ trùng khi bằng nhau</a:t>
            </a:r>
            <a:endParaRPr lang="en-US" sz="1100" dirty="0"/>
          </a:p>
        </p:txBody>
      </p:sp>
      <p:sp>
        <p:nvSpPr>
          <p:cNvPr id="11" name="Text 9"/>
          <p:cNvSpPr txBox="1"/>
          <p:nvPr/>
        </p:nvSpPr>
        <p:spPr>
          <a:xfrm>
            <a:off x="8321040" y="4937760"/>
            <a:ext cx="3291840" cy="713232"/>
          </a:xfrm>
          <a:prstGeom prst="rect">
            <a:avLst/>
          </a:prstGeom>
          <a:noFill/>
          <a:ln/>
        </p:spPr>
        <p:txBody>
          <a:bodyPr wrap="square" lIns="0" tIns="0" rIns="0" bIns="0" rtlCol="0" anchor="b"/>
          <a:lstStyle/>
          <a:p>
            <a:pPr algn="ctr" indent="0" marL="0">
              <a:buNone/>
            </a:pPr>
            <a:r>
              <a:rPr lang="en-US" sz="3200" b="1" dirty="0">
                <a:solidFill>
                  <a:srgbClr val="5B6478"/>
                </a:solidFill>
                <a:latin typeface="Cambria" pitchFamily="34" charset="0"/>
                <a:ea typeface="Cambria" pitchFamily="34" charset="-122"/>
                <a:cs typeface="Cambria" pitchFamily="34" charset="-120"/>
              </a:rPr>
              <a:t>2010</a:t>
            </a:r>
            <a:endParaRPr lang="en-US" sz="3200" dirty="0"/>
          </a:p>
        </p:txBody>
      </p:sp>
      <p:sp>
        <p:nvSpPr>
          <p:cNvPr id="12" name="Text 10"/>
          <p:cNvSpPr txBox="1"/>
          <p:nvPr/>
        </p:nvSpPr>
        <p:spPr>
          <a:xfrm>
            <a:off x="8321040" y="5650992"/>
            <a:ext cx="329184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Glorot &amp; Bengio, AISTATS</a:t>
            </a:r>
            <a:endParaRPr lang="en-US" sz="1100" dirty="0"/>
          </a:p>
        </p:txBody>
      </p:sp>
      <p:sp>
        <p:nvSpPr>
          <p:cNvPr id="13" name="Text 11"/>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15/29</a:t>
            </a:r>
            <a:endParaRPr lang="en-US" sz="900" dirty="0"/>
          </a:p>
        </p:txBody>
      </p:sp>
      <p:sp>
        <p:nvSpPr>
          <p:cNvPr id="14" name="Shape 12"/>
          <p:cNvSpPr/>
          <p:nvPr/>
        </p:nvSpPr>
        <p:spPr>
          <a:xfrm>
            <a:off x="610362" y="6473952"/>
            <a:ext cx="59436" cy="59436"/>
          </a:xfrm>
          <a:prstGeom prst="ellipse">
            <a:avLst/>
          </a:prstGeom>
          <a:solidFill>
            <a:srgbClr val="D9DEE8"/>
          </a:solidFill>
          <a:ln/>
        </p:spPr>
      </p:sp>
      <p:sp>
        <p:nvSpPr>
          <p:cNvPr id="15" name="Shape 13"/>
          <p:cNvSpPr/>
          <p:nvPr/>
        </p:nvSpPr>
        <p:spPr>
          <a:xfrm>
            <a:off x="814959" y="6459093"/>
            <a:ext cx="89154" cy="89154"/>
          </a:xfrm>
          <a:prstGeom prst="ellipse">
            <a:avLst/>
          </a:prstGeom>
          <a:solidFill>
            <a:srgbClr val="285AB4"/>
          </a:solidFill>
          <a:ln/>
        </p:spPr>
      </p:sp>
      <p:sp>
        <p:nvSpPr>
          <p:cNvPr id="16" name="Shape 14"/>
          <p:cNvSpPr/>
          <p:nvPr/>
        </p:nvSpPr>
        <p:spPr>
          <a:xfrm>
            <a:off x="1049274" y="6473952"/>
            <a:ext cx="59436" cy="59436"/>
          </a:xfrm>
          <a:prstGeom prst="ellipse">
            <a:avLst/>
          </a:prstGeom>
          <a:solidFill>
            <a:srgbClr val="D9DEE8"/>
          </a:solidFill>
          <a:ln/>
        </p:spPr>
      </p:sp>
      <p:sp>
        <p:nvSpPr>
          <p:cNvPr id="17" name="Shape 15"/>
          <p:cNvSpPr/>
          <p:nvPr/>
        </p:nvSpPr>
        <p:spPr>
          <a:xfrm>
            <a:off x="1268730" y="6473952"/>
            <a:ext cx="59436" cy="59436"/>
          </a:xfrm>
          <a:prstGeom prst="ellipse">
            <a:avLst/>
          </a:prstGeom>
          <a:solidFill>
            <a:srgbClr val="D9DEE8"/>
          </a:solidFill>
          <a:ln/>
        </p:spPr>
      </p:sp>
      <p:sp>
        <p:nvSpPr>
          <p:cNvPr id="18" name="Text 16"/>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He / Kaiming Initialization</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2000" dirty="0">
                <a:solidFill>
                  <a:srgbClr val="16213E"/>
                </a:solidFill>
                <a:latin typeface="Cambria Math" pitchFamily="34" charset="0"/>
                <a:ea typeface="Cambria Math" pitchFamily="34" charset="-122"/>
                <a:cs typeface="Cambria Math" pitchFamily="34" charset="-120"/>
              </a:rPr>
              <a:t>Var(W) = 2 / n_in</a:t>
            </a:r>
            <a:endParaRPr lang="en-US" sz="2000" dirty="0"/>
          </a:p>
        </p:txBody>
      </p:sp>
      <p:sp>
        <p:nvSpPr>
          <p:cNvPr id="6" name="Text 4"/>
          <p:cNvSpPr txBox="1"/>
          <p:nvPr/>
        </p:nvSpPr>
        <p:spPr>
          <a:xfrm>
            <a:off x="640080" y="2788920"/>
            <a:ext cx="10911535"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Gấp đôi Xavier — bù ReLU triệt tiêu ~một nửa variance (z&lt;0 → 0)</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Phù hợp ReLU / Leaky ReLU</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Hệ quả bậc-1 chưa xử lý: ReLU còn LỆCH TÂM DƯƠNG (E[a]≈0.4σ&gt;0) — động lực cho ELU/SELU tự chuẩn hoá</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Thực nghiệm: ReLU+Xavier 67.4% vs. ReLU+He 66.7% (n=1 seed)</a:t>
            </a:r>
            <a:endParaRPr lang="en-US" sz="1500" dirty="0"/>
          </a:p>
        </p:txBody>
      </p:sp>
      <p:sp>
        <p:nvSpPr>
          <p:cNvPr id="7" name="Shape 5"/>
          <p:cNvSpPr/>
          <p:nvPr/>
        </p:nvSpPr>
        <p:spPr>
          <a:xfrm>
            <a:off x="640080" y="5029200"/>
            <a:ext cx="10911535" cy="1051560"/>
          </a:xfrm>
          <a:prstGeom prst="roundRect">
            <a:avLst>
              <a:gd name="adj" fmla="val 6957"/>
            </a:avLst>
          </a:prstGeom>
          <a:solidFill>
            <a:srgbClr val="FBEEEC"/>
          </a:solidFill>
          <a:ln w="9525">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5029200"/>
            <a:ext cx="10362895" cy="1051560"/>
          </a:xfrm>
          <a:prstGeom prst="rect">
            <a:avLst/>
          </a:prstGeom>
          <a:noFill/>
          <a:ln/>
        </p:spPr>
        <p:txBody>
          <a:bodyPr wrap="square" lIns="0" tIns="0" rIns="0" bIns="0" rtlCol="0" anchor="ctr"/>
          <a:lstStyle/>
          <a:p>
            <a:pPr algn="ctr" indent="0" marL="0">
              <a:buNone/>
            </a:pPr>
            <a:r>
              <a:rPr lang="en-US" sz="1300" i="1" dirty="0">
                <a:solidFill>
                  <a:srgbClr val="16213E"/>
                </a:solidFill>
                <a:latin typeface="Calibri" pitchFamily="34" charset="0"/>
                <a:ea typeface="Calibri" pitchFamily="34" charset="-122"/>
                <a:cs typeface="Calibri" pitchFamily="34" charset="-120"/>
              </a:rPr>
              <a:t>Trung thực khoa học: chênh lệch He/Xavier trên KHÔNG có ý nghĩa thống kê (statistically insignificant, n=1) — KHÔNG kết luận Xavier vượt trội He cho ReLU</a:t>
            </a:r>
            <a:endParaRPr lang="en-US" sz="13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16/29</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14959" y="6459093"/>
            <a:ext cx="89154" cy="89154"/>
          </a:xfrm>
          <a:prstGeom prst="ellipse">
            <a:avLst/>
          </a:prstGeom>
          <a:solidFill>
            <a:srgbClr val="285AB4"/>
          </a:solidFill>
          <a:ln/>
        </p:spPr>
      </p:sp>
      <p:sp>
        <p:nvSpPr>
          <p:cNvPr id="12" name="Shape 10"/>
          <p:cNvSpPr/>
          <p:nvPr/>
        </p:nvSpPr>
        <p:spPr>
          <a:xfrm>
            <a:off x="1049274" y="6473952"/>
            <a:ext cx="59436" cy="59436"/>
          </a:xfrm>
          <a:prstGeom prst="ellipse">
            <a:avLst/>
          </a:prstGeom>
          <a:solidFill>
            <a:srgbClr val="D9DEE8"/>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VANISHING / EXPLODING GRADIENT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Vanishing Gradient</a:t>
            </a:r>
            <a:endParaRPr lang="en-US" sz="2900" dirty="0"/>
          </a:p>
        </p:txBody>
      </p:sp>
      <p:sp>
        <p:nvSpPr>
          <p:cNvPr id="4" name="Text 2"/>
          <p:cNvSpPr txBox="1"/>
          <p:nvPr/>
        </p:nvSpPr>
        <p:spPr>
          <a:xfrm>
            <a:off x="640080" y="1920240"/>
            <a:ext cx="6035040" cy="35661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Gradient = tích nhiều đạo hàm cục bộ qua L lớp  ≈  gᴸ</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 &lt; 1  ⇒  suy giảm theo HÀM MŨ khi L tăng</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g=0.5, L=50  ⇒  hệ số ≈ 8.9×10⁻¹⁶ (gần bằng 0)</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Nguyên nhân kép: activation bão hoà (σ′≤0.25) + weight scale sai</a:t>
            </a:r>
            <a:endParaRPr lang="en-US" sz="1600" dirty="0"/>
          </a:p>
        </p:txBody>
      </p:sp>
      <p:sp>
        <p:nvSpPr>
          <p:cNvPr id="5" name="Shape 3"/>
          <p:cNvSpPr/>
          <p:nvPr/>
        </p:nvSpPr>
        <p:spPr>
          <a:xfrm>
            <a:off x="7040880" y="2103120"/>
            <a:ext cx="4023360" cy="457200"/>
          </a:xfrm>
          <a:prstGeom prst="roundRect">
            <a:avLst>
              <a:gd name="adj" fmla="val 8000"/>
            </a:avLst>
          </a:prstGeom>
          <a:solidFill>
            <a:srgbClr val="BE3C32"/>
          </a:solidFill>
          <a:ln/>
        </p:spPr>
      </p:sp>
      <p:sp>
        <p:nvSpPr>
          <p:cNvPr id="6" name="Text 4"/>
          <p:cNvSpPr txBox="1"/>
          <p:nvPr/>
        </p:nvSpPr>
        <p:spPr>
          <a:xfrm>
            <a:off x="11173968" y="2103120"/>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L=1</a:t>
            </a:r>
            <a:endParaRPr lang="en-US" sz="1150" dirty="0"/>
          </a:p>
        </p:txBody>
      </p:sp>
      <p:sp>
        <p:nvSpPr>
          <p:cNvPr id="7" name="Shape 5"/>
          <p:cNvSpPr/>
          <p:nvPr/>
        </p:nvSpPr>
        <p:spPr>
          <a:xfrm>
            <a:off x="7040880" y="2816352"/>
            <a:ext cx="2194560" cy="457200"/>
          </a:xfrm>
          <a:prstGeom prst="roundRect">
            <a:avLst>
              <a:gd name="adj" fmla="val 8000"/>
            </a:avLst>
          </a:prstGeom>
          <a:solidFill>
            <a:srgbClr val="BE3C32"/>
          </a:solidFill>
          <a:ln/>
        </p:spPr>
      </p:sp>
      <p:sp>
        <p:nvSpPr>
          <p:cNvPr id="8" name="Text 6"/>
          <p:cNvSpPr txBox="1"/>
          <p:nvPr/>
        </p:nvSpPr>
        <p:spPr>
          <a:xfrm>
            <a:off x="9345168" y="2816352"/>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L=5</a:t>
            </a:r>
            <a:endParaRPr lang="en-US" sz="1150" dirty="0"/>
          </a:p>
        </p:txBody>
      </p:sp>
      <p:sp>
        <p:nvSpPr>
          <p:cNvPr id="9" name="Shape 7"/>
          <p:cNvSpPr/>
          <p:nvPr/>
        </p:nvSpPr>
        <p:spPr>
          <a:xfrm>
            <a:off x="7040880" y="3529584"/>
            <a:ext cx="1005840" cy="457200"/>
          </a:xfrm>
          <a:prstGeom prst="roundRect">
            <a:avLst>
              <a:gd name="adj" fmla="val 8000"/>
            </a:avLst>
          </a:prstGeom>
          <a:solidFill>
            <a:srgbClr val="BE3C32"/>
          </a:solidFill>
          <a:ln/>
        </p:spPr>
      </p:sp>
      <p:sp>
        <p:nvSpPr>
          <p:cNvPr id="10" name="Text 8"/>
          <p:cNvSpPr txBox="1"/>
          <p:nvPr/>
        </p:nvSpPr>
        <p:spPr>
          <a:xfrm>
            <a:off x="8156448" y="3529584"/>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L=10</a:t>
            </a:r>
            <a:endParaRPr lang="en-US" sz="1150" dirty="0"/>
          </a:p>
        </p:txBody>
      </p:sp>
      <p:sp>
        <p:nvSpPr>
          <p:cNvPr id="11" name="Shape 9"/>
          <p:cNvSpPr/>
          <p:nvPr/>
        </p:nvSpPr>
        <p:spPr>
          <a:xfrm>
            <a:off x="7040880" y="4242816"/>
            <a:ext cx="365760" cy="457200"/>
          </a:xfrm>
          <a:prstGeom prst="roundRect">
            <a:avLst>
              <a:gd name="adj" fmla="val 10000"/>
            </a:avLst>
          </a:prstGeom>
          <a:solidFill>
            <a:srgbClr val="BE3C32"/>
          </a:solidFill>
          <a:ln/>
        </p:spPr>
      </p:sp>
      <p:sp>
        <p:nvSpPr>
          <p:cNvPr id="12" name="Text 10"/>
          <p:cNvSpPr txBox="1"/>
          <p:nvPr/>
        </p:nvSpPr>
        <p:spPr>
          <a:xfrm>
            <a:off x="7516368" y="4242816"/>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L=20</a:t>
            </a:r>
            <a:endParaRPr lang="en-US" sz="1150" dirty="0"/>
          </a:p>
        </p:txBody>
      </p:sp>
      <p:sp>
        <p:nvSpPr>
          <p:cNvPr id="13" name="Shape 11"/>
          <p:cNvSpPr/>
          <p:nvPr/>
        </p:nvSpPr>
        <p:spPr>
          <a:xfrm>
            <a:off x="7040880" y="4956048"/>
            <a:ext cx="109728" cy="457200"/>
          </a:xfrm>
          <a:prstGeom prst="roundRect">
            <a:avLst>
              <a:gd name="adj" fmla="val 33333"/>
            </a:avLst>
          </a:prstGeom>
          <a:solidFill>
            <a:srgbClr val="BE3C32"/>
          </a:solidFill>
          <a:ln/>
        </p:spPr>
      </p:sp>
      <p:sp>
        <p:nvSpPr>
          <p:cNvPr id="14" name="Text 12"/>
          <p:cNvSpPr txBox="1"/>
          <p:nvPr/>
        </p:nvSpPr>
        <p:spPr>
          <a:xfrm>
            <a:off x="7260336" y="4956048"/>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L=50</a:t>
            </a:r>
            <a:endParaRPr lang="en-US" sz="1150" dirty="0"/>
          </a:p>
        </p:txBody>
      </p:sp>
      <p:sp>
        <p:nvSpPr>
          <p:cNvPr id="15" name="Text 13"/>
          <p:cNvSpPr txBox="1"/>
          <p:nvPr/>
        </p:nvSpPr>
        <p:spPr>
          <a:xfrm>
            <a:off x="7040880" y="1719072"/>
            <a:ext cx="4480560" cy="32004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g = 0.5 — độ lớn gradient co lại theo độ sâu</a:t>
            </a:r>
            <a:endParaRPr lang="en-US" sz="120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17/29</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14959" y="6459093"/>
            <a:ext cx="89154" cy="89154"/>
          </a:xfrm>
          <a:prstGeom prst="ellipse">
            <a:avLst/>
          </a:prstGeom>
          <a:solidFill>
            <a:srgbClr val="285AB4"/>
          </a:solidFill>
          <a:ln/>
        </p:spPr>
      </p:sp>
      <p:sp>
        <p:nvSpPr>
          <p:cNvPr id="19" name="Shape 17"/>
          <p:cNvSpPr/>
          <p:nvPr/>
        </p:nvSpPr>
        <p:spPr>
          <a:xfrm>
            <a:off x="1049274" y="6473952"/>
            <a:ext cx="59436" cy="59436"/>
          </a:xfrm>
          <a:prstGeom prst="ellipse">
            <a:avLst/>
          </a:prstGeom>
          <a:solidFill>
            <a:srgbClr val="D9DEE8"/>
          </a:solidFill>
          <a:ln/>
        </p:spPr>
      </p:sp>
      <p:sp>
        <p:nvSpPr>
          <p:cNvPr id="20" name="Shape 18"/>
          <p:cNvSpPr/>
          <p:nvPr/>
        </p:nvSpPr>
        <p:spPr>
          <a:xfrm>
            <a:off x="1268730" y="6473952"/>
            <a:ext cx="59436" cy="59436"/>
          </a:xfrm>
          <a:prstGeom prst="ellipse">
            <a:avLst/>
          </a:prstGeom>
          <a:solidFill>
            <a:srgbClr val="D9DEE8"/>
          </a:solidFill>
          <a:ln/>
        </p:spPr>
      </p:sp>
      <p:sp>
        <p:nvSpPr>
          <p:cNvPr id="21" name="Text 1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VANISHING / EXPLODING GRADIENT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Exploding Gradient</a:t>
            </a:r>
            <a:endParaRPr lang="en-US" sz="2900" dirty="0"/>
          </a:p>
        </p:txBody>
      </p:sp>
      <p:sp>
        <p:nvSpPr>
          <p:cNvPr id="4" name="Text 2"/>
          <p:cNvSpPr txBox="1"/>
          <p:nvPr/>
        </p:nvSpPr>
        <p:spPr>
          <a:xfrm>
            <a:off x="640080" y="1920240"/>
            <a:ext cx="6035040" cy="35661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 &gt; 1  ⇒  tăng theo HÀM MŨ khi L tăng</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g=2, L=50  ⇒  hệ số ≈ 1.1×10¹⁵</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Hệ quả: loss dao động mạnh hoặc NaN, huấn luyện phân kỳ</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Cùng nguyên nhân với vanishing — chỉ khác dấu của (g−1)</a:t>
            </a:r>
            <a:endParaRPr lang="en-US" sz="1600" dirty="0"/>
          </a:p>
        </p:txBody>
      </p:sp>
      <p:sp>
        <p:nvSpPr>
          <p:cNvPr id="5" name="Shape 3"/>
          <p:cNvSpPr/>
          <p:nvPr/>
        </p:nvSpPr>
        <p:spPr>
          <a:xfrm>
            <a:off x="7040880" y="2103120"/>
            <a:ext cx="137160" cy="457200"/>
          </a:xfrm>
          <a:prstGeom prst="roundRect">
            <a:avLst>
              <a:gd name="adj" fmla="val 26667"/>
            </a:avLst>
          </a:prstGeom>
          <a:solidFill>
            <a:srgbClr val="285AB4"/>
          </a:solidFill>
          <a:ln/>
        </p:spPr>
      </p:sp>
      <p:sp>
        <p:nvSpPr>
          <p:cNvPr id="6" name="Text 4"/>
          <p:cNvSpPr txBox="1"/>
          <p:nvPr/>
        </p:nvSpPr>
        <p:spPr>
          <a:xfrm>
            <a:off x="7287768" y="2103120"/>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L=1</a:t>
            </a:r>
            <a:endParaRPr lang="en-US" sz="1150" dirty="0"/>
          </a:p>
        </p:txBody>
      </p:sp>
      <p:sp>
        <p:nvSpPr>
          <p:cNvPr id="7" name="Shape 5"/>
          <p:cNvSpPr/>
          <p:nvPr/>
        </p:nvSpPr>
        <p:spPr>
          <a:xfrm>
            <a:off x="7040880" y="2816352"/>
            <a:ext cx="457200" cy="457200"/>
          </a:xfrm>
          <a:prstGeom prst="roundRect">
            <a:avLst>
              <a:gd name="adj" fmla="val 8000"/>
            </a:avLst>
          </a:prstGeom>
          <a:solidFill>
            <a:srgbClr val="285AB4"/>
          </a:solidFill>
          <a:ln/>
        </p:spPr>
      </p:sp>
      <p:sp>
        <p:nvSpPr>
          <p:cNvPr id="8" name="Text 6"/>
          <p:cNvSpPr txBox="1"/>
          <p:nvPr/>
        </p:nvSpPr>
        <p:spPr>
          <a:xfrm>
            <a:off x="7607808" y="2816352"/>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L=5</a:t>
            </a:r>
            <a:endParaRPr lang="en-US" sz="1150" dirty="0"/>
          </a:p>
        </p:txBody>
      </p:sp>
      <p:sp>
        <p:nvSpPr>
          <p:cNvPr id="9" name="Shape 7"/>
          <p:cNvSpPr/>
          <p:nvPr/>
        </p:nvSpPr>
        <p:spPr>
          <a:xfrm>
            <a:off x="7040880" y="3529584"/>
            <a:ext cx="1188720" cy="457200"/>
          </a:xfrm>
          <a:prstGeom prst="roundRect">
            <a:avLst>
              <a:gd name="adj" fmla="val 8000"/>
            </a:avLst>
          </a:prstGeom>
          <a:solidFill>
            <a:srgbClr val="285AB4"/>
          </a:solidFill>
          <a:ln/>
        </p:spPr>
      </p:sp>
      <p:sp>
        <p:nvSpPr>
          <p:cNvPr id="10" name="Text 8"/>
          <p:cNvSpPr txBox="1"/>
          <p:nvPr/>
        </p:nvSpPr>
        <p:spPr>
          <a:xfrm>
            <a:off x="8339328" y="3529584"/>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L=10</a:t>
            </a:r>
            <a:endParaRPr lang="en-US" sz="1150" dirty="0"/>
          </a:p>
        </p:txBody>
      </p:sp>
      <p:sp>
        <p:nvSpPr>
          <p:cNvPr id="11" name="Shape 9"/>
          <p:cNvSpPr/>
          <p:nvPr/>
        </p:nvSpPr>
        <p:spPr>
          <a:xfrm>
            <a:off x="7040880" y="4242816"/>
            <a:ext cx="2377440" cy="457200"/>
          </a:xfrm>
          <a:prstGeom prst="roundRect">
            <a:avLst>
              <a:gd name="adj" fmla="val 8000"/>
            </a:avLst>
          </a:prstGeom>
          <a:solidFill>
            <a:srgbClr val="285AB4"/>
          </a:solidFill>
          <a:ln/>
        </p:spPr>
      </p:sp>
      <p:sp>
        <p:nvSpPr>
          <p:cNvPr id="12" name="Text 10"/>
          <p:cNvSpPr txBox="1"/>
          <p:nvPr/>
        </p:nvSpPr>
        <p:spPr>
          <a:xfrm>
            <a:off x="9528048" y="4242816"/>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L=20</a:t>
            </a:r>
            <a:endParaRPr lang="en-US" sz="1150" dirty="0"/>
          </a:p>
        </p:txBody>
      </p:sp>
      <p:sp>
        <p:nvSpPr>
          <p:cNvPr id="13" name="Shape 11"/>
          <p:cNvSpPr/>
          <p:nvPr/>
        </p:nvSpPr>
        <p:spPr>
          <a:xfrm>
            <a:off x="7040880" y="4956048"/>
            <a:ext cx="4206240" cy="457200"/>
          </a:xfrm>
          <a:prstGeom prst="roundRect">
            <a:avLst>
              <a:gd name="adj" fmla="val 8000"/>
            </a:avLst>
          </a:prstGeom>
          <a:solidFill>
            <a:srgbClr val="285AB4"/>
          </a:solidFill>
          <a:ln/>
        </p:spPr>
      </p:sp>
      <p:sp>
        <p:nvSpPr>
          <p:cNvPr id="14" name="Text 12"/>
          <p:cNvSpPr txBox="1"/>
          <p:nvPr/>
        </p:nvSpPr>
        <p:spPr>
          <a:xfrm>
            <a:off x="11356848" y="4956048"/>
            <a:ext cx="914400" cy="457200"/>
          </a:xfrm>
          <a:prstGeom prst="rect">
            <a:avLst/>
          </a:prstGeom>
          <a:noFill/>
          <a:ln/>
        </p:spPr>
        <p:txBody>
          <a:bodyPr wrap="square" lIns="0" tIns="0" rIns="0" bIns="0" rtlCol="0" anchor="ctr"/>
          <a:lstStyle/>
          <a:p>
            <a:pPr indent="0" marL="0">
              <a:buNone/>
            </a:pPr>
            <a:r>
              <a:rPr lang="en-US" sz="1150" dirty="0">
                <a:solidFill>
                  <a:srgbClr val="5B6478"/>
                </a:solidFill>
                <a:latin typeface="Calibri" pitchFamily="34" charset="0"/>
                <a:ea typeface="Calibri" pitchFamily="34" charset="-122"/>
                <a:cs typeface="Calibri" pitchFamily="34" charset="-120"/>
              </a:rPr>
              <a:t>L=50</a:t>
            </a:r>
            <a:endParaRPr lang="en-US" sz="1150" dirty="0"/>
          </a:p>
        </p:txBody>
      </p:sp>
      <p:sp>
        <p:nvSpPr>
          <p:cNvPr id="15" name="Text 13"/>
          <p:cNvSpPr txBox="1"/>
          <p:nvPr/>
        </p:nvSpPr>
        <p:spPr>
          <a:xfrm>
            <a:off x="7040880" y="1719072"/>
            <a:ext cx="4480560" cy="32004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g = 2 — độ lớn gradient tăng theo độ sâu</a:t>
            </a:r>
            <a:endParaRPr lang="en-US" sz="120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18/29</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14959" y="6459093"/>
            <a:ext cx="89154" cy="89154"/>
          </a:xfrm>
          <a:prstGeom prst="ellipse">
            <a:avLst/>
          </a:prstGeom>
          <a:solidFill>
            <a:srgbClr val="285AB4"/>
          </a:solidFill>
          <a:ln/>
        </p:spPr>
      </p:sp>
      <p:sp>
        <p:nvSpPr>
          <p:cNvPr id="19" name="Shape 17"/>
          <p:cNvSpPr/>
          <p:nvPr/>
        </p:nvSpPr>
        <p:spPr>
          <a:xfrm>
            <a:off x="1049274" y="6473952"/>
            <a:ext cx="59436" cy="59436"/>
          </a:xfrm>
          <a:prstGeom prst="ellipse">
            <a:avLst/>
          </a:prstGeom>
          <a:solidFill>
            <a:srgbClr val="D9DEE8"/>
          </a:solidFill>
          <a:ln/>
        </p:spPr>
      </p:sp>
      <p:sp>
        <p:nvSpPr>
          <p:cNvPr id="20" name="Shape 18"/>
          <p:cNvSpPr/>
          <p:nvPr/>
        </p:nvSpPr>
        <p:spPr>
          <a:xfrm>
            <a:off x="1268730" y="6473952"/>
            <a:ext cx="59436" cy="59436"/>
          </a:xfrm>
          <a:prstGeom prst="ellipse">
            <a:avLst/>
          </a:prstGeom>
          <a:solidFill>
            <a:srgbClr val="D9DEE8"/>
          </a:solidFill>
          <a:ln/>
        </p:spPr>
      </p:sp>
      <p:sp>
        <p:nvSpPr>
          <p:cNvPr id="21" name="Text 1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INITIALIZATION</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THỰC NGHIỆM</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Thiết kế thực nghiệm</a:t>
            </a:r>
            <a:endParaRPr lang="en-US" sz="2900" dirty="0"/>
          </a:p>
        </p:txBody>
      </p:sp>
      <p:sp>
        <p:nvSpPr>
          <p:cNvPr id="4" name="Text 2"/>
          <p:cNvSpPr txBox="1"/>
          <p:nvPr/>
        </p:nvSpPr>
        <p:spPr>
          <a:xfrm>
            <a:off x="640080" y="1920240"/>
            <a:ext cx="5943600" cy="35661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MLP 784→128×6→10, KHÔNG BatchNorm/Dropout</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Fashion-MNIST subset: 5,000 train / 1,000 val / 2,000 test</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SGD thuần, lr=0.05, batch=128, 15 epoch, seed=42</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Lưới đầy đủ: 5 initialization × 4 activation = 20 cấu hình</a:t>
            </a:r>
            <a:endParaRPr lang="en-US" sz="1600" dirty="0"/>
          </a:p>
        </p:txBody>
      </p:sp>
      <p:sp>
        <p:nvSpPr>
          <p:cNvPr id="5" name="Shape 3"/>
          <p:cNvSpPr/>
          <p:nvPr/>
        </p:nvSpPr>
        <p:spPr>
          <a:xfrm>
            <a:off x="6949440" y="1920240"/>
            <a:ext cx="4572000" cy="3749040"/>
          </a:xfrm>
          <a:prstGeom prst="roundRect">
            <a:avLst>
              <a:gd name="adj" fmla="val 1951"/>
            </a:avLst>
          </a:prstGeom>
          <a:solidFill>
            <a:srgbClr val="16213E"/>
          </a:solidFill>
          <a:ln/>
          <a:effectLst>
            <a:outerShdw sx="100000" sy="100000" kx="0" ky="0" algn="bl" rotWithShape="0" blurRad="114300" dist="38100" dir="5400000">
              <a:srgbClr val="1A1A2E">
                <a:alpha val="20000"/>
              </a:srgbClr>
            </a:outerShdw>
          </a:effectLst>
        </p:spPr>
      </p:sp>
      <p:sp>
        <p:nvSpPr>
          <p:cNvPr id="6" name="Text 4"/>
          <p:cNvSpPr txBox="1"/>
          <p:nvPr/>
        </p:nvSpPr>
        <p:spPr>
          <a:xfrm>
            <a:off x="7223760" y="2194560"/>
            <a:ext cx="4023360" cy="365760"/>
          </a:xfrm>
          <a:prstGeom prst="rect">
            <a:avLst/>
          </a:prstGeom>
          <a:noFill/>
          <a:ln/>
        </p:spPr>
        <p:txBody>
          <a:bodyPr wrap="square" lIns="0" tIns="0" rIns="0" bIns="0" rtlCol="0" anchor="ctr"/>
          <a:lstStyle/>
          <a:p>
            <a:pPr indent="0" marL="0">
              <a:buNone/>
            </a:pPr>
            <a:r>
              <a:rPr lang="en-US" sz="1500" b="1" dirty="0">
                <a:solidFill>
                  <a:srgbClr val="CADCFC"/>
                </a:solidFill>
                <a:latin typeface="Cambria" pitchFamily="34" charset="0"/>
                <a:ea typeface="Cambria" pitchFamily="34" charset="-122"/>
                <a:cs typeface="Cambria" pitchFamily="34" charset="-120"/>
              </a:rPr>
              <a:t>“Fair experiment”</a:t>
            </a:r>
            <a:endParaRPr lang="en-US" sz="1500" dirty="0"/>
          </a:p>
        </p:txBody>
      </p:sp>
      <p:sp>
        <p:nvSpPr>
          <p:cNvPr id="7" name="Text 5"/>
          <p:cNvSpPr txBox="1"/>
          <p:nvPr/>
        </p:nvSpPr>
        <p:spPr>
          <a:xfrm>
            <a:off x="7223760" y="2697480"/>
            <a:ext cx="4023360" cy="1920240"/>
          </a:xfrm>
          <a:prstGeom prst="rect">
            <a:avLst/>
          </a:prstGeom>
          <a:noFill/>
          <a:ln/>
        </p:spPr>
        <p:txBody>
          <a:bodyPr wrap="square" lIns="0" tIns="0" rIns="0" bIns="0" rtlCol="0" anchor="t"/>
          <a:lstStyle/>
          <a:p>
            <a:pPr indent="0" marL="0">
              <a:buNone/>
            </a:pPr>
            <a:r>
              <a:rPr lang="en-US" sz="1350" i="1" dirty="0">
                <a:solidFill>
                  <a:srgbClr val="FFFFFF"/>
                </a:solidFill>
                <a:latin typeface="Calibri" pitchFamily="34" charset="0"/>
                <a:ea typeface="Calibri" pitchFamily="34" charset="-122"/>
                <a:cs typeface="Calibri" pitchFamily="34" charset="-120"/>
              </a:rPr>
              <a:t>Chỉ initialization và activation thay đổi — kiến trúc, optimizer, learning rate, batch size, epoch, seed, cách chia dữ liệu GIỐNG HỆT NHAU giữa 20 lần chạy.</a:t>
            </a:r>
            <a:endParaRPr lang="en-US" sz="1350" dirty="0"/>
          </a:p>
        </p:txBody>
      </p:sp>
      <p:sp>
        <p:nvSpPr>
          <p:cNvPr id="8" name="Text 6"/>
          <p:cNvSpPr txBox="1"/>
          <p:nvPr/>
        </p:nvSpPr>
        <p:spPr>
          <a:xfrm>
            <a:off x="7223760" y="5166360"/>
            <a:ext cx="4023360" cy="320040"/>
          </a:xfrm>
          <a:prstGeom prst="rect">
            <a:avLst/>
          </a:prstGeom>
          <a:noFill/>
          <a:ln/>
        </p:spPr>
        <p:txBody>
          <a:bodyPr wrap="square" lIns="0" tIns="0" rIns="0" bIns="0" rtlCol="0" anchor="ctr"/>
          <a:lstStyle/>
          <a:p>
            <a:pPr indent="0" marL="0">
              <a:buNone/>
            </a:pPr>
            <a:r>
              <a:rPr lang="en-US" sz="1200" dirty="0">
                <a:solidFill>
                  <a:srgbClr val="8FA3C9"/>
                </a:solidFill>
                <a:latin typeface="Calibri" pitchFamily="34" charset="0"/>
                <a:ea typeface="Calibri" pitchFamily="34" charset="-122"/>
                <a:cs typeface="Calibri" pitchFamily="34" charset="-120"/>
              </a:rPr>
              <a:t>Tổng thời gian chạy: ≈1 phút CPU</a:t>
            </a:r>
            <a:endParaRPr lang="en-US" sz="12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19/29</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29818" y="6473952"/>
            <a:ext cx="59436" cy="59436"/>
          </a:xfrm>
          <a:prstGeom prst="ellipse">
            <a:avLst/>
          </a:prstGeom>
          <a:solidFill>
            <a:srgbClr val="D9DEE8"/>
          </a:solidFill>
          <a:ln/>
        </p:spPr>
      </p:sp>
      <p:sp>
        <p:nvSpPr>
          <p:cNvPr id="12" name="Shape 10"/>
          <p:cNvSpPr/>
          <p:nvPr/>
        </p:nvSpPr>
        <p:spPr>
          <a:xfrm>
            <a:off x="1034415" y="6459093"/>
            <a:ext cx="89154" cy="89154"/>
          </a:xfrm>
          <a:prstGeom prst="ellipse">
            <a:avLst/>
          </a:prstGeom>
          <a:solidFill>
            <a:srgbClr val="285AB4"/>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THỰC NGHIỆM — IMPLEMENTATION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Part A: Manual Backpropagation</a:t>
            </a:r>
            <a:endParaRPr lang="en-US" sz="2900" dirty="0"/>
          </a:p>
        </p:txBody>
      </p:sp>
      <p:sp>
        <p:nvSpPr>
          <p:cNvPr id="4" name="Text 2"/>
          <p:cNvSpPr txBox="1"/>
          <p:nvPr/>
        </p:nvSpPr>
        <p:spPr>
          <a:xfrm>
            <a:off x="640080" y="2011680"/>
            <a:ext cx="10911535" cy="2926080"/>
          </a:xfrm>
          <a:prstGeom prst="rect">
            <a:avLst/>
          </a:prstGeom>
          <a:noFill/>
          <a:ln/>
        </p:spPr>
        <p:txBody>
          <a:bodyPr wrap="square" lIns="0" tIns="0" rIns="0" bIns="0" rtlCol="0" anchor="t"/>
          <a:lstStyle/>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Tự viết forward + backward bằng NumPy thuần — KHÔNG dùng autograd (src/manual_nn.py)</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Chạy đúng ví dụ 2 lớp ở Slide 9 (x=(1,1) → L=0.25205)</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Đối chiếu PyTorch autograd: sai số tuyệt đối = 0.00e+00</a:t>
            </a:r>
            <a:endParaRPr lang="en-US" sz="1650" dirty="0"/>
          </a:p>
          <a:p>
            <a:pPr marL="228600" indent="-228600">
              <a:spcAft>
                <a:spcPts val="1200"/>
              </a:spcAft>
              <a:buSzPct val="100000"/>
              <a:buChar char="▪"/>
            </a:pPr>
            <a:r>
              <a:rPr lang="en-US" sz="1650" dirty="0">
                <a:solidFill>
                  <a:srgbClr val="1A2238"/>
                </a:solidFill>
                <a:latin typeface="Calibri" pitchFamily="34" charset="0"/>
                <a:ea typeface="Calibri" pitchFamily="34" charset="-122"/>
                <a:cs typeface="Calibri" pitchFamily="34" charset="-120"/>
              </a:rPr>
              <a:t>Chứng minh Backprop = Chain Rule bằng CODE THẬT, không chỉ lý thuyết</a:t>
            </a:r>
            <a:endParaRPr lang="en-US" sz="1650" dirty="0"/>
          </a:p>
        </p:txBody>
      </p:sp>
      <p:sp>
        <p:nvSpPr>
          <p:cNvPr id="5" name="Text 3"/>
          <p:cNvSpPr txBox="1"/>
          <p:nvPr/>
        </p:nvSpPr>
        <p:spPr>
          <a:xfrm>
            <a:off x="640080" y="4846320"/>
            <a:ext cx="3383280" cy="713232"/>
          </a:xfrm>
          <a:prstGeom prst="rect">
            <a:avLst/>
          </a:prstGeom>
          <a:noFill/>
          <a:ln/>
        </p:spPr>
        <p:txBody>
          <a:bodyPr wrap="square" lIns="0" tIns="0" rIns="0" bIns="0" rtlCol="0" anchor="b"/>
          <a:lstStyle/>
          <a:p>
            <a:pPr algn="ctr" indent="0" marL="0">
              <a:buNone/>
            </a:pPr>
            <a:r>
              <a:rPr lang="en-US" sz="3200" b="1" dirty="0">
                <a:solidFill>
                  <a:srgbClr val="285AB4"/>
                </a:solidFill>
                <a:latin typeface="Cambria" pitchFamily="34" charset="0"/>
                <a:ea typeface="Cambria" pitchFamily="34" charset="-122"/>
                <a:cs typeface="Cambria" pitchFamily="34" charset="-120"/>
              </a:rPr>
              <a:t>0.25205</a:t>
            </a:r>
            <a:endParaRPr lang="en-US" sz="3200" dirty="0"/>
          </a:p>
        </p:txBody>
      </p:sp>
      <p:sp>
        <p:nvSpPr>
          <p:cNvPr id="6" name="Text 4"/>
          <p:cNvSpPr txBox="1"/>
          <p:nvPr/>
        </p:nvSpPr>
        <p:spPr>
          <a:xfrm>
            <a:off x="640080" y="5559552"/>
            <a:ext cx="338328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Loss — khớp tuyệt đối</a:t>
            </a:r>
            <a:endParaRPr lang="en-US" sz="1100" dirty="0"/>
          </a:p>
        </p:txBody>
      </p:sp>
      <p:sp>
        <p:nvSpPr>
          <p:cNvPr id="7" name="Text 5"/>
          <p:cNvSpPr txBox="1"/>
          <p:nvPr/>
        </p:nvSpPr>
        <p:spPr>
          <a:xfrm>
            <a:off x="4480560" y="4846320"/>
            <a:ext cx="3383280" cy="713232"/>
          </a:xfrm>
          <a:prstGeom prst="rect">
            <a:avLst/>
          </a:prstGeom>
          <a:noFill/>
          <a:ln/>
        </p:spPr>
        <p:txBody>
          <a:bodyPr wrap="square" lIns="0" tIns="0" rIns="0" bIns="0" rtlCol="0" anchor="b"/>
          <a:lstStyle/>
          <a:p>
            <a:pPr algn="ctr" indent="0" marL="0">
              <a:buNone/>
            </a:pPr>
            <a:r>
              <a:rPr lang="en-US" sz="3200" b="1" dirty="0">
                <a:solidFill>
                  <a:srgbClr val="2E7D5B"/>
                </a:solidFill>
                <a:latin typeface="Cambria" pitchFamily="34" charset="0"/>
                <a:ea typeface="Cambria" pitchFamily="34" charset="-122"/>
                <a:cs typeface="Cambria" pitchFamily="34" charset="-120"/>
              </a:rPr>
              <a:t>0.00e+00</a:t>
            </a:r>
            <a:endParaRPr lang="en-US" sz="3200" dirty="0"/>
          </a:p>
        </p:txBody>
      </p:sp>
      <p:sp>
        <p:nvSpPr>
          <p:cNvPr id="8" name="Text 6"/>
          <p:cNvSpPr txBox="1"/>
          <p:nvPr/>
        </p:nvSpPr>
        <p:spPr>
          <a:xfrm>
            <a:off x="4480560" y="5559552"/>
            <a:ext cx="338328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sai số vs. PyTorch autograd</a:t>
            </a:r>
            <a:endParaRPr lang="en-US" sz="1100" dirty="0"/>
          </a:p>
        </p:txBody>
      </p:sp>
      <p:sp>
        <p:nvSpPr>
          <p:cNvPr id="9" name="Text 7"/>
          <p:cNvSpPr txBox="1"/>
          <p:nvPr/>
        </p:nvSpPr>
        <p:spPr>
          <a:xfrm>
            <a:off x="8046720" y="4846320"/>
            <a:ext cx="3383280" cy="713232"/>
          </a:xfrm>
          <a:prstGeom prst="rect">
            <a:avLst/>
          </a:prstGeom>
          <a:noFill/>
          <a:ln/>
        </p:spPr>
        <p:txBody>
          <a:bodyPr wrap="square" lIns="0" tIns="0" rIns="0" bIns="0" rtlCol="0" anchor="b"/>
          <a:lstStyle/>
          <a:p>
            <a:pPr algn="ctr" indent="0" marL="0">
              <a:buNone/>
            </a:pPr>
            <a:r>
              <a:rPr lang="en-US" sz="3200" b="1" dirty="0">
                <a:solidFill>
                  <a:srgbClr val="5B6478"/>
                </a:solidFill>
                <a:latin typeface="Cambria" pitchFamily="34" charset="0"/>
                <a:ea typeface="Cambria" pitchFamily="34" charset="-122"/>
                <a:cs typeface="Cambria" pitchFamily="34" charset="-120"/>
              </a:rPr>
              <a:t>NumPy</a:t>
            </a:r>
            <a:endParaRPr lang="en-US" sz="3200" dirty="0"/>
          </a:p>
        </p:txBody>
      </p:sp>
      <p:sp>
        <p:nvSpPr>
          <p:cNvPr id="10" name="Text 8"/>
          <p:cNvSpPr txBox="1"/>
          <p:nvPr/>
        </p:nvSpPr>
        <p:spPr>
          <a:xfrm>
            <a:off x="8046720" y="5559552"/>
            <a:ext cx="3383280" cy="475488"/>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100% tự viết, không autograd</a:t>
            </a:r>
            <a:endParaRPr lang="en-US" sz="1100" dirty="0"/>
          </a:p>
        </p:txBody>
      </p:sp>
      <p:sp>
        <p:nvSpPr>
          <p:cNvPr id="11" name="Text 9"/>
          <p:cNvSpPr txBox="1"/>
          <p:nvPr/>
        </p:nvSpPr>
        <p:spPr>
          <a:xfrm>
            <a:off x="640080" y="6172200"/>
            <a:ext cx="10911535" cy="365760"/>
          </a:xfrm>
          <a:prstGeom prst="rect">
            <a:avLst/>
          </a:prstGeom>
          <a:noFill/>
          <a:ln/>
        </p:spPr>
        <p:txBody>
          <a:bodyPr wrap="square" lIns="0" tIns="0" rIns="0" bIns="0" rtlCol="0" anchor="ctr"/>
          <a:lstStyle/>
          <a:p>
            <a:pPr algn="ctr" indent="0" marL="0">
              <a:buNone/>
            </a:pPr>
            <a:r>
              <a:rPr lang="en-US" sz="1050" i="1" dirty="0">
                <a:solidFill>
                  <a:srgbClr val="5B6478"/>
                </a:solidFill>
                <a:latin typeface="Calibri" pitchFamily="34" charset="0"/>
                <a:ea typeface="Calibri" pitchFamily="34" charset="-122"/>
                <a:cs typeface="Calibri" pitchFamily="34" charset="-120"/>
              </a:rPr>
              <a:t>* 0.00e+00 = đã chạm giới hạn biểu diễn số thực float64 (machine precision ε≈2.2×10⁻¹⁶) — không phải trùng hợp, mà là bằng chứng hai phép tính TOÁN HỌC GIỐNG HỆT NHAU.</a:t>
            </a:r>
            <a:endParaRPr lang="en-US" sz="1050" dirty="0"/>
          </a:p>
        </p:txBody>
      </p:sp>
      <p:sp>
        <p:nvSpPr>
          <p:cNvPr id="12" name="Text 10"/>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20/29</a:t>
            </a:r>
            <a:endParaRPr lang="en-US" sz="900" dirty="0"/>
          </a:p>
        </p:txBody>
      </p:sp>
      <p:sp>
        <p:nvSpPr>
          <p:cNvPr id="13" name="Shape 11"/>
          <p:cNvSpPr/>
          <p:nvPr/>
        </p:nvSpPr>
        <p:spPr>
          <a:xfrm>
            <a:off x="610362" y="6473952"/>
            <a:ext cx="59436" cy="59436"/>
          </a:xfrm>
          <a:prstGeom prst="ellipse">
            <a:avLst/>
          </a:prstGeom>
          <a:solidFill>
            <a:srgbClr val="D9DEE8"/>
          </a:solidFill>
          <a:ln/>
        </p:spPr>
      </p:sp>
      <p:sp>
        <p:nvSpPr>
          <p:cNvPr id="14" name="Shape 12"/>
          <p:cNvSpPr/>
          <p:nvPr/>
        </p:nvSpPr>
        <p:spPr>
          <a:xfrm>
            <a:off x="829818" y="6473952"/>
            <a:ext cx="59436" cy="59436"/>
          </a:xfrm>
          <a:prstGeom prst="ellipse">
            <a:avLst/>
          </a:prstGeom>
          <a:solidFill>
            <a:srgbClr val="D9DEE8"/>
          </a:solidFill>
          <a:ln/>
        </p:spPr>
      </p:sp>
      <p:sp>
        <p:nvSpPr>
          <p:cNvPr id="15" name="Shape 13"/>
          <p:cNvSpPr/>
          <p:nvPr/>
        </p:nvSpPr>
        <p:spPr>
          <a:xfrm>
            <a:off x="1034415" y="6459093"/>
            <a:ext cx="89154" cy="89154"/>
          </a:xfrm>
          <a:prstGeom prst="ellipse">
            <a:avLst/>
          </a:prstGeom>
          <a:solidFill>
            <a:srgbClr val="285AB4"/>
          </a:solidFill>
          <a:ln/>
        </p:spPr>
      </p:sp>
      <p:sp>
        <p:nvSpPr>
          <p:cNvPr id="16" name="Shape 14"/>
          <p:cNvSpPr/>
          <p:nvPr/>
        </p:nvSpPr>
        <p:spPr>
          <a:xfrm>
            <a:off x="1268730" y="6473952"/>
            <a:ext cx="59436" cy="59436"/>
          </a:xfrm>
          <a:prstGeom prst="ellipse">
            <a:avLst/>
          </a:prstGeom>
          <a:solidFill>
            <a:srgbClr val="D9DEE8"/>
          </a:solidFill>
          <a:ln/>
        </p:spPr>
      </p:sp>
      <p:sp>
        <p:nvSpPr>
          <p:cNvPr id="17" name="Text 15"/>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THỰC NGHIỆM — IMPLEMENTATION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Gradient Checking</a:t>
            </a:r>
            <a:endParaRPr lang="en-US" sz="2900" dirty="0"/>
          </a:p>
        </p:txBody>
      </p:sp>
      <p:sp>
        <p:nvSpPr>
          <p:cNvPr id="4" name="Shape 2"/>
          <p:cNvSpPr/>
          <p:nvPr/>
        </p:nvSpPr>
        <p:spPr>
          <a:xfrm>
            <a:off x="640080" y="187452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874520"/>
            <a:ext cx="10454335" cy="777240"/>
          </a:xfrm>
          <a:prstGeom prst="rect">
            <a:avLst/>
          </a:prstGeom>
          <a:noFill/>
          <a:ln/>
        </p:spPr>
        <p:txBody>
          <a:bodyPr wrap="square" lIns="0" tIns="0" rIns="0" bIns="0" rtlCol="0" anchor="ctr"/>
          <a:lstStyle/>
          <a:p>
            <a:pPr algn="ctr" indent="0" marL="0">
              <a:buNone/>
            </a:pPr>
            <a:r>
              <a:rPr lang="en-US" sz="1800" dirty="0">
                <a:solidFill>
                  <a:srgbClr val="16213E"/>
                </a:solidFill>
                <a:latin typeface="Cambria Math" pitchFamily="34" charset="0"/>
                <a:ea typeface="Cambria Math" pitchFamily="34" charset="-122"/>
                <a:cs typeface="Cambria Math" pitchFamily="34" charset="-120"/>
              </a:rPr>
              <a:t>(f(w+h) − f(w−h)) / 2h        h = 10⁻⁶</a:t>
            </a:r>
            <a:endParaRPr lang="en-US" sz="1800" dirty="0"/>
          </a:p>
        </p:txBody>
      </p:sp>
      <p:sp>
        <p:nvSpPr>
          <p:cNvPr id="6" name="Text 4"/>
          <p:cNvSpPr txBox="1"/>
          <p:nvPr/>
        </p:nvSpPr>
        <p:spPr>
          <a:xfrm>
            <a:off x="640080" y="2926080"/>
            <a:ext cx="10911535" cy="182880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3 cách tính độc lập: manual (NumPy) · PyTorch autograd · finite-difference</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Sai số tối đa giữa 3 cách: ≈10⁻⁹ — mức sai số làm tròn float64 (machine precision), KHÔNG phải sai số thuật toán</a:t>
            </a:r>
            <a:endParaRPr lang="en-US" sz="1600" dirty="0"/>
          </a:p>
          <a:p>
            <a:pPr marL="228600" indent="-228600">
              <a:spcAft>
                <a:spcPts val="1200"/>
              </a:spcAft>
              <a:buSzPct val="100000"/>
              <a:buChar char="▪"/>
            </a:pPr>
            <a:r>
              <a:rPr lang="en-US" sz="1600" dirty="0">
                <a:solidFill>
                  <a:srgbClr val="1A2238"/>
                </a:solidFill>
                <a:latin typeface="Calibri" pitchFamily="34" charset="0"/>
                <a:ea typeface="Calibri" pitchFamily="34" charset="-122"/>
                <a:cs typeface="Calibri" pitchFamily="34" charset="-120"/>
              </a:rPr>
              <a:t>Kết quả: PASS (ngưỡng chấp nhận 10⁻⁴)</a:t>
            </a:r>
            <a:endParaRPr lang="en-US" sz="1600" dirty="0"/>
          </a:p>
        </p:txBody>
      </p:sp>
      <p:sp>
        <p:nvSpPr>
          <p:cNvPr id="7" name="Shape 5"/>
          <p:cNvSpPr/>
          <p:nvPr/>
        </p:nvSpPr>
        <p:spPr>
          <a:xfrm>
            <a:off x="640080" y="4846320"/>
            <a:ext cx="10911535" cy="1188720"/>
          </a:xfrm>
          <a:prstGeom prst="roundRect">
            <a:avLst>
              <a:gd name="adj" fmla="val 6154"/>
            </a:avLst>
          </a:prstGeom>
          <a:solidFill>
            <a:srgbClr val="EAF6EF"/>
          </a:solidFill>
          <a:ln w="9525">
            <a:solidFill>
              <a:srgbClr val="2E7D5B"/>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4846320"/>
            <a:ext cx="10362895" cy="1188720"/>
          </a:xfrm>
          <a:prstGeom prst="rect">
            <a:avLst/>
          </a:prstGeom>
          <a:noFill/>
          <a:ln/>
        </p:spPr>
        <p:txBody>
          <a:bodyPr wrap="square" lIns="0" tIns="0" rIns="0" bIns="0" rtlCol="0" anchor="ctr"/>
          <a:lstStyle/>
          <a:p>
            <a:pPr algn="ctr" indent="0" marL="0">
              <a:buNone/>
            </a:pPr>
            <a:r>
              <a:rPr lang="en-US" sz="1350" i="1" dirty="0">
                <a:solidFill>
                  <a:srgbClr val="16213E"/>
                </a:solidFill>
                <a:latin typeface="Calibri" pitchFamily="34" charset="0"/>
                <a:ea typeface="Calibri" pitchFamily="34" charset="-122"/>
                <a:cs typeface="Calibri" pitchFamily="34" charset="-120"/>
              </a:rPr>
              <a:t>Gradient checking CÔ LẬP LỖI: nếu manual sai (sai chiều ma trận, quên chia batch, sai dấu…) trong khi autograd và finite-diff vẫn khớp nhau → biết ngay lỗi nằm ở khâu tính gradient thủ công.</a:t>
            </a:r>
            <a:endParaRPr lang="en-US" sz="135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21/29</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29818" y="6473952"/>
            <a:ext cx="59436" cy="59436"/>
          </a:xfrm>
          <a:prstGeom prst="ellipse">
            <a:avLst/>
          </a:prstGeom>
          <a:solidFill>
            <a:srgbClr val="D9DEE8"/>
          </a:solidFill>
          <a:ln/>
        </p:spPr>
      </p:sp>
      <p:sp>
        <p:nvSpPr>
          <p:cNvPr id="12" name="Shape 10"/>
          <p:cNvSpPr/>
          <p:nvPr/>
        </p:nvSpPr>
        <p:spPr>
          <a:xfrm>
            <a:off x="1034415" y="6459093"/>
            <a:ext cx="89154" cy="89154"/>
          </a:xfrm>
          <a:prstGeom prst="ellipse">
            <a:avLst/>
          </a:prstGeom>
          <a:solidFill>
            <a:srgbClr val="285AB4"/>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KẾT QUẢ THỰC NGHIỆM</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Test Accuracy — toàn bộ lưới 20 cấu hình</a:t>
            </a:r>
            <a:endParaRPr lang="en-US" sz="2900" dirty="0"/>
          </a:p>
        </p:txBody>
      </p:sp>
      <p:pic>
        <p:nvPicPr>
          <p:cNvPr id="4" name="Image 0" descr="..\results\figures\initialization_comparison_slide.png">    </p:cNvPr>
          <p:cNvPicPr>
            <a:picLocks noChangeAspect="1"/>
          </p:cNvPicPr>
          <p:nvPr/>
        </p:nvPicPr>
        <p:blipFill>
          <a:blip r:embed="rId1"/>
          <a:stretch>
            <a:fillRect/>
          </a:stretch>
        </p:blipFill>
        <p:spPr>
          <a:xfrm>
            <a:off x="3352648" y="1691640"/>
            <a:ext cx="5486400" cy="3066741"/>
          </a:xfrm>
          <a:prstGeom prst="rect">
            <a:avLst/>
          </a:prstGeom>
        </p:spPr>
      </p:pic>
      <p:sp>
        <p:nvSpPr>
          <p:cNvPr id="5" name="Text 2"/>
          <p:cNvSpPr txBox="1"/>
          <p:nvPr/>
        </p:nvSpPr>
        <p:spPr>
          <a:xfrm>
            <a:off x="640080" y="4895541"/>
            <a:ext cx="10911535" cy="1188720"/>
          </a:xfrm>
          <a:prstGeom prst="rect">
            <a:avLst/>
          </a:prstGeom>
          <a:noFill/>
          <a:ln/>
        </p:spPr>
        <p:txBody>
          <a:bodyPr wrap="square" lIns="0" tIns="0" rIns="0" bIns="0" rtlCol="0" anchor="t"/>
          <a:lstStyle/>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Zero/Random: LUÔN ở mức ngẫu nhiên (10%), với MỌI activation</a:t>
            </a:r>
            <a:endParaRPr lang="en-US" sz="1300" dirty="0"/>
          </a:p>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Sigmoid: LUÔN ~10% dù initialization nào — kể cả He/Xavier</a:t>
            </a:r>
            <a:endParaRPr lang="en-US" sz="1300" dirty="0"/>
          </a:p>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LeCun/Xavier/He: 64–69% với Tanh/ReLU/Leaky ReLU</a:t>
            </a:r>
            <a:endParaRPr lang="en-US" sz="13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22/29</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KẾT QUẢ THỰC NGHIỆM</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Gradient Norm theo Layer (Sigmoid)</a:t>
            </a:r>
            <a:endParaRPr lang="en-US" sz="2900" dirty="0"/>
          </a:p>
        </p:txBody>
      </p:sp>
      <p:pic>
        <p:nvPicPr>
          <p:cNvPr id="4" name="Image 0" descr="..\results\figures\gradient_norm_slide.png">    </p:cNvPr>
          <p:cNvPicPr>
            <a:picLocks noChangeAspect="1"/>
          </p:cNvPicPr>
          <p:nvPr/>
        </p:nvPicPr>
        <p:blipFill>
          <a:blip r:embed="rId1"/>
          <a:stretch>
            <a:fillRect/>
          </a:stretch>
        </p:blipFill>
        <p:spPr>
          <a:xfrm>
            <a:off x="640080" y="1783080"/>
            <a:ext cx="5746501" cy="3931920"/>
          </a:xfrm>
          <a:prstGeom prst="rect">
            <a:avLst/>
          </a:prstGeom>
        </p:spPr>
      </p:pic>
      <p:sp>
        <p:nvSpPr>
          <p:cNvPr id="5" name="Text 2"/>
          <p:cNvSpPr txBox="1"/>
          <p:nvPr/>
        </p:nvSpPr>
        <p:spPr>
          <a:xfrm>
            <a:off x="6752341" y="1920240"/>
            <a:ext cx="4799274" cy="3749040"/>
          </a:xfrm>
          <a:prstGeom prst="rect">
            <a:avLst/>
          </a:prstGeom>
          <a:noFill/>
          <a:ln/>
        </p:spPr>
        <p:txBody>
          <a:bodyPr wrap="square" lIns="0" tIns="0" rIns="0" bIns="0" rtlCol="0" anchor="t"/>
          <a:lstStyle/>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Random (naive): suy giảm ≈9 bậc độ lớn, output → input</a:t>
            </a:r>
            <a:endParaRPr lang="en-US" sz="1450" dirty="0"/>
          </a:p>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LeCun/Xavier/He: suy giảm nhẹ hơn nhiều (2–3 bậc)…</a:t>
            </a:r>
            <a:endParaRPr lang="en-US" sz="1450" dirty="0"/>
          </a:p>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…nhưng VẪN suy giảm — vì σ′(z)≤0.25 bất kể weight scale</a:t>
            </a:r>
            <a:endParaRPr lang="en-US" sz="1450" dirty="0"/>
          </a:p>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Đây là bằng chứng thực nghiệm trực tiếp nhất cho lý thuyết vanishing gradient</a:t>
            </a:r>
            <a:endParaRPr lang="en-US" sz="145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23/29</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KẾT QUẢ THỰC NGHIỆM</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Bức tranh tổng thể</a:t>
            </a:r>
            <a:endParaRPr lang="en-US" sz="2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2468880"/>
        </p:xfrm>
        <a:graphic>
          <a:graphicData uri="http://schemas.openxmlformats.org/drawingml/2006/table">
            <a:tbl>
              <a:tblPr/>
              <a:tblGrid>
                <a:gridCol w="2133295"/>
                <a:gridCol w="2194560"/>
                <a:gridCol w="2194560"/>
                <a:gridCol w="2194560"/>
                <a:gridCol w="2194560"/>
              </a:tblGrid>
              <a:tr h="411480">
                <a:tc>
                  <a:txBody>
                    <a:bodyPr/>
                    <a:lstStyle/>
                    <a:p>
                      <a:pPr indent="0" marL="0">
                        <a:buNone/>
                      </a:pP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Sigmoid</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Tanh</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ReLU</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Leaky ReLU</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r>
              <a:tr h="411480">
                <a:tc>
                  <a:txBody>
                    <a:bodyPr/>
                    <a:lstStyle/>
                    <a:p>
                      <a:pPr algn="l" indent="0" marL="0">
                        <a:buNone/>
                      </a:pPr>
                      <a:r>
                        <a:rPr lang="en-US" sz="1300" b="1" dirty="0">
                          <a:solidFill>
                            <a:srgbClr val="1A2238"/>
                          </a:solidFill>
                        </a:rPr>
                        <a:t>Zero</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11480">
                <a:tc>
                  <a:txBody>
                    <a:bodyPr/>
                    <a:lstStyle/>
                    <a:p>
                      <a:pPr algn="l" indent="0" marL="0">
                        <a:buNone/>
                      </a:pPr>
                      <a:r>
                        <a:rPr lang="en-US" sz="1300" b="1" dirty="0">
                          <a:solidFill>
                            <a:srgbClr val="1A2238"/>
                          </a:solidFill>
                        </a:rPr>
                        <a:t>Random</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11480">
                <a:tc>
                  <a:txBody>
                    <a:bodyPr/>
                    <a:lstStyle/>
                    <a:p>
                      <a:pPr algn="l" indent="0" marL="0">
                        <a:buNone/>
                      </a:pPr>
                      <a:r>
                        <a:rPr lang="en-US" sz="1300" b="1" dirty="0">
                          <a:solidFill>
                            <a:srgbClr val="1A2238"/>
                          </a:solidFill>
                        </a:rPr>
                        <a:t>LeCun</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0.689</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0.638</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0.648</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11480">
                <a:tc>
                  <a:txBody>
                    <a:bodyPr/>
                    <a:lstStyle/>
                    <a:p>
                      <a:pPr algn="l" indent="0" marL="0">
                        <a:buNone/>
                      </a:pPr>
                      <a:r>
                        <a:rPr lang="en-US" sz="1300" b="1" dirty="0">
                          <a:solidFill>
                            <a:srgbClr val="1A2238"/>
                          </a:solidFill>
                        </a:rPr>
                        <a:t>Xavier</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0.692</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0.674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0.682</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11480">
                <a:tc>
                  <a:txBody>
                    <a:bodyPr/>
                    <a:lstStyle/>
                    <a:p>
                      <a:pPr algn="l" indent="0" marL="0">
                        <a:buNone/>
                      </a:pPr>
                      <a:r>
                        <a:rPr lang="en-US" sz="1300" b="1" dirty="0">
                          <a:solidFill>
                            <a:srgbClr val="1A2238"/>
                          </a:solidFill>
                        </a:rPr>
                        <a:t>He</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0.694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0.667</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0.634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bl>
          </a:graphicData>
        </a:graphic>
      </p:graphicFrame>
      <p:sp>
        <p:nvSpPr>
          <p:cNvPr id="5" name="Text 2"/>
          <p:cNvSpPr txBox="1"/>
          <p:nvPr/>
        </p:nvSpPr>
        <p:spPr>
          <a:xfrm>
            <a:off x="640080" y="4572000"/>
            <a:ext cx="10911535"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Zero/Random: luôn ở mức ngẫu nhiên, MỌI activation</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Tanh + init có scale: tốt nhất tổng thể (~69%)</a:t>
            </a:r>
            <a:endParaRPr lang="en-US" sz="1500" dirty="0"/>
          </a:p>
          <a:p>
            <a:pPr marL="228600" indent="-228600">
              <a:spcAft>
                <a:spcPts val="800"/>
              </a:spcAft>
              <a:buSzPct val="100000"/>
              <a:buChar char="▪"/>
            </a:pPr>
            <a:r>
              <a:rPr lang="en-US" sz="1500" dirty="0">
                <a:solidFill>
                  <a:srgbClr val="1A2238"/>
                </a:solidFill>
                <a:latin typeface="Calibri" pitchFamily="34" charset="0"/>
                <a:ea typeface="Calibri" pitchFamily="34" charset="-122"/>
                <a:cs typeface="Calibri" pitchFamily="34" charset="-120"/>
              </a:rPr>
              <a:t>ReLU/Leaky ReLU: LeCun/Xavier/He tương đương nhau (64–68%)</a:t>
            </a:r>
            <a:endParaRPr lang="en-US" sz="15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24/29</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THỰC NGHIỆM</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THẢO LUẬN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Vì sao Sigmoid thất bại dù He/Xavier “đúng lý thuyết”?</a:t>
            </a:r>
            <a:endParaRPr lang="en-US" sz="2400" dirty="0"/>
          </a:p>
        </p:txBody>
      </p:sp>
      <p:sp>
        <p:nvSpPr>
          <p:cNvPr id="4" name="Shape 2"/>
          <p:cNvSpPr/>
          <p:nvPr/>
        </p:nvSpPr>
        <p:spPr>
          <a:xfrm>
            <a:off x="640080" y="1828800"/>
            <a:ext cx="5120640" cy="2788920"/>
          </a:xfrm>
          <a:prstGeom prst="roundRect">
            <a:avLst>
              <a:gd name="adj" fmla="val 2623"/>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029968"/>
            <a:ext cx="4572000" cy="365760"/>
          </a:xfrm>
          <a:prstGeom prst="rect">
            <a:avLst/>
          </a:prstGeom>
          <a:noFill/>
          <a:ln/>
        </p:spPr>
        <p:txBody>
          <a:bodyPr wrap="square" lIns="0" tIns="0" rIns="0" bIns="0" rtlCol="0" anchor="ctr"/>
          <a:lstStyle/>
          <a:p>
            <a:pPr indent="0" marL="0">
              <a:buNone/>
            </a:pPr>
            <a:r>
              <a:rPr lang="en-US" sz="1500" b="1" dirty="0">
                <a:solidFill>
                  <a:srgbClr val="285AB4"/>
                </a:solidFill>
                <a:latin typeface="Cambria" pitchFamily="34" charset="0"/>
                <a:ea typeface="Cambria" pitchFamily="34" charset="-122"/>
                <a:cs typeface="Cambria" pitchFamily="34" charset="-120"/>
              </a:rPr>
              <a:t>Nguyên nhân 1 — trần đạo hàm</a:t>
            </a:r>
            <a:endParaRPr lang="en-US" sz="1500" dirty="0"/>
          </a:p>
        </p:txBody>
      </p:sp>
      <p:sp>
        <p:nvSpPr>
          <p:cNvPr id="6" name="Text 4"/>
          <p:cNvSpPr txBox="1"/>
          <p:nvPr/>
        </p:nvSpPr>
        <p:spPr>
          <a:xfrm>
            <a:off x="914400" y="2514600"/>
            <a:ext cx="4572000" cy="1965960"/>
          </a:xfrm>
          <a:prstGeom prst="rect">
            <a:avLst/>
          </a:prstGeom>
          <a:noFill/>
          <a:ln/>
        </p:spPr>
        <p:txBody>
          <a:bodyPr wrap="square" lIns="0" tIns="0" rIns="0" bIns="0" rtlCol="0" anchor="t"/>
          <a:lstStyle/>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σ′(z) ≤ 0.25 LUÔN đúng, bất kể weight scale</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6 lớp ⇒ trần suy giảm: 0.25⁶ ≈ 2.4×10⁻⁴</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Gradient lớp 1 ≈ 1.6×10⁻⁵ — khác 0 nhưng quá nhỏ</a:t>
            </a:r>
            <a:endParaRPr lang="en-US" sz="1350" dirty="0"/>
          </a:p>
        </p:txBody>
      </p:sp>
      <p:sp>
        <p:nvSpPr>
          <p:cNvPr id="7" name="Shape 5"/>
          <p:cNvSpPr/>
          <p:nvPr/>
        </p:nvSpPr>
        <p:spPr>
          <a:xfrm>
            <a:off x="6430975" y="1828800"/>
            <a:ext cx="5120640" cy="2788920"/>
          </a:xfrm>
          <a:prstGeom prst="roundRect">
            <a:avLst>
              <a:gd name="adj" fmla="val 2623"/>
            </a:avLst>
          </a:prstGeom>
          <a:solidFill>
            <a:srgbClr val="FBEEEC"/>
          </a:solidFill>
          <a:ln w="12700">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6705295" y="2029968"/>
            <a:ext cx="4572000" cy="365760"/>
          </a:xfrm>
          <a:prstGeom prst="rect">
            <a:avLst/>
          </a:prstGeom>
          <a:noFill/>
          <a:ln/>
        </p:spPr>
        <p:txBody>
          <a:bodyPr wrap="square" lIns="0" tIns="0" rIns="0" bIns="0" rtlCol="0" anchor="ctr"/>
          <a:lstStyle/>
          <a:p>
            <a:pPr indent="0" marL="0">
              <a:buNone/>
            </a:pPr>
            <a:r>
              <a:rPr lang="en-US" sz="1500" b="1" dirty="0">
                <a:solidFill>
                  <a:srgbClr val="BE3C32"/>
                </a:solidFill>
                <a:latin typeface="Cambria" pitchFamily="34" charset="0"/>
                <a:ea typeface="Cambria" pitchFamily="34" charset="-122"/>
                <a:cs typeface="Cambria" pitchFamily="34" charset="-120"/>
              </a:rPr>
              <a:t>Nguyên nhân 2 — lệch tâm (zig-zag)</a:t>
            </a:r>
            <a:endParaRPr lang="en-US" sz="1500" dirty="0"/>
          </a:p>
        </p:txBody>
      </p:sp>
      <p:sp>
        <p:nvSpPr>
          <p:cNvPr id="9" name="Text 7"/>
          <p:cNvSpPr txBox="1"/>
          <p:nvPr/>
        </p:nvSpPr>
        <p:spPr>
          <a:xfrm>
            <a:off x="6705295" y="2514600"/>
            <a:ext cx="4572000" cy="1965960"/>
          </a:xfrm>
          <a:prstGeom prst="rect">
            <a:avLst/>
          </a:prstGeom>
          <a:noFill/>
          <a:ln/>
        </p:spPr>
        <p:txBody>
          <a:bodyPr wrap="square" lIns="0" tIns="0" rIns="0" bIns="0" rtlCol="0" anchor="t"/>
          <a:lstStyle/>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σ(z)∈(0,1) không đối xứng quanh 0 (E[σ]≈0.5)</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 mọi trọng số vào 1 neuron cùng dấu gradient</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 Gradient Descent buộc đi đường DÍCH DẮC, không đường thẳng</a:t>
            </a:r>
            <a:endParaRPr lang="en-US" sz="1350" dirty="0"/>
          </a:p>
        </p:txBody>
      </p:sp>
      <p:sp>
        <p:nvSpPr>
          <p:cNvPr id="10" name="Shape 8"/>
          <p:cNvSpPr/>
          <p:nvPr/>
        </p:nvSpPr>
        <p:spPr>
          <a:xfrm>
            <a:off x="6751015" y="4818888"/>
            <a:ext cx="4297680" cy="384048"/>
          </a:xfrm>
          <a:prstGeom prst="line">
            <a:avLst/>
          </a:prstGeom>
          <a:noFill/>
          <a:ln w="15875">
            <a:solidFill>
              <a:srgbClr val="D9DEE8"/>
            </a:solidFill>
            <a:prstDash val="dash"/>
          </a:ln>
        </p:spPr>
      </p:sp>
      <p:sp>
        <p:nvSpPr>
          <p:cNvPr id="11" name="Shape 9"/>
          <p:cNvSpPr/>
          <p:nvPr/>
        </p:nvSpPr>
        <p:spPr>
          <a:xfrm>
            <a:off x="6751015" y="4818888"/>
            <a:ext cx="859536" cy="0"/>
          </a:xfrm>
          <a:prstGeom prst="line">
            <a:avLst/>
          </a:prstGeom>
          <a:noFill/>
          <a:ln w="25400">
            <a:solidFill>
              <a:srgbClr val="BE3C32"/>
            </a:solidFill>
            <a:prstDash val="solid"/>
          </a:ln>
        </p:spPr>
      </p:sp>
      <p:sp>
        <p:nvSpPr>
          <p:cNvPr id="12" name="Shape 10"/>
          <p:cNvSpPr/>
          <p:nvPr/>
        </p:nvSpPr>
        <p:spPr>
          <a:xfrm>
            <a:off x="7610551" y="4818888"/>
            <a:ext cx="0" cy="153619"/>
          </a:xfrm>
          <a:prstGeom prst="line">
            <a:avLst/>
          </a:prstGeom>
          <a:noFill/>
          <a:ln w="25400">
            <a:solidFill>
              <a:srgbClr val="BE3C32"/>
            </a:solidFill>
            <a:prstDash val="solid"/>
          </a:ln>
        </p:spPr>
      </p:sp>
      <p:sp>
        <p:nvSpPr>
          <p:cNvPr id="13" name="Shape 11"/>
          <p:cNvSpPr/>
          <p:nvPr/>
        </p:nvSpPr>
        <p:spPr>
          <a:xfrm>
            <a:off x="7610551" y="4972507"/>
            <a:ext cx="859536" cy="0"/>
          </a:xfrm>
          <a:prstGeom prst="line">
            <a:avLst/>
          </a:prstGeom>
          <a:noFill/>
          <a:ln w="25400">
            <a:solidFill>
              <a:srgbClr val="BE3C32"/>
            </a:solidFill>
            <a:prstDash val="solid"/>
          </a:ln>
        </p:spPr>
      </p:sp>
      <p:sp>
        <p:nvSpPr>
          <p:cNvPr id="14" name="Shape 12"/>
          <p:cNvSpPr/>
          <p:nvPr/>
        </p:nvSpPr>
        <p:spPr>
          <a:xfrm>
            <a:off x="8470087" y="4972507"/>
            <a:ext cx="0" cy="153619"/>
          </a:xfrm>
          <a:prstGeom prst="line">
            <a:avLst/>
          </a:prstGeom>
          <a:noFill/>
          <a:ln w="25400">
            <a:solidFill>
              <a:srgbClr val="BE3C32"/>
            </a:solidFill>
            <a:prstDash val="solid"/>
          </a:ln>
        </p:spPr>
      </p:sp>
      <p:sp>
        <p:nvSpPr>
          <p:cNvPr id="15" name="Shape 13"/>
          <p:cNvSpPr/>
          <p:nvPr/>
        </p:nvSpPr>
        <p:spPr>
          <a:xfrm>
            <a:off x="8470087" y="5126126"/>
            <a:ext cx="859536" cy="0"/>
          </a:xfrm>
          <a:prstGeom prst="line">
            <a:avLst/>
          </a:prstGeom>
          <a:noFill/>
          <a:ln w="25400">
            <a:solidFill>
              <a:srgbClr val="BE3C32"/>
            </a:solidFill>
            <a:prstDash val="solid"/>
          </a:ln>
        </p:spPr>
      </p:sp>
      <p:sp>
        <p:nvSpPr>
          <p:cNvPr id="16" name="Shape 14"/>
          <p:cNvSpPr/>
          <p:nvPr/>
        </p:nvSpPr>
        <p:spPr>
          <a:xfrm>
            <a:off x="9329623" y="5126126"/>
            <a:ext cx="1719072" cy="76810"/>
          </a:xfrm>
          <a:prstGeom prst="line">
            <a:avLst/>
          </a:prstGeom>
          <a:noFill/>
          <a:ln w="25400">
            <a:solidFill>
              <a:srgbClr val="BE3C32"/>
            </a:solidFill>
            <a:prstDash val="solid"/>
            <a:tailEnd type="triangle"/>
          </a:ln>
        </p:spPr>
      </p:sp>
      <p:sp>
        <p:nvSpPr>
          <p:cNvPr id="17" name="Shape 15"/>
          <p:cNvSpPr/>
          <p:nvPr/>
        </p:nvSpPr>
        <p:spPr>
          <a:xfrm>
            <a:off x="11002975" y="5157216"/>
            <a:ext cx="91440" cy="91440"/>
          </a:xfrm>
          <a:prstGeom prst="ellipse">
            <a:avLst/>
          </a:prstGeom>
          <a:solidFill>
            <a:srgbClr val="BE3C32"/>
          </a:solidFill>
          <a:ln/>
        </p:spPr>
      </p:sp>
      <p:sp>
        <p:nvSpPr>
          <p:cNvPr id="18" name="Shape 16"/>
          <p:cNvSpPr/>
          <p:nvPr/>
        </p:nvSpPr>
        <p:spPr>
          <a:xfrm>
            <a:off x="640080" y="5349240"/>
            <a:ext cx="10911535" cy="685800"/>
          </a:xfrm>
          <a:prstGeom prst="roundRect">
            <a:avLst>
              <a:gd name="adj" fmla="val 10667"/>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9" name="Text 17"/>
          <p:cNvSpPr txBox="1"/>
          <p:nvPr/>
        </p:nvSpPr>
        <p:spPr>
          <a:xfrm>
            <a:off x="868680" y="5349240"/>
            <a:ext cx="10454335" cy="685800"/>
          </a:xfrm>
          <a:prstGeom prst="rect">
            <a:avLst/>
          </a:prstGeom>
          <a:noFill/>
          <a:ln/>
        </p:spPr>
        <p:txBody>
          <a:bodyPr wrap="square" lIns="0" tIns="0" rIns="0" bIns="0" rtlCol="0" anchor="ctr"/>
          <a:lstStyle/>
          <a:p>
            <a:pPr algn="ctr" indent="0" marL="0">
              <a:buNone/>
            </a:pPr>
            <a:r>
              <a:rPr lang="en-US" sz="1550" dirty="0">
                <a:solidFill>
                  <a:srgbClr val="16213E"/>
                </a:solidFill>
                <a:latin typeface="Cambria Math" pitchFamily="34" charset="0"/>
                <a:ea typeface="Cambria Math" pitchFamily="34" charset="-122"/>
                <a:cs typeface="Cambria Math" pitchFamily="34" charset="-120"/>
              </a:rPr>
              <a:t>Kết luận: Initialization đúng = ĐIỀU KIỆN CẦN, không phải ĐIỀU KIỆN ĐỦ</a:t>
            </a:r>
            <a:endParaRPr lang="en-US" sz="1550" dirty="0"/>
          </a:p>
        </p:txBody>
      </p:sp>
      <p:sp>
        <p:nvSpPr>
          <p:cNvPr id="20" name="Text 1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25/29</a:t>
            </a:r>
            <a:endParaRPr lang="en-US" sz="900" dirty="0"/>
          </a:p>
        </p:txBody>
      </p:sp>
      <p:sp>
        <p:nvSpPr>
          <p:cNvPr id="21" name="Shape 19"/>
          <p:cNvSpPr/>
          <p:nvPr/>
        </p:nvSpPr>
        <p:spPr>
          <a:xfrm>
            <a:off x="610362" y="6473952"/>
            <a:ext cx="59436" cy="59436"/>
          </a:xfrm>
          <a:prstGeom prst="ellipse">
            <a:avLst/>
          </a:prstGeom>
          <a:solidFill>
            <a:srgbClr val="D9DEE8"/>
          </a:solidFill>
          <a:ln/>
        </p:spPr>
      </p:sp>
      <p:sp>
        <p:nvSpPr>
          <p:cNvPr id="22" name="Shape 20"/>
          <p:cNvSpPr/>
          <p:nvPr/>
        </p:nvSpPr>
        <p:spPr>
          <a:xfrm>
            <a:off x="829818" y="6473952"/>
            <a:ext cx="59436" cy="59436"/>
          </a:xfrm>
          <a:prstGeom prst="ellipse">
            <a:avLst/>
          </a:prstGeom>
          <a:solidFill>
            <a:srgbClr val="D9DEE8"/>
          </a:solidFill>
          <a:ln/>
        </p:spPr>
      </p:sp>
      <p:sp>
        <p:nvSpPr>
          <p:cNvPr id="23" name="Shape 21"/>
          <p:cNvSpPr/>
          <p:nvPr/>
        </p:nvSpPr>
        <p:spPr>
          <a:xfrm>
            <a:off x="1049274" y="6473952"/>
            <a:ext cx="59436" cy="59436"/>
          </a:xfrm>
          <a:prstGeom prst="ellipse">
            <a:avLst/>
          </a:prstGeom>
          <a:solidFill>
            <a:srgbClr val="D9DEE8"/>
          </a:solidFill>
          <a:ln/>
        </p:spPr>
      </p:sp>
      <p:sp>
        <p:nvSpPr>
          <p:cNvPr id="24" name="Shape 22"/>
          <p:cNvSpPr/>
          <p:nvPr/>
        </p:nvSpPr>
        <p:spPr>
          <a:xfrm>
            <a:off x="1253871" y="6459093"/>
            <a:ext cx="89154" cy="89154"/>
          </a:xfrm>
          <a:prstGeom prst="ellipse">
            <a:avLst/>
          </a:prstGeom>
          <a:solidFill>
            <a:srgbClr val="285AB4"/>
          </a:solidFill>
          <a:ln/>
        </p:spPr>
      </p:sp>
      <p:sp>
        <p:nvSpPr>
          <p:cNvPr id="25" name="Text 2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THẢO LUẬN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Khuyến nghị thực dụng</a:t>
            </a:r>
            <a:endParaRPr lang="en-US" sz="2900" dirty="0"/>
          </a:p>
        </p:txBody>
      </p:sp>
      <p:sp>
        <p:nvSpPr>
          <p:cNvPr id="4" name="Shape 2"/>
          <p:cNvSpPr/>
          <p:nvPr/>
        </p:nvSpPr>
        <p:spPr>
          <a:xfrm>
            <a:off x="640080" y="2011680"/>
            <a:ext cx="10911535" cy="822960"/>
          </a:xfrm>
          <a:prstGeom prst="roundRect">
            <a:avLst>
              <a:gd name="adj" fmla="val 6667"/>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011680"/>
            <a:ext cx="4206240" cy="82296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ReLU / Leaky ReLU</a:t>
            </a:r>
            <a:endParaRPr lang="en-US" sz="1500" dirty="0"/>
          </a:p>
        </p:txBody>
      </p:sp>
      <p:sp>
        <p:nvSpPr>
          <p:cNvPr id="6" name="Text 4"/>
          <p:cNvSpPr txBox="1"/>
          <p:nvPr/>
        </p:nvSpPr>
        <p:spPr>
          <a:xfrm>
            <a:off x="5212080" y="2011680"/>
            <a:ext cx="6065215" cy="822960"/>
          </a:xfrm>
          <a:prstGeom prst="rect">
            <a:avLst/>
          </a:prstGeom>
          <a:noFill/>
          <a:ln/>
        </p:spPr>
        <p:txBody>
          <a:bodyPr wrap="square" lIns="0" tIns="0" rIns="0" bIns="0" rtlCol="0" anchor="ctr"/>
          <a:lstStyle/>
          <a:p>
            <a:pPr indent="0" marL="0">
              <a:buNone/>
            </a:pPr>
            <a:r>
              <a:rPr lang="en-US" sz="1500" dirty="0">
                <a:solidFill>
                  <a:srgbClr val="285AB4"/>
                </a:solidFill>
                <a:latin typeface="Calibri" pitchFamily="34" charset="0"/>
                <a:ea typeface="Calibri" pitchFamily="34" charset="-122"/>
                <a:cs typeface="Calibri" pitchFamily="34" charset="-120"/>
              </a:rPr>
              <a:t>→  He/Kaiming initialization</a:t>
            </a:r>
            <a:endParaRPr lang="en-US" sz="1500" dirty="0"/>
          </a:p>
        </p:txBody>
      </p:sp>
      <p:sp>
        <p:nvSpPr>
          <p:cNvPr id="7" name="Shape 5"/>
          <p:cNvSpPr/>
          <p:nvPr/>
        </p:nvSpPr>
        <p:spPr>
          <a:xfrm>
            <a:off x="640080" y="2971800"/>
            <a:ext cx="10911535" cy="822960"/>
          </a:xfrm>
          <a:prstGeom prst="roundRect">
            <a:avLst>
              <a:gd name="adj" fmla="val 6667"/>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2971800"/>
            <a:ext cx="4206240" cy="82296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Tanh / Sigmoid</a:t>
            </a:r>
            <a:endParaRPr lang="en-US" sz="1500" dirty="0"/>
          </a:p>
        </p:txBody>
      </p:sp>
      <p:sp>
        <p:nvSpPr>
          <p:cNvPr id="9" name="Text 7"/>
          <p:cNvSpPr txBox="1"/>
          <p:nvPr/>
        </p:nvSpPr>
        <p:spPr>
          <a:xfrm>
            <a:off x="5212080" y="2971800"/>
            <a:ext cx="6065215" cy="822960"/>
          </a:xfrm>
          <a:prstGeom prst="rect">
            <a:avLst/>
          </a:prstGeom>
          <a:noFill/>
          <a:ln/>
        </p:spPr>
        <p:txBody>
          <a:bodyPr wrap="square" lIns="0" tIns="0" rIns="0" bIns="0" rtlCol="0" anchor="ctr"/>
          <a:lstStyle/>
          <a:p>
            <a:pPr indent="0" marL="0">
              <a:buNone/>
            </a:pPr>
            <a:r>
              <a:rPr lang="en-US" sz="1500" dirty="0">
                <a:solidFill>
                  <a:srgbClr val="285AB4"/>
                </a:solidFill>
                <a:latin typeface="Calibri" pitchFamily="34" charset="0"/>
                <a:ea typeface="Calibri" pitchFamily="34" charset="-122"/>
                <a:cs typeface="Calibri" pitchFamily="34" charset="-120"/>
              </a:rPr>
              <a:t>→  Xavier/Glorot initialization</a:t>
            </a:r>
            <a:endParaRPr lang="en-US" sz="1500" dirty="0"/>
          </a:p>
        </p:txBody>
      </p:sp>
      <p:sp>
        <p:nvSpPr>
          <p:cNvPr id="10" name="Shape 8"/>
          <p:cNvSpPr/>
          <p:nvPr/>
        </p:nvSpPr>
        <p:spPr>
          <a:xfrm>
            <a:off x="640080" y="3931920"/>
            <a:ext cx="10911535" cy="822960"/>
          </a:xfrm>
          <a:prstGeom prst="roundRect">
            <a:avLst>
              <a:gd name="adj" fmla="val 6667"/>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11" name="Text 9"/>
          <p:cNvSpPr txBox="1"/>
          <p:nvPr/>
        </p:nvSpPr>
        <p:spPr>
          <a:xfrm>
            <a:off x="914400" y="3931920"/>
            <a:ext cx="4206240" cy="82296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Không bao giờ</a:t>
            </a:r>
            <a:endParaRPr lang="en-US" sz="1500" dirty="0"/>
          </a:p>
        </p:txBody>
      </p:sp>
      <p:sp>
        <p:nvSpPr>
          <p:cNvPr id="12" name="Text 10"/>
          <p:cNvSpPr txBox="1"/>
          <p:nvPr/>
        </p:nvSpPr>
        <p:spPr>
          <a:xfrm>
            <a:off x="5212080" y="3931920"/>
            <a:ext cx="6065215" cy="822960"/>
          </a:xfrm>
          <a:prstGeom prst="rect">
            <a:avLst/>
          </a:prstGeom>
          <a:noFill/>
          <a:ln/>
        </p:spPr>
        <p:txBody>
          <a:bodyPr wrap="square" lIns="0" tIns="0" rIns="0" bIns="0" rtlCol="0" anchor="ctr"/>
          <a:lstStyle/>
          <a:p>
            <a:pPr indent="0" marL="0">
              <a:buNone/>
            </a:pPr>
            <a:r>
              <a:rPr lang="en-US" sz="1500" dirty="0">
                <a:solidFill>
                  <a:srgbClr val="285AB4"/>
                </a:solidFill>
                <a:latin typeface="Calibri" pitchFamily="34" charset="0"/>
                <a:ea typeface="Calibri" pitchFamily="34" charset="-122"/>
                <a:cs typeface="Calibri" pitchFamily="34" charset="-120"/>
              </a:rPr>
              <a:t>→  Zero-init cho WEIGHT (chỉ dùng 0 cho bias)</a:t>
            </a:r>
            <a:endParaRPr lang="en-US" sz="1500" dirty="0"/>
          </a:p>
        </p:txBody>
      </p:sp>
      <p:sp>
        <p:nvSpPr>
          <p:cNvPr id="13" name="Shape 11"/>
          <p:cNvSpPr/>
          <p:nvPr/>
        </p:nvSpPr>
        <p:spPr>
          <a:xfrm>
            <a:off x="640080" y="4892040"/>
            <a:ext cx="10911535" cy="822960"/>
          </a:xfrm>
          <a:prstGeom prst="roundRect">
            <a:avLst>
              <a:gd name="adj" fmla="val 6667"/>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14" name="Text 12"/>
          <p:cNvSpPr txBox="1"/>
          <p:nvPr/>
        </p:nvSpPr>
        <p:spPr>
          <a:xfrm>
            <a:off x="914400" y="4892040"/>
            <a:ext cx="4206240" cy="82296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Mạng rất sâu + activation bão hoà</a:t>
            </a:r>
            <a:endParaRPr lang="en-US" sz="1500" dirty="0"/>
          </a:p>
        </p:txBody>
      </p:sp>
      <p:sp>
        <p:nvSpPr>
          <p:cNvPr id="15" name="Text 13"/>
          <p:cNvSpPr txBox="1"/>
          <p:nvPr/>
        </p:nvSpPr>
        <p:spPr>
          <a:xfrm>
            <a:off x="5212080" y="4892040"/>
            <a:ext cx="6065215" cy="822960"/>
          </a:xfrm>
          <a:prstGeom prst="rect">
            <a:avLst/>
          </a:prstGeom>
          <a:noFill/>
          <a:ln/>
        </p:spPr>
        <p:txBody>
          <a:bodyPr wrap="square" lIns="0" tIns="0" rIns="0" bIns="0" rtlCol="0" anchor="ctr"/>
          <a:lstStyle/>
          <a:p>
            <a:pPr indent="0" marL="0">
              <a:buNone/>
            </a:pPr>
            <a:r>
              <a:rPr lang="en-US" sz="1500" dirty="0">
                <a:solidFill>
                  <a:srgbClr val="285AB4"/>
                </a:solidFill>
                <a:latin typeface="Calibri" pitchFamily="34" charset="0"/>
                <a:ea typeface="Calibri" pitchFamily="34" charset="-122"/>
                <a:cs typeface="Calibri" pitchFamily="34" charset="-120"/>
              </a:rPr>
              <a:t>→  cân nhắc Batch/Layer Normalization</a:t>
            </a:r>
            <a:endParaRPr lang="en-US" sz="150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26/29</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29818" y="6473952"/>
            <a:ext cx="59436" cy="59436"/>
          </a:xfrm>
          <a:prstGeom prst="ellipse">
            <a:avLst/>
          </a:prstGeom>
          <a:solidFill>
            <a:srgbClr val="D9DEE8"/>
          </a:solidFill>
          <a:ln/>
        </p:spPr>
      </p:sp>
      <p:sp>
        <p:nvSpPr>
          <p:cNvPr id="19" name="Shape 17"/>
          <p:cNvSpPr/>
          <p:nvPr/>
        </p:nvSpPr>
        <p:spPr>
          <a:xfrm>
            <a:off x="1049274" y="6473952"/>
            <a:ext cx="59436" cy="59436"/>
          </a:xfrm>
          <a:prstGeom prst="ellipse">
            <a:avLst/>
          </a:prstGeom>
          <a:solidFill>
            <a:srgbClr val="D9DEE8"/>
          </a:solidFill>
          <a:ln/>
        </p:spPr>
      </p:sp>
      <p:sp>
        <p:nvSpPr>
          <p:cNvPr id="20" name="Shape 18"/>
          <p:cNvSpPr/>
          <p:nvPr/>
        </p:nvSpPr>
        <p:spPr>
          <a:xfrm>
            <a:off x="1253871" y="6459093"/>
            <a:ext cx="89154" cy="89154"/>
          </a:xfrm>
          <a:prstGeom prst="ellipse">
            <a:avLst/>
          </a:prstGeom>
          <a:solidFill>
            <a:srgbClr val="285AB4"/>
          </a:solidFill>
          <a:ln/>
        </p:spPr>
      </p:sp>
      <p:sp>
        <p:nvSpPr>
          <p:cNvPr id="21" name="Text 1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457200"/>
            <a:ext cx="82296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HẠN CHẾ</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Hạn chế của thực nghiệm</a:t>
            </a:r>
            <a:endParaRPr lang="en-US" sz="2900" dirty="0"/>
          </a:p>
        </p:txBody>
      </p:sp>
      <p:sp>
        <p:nvSpPr>
          <p:cNvPr id="4" name="Shape 2"/>
          <p:cNvSpPr/>
          <p:nvPr/>
        </p:nvSpPr>
        <p:spPr>
          <a:xfrm>
            <a:off x="640080" y="1920240"/>
            <a:ext cx="5120640" cy="4114800"/>
          </a:xfrm>
          <a:prstGeom prst="roundRect">
            <a:avLst>
              <a:gd name="adj" fmla="val 1778"/>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121408"/>
            <a:ext cx="4572000" cy="594360"/>
          </a:xfrm>
          <a:prstGeom prst="rect">
            <a:avLst/>
          </a:prstGeom>
          <a:noFill/>
          <a:ln/>
        </p:spPr>
        <p:txBody>
          <a:bodyPr wrap="square" lIns="0" tIns="0" rIns="0" bIns="0" rtlCol="0" anchor="ctr"/>
          <a:lstStyle/>
          <a:p>
            <a:pPr indent="0" marL="0">
              <a:buNone/>
            </a:pPr>
            <a:r>
              <a:rPr lang="en-US" sz="1450" b="1" dirty="0">
                <a:solidFill>
                  <a:srgbClr val="285AB4"/>
                </a:solidFill>
                <a:latin typeface="Cambria" pitchFamily="34" charset="0"/>
                <a:ea typeface="Cambria" pitchFamily="34" charset="-122"/>
                <a:cs typeface="Cambria" pitchFamily="34" charset="-120"/>
              </a:rPr>
              <a:t>Lựa chọn phương pháp luận có chủ đích</a:t>
            </a:r>
            <a:endParaRPr lang="en-US" sz="1450" dirty="0"/>
          </a:p>
        </p:txBody>
      </p:sp>
      <p:sp>
        <p:nvSpPr>
          <p:cNvPr id="6" name="Text 4"/>
          <p:cNvSpPr txBox="1"/>
          <p:nvPr/>
        </p:nvSpPr>
        <p:spPr>
          <a:xfrm>
            <a:off x="914400" y="2834640"/>
            <a:ext cx="4572000" cy="3063240"/>
          </a:xfrm>
          <a:prstGeom prst="rect">
            <a:avLst/>
          </a:prstGeom>
          <a:noFill/>
          <a:ln/>
        </p:spPr>
        <p:txBody>
          <a:bodyPr wrap="square" lIns="0" tIns="0" rIns="0" bIns="0" rtlCol="0" anchor="t"/>
          <a:lstStyle/>
          <a:p>
            <a:pPr marL="228600" indent="-2286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Không BatchNorm/Dropout/LR schedule — cô lập đúng 1 biến đang khảo sát: initialization</a:t>
            </a:r>
            <a:endParaRPr lang="en-US" sz="1300" dirty="0"/>
          </a:p>
          <a:p>
            <a:pPr marL="228600" indent="-2286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Kiến trúc, optimizer, seed GIỮ NGUYÊN giữa cả 20 cấu hình (fair experiment)</a:t>
            </a:r>
            <a:endParaRPr lang="en-US" sz="1300" dirty="0"/>
          </a:p>
          <a:p>
            <a:pPr marL="228600" indent="-2286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Subset nhỏ, chạy nhanh trên CPU — ưu tiên tái lập dễ dàng trên phần cứng phổ thông</a:t>
            </a:r>
            <a:endParaRPr lang="en-US" sz="1300" dirty="0"/>
          </a:p>
        </p:txBody>
      </p:sp>
      <p:sp>
        <p:nvSpPr>
          <p:cNvPr id="7" name="Shape 5"/>
          <p:cNvSpPr/>
          <p:nvPr/>
        </p:nvSpPr>
        <p:spPr>
          <a:xfrm>
            <a:off x="6430975" y="1920240"/>
            <a:ext cx="5120640" cy="4114800"/>
          </a:xfrm>
          <a:prstGeom prst="roundRect">
            <a:avLst>
              <a:gd name="adj" fmla="val 1778"/>
            </a:avLst>
          </a:prstGeom>
          <a:solidFill>
            <a:srgbClr val="FBEEEC"/>
          </a:solidFill>
          <a:ln w="12700">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6705295" y="2121408"/>
            <a:ext cx="4572000" cy="594360"/>
          </a:xfrm>
          <a:prstGeom prst="rect">
            <a:avLst/>
          </a:prstGeom>
          <a:noFill/>
          <a:ln/>
        </p:spPr>
        <p:txBody>
          <a:bodyPr wrap="square" lIns="0" tIns="0" rIns="0" bIns="0" rtlCol="0" anchor="ctr"/>
          <a:lstStyle/>
          <a:p>
            <a:pPr indent="0" marL="0">
              <a:buNone/>
            </a:pPr>
            <a:r>
              <a:rPr lang="en-US" sz="1450" b="1" dirty="0">
                <a:solidFill>
                  <a:srgbClr val="BE3C32"/>
                </a:solidFill>
                <a:latin typeface="Cambria" pitchFamily="34" charset="0"/>
                <a:ea typeface="Cambria" pitchFamily="34" charset="-122"/>
                <a:cs typeface="Cambria" pitchFamily="34" charset="-120"/>
              </a:rPr>
              <a:t>Giới hạn thực nghiệm &amp; hướng mở rộng</a:t>
            </a:r>
            <a:endParaRPr lang="en-US" sz="1450" dirty="0"/>
          </a:p>
        </p:txBody>
      </p:sp>
      <p:sp>
        <p:nvSpPr>
          <p:cNvPr id="9" name="Text 7"/>
          <p:cNvSpPr txBox="1"/>
          <p:nvPr/>
        </p:nvSpPr>
        <p:spPr>
          <a:xfrm>
            <a:off x="6705295" y="2834640"/>
            <a:ext cx="4572000" cy="3063240"/>
          </a:xfrm>
          <a:prstGeom prst="rect">
            <a:avLst/>
          </a:prstGeom>
          <a:noFill/>
          <a:ln/>
        </p:spPr>
        <p:txBody>
          <a:bodyPr wrap="square" lIns="0" tIns="0" rIns="0" bIns="0" rtlCol="0" anchor="t"/>
          <a:lstStyle/>
          <a:p>
            <a:pPr marL="228600" indent="-228600">
              <a:spcAft>
                <a:spcPts val="800"/>
              </a:spcAft>
              <a:buSzPct val="100000"/>
              <a:buChar char="▪"/>
            </a:pPr>
            <a:r>
              <a:rPr lang="en-US" sz="1200" dirty="0">
                <a:solidFill>
                  <a:srgbClr val="1A2238"/>
                </a:solidFill>
                <a:latin typeface="Calibri" pitchFamily="34" charset="0"/>
                <a:ea typeface="Calibri" pitchFamily="34" charset="-122"/>
                <a:cs typeface="Calibri" pitchFamily="34" charset="-120"/>
              </a:rPr>
              <a:t>1 seed duy nhất — chênh lệch nhỏ (vd. Xavier vs. He) không có ý nghĩa thống kê</a:t>
            </a:r>
            <a:endParaRPr lang="en-US" sz="1200" dirty="0"/>
          </a:p>
          <a:p>
            <a:pPr marL="228600" indent="-228600">
              <a:spcAft>
                <a:spcPts val="800"/>
              </a:spcAft>
              <a:buSzPct val="100000"/>
              <a:buChar char="▪"/>
            </a:pPr>
            <a:r>
              <a:rPr lang="en-US" sz="1200" dirty="0">
                <a:solidFill>
                  <a:srgbClr val="1A2238"/>
                </a:solidFill>
                <a:latin typeface="Calibri" pitchFamily="34" charset="0"/>
                <a:ea typeface="Calibri" pitchFamily="34" charset="-122"/>
                <a:cs typeface="Calibri" pitchFamily="34" charset="-120"/>
              </a:rPr>
              <a:t>Không tinh chỉnh learning rate riêng cho từng cấu hình — có thể chưa tối ưu cho một vài scheme</a:t>
            </a:r>
            <a:endParaRPr lang="en-US" sz="1200" dirty="0"/>
          </a:p>
          <a:p>
            <a:pPr marL="228600" indent="-228600">
              <a:spcAft>
                <a:spcPts val="800"/>
              </a:spcAft>
              <a:buSzPct val="100000"/>
              <a:buChar char="▪"/>
            </a:pPr>
            <a:r>
              <a:rPr lang="en-US" sz="1200" dirty="0">
                <a:solidFill>
                  <a:srgbClr val="1A2238"/>
                </a:solidFill>
                <a:latin typeface="Calibri" pitchFamily="34" charset="0"/>
                <a:ea typeface="Calibri" pitchFamily="34" charset="-122"/>
                <a:cs typeface="Calibri" pitchFamily="34" charset="-120"/>
              </a:rPr>
              <a:t>Val chỉ 1,000 mẫu — dao động cao; hướng mở rộng: nhiều seed + k-fold cross-validation</a:t>
            </a:r>
            <a:endParaRPr lang="en-US" sz="1200" dirty="0"/>
          </a:p>
          <a:p>
            <a:pPr marL="228600" indent="-228600">
              <a:spcAft>
                <a:spcPts val="800"/>
              </a:spcAft>
              <a:buSzPct val="100000"/>
              <a:buChar char="▪"/>
            </a:pPr>
            <a:r>
              <a:rPr lang="en-US" sz="1200" dirty="0">
                <a:solidFill>
                  <a:srgbClr val="1A2238"/>
                </a:solidFill>
                <a:latin typeface="Calibri" pitchFamily="34" charset="0"/>
                <a:ea typeface="Calibri" pitchFamily="34" charset="-122"/>
                <a:cs typeface="Calibri" pitchFamily="34" charset="-120"/>
              </a:rPr>
              <a:t>Subset 5,000/1,000/2,000 mẫu — chưa đại diện quy mô full dataset/production</a:t>
            </a:r>
            <a:endParaRPr lang="en-US" sz="1200" dirty="0"/>
          </a:p>
        </p:txBody>
      </p:sp>
      <p:sp>
        <p:nvSpPr>
          <p:cNvPr id="10" name="Text 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27/29</a:t>
            </a:r>
            <a:endParaRPr lang="en-US" sz="900" dirty="0"/>
          </a:p>
        </p:txBody>
      </p:sp>
      <p:sp>
        <p:nvSpPr>
          <p:cNvPr id="11" name="Shape 9"/>
          <p:cNvSpPr/>
          <p:nvPr/>
        </p:nvSpPr>
        <p:spPr>
          <a:xfrm>
            <a:off x="610362" y="6473952"/>
            <a:ext cx="59436" cy="59436"/>
          </a:xfrm>
          <a:prstGeom prst="ellipse">
            <a:avLst/>
          </a:prstGeom>
          <a:solidFill>
            <a:srgbClr val="D9DEE8"/>
          </a:solidFill>
          <a:ln/>
        </p:spPr>
      </p:sp>
      <p:sp>
        <p:nvSpPr>
          <p:cNvPr id="12" name="Shape 10"/>
          <p:cNvSpPr/>
          <p:nvPr/>
        </p:nvSpPr>
        <p:spPr>
          <a:xfrm>
            <a:off x="829818" y="6473952"/>
            <a:ext cx="59436" cy="59436"/>
          </a:xfrm>
          <a:prstGeom prst="ellipse">
            <a:avLst/>
          </a:prstGeom>
          <a:solidFill>
            <a:srgbClr val="D9DEE8"/>
          </a:solidFill>
          <a:ln/>
        </p:spPr>
      </p:sp>
      <p:sp>
        <p:nvSpPr>
          <p:cNvPr id="13" name="Shape 11"/>
          <p:cNvSpPr/>
          <p:nvPr/>
        </p:nvSpPr>
        <p:spPr>
          <a:xfrm>
            <a:off x="1049274" y="6473952"/>
            <a:ext cx="59436" cy="59436"/>
          </a:xfrm>
          <a:prstGeom prst="ellipse">
            <a:avLst/>
          </a:prstGeom>
          <a:solidFill>
            <a:srgbClr val="D9DEE8"/>
          </a:solidFill>
          <a:ln/>
        </p:spPr>
      </p:sp>
      <p:sp>
        <p:nvSpPr>
          <p:cNvPr id="14" name="Shape 12"/>
          <p:cNvSpPr/>
          <p:nvPr/>
        </p:nvSpPr>
        <p:spPr>
          <a:xfrm>
            <a:off x="1253871" y="6459093"/>
            <a:ext cx="89154" cy="89154"/>
          </a:xfrm>
          <a:prstGeom prst="ellipse">
            <a:avLst/>
          </a:prstGeom>
          <a:solidFill>
            <a:srgbClr val="285AB4"/>
          </a:solidFill>
          <a:ln/>
        </p:spPr>
      </p:sp>
      <p:sp>
        <p:nvSpPr>
          <p:cNvPr id="15" name="Text 13"/>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320040"/>
          </a:xfrm>
          <a:prstGeom prst="rect">
            <a:avLst/>
          </a:prstGeom>
          <a:noFill/>
          <a:ln/>
        </p:spPr>
        <p:txBody>
          <a:bodyPr wrap="square" lIns="0" tIns="0" rIns="0" bIns="0" rtlCol="0" anchor="ctr"/>
          <a:lstStyle/>
          <a:p>
            <a:pPr indent="0" marL="0">
              <a:buNone/>
            </a:pPr>
            <a:r>
              <a:rPr lang="en-US" sz="1300" b="1" spc="100" kern="0" dirty="0">
                <a:solidFill>
                  <a:srgbClr val="8FA3C9"/>
                </a:solidFill>
                <a:latin typeface="Calibri" pitchFamily="34" charset="0"/>
                <a:ea typeface="Calibri" pitchFamily="34" charset="-122"/>
                <a:cs typeface="Calibri" pitchFamily="34" charset="-120"/>
              </a:rPr>
              <a:t>KẾT LUẬN</a:t>
            </a:r>
            <a:endParaRPr lang="en-US" sz="1300" dirty="0"/>
          </a:p>
        </p:txBody>
      </p:sp>
      <p:sp>
        <p:nvSpPr>
          <p:cNvPr id="3" name="Text 1"/>
          <p:cNvSpPr txBox="1"/>
          <p:nvPr/>
        </p:nvSpPr>
        <p:spPr>
          <a:xfrm>
            <a:off x="640080" y="914400"/>
            <a:ext cx="10911535"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Hai câu hỏi, một cơ chế chung</a:t>
            </a:r>
            <a:endParaRPr lang="en-US" sz="3000" dirty="0"/>
          </a:p>
        </p:txBody>
      </p:sp>
      <p:sp>
        <p:nvSpPr>
          <p:cNvPr id="4" name="Text 2"/>
          <p:cNvSpPr txBox="1"/>
          <p:nvPr/>
        </p:nvSpPr>
        <p:spPr>
          <a:xfrm>
            <a:off x="640080" y="2011680"/>
            <a:ext cx="10911535" cy="237744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rgbClr val="E7ECF6"/>
                </a:solidFill>
                <a:latin typeface="Calibri" pitchFamily="34" charset="0"/>
                <a:ea typeface="Calibri" pitchFamily="34" charset="-122"/>
                <a:cs typeface="Calibri" pitchFamily="34" charset="-120"/>
              </a:rPr>
              <a:t>Backpropagation = Chain Rule có hệ thống, KHÁC Gradient Descent</a:t>
            </a:r>
            <a:endParaRPr lang="en-US" sz="1800" dirty="0"/>
          </a:p>
          <a:p>
            <a:pPr marL="228600" indent="-228600">
              <a:spcAft>
                <a:spcPts val="1800"/>
              </a:spcAft>
              <a:buSzPct val="100000"/>
              <a:buChar char="▪"/>
            </a:pPr>
            <a:r>
              <a:rPr lang="en-US" sz="1800" dirty="0">
                <a:solidFill>
                  <a:srgbClr val="E7ECF6"/>
                </a:solidFill>
                <a:latin typeface="Calibri" pitchFamily="34" charset="0"/>
                <a:ea typeface="Calibri" pitchFamily="34" charset="-122"/>
                <a:cs typeface="Calibri" pitchFamily="34" charset="-120"/>
              </a:rPr>
              <a:t>Initialization quyết định gradient có “sống sót” qua nhiều lớp hay không</a:t>
            </a:r>
            <a:endParaRPr lang="en-US" sz="1800" dirty="0"/>
          </a:p>
          <a:p>
            <a:pPr marL="228600" indent="-228600">
              <a:spcAft>
                <a:spcPts val="1800"/>
              </a:spcAft>
              <a:buSzPct val="100000"/>
              <a:buChar char="▪"/>
            </a:pPr>
            <a:r>
              <a:rPr lang="en-US" sz="1800" dirty="0">
                <a:solidFill>
                  <a:srgbClr val="E7ECF6"/>
                </a:solidFill>
                <a:latin typeface="Calibri" pitchFamily="34" charset="0"/>
                <a:ea typeface="Calibri" pitchFamily="34" charset="-122"/>
                <a:cs typeface="Calibri" pitchFamily="34" charset="-120"/>
              </a:rPr>
              <a:t>Cả hai cùng trả lời một câu hỏi: tín hiệu học di chuyển thế nào trong mạng sâu</a:t>
            </a:r>
            <a:endParaRPr lang="en-US" sz="1800" dirty="0"/>
          </a:p>
        </p:txBody>
      </p:sp>
      <p:sp>
        <p:nvSpPr>
          <p:cNvPr id="5" name="Shape 3"/>
          <p:cNvSpPr/>
          <p:nvPr/>
        </p:nvSpPr>
        <p:spPr>
          <a:xfrm>
            <a:off x="640080" y="4754880"/>
            <a:ext cx="10911535" cy="0"/>
          </a:xfrm>
          <a:prstGeom prst="line">
            <a:avLst/>
          </a:prstGeom>
          <a:noFill/>
          <a:ln w="12700">
            <a:solidFill>
              <a:srgbClr val="3A4A70"/>
            </a:solidFill>
            <a:prstDash val="solid"/>
          </a:ln>
        </p:spPr>
      </p:sp>
      <p:sp>
        <p:nvSpPr>
          <p:cNvPr id="6" name="Text 4"/>
          <p:cNvSpPr txBox="1"/>
          <p:nvPr/>
        </p:nvSpPr>
        <p:spPr>
          <a:xfrm>
            <a:off x="640080" y="4983480"/>
            <a:ext cx="10911535" cy="914400"/>
          </a:xfrm>
          <a:prstGeom prst="rect">
            <a:avLst/>
          </a:prstGeom>
          <a:noFill/>
          <a:ln/>
        </p:spPr>
        <p:txBody>
          <a:bodyPr wrap="square" lIns="0" tIns="0" rIns="0" bIns="0" rtlCol="0" anchor="ctr"/>
          <a:lstStyle/>
          <a:p>
            <a:pPr algn="ctr" indent="0" marL="0">
              <a:buNone/>
            </a:pPr>
            <a:r>
              <a:rPr lang="en-US" sz="1600" i="1" dirty="0">
                <a:solidFill>
                  <a:srgbClr val="CADCFC"/>
                </a:solidFill>
                <a:latin typeface="Calibri" pitchFamily="34" charset="0"/>
                <a:ea typeface="Calibri" pitchFamily="34" charset="-122"/>
                <a:cs typeface="Calibri" pitchFamily="34" charset="-120"/>
              </a:rPr>
              <a:t>Backpropagation tính dòng chảy gradient. Initialization quyết định dòng chảy đó có sống sót qua nhiều lớp hay không.</a:t>
            </a:r>
            <a:endParaRPr lang="en-US" sz="1600" dirty="0"/>
          </a:p>
        </p:txBody>
      </p:sp>
      <p:sp>
        <p:nvSpPr>
          <p:cNvPr id="7" name="Shape 5"/>
          <p:cNvSpPr/>
          <p:nvPr/>
        </p:nvSpPr>
        <p:spPr>
          <a:xfrm>
            <a:off x="610362" y="6473952"/>
            <a:ext cx="59436" cy="59436"/>
          </a:xfrm>
          <a:prstGeom prst="ellipse">
            <a:avLst/>
          </a:prstGeom>
          <a:solidFill>
            <a:srgbClr val="3A4A70"/>
          </a:solidFill>
          <a:ln/>
        </p:spPr>
      </p:sp>
      <p:sp>
        <p:nvSpPr>
          <p:cNvPr id="8" name="Shape 6"/>
          <p:cNvSpPr/>
          <p:nvPr/>
        </p:nvSpPr>
        <p:spPr>
          <a:xfrm>
            <a:off x="829818" y="6473952"/>
            <a:ext cx="59436" cy="59436"/>
          </a:xfrm>
          <a:prstGeom prst="ellipse">
            <a:avLst/>
          </a:prstGeom>
          <a:solidFill>
            <a:srgbClr val="3A4A70"/>
          </a:solidFill>
          <a:ln/>
        </p:spPr>
      </p:sp>
      <p:sp>
        <p:nvSpPr>
          <p:cNvPr id="9" name="Shape 7"/>
          <p:cNvSpPr/>
          <p:nvPr/>
        </p:nvSpPr>
        <p:spPr>
          <a:xfrm>
            <a:off x="1049274" y="6473952"/>
            <a:ext cx="59436" cy="59436"/>
          </a:xfrm>
          <a:prstGeom prst="ellipse">
            <a:avLst/>
          </a:prstGeom>
          <a:solidFill>
            <a:srgbClr val="3A4A70"/>
          </a:solidFill>
          <a:ln/>
        </p:spPr>
      </p:sp>
      <p:sp>
        <p:nvSpPr>
          <p:cNvPr id="10" name="Shape 8"/>
          <p:cNvSpPr/>
          <p:nvPr/>
        </p:nvSpPr>
        <p:spPr>
          <a:xfrm>
            <a:off x="1253871" y="6459093"/>
            <a:ext cx="89154" cy="89154"/>
          </a:xfrm>
          <a:prstGeom prst="ellipse">
            <a:avLst/>
          </a:prstGeom>
          <a:solidFill>
            <a:srgbClr val="6FA3E0"/>
          </a:solidFill>
          <a:ln/>
        </p:spPr>
      </p:sp>
      <p:sp>
        <p:nvSpPr>
          <p:cNvPr id="11" name="Text 9"/>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6FA3E0"/>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320040"/>
          </a:xfrm>
          <a:prstGeom prst="rect">
            <a:avLst/>
          </a:prstGeom>
          <a:noFill/>
          <a:ln/>
        </p:spPr>
        <p:txBody>
          <a:bodyPr wrap="square" lIns="0" tIns="0" rIns="0" bIns="0" rtlCol="0" anchor="ctr"/>
          <a:lstStyle/>
          <a:p>
            <a:pPr indent="0" marL="0">
              <a:buNone/>
            </a:pPr>
            <a:r>
              <a:rPr lang="en-US" sz="1300" b="1" spc="100" kern="0" dirty="0">
                <a:solidFill>
                  <a:srgbClr val="8FA3C9"/>
                </a:solidFill>
                <a:latin typeface="Calibri" pitchFamily="34" charset="0"/>
                <a:ea typeface="Calibri" pitchFamily="34" charset="-122"/>
                <a:cs typeface="Calibri" pitchFamily="34" charset="-120"/>
              </a:rPr>
              <a:t>TÀI LIỆU THAM KHẢO</a:t>
            </a:r>
            <a:endParaRPr lang="en-US" sz="1300" dirty="0"/>
          </a:p>
        </p:txBody>
      </p:sp>
      <p:sp>
        <p:nvSpPr>
          <p:cNvPr id="3" name="Text 1"/>
          <p:cNvSpPr txBox="1"/>
          <p:nvPr/>
        </p:nvSpPr>
        <p:spPr>
          <a:xfrm>
            <a:off x="640080" y="914400"/>
            <a:ext cx="10911535" cy="822960"/>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References</a:t>
            </a:r>
            <a:endParaRPr lang="en-US" sz="2900" dirty="0"/>
          </a:p>
        </p:txBody>
      </p:sp>
      <p:sp>
        <p:nvSpPr>
          <p:cNvPr id="4" name="Text 2"/>
          <p:cNvSpPr txBox="1"/>
          <p:nvPr/>
        </p:nvSpPr>
        <p:spPr>
          <a:xfrm>
            <a:off x="640080" y="1691640"/>
            <a:ext cx="10911535" cy="4709160"/>
          </a:xfrm>
          <a:prstGeom prst="rect">
            <a:avLst/>
          </a:prstGeom>
          <a:noFill/>
          <a:ln/>
        </p:spPr>
        <p:txBody>
          <a:bodyPr wrap="square" lIns="0" tIns="0" rIns="0" bIns="0" rtlCol="0" anchor="t"/>
          <a:lstStyle/>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[1] Rumelhart, Hinton &amp; Williams (1986). Learning representations by back-propagating errors. Nature, 323(6088):533–536. DOI: 10.1038/323533a0.</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[2] LeCun, Bottou, Orr &amp; Müller (1998/2012). Efficient BackProp. In Neural Networks: Tricks of the Trade, 2nd ed., LNCS vol. 7700. Springer.</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[3] Glorot &amp; Bengio (2010). Understanding the difficulty of training deep feedforward neural networks. AISTATS, vol. 9, pp. 249–256.</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[4] He, Zhang, Ren &amp; Sun (2015). Delving Deep into Rectifiers. ICCV. arXiv:1502.01852.</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[5] Bishop (2006). Pattern Recognition and Machine Learning. Springer.</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[6] Goodfellow, Bengio &amp; Courville (2016). Deep Learning. MIT Press.</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[7] Kingma &amp; Ba (2015). Adam: A Method for Stochastic Optimization. ICLR. arXiv:1412.6980.</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[8] Clevert, Unterthiner &amp; Hochreiter (2016). Fast and Accurate Deep Network Learning by Exponential Linear Units (ELUs). ICLR. arXiv:1511.07289.</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[9] Klambauer, Unterthiner, Mayr &amp; Hochreiter (2017). Self-Normalizing Neural Networks. NeurIPS, vol. 30. arXiv:1706.02515.</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[10] Xiao, Rasul &amp; Vollgraf (2017). Fashion-MNIST. arXiv:1708.07747.</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[11] Paszke et al. (2019). PyTorch: An Imperative Style, High-Performance Deep Learning Library. NeurIPS, vol. 32. arXiv:1912.01703.</a:t>
            </a:r>
            <a:endParaRPr lang="en-US" sz="1100" dirty="0"/>
          </a:p>
        </p:txBody>
      </p:sp>
      <p:sp>
        <p:nvSpPr>
          <p:cNvPr id="5" name="Shape 3"/>
          <p:cNvSpPr/>
          <p:nvPr/>
        </p:nvSpPr>
        <p:spPr>
          <a:xfrm>
            <a:off x="610362" y="6473952"/>
            <a:ext cx="59436" cy="59436"/>
          </a:xfrm>
          <a:prstGeom prst="ellipse">
            <a:avLst/>
          </a:prstGeom>
          <a:solidFill>
            <a:srgbClr val="3A4A70"/>
          </a:solidFill>
          <a:ln/>
        </p:spPr>
      </p:sp>
      <p:sp>
        <p:nvSpPr>
          <p:cNvPr id="6" name="Shape 4"/>
          <p:cNvSpPr/>
          <p:nvPr/>
        </p:nvSpPr>
        <p:spPr>
          <a:xfrm>
            <a:off x="829818" y="6473952"/>
            <a:ext cx="59436" cy="59436"/>
          </a:xfrm>
          <a:prstGeom prst="ellipse">
            <a:avLst/>
          </a:prstGeom>
          <a:solidFill>
            <a:srgbClr val="3A4A70"/>
          </a:solidFill>
          <a:ln/>
        </p:spPr>
      </p:sp>
      <p:sp>
        <p:nvSpPr>
          <p:cNvPr id="7" name="Shape 5"/>
          <p:cNvSpPr/>
          <p:nvPr/>
        </p:nvSpPr>
        <p:spPr>
          <a:xfrm>
            <a:off x="1049274" y="6473952"/>
            <a:ext cx="59436" cy="59436"/>
          </a:xfrm>
          <a:prstGeom prst="ellipse">
            <a:avLst/>
          </a:prstGeom>
          <a:solidFill>
            <a:srgbClr val="3A4A70"/>
          </a:solidFill>
          <a:ln/>
        </p:spPr>
      </p:sp>
      <p:sp>
        <p:nvSpPr>
          <p:cNvPr id="8" name="Shape 6"/>
          <p:cNvSpPr/>
          <p:nvPr/>
        </p:nvSpPr>
        <p:spPr>
          <a:xfrm>
            <a:off x="1253871" y="6459093"/>
            <a:ext cx="89154" cy="89154"/>
          </a:xfrm>
          <a:prstGeom prst="ellipse">
            <a:avLst/>
          </a:prstGeom>
          <a:solidFill>
            <a:srgbClr val="6FA3E0"/>
          </a:solidFill>
          <a:ln/>
        </p:spPr>
      </p:sp>
      <p:sp>
        <p:nvSpPr>
          <p:cNvPr id="9" name="Text 7"/>
          <p:cNvSpPr txBox="1"/>
          <p:nvPr/>
        </p:nvSpPr>
        <p:spPr>
          <a:xfrm>
            <a:off x="1563624" y="6391656"/>
            <a:ext cx="2926080" cy="274320"/>
          </a:xfrm>
          <a:prstGeom prst="rect">
            <a:avLst/>
          </a:prstGeom>
          <a:noFill/>
          <a:ln/>
        </p:spPr>
        <p:txBody>
          <a:bodyPr wrap="square" lIns="0" tIns="0" rIns="0" bIns="0" rtlCol="0" anchor="ctr"/>
          <a:lstStyle/>
          <a:p>
            <a:pPr indent="0" marL="0">
              <a:buNone/>
            </a:pPr>
            <a:r>
              <a:rPr lang="en-US" sz="850" spc="50" kern="0" dirty="0">
                <a:solidFill>
                  <a:srgbClr val="6FA3E0"/>
                </a:solidFill>
                <a:latin typeface="Calibri" pitchFamily="34" charset="0"/>
                <a:ea typeface="Calibri" pitchFamily="34" charset="-122"/>
                <a:cs typeface="Calibri" pitchFamily="34" charset="-120"/>
              </a:rPr>
              <a:t>KẾT LUẬN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2026-09-14T18:18:25Z</dcterms:created>
  <dcterms:modified xsi:type="dcterms:W3CDTF">2026-09-14T18:18:25Z</dcterms:modified>
</cp:coreProperties>
</file>
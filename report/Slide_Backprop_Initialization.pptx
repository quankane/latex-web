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khung nghiên cứu ngay từ đầu: bài trình bày trả lời CÂU HỎI 'Khởi tạo tham số ảnh hưởng thế nào đến lan truyền gradient và khả năng hội tụ của mạng sâu?' — không chỉ giảng lại công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nghiên cứu đóng khung toàn bài: 'Khởi tạo tham số ảnh hưởng thế nào đến lan truyền gradient và khả năng hội tụ của mạng sâu?'. Ba câu hỏi con: (1) Backprop tính gradient thế nào, (2) vì sao mạng sâu gặp vanishing/exploding, (3) Zero/Random/Xavier/He ảnh hưởng thế nào tới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dành nhiều thời gian cho calculus cơ bản — chỉ nhắc lại đúng 1 slide, đủ để làm nền cho gradient/chain rule sau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chính xác: gradient chỉ hướng TĂNG nhanh nhất của Loss — không phải hướng giảm. Gradient Descent phải đi NGƯỢC gradient (−∇L) để giảm Loss. Đây là điểm hay bị phát biểu sai/rút gọn quá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là QUY TẮC CẬP NHẬT dùng gradient đã có — khác với Backpropagation (thuật toán TÍNH gradient) — sẽ làm rõ phân biệt này ở slide Multi-layer Backpropagation.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Tránh phát biểu tuyệt đối 'forward không liên quan gì tới gradient' — chính xác hơn: forward pass chưa TÍNH gradient, nhưng nó tạo ra (và lưu lại) mọi thứ backward pass cần dùng để tính gradient (đây là điều PyTorch autograd làm ngầm khi xây computational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rule đa biến là nội dung toán học cốt lõi của Backpropagation. Ví dụ ở đây là trường hợp scalar để dễ hình dung — trong mạng thực tế, phép nhân đạo hàm cục bộ tổng quát thành vector-Jacobian product (VJP), điều PyTorch autograd tự động hoá.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tối giản để 'chạy tay' toàn bộ chain rule 2 bước — mũi tên đỏ đứt nét minh hoạ dòng chảy NGƯỢC của backward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Cầu nối cực kỳ quan trọng: lớp 1 (xa Loss nhất) có gradient = tích của NHIỀU đạo hàm cục bộ nhất — vì sao vanishing/exploding luôn nặng nhất ở các lớp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hoạ trực quan bằng thanh giảm dần (ví dụ đơn giản hoá 1 số vô hướng). Trong thực tế, cơ chế là TÍCH của nhiều Jacobian/weight matrix liên tục co norm — không phải chỉ 'đạo hàm &lt; 1'. Số liệu thực nghiệm cho trường hợp này ở phần Demo (Experiment 1&amp;2, Depth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mặt của cùng một đồng xu' với slide trước — cùng cơ chế tích luỹ qua nhiều lớp, chỉ khác việc norm gradient bị co lại hay khuếch đại. Tránh nói đơn giản hoá 'chỉ khác dấu của (đạo hàm−1)' — thực tế là hành vi của TÍCH nhiều ma trận/Jacobian, không phải một số vô hướng duy nhất. Experiment 3 (Random large, std=1.0) sẽ tái hiện đúng hiện tượng này bằng số liệu thật (train loss = 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bên dưới lấy trực tiếp từ results/logs/run_zero_sigmoid.json — gradient RMS lớp ẩn đo được đúng bằng 0.0 trong thí nghiệm này. Phân biệt quan trọng: vấn đề symmetry là của WEIGHT (mọi hidden unit học giống hệt nhau); bias không gây đối xứng giữa các unit nên vẫn có thể khởi tạo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Bắc cầu trực tiếp sang Xavier/He: cả hai đều là cách CHỌN ĐÚNG variance thay vì chọn tuỳ tiện. Lưu ý quan trọng: kết luận 'std lớn → exploding' quan sát được trong experiment này là hành vi của mạng ReLU cụ thể; với sigmoid/tanh, std quá lớn còn có thể đẩy pre-activation vào vùng bão hoà, khiến derivative gần 0 và gây vanishing thay vì exploding.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từ results/logs/run_xavier_relu.json (lưới chính 6 hidden layer) — riêng cho kiến trúc 10-layer của phần demo, số chính xác sẽ ở slide Experiment 4&amp;5.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từ results/logs/run_he_relu.json. Trung thực khoa học: chênh lệch nhỏ giữa He/Xavier cho ReLU (xem slide So sánh) KHÔNG có ý nghĩa thống kê với 1 seed duy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thực: hàng Orthogonal chỉ mang tính lý thuyết/tham khảo, KHÔNG có thực nghiệm đi kèm trong project này — tránh ngộ nhận đã test đủ 5 phương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cầu nối ngắn gọn, không đi sâu derivation — chốt lại 'chuyện gì đang cố được giải quyết' trước khi sang phần Demo thực nghiệm kiểm chứng. Var(a) ổn định ở forward và Var(δ) ổn định ở backward là hai mục tiêu tương ứng của Xavier (cân bằng cả hai) và He (ưu tiên forward dưới ReLU).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khung demo như một MINI RESEARCH EXPERIMENT thay vì chỉ 'train CNN rồi show accuracy' — đúng tinh thần đề xuất: cùng kiến trúc/optimizer/dataset, chỉ đổi initialization.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chỉ đo accuracy — 4 nhóm metric cho phép PHÂN BIỆT nguyên nhân thất bại (vanishing vs. exploding vs. overfitting) thay vì chỉ thấy 'model tệ'. Thứ tự đọc kết quả ưu tiên: activation variance → gradient scale → training loss → test accuracy (accuracy là bằng chứng GIÁN TIẾP nhất, dễ bị nhiễu bởi nhiều yếu tố khác ngoài initialization). Sửa nhất quán thuật ngữ: mọi nơi trong deck đều dùng 'Gradient RMS' đúng với công thức grad.pow(2).mean().sqrt() (= norm/sqrt(n_elements)), không dùng '.norm()' thô.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trực tiếp từ results/logs/deep_demo_zero.json và deep_demo_random_normal.json — không làm tròn/che giấu: cả hai đều test_acc=10.0%, đúng mức đoán ngẫu nhiên của bài toán 10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thật từ results/logs/deep_demo_random_large.json — không phải minh hoạ lý thuyết, đây là NaN thật xảy ra khi chạy thí nghiệm. Đối lập rõ ràng với Experiment 1&amp;2 (vanishing): trong setup này, cả hai thái cực (std quá nhỏ / quá lớn) của cùng một sai lầm 'không scale theo fan_in' đều khiến mạng không học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thật từ results/tables/multiseed_xavier_he_summary.csv (5 seed độc lập {42..46}, cùng kiến trúc 10 hidden layer). Đây là điểm chỉnh sửa quan trọng: 1 seed duy nhất KHÔNG đủ để nói 'Xavier tốt hơn He' hay ngược lại — mean±std qua nhiều seed cho thấy chênh lệch accuracy nằm trong nhiễu ngẫu nhiên, trong khi chênh lệch gradient RMS (bậc ~35 lần) lại nhất quán và có ý nghĩa hơn 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tổng hợp cả 5 đường cùng lúc — hình ảnh 'ăn điểm' đầu tiên vì gói gọn toàn bộ câu chuyện demo trong 1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trong những visualization quan trọng nhất của toàn bộ demo vì thể hiện TRỰC TIẾP gradient flow qua từng layer, không qua trung gian (khác với accuracy — bằng chứng gián tiếp, chịu ảnh hưởng của nhiều yếu tố khác). Mỗi ô là một số liệu thật (RMS = grad.pow(2).mean().sqrt()), không phải minh hoạ cách điệu.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thật từ results/logs/depth_experiment_v2.json. Tránh phát biểu phổ quát kiểu "He ổn định ở mọi độ sâu" hay "Xavier thất bại" — đây là quan sát TRONG setup thực nghiệm cụ thể (MLP, ReLU, Fashion-MNIST). He duy trì gradient RMS cùng bậc độ lớn xuyên suốt (kể cả L=50: grad_rms≈1.08e-2) nhưng test accuracy vẫn dao động (L=12: 32.6%, L=20: 53.6%, L=50: 19.6%) — insight quan trọng nhất: stable gradient flow là điều kiện quan trọng cho optimization ổn định, nhưng KHÔNG phải điều kiện đủ để model generalize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ánh xạ trực tiếp từ CSV thật, kể cả NaN của Random-large — trung thực khoa học, không che giấu kết quả thất bại. Test accuracy KHÔNG phải bằng chứng duy nhất cho initialization — nó là chỉ số gián tiếp nhất trong 4 nhóm metric (Activation variance, Gradient RMS, Training loss, rồi mới đến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tổng kết toàn bộ mạch trình bày — 3 takeaway đọc thẳng ra từ sơ đồ, chốt bằng câu hỏi nghiên cứu đã đặt ra ở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giới thiệu ngắn, KHÔNG đi sâu — tránh lệch trọng tâm khỏi Backprop + Initialization là chủ đề chính của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nguồn, khớp danh mục tham khảo IEEE trong báo cáo LaTeX — không có nguồn bịa.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flipV="1">
            <a:off x="7863840" y="1965960"/>
            <a:ext cx="1234440" cy="566928"/>
          </a:xfrm>
          <a:prstGeom prst="line">
            <a:avLst/>
          </a:prstGeom>
          <a:noFill/>
          <a:ln w="6350">
            <a:solidFill>
              <a:srgbClr val="3A4A70">
                <a:alpha val="45000"/>
              </a:srgbClr>
            </a:solidFill>
            <a:prstDash val="solid"/>
          </a:ln>
        </p:spPr>
      </p:sp>
      <p:sp>
        <p:nvSpPr>
          <p:cNvPr id="3" name="Shape 1"/>
          <p:cNvSpPr/>
          <p:nvPr/>
        </p:nvSpPr>
        <p:spPr>
          <a:xfrm>
            <a:off x="7863840" y="2532888"/>
            <a:ext cx="1234440" cy="0"/>
          </a:xfrm>
          <a:prstGeom prst="line">
            <a:avLst/>
          </a:prstGeom>
          <a:noFill/>
          <a:ln w="6350">
            <a:solidFill>
              <a:srgbClr val="3A4A70">
                <a:alpha val="45000"/>
              </a:srgbClr>
            </a:solidFill>
            <a:prstDash val="solid"/>
          </a:ln>
        </p:spPr>
      </p:sp>
      <p:sp>
        <p:nvSpPr>
          <p:cNvPr id="4" name="Shape 2"/>
          <p:cNvSpPr/>
          <p:nvPr/>
        </p:nvSpPr>
        <p:spPr>
          <a:xfrm>
            <a:off x="7863840" y="2532888"/>
            <a:ext cx="1234440" cy="566928"/>
          </a:xfrm>
          <a:prstGeom prst="line">
            <a:avLst/>
          </a:prstGeom>
          <a:noFill/>
          <a:ln w="6350">
            <a:solidFill>
              <a:srgbClr val="3A4A70">
                <a:alpha val="45000"/>
              </a:srgbClr>
            </a:solidFill>
            <a:prstDash val="solid"/>
          </a:ln>
        </p:spPr>
      </p:sp>
      <p:sp>
        <p:nvSpPr>
          <p:cNvPr id="5" name="Shape 3"/>
          <p:cNvSpPr/>
          <p:nvPr/>
        </p:nvSpPr>
        <p:spPr>
          <a:xfrm>
            <a:off x="7863840" y="2532888"/>
            <a:ext cx="1234440" cy="1133856"/>
          </a:xfrm>
          <a:prstGeom prst="line">
            <a:avLst/>
          </a:prstGeom>
          <a:noFill/>
          <a:ln w="6350">
            <a:solidFill>
              <a:srgbClr val="3A4A70">
                <a:alpha val="45000"/>
              </a:srgbClr>
            </a:solidFill>
            <a:prstDash val="solid"/>
          </a:ln>
        </p:spPr>
      </p:sp>
      <p:sp>
        <p:nvSpPr>
          <p:cNvPr id="6" name="Shape 4"/>
          <p:cNvSpPr/>
          <p:nvPr/>
        </p:nvSpPr>
        <p:spPr>
          <a:xfrm>
            <a:off x="7863840" y="2532888"/>
            <a:ext cx="1234440" cy="1700784"/>
          </a:xfrm>
          <a:prstGeom prst="line">
            <a:avLst/>
          </a:prstGeom>
          <a:noFill/>
          <a:ln w="6350">
            <a:solidFill>
              <a:srgbClr val="3A4A70">
                <a:alpha val="45000"/>
              </a:srgbClr>
            </a:solidFill>
            <a:prstDash val="solid"/>
          </a:ln>
        </p:spPr>
      </p:sp>
      <p:sp>
        <p:nvSpPr>
          <p:cNvPr id="7" name="Shape 5"/>
          <p:cNvSpPr/>
          <p:nvPr/>
        </p:nvSpPr>
        <p:spPr>
          <a:xfrm>
            <a:off x="7863840" y="2532888"/>
            <a:ext cx="1234440" cy="2267712"/>
          </a:xfrm>
          <a:prstGeom prst="line">
            <a:avLst/>
          </a:prstGeom>
          <a:noFill/>
          <a:ln w="6350">
            <a:solidFill>
              <a:srgbClr val="3A4A70">
                <a:alpha val="45000"/>
              </a:srgbClr>
            </a:solidFill>
            <a:prstDash val="solid"/>
          </a:ln>
        </p:spPr>
      </p:sp>
      <p:sp>
        <p:nvSpPr>
          <p:cNvPr id="8" name="Shape 6"/>
          <p:cNvSpPr/>
          <p:nvPr/>
        </p:nvSpPr>
        <p:spPr>
          <a:xfrm flipV="1">
            <a:off x="7863840" y="1965960"/>
            <a:ext cx="1234440" cy="1133856"/>
          </a:xfrm>
          <a:prstGeom prst="line">
            <a:avLst/>
          </a:prstGeom>
          <a:noFill/>
          <a:ln w="6350">
            <a:solidFill>
              <a:srgbClr val="3A4A70">
                <a:alpha val="45000"/>
              </a:srgbClr>
            </a:solidFill>
            <a:prstDash val="solid"/>
          </a:ln>
        </p:spPr>
      </p:sp>
      <p:sp>
        <p:nvSpPr>
          <p:cNvPr id="9" name="Shape 7"/>
          <p:cNvSpPr/>
          <p:nvPr/>
        </p:nvSpPr>
        <p:spPr>
          <a:xfrm flipV="1">
            <a:off x="7863840" y="2532888"/>
            <a:ext cx="1234440" cy="566928"/>
          </a:xfrm>
          <a:prstGeom prst="line">
            <a:avLst/>
          </a:prstGeom>
          <a:noFill/>
          <a:ln w="6350">
            <a:solidFill>
              <a:srgbClr val="3A4A70">
                <a:alpha val="45000"/>
              </a:srgbClr>
            </a:solidFill>
            <a:prstDash val="solid"/>
          </a:ln>
        </p:spPr>
      </p:sp>
      <p:sp>
        <p:nvSpPr>
          <p:cNvPr id="10" name="Shape 8"/>
          <p:cNvSpPr/>
          <p:nvPr/>
        </p:nvSpPr>
        <p:spPr>
          <a:xfrm flipV="1">
            <a:off x="7863840" y="3099816"/>
            <a:ext cx="1234440" cy="0"/>
          </a:xfrm>
          <a:prstGeom prst="line">
            <a:avLst/>
          </a:prstGeom>
          <a:noFill/>
          <a:ln w="6350">
            <a:solidFill>
              <a:srgbClr val="3A4A70">
                <a:alpha val="45000"/>
              </a:srgbClr>
            </a:solidFill>
            <a:prstDash val="solid"/>
          </a:ln>
        </p:spPr>
      </p:sp>
      <p:sp>
        <p:nvSpPr>
          <p:cNvPr id="11" name="Shape 9"/>
          <p:cNvSpPr/>
          <p:nvPr/>
        </p:nvSpPr>
        <p:spPr>
          <a:xfrm>
            <a:off x="7863840" y="3099816"/>
            <a:ext cx="1234440" cy="566928"/>
          </a:xfrm>
          <a:prstGeom prst="line">
            <a:avLst/>
          </a:prstGeom>
          <a:noFill/>
          <a:ln w="6350">
            <a:solidFill>
              <a:srgbClr val="3A4A70">
                <a:alpha val="45000"/>
              </a:srgbClr>
            </a:solidFill>
            <a:prstDash val="solid"/>
          </a:ln>
        </p:spPr>
      </p:sp>
      <p:sp>
        <p:nvSpPr>
          <p:cNvPr id="12" name="Shape 10"/>
          <p:cNvSpPr/>
          <p:nvPr/>
        </p:nvSpPr>
        <p:spPr>
          <a:xfrm>
            <a:off x="7863840" y="3099816"/>
            <a:ext cx="1234440" cy="1133856"/>
          </a:xfrm>
          <a:prstGeom prst="line">
            <a:avLst/>
          </a:prstGeom>
          <a:noFill/>
          <a:ln w="6350">
            <a:solidFill>
              <a:srgbClr val="3A4A70">
                <a:alpha val="45000"/>
              </a:srgbClr>
            </a:solidFill>
            <a:prstDash val="solid"/>
          </a:ln>
        </p:spPr>
      </p:sp>
      <p:sp>
        <p:nvSpPr>
          <p:cNvPr id="13" name="Shape 11"/>
          <p:cNvSpPr/>
          <p:nvPr/>
        </p:nvSpPr>
        <p:spPr>
          <a:xfrm>
            <a:off x="7863840" y="3099816"/>
            <a:ext cx="1234440" cy="1700784"/>
          </a:xfrm>
          <a:prstGeom prst="line">
            <a:avLst/>
          </a:prstGeom>
          <a:noFill/>
          <a:ln w="6350">
            <a:solidFill>
              <a:srgbClr val="3A4A70">
                <a:alpha val="45000"/>
              </a:srgbClr>
            </a:solidFill>
            <a:prstDash val="solid"/>
          </a:ln>
        </p:spPr>
      </p:sp>
      <p:sp>
        <p:nvSpPr>
          <p:cNvPr id="14" name="Shape 12"/>
          <p:cNvSpPr/>
          <p:nvPr/>
        </p:nvSpPr>
        <p:spPr>
          <a:xfrm flipV="1">
            <a:off x="7863840" y="1965960"/>
            <a:ext cx="1234440" cy="1700784"/>
          </a:xfrm>
          <a:prstGeom prst="line">
            <a:avLst/>
          </a:prstGeom>
          <a:noFill/>
          <a:ln w="6350">
            <a:solidFill>
              <a:srgbClr val="3A4A70">
                <a:alpha val="45000"/>
              </a:srgbClr>
            </a:solidFill>
            <a:prstDash val="solid"/>
          </a:ln>
        </p:spPr>
      </p:sp>
      <p:sp>
        <p:nvSpPr>
          <p:cNvPr id="15" name="Shape 13"/>
          <p:cNvSpPr/>
          <p:nvPr/>
        </p:nvSpPr>
        <p:spPr>
          <a:xfrm flipV="1">
            <a:off x="7863840" y="2532888"/>
            <a:ext cx="1234440" cy="1133856"/>
          </a:xfrm>
          <a:prstGeom prst="line">
            <a:avLst/>
          </a:prstGeom>
          <a:noFill/>
          <a:ln w="6350">
            <a:solidFill>
              <a:srgbClr val="3A4A70">
                <a:alpha val="45000"/>
              </a:srgbClr>
            </a:solidFill>
            <a:prstDash val="solid"/>
          </a:ln>
        </p:spPr>
      </p:sp>
      <p:sp>
        <p:nvSpPr>
          <p:cNvPr id="16" name="Shape 14"/>
          <p:cNvSpPr/>
          <p:nvPr/>
        </p:nvSpPr>
        <p:spPr>
          <a:xfrm flipV="1">
            <a:off x="7863840" y="3099816"/>
            <a:ext cx="1234440" cy="566928"/>
          </a:xfrm>
          <a:prstGeom prst="line">
            <a:avLst/>
          </a:prstGeom>
          <a:noFill/>
          <a:ln w="6350">
            <a:solidFill>
              <a:srgbClr val="3A4A70">
                <a:alpha val="45000"/>
              </a:srgbClr>
            </a:solidFill>
            <a:prstDash val="solid"/>
          </a:ln>
        </p:spPr>
      </p:sp>
      <p:sp>
        <p:nvSpPr>
          <p:cNvPr id="17" name="Shape 15"/>
          <p:cNvSpPr/>
          <p:nvPr/>
        </p:nvSpPr>
        <p:spPr>
          <a:xfrm>
            <a:off x="7863840" y="3666744"/>
            <a:ext cx="1234440" cy="0"/>
          </a:xfrm>
          <a:prstGeom prst="line">
            <a:avLst/>
          </a:prstGeom>
          <a:noFill/>
          <a:ln w="6350">
            <a:solidFill>
              <a:srgbClr val="3A4A70">
                <a:alpha val="45000"/>
              </a:srgbClr>
            </a:solidFill>
            <a:prstDash val="solid"/>
          </a:ln>
        </p:spPr>
      </p:sp>
      <p:sp>
        <p:nvSpPr>
          <p:cNvPr id="18" name="Shape 16"/>
          <p:cNvSpPr/>
          <p:nvPr/>
        </p:nvSpPr>
        <p:spPr>
          <a:xfrm>
            <a:off x="7863840" y="3666744"/>
            <a:ext cx="1234440" cy="566928"/>
          </a:xfrm>
          <a:prstGeom prst="line">
            <a:avLst/>
          </a:prstGeom>
          <a:noFill/>
          <a:ln w="6350">
            <a:solidFill>
              <a:srgbClr val="3A4A70">
                <a:alpha val="45000"/>
              </a:srgbClr>
            </a:solidFill>
            <a:prstDash val="solid"/>
          </a:ln>
        </p:spPr>
      </p:sp>
      <p:sp>
        <p:nvSpPr>
          <p:cNvPr id="19" name="Shape 17"/>
          <p:cNvSpPr/>
          <p:nvPr/>
        </p:nvSpPr>
        <p:spPr>
          <a:xfrm>
            <a:off x="7863840" y="3666744"/>
            <a:ext cx="1234440" cy="1133856"/>
          </a:xfrm>
          <a:prstGeom prst="line">
            <a:avLst/>
          </a:prstGeom>
          <a:noFill/>
          <a:ln w="6350">
            <a:solidFill>
              <a:srgbClr val="3A4A70">
                <a:alpha val="45000"/>
              </a:srgbClr>
            </a:solidFill>
            <a:prstDash val="solid"/>
          </a:ln>
        </p:spPr>
      </p:sp>
      <p:sp>
        <p:nvSpPr>
          <p:cNvPr id="20" name="Shape 18"/>
          <p:cNvSpPr/>
          <p:nvPr/>
        </p:nvSpPr>
        <p:spPr>
          <a:xfrm flipV="1">
            <a:off x="7863840" y="1965960"/>
            <a:ext cx="1234440" cy="2267712"/>
          </a:xfrm>
          <a:prstGeom prst="line">
            <a:avLst/>
          </a:prstGeom>
          <a:noFill/>
          <a:ln w="6350">
            <a:solidFill>
              <a:srgbClr val="3A4A70">
                <a:alpha val="45000"/>
              </a:srgbClr>
            </a:solidFill>
            <a:prstDash val="solid"/>
          </a:ln>
        </p:spPr>
      </p:sp>
      <p:sp>
        <p:nvSpPr>
          <p:cNvPr id="21" name="Shape 19"/>
          <p:cNvSpPr/>
          <p:nvPr/>
        </p:nvSpPr>
        <p:spPr>
          <a:xfrm flipV="1">
            <a:off x="7863840" y="2532888"/>
            <a:ext cx="1234440" cy="1700784"/>
          </a:xfrm>
          <a:prstGeom prst="line">
            <a:avLst/>
          </a:prstGeom>
          <a:noFill/>
          <a:ln w="6350">
            <a:solidFill>
              <a:srgbClr val="3A4A70">
                <a:alpha val="45000"/>
              </a:srgbClr>
            </a:solidFill>
            <a:prstDash val="solid"/>
          </a:ln>
        </p:spPr>
      </p:sp>
      <p:sp>
        <p:nvSpPr>
          <p:cNvPr id="22" name="Shape 20"/>
          <p:cNvSpPr/>
          <p:nvPr/>
        </p:nvSpPr>
        <p:spPr>
          <a:xfrm flipV="1">
            <a:off x="7863840" y="3099816"/>
            <a:ext cx="1234440" cy="1133856"/>
          </a:xfrm>
          <a:prstGeom prst="line">
            <a:avLst/>
          </a:prstGeom>
          <a:noFill/>
          <a:ln w="6350">
            <a:solidFill>
              <a:srgbClr val="3A4A70">
                <a:alpha val="45000"/>
              </a:srgbClr>
            </a:solidFill>
            <a:prstDash val="solid"/>
          </a:ln>
        </p:spPr>
      </p:sp>
      <p:sp>
        <p:nvSpPr>
          <p:cNvPr id="23" name="Shape 21"/>
          <p:cNvSpPr/>
          <p:nvPr/>
        </p:nvSpPr>
        <p:spPr>
          <a:xfrm flipV="1">
            <a:off x="7863840" y="3666744"/>
            <a:ext cx="1234440" cy="566928"/>
          </a:xfrm>
          <a:prstGeom prst="line">
            <a:avLst/>
          </a:prstGeom>
          <a:noFill/>
          <a:ln w="6350">
            <a:solidFill>
              <a:srgbClr val="3A4A70">
                <a:alpha val="45000"/>
              </a:srgbClr>
            </a:solidFill>
            <a:prstDash val="solid"/>
          </a:ln>
        </p:spPr>
      </p:sp>
      <p:sp>
        <p:nvSpPr>
          <p:cNvPr id="24" name="Shape 22"/>
          <p:cNvSpPr/>
          <p:nvPr/>
        </p:nvSpPr>
        <p:spPr>
          <a:xfrm>
            <a:off x="7863840" y="4233672"/>
            <a:ext cx="1234440" cy="0"/>
          </a:xfrm>
          <a:prstGeom prst="line">
            <a:avLst/>
          </a:prstGeom>
          <a:noFill/>
          <a:ln w="6350">
            <a:solidFill>
              <a:srgbClr val="3A4A70">
                <a:alpha val="45000"/>
              </a:srgbClr>
            </a:solidFill>
            <a:prstDash val="solid"/>
          </a:ln>
        </p:spPr>
      </p:sp>
      <p:sp>
        <p:nvSpPr>
          <p:cNvPr id="25" name="Shape 23"/>
          <p:cNvSpPr/>
          <p:nvPr/>
        </p:nvSpPr>
        <p:spPr>
          <a:xfrm>
            <a:off x="7863840" y="4233672"/>
            <a:ext cx="1234440" cy="566928"/>
          </a:xfrm>
          <a:prstGeom prst="line">
            <a:avLst/>
          </a:prstGeom>
          <a:noFill/>
          <a:ln w="6350">
            <a:solidFill>
              <a:srgbClr val="3A4A70">
                <a:alpha val="45000"/>
              </a:srgbClr>
            </a:solidFill>
            <a:prstDash val="solid"/>
          </a:ln>
        </p:spPr>
      </p:sp>
      <p:sp>
        <p:nvSpPr>
          <p:cNvPr id="26" name="Shape 24"/>
          <p:cNvSpPr/>
          <p:nvPr/>
        </p:nvSpPr>
        <p:spPr>
          <a:xfrm>
            <a:off x="9098280" y="1965960"/>
            <a:ext cx="1234440" cy="0"/>
          </a:xfrm>
          <a:prstGeom prst="line">
            <a:avLst/>
          </a:prstGeom>
          <a:noFill/>
          <a:ln w="6350">
            <a:solidFill>
              <a:srgbClr val="3A4A70">
                <a:alpha val="45000"/>
              </a:srgbClr>
            </a:solidFill>
            <a:prstDash val="solid"/>
          </a:ln>
        </p:spPr>
      </p:sp>
      <p:sp>
        <p:nvSpPr>
          <p:cNvPr id="27" name="Shape 25"/>
          <p:cNvSpPr/>
          <p:nvPr/>
        </p:nvSpPr>
        <p:spPr>
          <a:xfrm>
            <a:off x="9098280" y="1965960"/>
            <a:ext cx="1234440" cy="566928"/>
          </a:xfrm>
          <a:prstGeom prst="line">
            <a:avLst/>
          </a:prstGeom>
          <a:noFill/>
          <a:ln w="6350">
            <a:solidFill>
              <a:srgbClr val="3A4A70">
                <a:alpha val="45000"/>
              </a:srgbClr>
            </a:solidFill>
            <a:prstDash val="solid"/>
          </a:ln>
        </p:spPr>
      </p:sp>
      <p:sp>
        <p:nvSpPr>
          <p:cNvPr id="28" name="Shape 26"/>
          <p:cNvSpPr/>
          <p:nvPr/>
        </p:nvSpPr>
        <p:spPr>
          <a:xfrm>
            <a:off x="9098280" y="1965960"/>
            <a:ext cx="1234440" cy="1133856"/>
          </a:xfrm>
          <a:prstGeom prst="line">
            <a:avLst/>
          </a:prstGeom>
          <a:noFill/>
          <a:ln w="6350">
            <a:solidFill>
              <a:srgbClr val="3A4A70">
                <a:alpha val="45000"/>
              </a:srgbClr>
            </a:solidFill>
            <a:prstDash val="solid"/>
          </a:ln>
        </p:spPr>
      </p:sp>
      <p:sp>
        <p:nvSpPr>
          <p:cNvPr id="29" name="Shape 27"/>
          <p:cNvSpPr/>
          <p:nvPr/>
        </p:nvSpPr>
        <p:spPr>
          <a:xfrm>
            <a:off x="9098280" y="1965960"/>
            <a:ext cx="1234440" cy="1700784"/>
          </a:xfrm>
          <a:prstGeom prst="line">
            <a:avLst/>
          </a:prstGeom>
          <a:noFill/>
          <a:ln w="6350">
            <a:solidFill>
              <a:srgbClr val="3A4A70">
                <a:alpha val="45000"/>
              </a:srgbClr>
            </a:solidFill>
            <a:prstDash val="solid"/>
          </a:ln>
        </p:spPr>
      </p:sp>
      <p:sp>
        <p:nvSpPr>
          <p:cNvPr id="30" name="Shape 28"/>
          <p:cNvSpPr/>
          <p:nvPr/>
        </p:nvSpPr>
        <p:spPr>
          <a:xfrm>
            <a:off x="9098280" y="1965960"/>
            <a:ext cx="1234440" cy="2267712"/>
          </a:xfrm>
          <a:prstGeom prst="line">
            <a:avLst/>
          </a:prstGeom>
          <a:noFill/>
          <a:ln w="6350">
            <a:solidFill>
              <a:srgbClr val="3A4A70">
                <a:alpha val="45000"/>
              </a:srgbClr>
            </a:solidFill>
            <a:prstDash val="solid"/>
          </a:ln>
        </p:spPr>
      </p:sp>
      <p:sp>
        <p:nvSpPr>
          <p:cNvPr id="31" name="Shape 29"/>
          <p:cNvSpPr/>
          <p:nvPr/>
        </p:nvSpPr>
        <p:spPr>
          <a:xfrm>
            <a:off x="9098280" y="1965960"/>
            <a:ext cx="1234440" cy="2834640"/>
          </a:xfrm>
          <a:prstGeom prst="line">
            <a:avLst/>
          </a:prstGeom>
          <a:noFill/>
          <a:ln w="6350">
            <a:solidFill>
              <a:srgbClr val="3A4A70">
                <a:alpha val="45000"/>
              </a:srgbClr>
            </a:solidFill>
            <a:prstDash val="solid"/>
          </a:ln>
        </p:spPr>
      </p:sp>
      <p:sp>
        <p:nvSpPr>
          <p:cNvPr id="32" name="Shape 30"/>
          <p:cNvSpPr/>
          <p:nvPr/>
        </p:nvSpPr>
        <p:spPr>
          <a:xfrm flipV="1">
            <a:off x="9098280" y="1965960"/>
            <a:ext cx="1234440" cy="566928"/>
          </a:xfrm>
          <a:prstGeom prst="line">
            <a:avLst/>
          </a:prstGeom>
          <a:noFill/>
          <a:ln w="6350">
            <a:solidFill>
              <a:srgbClr val="3A4A70">
                <a:alpha val="45000"/>
              </a:srgbClr>
            </a:solidFill>
            <a:prstDash val="solid"/>
          </a:ln>
        </p:spPr>
      </p:sp>
      <p:sp>
        <p:nvSpPr>
          <p:cNvPr id="33" name="Shape 31"/>
          <p:cNvSpPr/>
          <p:nvPr/>
        </p:nvSpPr>
        <p:spPr>
          <a:xfrm>
            <a:off x="9098280" y="2532888"/>
            <a:ext cx="1234440" cy="0"/>
          </a:xfrm>
          <a:prstGeom prst="line">
            <a:avLst/>
          </a:prstGeom>
          <a:noFill/>
          <a:ln w="6350">
            <a:solidFill>
              <a:srgbClr val="3A4A70">
                <a:alpha val="45000"/>
              </a:srgbClr>
            </a:solidFill>
            <a:prstDash val="solid"/>
          </a:ln>
        </p:spPr>
      </p:sp>
      <p:sp>
        <p:nvSpPr>
          <p:cNvPr id="34" name="Shape 32"/>
          <p:cNvSpPr/>
          <p:nvPr/>
        </p:nvSpPr>
        <p:spPr>
          <a:xfrm>
            <a:off x="9098280" y="2532888"/>
            <a:ext cx="1234440" cy="566928"/>
          </a:xfrm>
          <a:prstGeom prst="line">
            <a:avLst/>
          </a:prstGeom>
          <a:noFill/>
          <a:ln w="6350">
            <a:solidFill>
              <a:srgbClr val="3A4A70">
                <a:alpha val="45000"/>
              </a:srgbClr>
            </a:solidFill>
            <a:prstDash val="solid"/>
          </a:ln>
        </p:spPr>
      </p:sp>
      <p:sp>
        <p:nvSpPr>
          <p:cNvPr id="35" name="Shape 33"/>
          <p:cNvSpPr/>
          <p:nvPr/>
        </p:nvSpPr>
        <p:spPr>
          <a:xfrm>
            <a:off x="9098280" y="2532888"/>
            <a:ext cx="1234440" cy="1133856"/>
          </a:xfrm>
          <a:prstGeom prst="line">
            <a:avLst/>
          </a:prstGeom>
          <a:noFill/>
          <a:ln w="6350">
            <a:solidFill>
              <a:srgbClr val="3A4A70">
                <a:alpha val="45000"/>
              </a:srgbClr>
            </a:solidFill>
            <a:prstDash val="solid"/>
          </a:ln>
        </p:spPr>
      </p:sp>
      <p:sp>
        <p:nvSpPr>
          <p:cNvPr id="36" name="Shape 34"/>
          <p:cNvSpPr/>
          <p:nvPr/>
        </p:nvSpPr>
        <p:spPr>
          <a:xfrm>
            <a:off x="9098280" y="2532888"/>
            <a:ext cx="1234440" cy="1700784"/>
          </a:xfrm>
          <a:prstGeom prst="line">
            <a:avLst/>
          </a:prstGeom>
          <a:noFill/>
          <a:ln w="6350">
            <a:solidFill>
              <a:srgbClr val="3A4A70">
                <a:alpha val="45000"/>
              </a:srgbClr>
            </a:solidFill>
            <a:prstDash val="solid"/>
          </a:ln>
        </p:spPr>
      </p:sp>
      <p:sp>
        <p:nvSpPr>
          <p:cNvPr id="37" name="Shape 35"/>
          <p:cNvSpPr/>
          <p:nvPr/>
        </p:nvSpPr>
        <p:spPr>
          <a:xfrm>
            <a:off x="9098280" y="2532888"/>
            <a:ext cx="1234440" cy="2267712"/>
          </a:xfrm>
          <a:prstGeom prst="line">
            <a:avLst/>
          </a:prstGeom>
          <a:noFill/>
          <a:ln w="6350">
            <a:solidFill>
              <a:srgbClr val="3A4A70">
                <a:alpha val="45000"/>
              </a:srgbClr>
            </a:solidFill>
            <a:prstDash val="solid"/>
          </a:ln>
        </p:spPr>
      </p:sp>
      <p:sp>
        <p:nvSpPr>
          <p:cNvPr id="38" name="Shape 36"/>
          <p:cNvSpPr/>
          <p:nvPr/>
        </p:nvSpPr>
        <p:spPr>
          <a:xfrm flipV="1">
            <a:off x="9098280" y="1965960"/>
            <a:ext cx="1234440" cy="1133856"/>
          </a:xfrm>
          <a:prstGeom prst="line">
            <a:avLst/>
          </a:prstGeom>
          <a:noFill/>
          <a:ln w="6350">
            <a:solidFill>
              <a:srgbClr val="3A4A70">
                <a:alpha val="45000"/>
              </a:srgbClr>
            </a:solidFill>
            <a:prstDash val="solid"/>
          </a:ln>
        </p:spPr>
      </p:sp>
      <p:sp>
        <p:nvSpPr>
          <p:cNvPr id="39" name="Shape 37"/>
          <p:cNvSpPr/>
          <p:nvPr/>
        </p:nvSpPr>
        <p:spPr>
          <a:xfrm flipV="1">
            <a:off x="9098280" y="2532888"/>
            <a:ext cx="1234440" cy="566928"/>
          </a:xfrm>
          <a:prstGeom prst="line">
            <a:avLst/>
          </a:prstGeom>
          <a:noFill/>
          <a:ln w="6350">
            <a:solidFill>
              <a:srgbClr val="3A4A70">
                <a:alpha val="45000"/>
              </a:srgbClr>
            </a:solidFill>
            <a:prstDash val="solid"/>
          </a:ln>
        </p:spPr>
      </p:sp>
      <p:sp>
        <p:nvSpPr>
          <p:cNvPr id="40" name="Shape 38"/>
          <p:cNvSpPr/>
          <p:nvPr/>
        </p:nvSpPr>
        <p:spPr>
          <a:xfrm>
            <a:off x="9098280" y="3099816"/>
            <a:ext cx="1234440" cy="0"/>
          </a:xfrm>
          <a:prstGeom prst="line">
            <a:avLst/>
          </a:prstGeom>
          <a:noFill/>
          <a:ln w="6350">
            <a:solidFill>
              <a:srgbClr val="3A4A70">
                <a:alpha val="45000"/>
              </a:srgbClr>
            </a:solidFill>
            <a:prstDash val="solid"/>
          </a:ln>
        </p:spPr>
      </p:sp>
      <p:sp>
        <p:nvSpPr>
          <p:cNvPr id="41" name="Shape 39"/>
          <p:cNvSpPr/>
          <p:nvPr/>
        </p:nvSpPr>
        <p:spPr>
          <a:xfrm>
            <a:off x="9098280" y="3099816"/>
            <a:ext cx="1234440" cy="566928"/>
          </a:xfrm>
          <a:prstGeom prst="line">
            <a:avLst/>
          </a:prstGeom>
          <a:noFill/>
          <a:ln w="6350">
            <a:solidFill>
              <a:srgbClr val="3A4A70">
                <a:alpha val="45000"/>
              </a:srgbClr>
            </a:solidFill>
            <a:prstDash val="solid"/>
          </a:ln>
        </p:spPr>
      </p:sp>
      <p:sp>
        <p:nvSpPr>
          <p:cNvPr id="42" name="Shape 40"/>
          <p:cNvSpPr/>
          <p:nvPr/>
        </p:nvSpPr>
        <p:spPr>
          <a:xfrm>
            <a:off x="9098280" y="3099816"/>
            <a:ext cx="1234440" cy="1133856"/>
          </a:xfrm>
          <a:prstGeom prst="line">
            <a:avLst/>
          </a:prstGeom>
          <a:noFill/>
          <a:ln w="6350">
            <a:solidFill>
              <a:srgbClr val="3A4A70">
                <a:alpha val="45000"/>
              </a:srgbClr>
            </a:solidFill>
            <a:prstDash val="solid"/>
          </a:ln>
        </p:spPr>
      </p:sp>
      <p:sp>
        <p:nvSpPr>
          <p:cNvPr id="43" name="Shape 41"/>
          <p:cNvSpPr/>
          <p:nvPr/>
        </p:nvSpPr>
        <p:spPr>
          <a:xfrm>
            <a:off x="9098280" y="3099816"/>
            <a:ext cx="1234440" cy="1700784"/>
          </a:xfrm>
          <a:prstGeom prst="line">
            <a:avLst/>
          </a:prstGeom>
          <a:noFill/>
          <a:ln w="6350">
            <a:solidFill>
              <a:srgbClr val="3A4A70">
                <a:alpha val="45000"/>
              </a:srgbClr>
            </a:solidFill>
            <a:prstDash val="solid"/>
          </a:ln>
        </p:spPr>
      </p:sp>
      <p:sp>
        <p:nvSpPr>
          <p:cNvPr id="44" name="Shape 42"/>
          <p:cNvSpPr/>
          <p:nvPr/>
        </p:nvSpPr>
        <p:spPr>
          <a:xfrm flipV="1">
            <a:off x="9098280" y="1965960"/>
            <a:ext cx="1234440" cy="1700784"/>
          </a:xfrm>
          <a:prstGeom prst="line">
            <a:avLst/>
          </a:prstGeom>
          <a:noFill/>
          <a:ln w="6350">
            <a:solidFill>
              <a:srgbClr val="3A4A70">
                <a:alpha val="45000"/>
              </a:srgbClr>
            </a:solidFill>
            <a:prstDash val="solid"/>
          </a:ln>
        </p:spPr>
      </p:sp>
      <p:sp>
        <p:nvSpPr>
          <p:cNvPr id="45" name="Shape 43"/>
          <p:cNvSpPr/>
          <p:nvPr/>
        </p:nvSpPr>
        <p:spPr>
          <a:xfrm flipV="1">
            <a:off x="9098280" y="2532888"/>
            <a:ext cx="1234440" cy="1133856"/>
          </a:xfrm>
          <a:prstGeom prst="line">
            <a:avLst/>
          </a:prstGeom>
          <a:noFill/>
          <a:ln w="6350">
            <a:solidFill>
              <a:srgbClr val="3A4A70">
                <a:alpha val="45000"/>
              </a:srgbClr>
            </a:solidFill>
            <a:prstDash val="solid"/>
          </a:ln>
        </p:spPr>
      </p:sp>
      <p:sp>
        <p:nvSpPr>
          <p:cNvPr id="46" name="Shape 44"/>
          <p:cNvSpPr/>
          <p:nvPr/>
        </p:nvSpPr>
        <p:spPr>
          <a:xfrm flipV="1">
            <a:off x="9098280" y="3099816"/>
            <a:ext cx="1234440" cy="566928"/>
          </a:xfrm>
          <a:prstGeom prst="line">
            <a:avLst/>
          </a:prstGeom>
          <a:noFill/>
          <a:ln w="6350">
            <a:solidFill>
              <a:srgbClr val="3A4A70">
                <a:alpha val="45000"/>
              </a:srgbClr>
            </a:solidFill>
            <a:prstDash val="solid"/>
          </a:ln>
        </p:spPr>
      </p:sp>
      <p:sp>
        <p:nvSpPr>
          <p:cNvPr id="47" name="Shape 45"/>
          <p:cNvSpPr/>
          <p:nvPr/>
        </p:nvSpPr>
        <p:spPr>
          <a:xfrm>
            <a:off x="9098280" y="3666744"/>
            <a:ext cx="1234440" cy="0"/>
          </a:xfrm>
          <a:prstGeom prst="line">
            <a:avLst/>
          </a:prstGeom>
          <a:noFill/>
          <a:ln w="6350">
            <a:solidFill>
              <a:srgbClr val="3A4A70">
                <a:alpha val="45000"/>
              </a:srgbClr>
            </a:solidFill>
            <a:prstDash val="solid"/>
          </a:ln>
        </p:spPr>
      </p:sp>
      <p:sp>
        <p:nvSpPr>
          <p:cNvPr id="48" name="Shape 46"/>
          <p:cNvSpPr/>
          <p:nvPr/>
        </p:nvSpPr>
        <p:spPr>
          <a:xfrm>
            <a:off x="9098280" y="3666744"/>
            <a:ext cx="1234440" cy="566928"/>
          </a:xfrm>
          <a:prstGeom prst="line">
            <a:avLst/>
          </a:prstGeom>
          <a:noFill/>
          <a:ln w="6350">
            <a:solidFill>
              <a:srgbClr val="3A4A70">
                <a:alpha val="45000"/>
              </a:srgbClr>
            </a:solidFill>
            <a:prstDash val="solid"/>
          </a:ln>
        </p:spPr>
      </p:sp>
      <p:sp>
        <p:nvSpPr>
          <p:cNvPr id="49" name="Shape 47"/>
          <p:cNvSpPr/>
          <p:nvPr/>
        </p:nvSpPr>
        <p:spPr>
          <a:xfrm>
            <a:off x="9098280" y="3666744"/>
            <a:ext cx="1234440" cy="1133856"/>
          </a:xfrm>
          <a:prstGeom prst="line">
            <a:avLst/>
          </a:prstGeom>
          <a:noFill/>
          <a:ln w="6350">
            <a:solidFill>
              <a:srgbClr val="3A4A70">
                <a:alpha val="45000"/>
              </a:srgbClr>
            </a:solidFill>
            <a:prstDash val="solid"/>
          </a:ln>
        </p:spPr>
      </p:sp>
      <p:sp>
        <p:nvSpPr>
          <p:cNvPr id="50" name="Shape 48"/>
          <p:cNvSpPr/>
          <p:nvPr/>
        </p:nvSpPr>
        <p:spPr>
          <a:xfrm flipV="1">
            <a:off x="9098280" y="1965960"/>
            <a:ext cx="1234440" cy="2267712"/>
          </a:xfrm>
          <a:prstGeom prst="line">
            <a:avLst/>
          </a:prstGeom>
          <a:noFill/>
          <a:ln w="6350">
            <a:solidFill>
              <a:srgbClr val="3A4A70">
                <a:alpha val="45000"/>
              </a:srgbClr>
            </a:solidFill>
            <a:prstDash val="solid"/>
          </a:ln>
        </p:spPr>
      </p:sp>
      <p:sp>
        <p:nvSpPr>
          <p:cNvPr id="51" name="Shape 49"/>
          <p:cNvSpPr/>
          <p:nvPr/>
        </p:nvSpPr>
        <p:spPr>
          <a:xfrm flipV="1">
            <a:off x="9098280" y="2532888"/>
            <a:ext cx="1234440" cy="1700784"/>
          </a:xfrm>
          <a:prstGeom prst="line">
            <a:avLst/>
          </a:prstGeom>
          <a:noFill/>
          <a:ln w="6350">
            <a:solidFill>
              <a:srgbClr val="3A4A70">
                <a:alpha val="45000"/>
              </a:srgbClr>
            </a:solidFill>
            <a:prstDash val="solid"/>
          </a:ln>
        </p:spPr>
      </p:sp>
      <p:sp>
        <p:nvSpPr>
          <p:cNvPr id="52" name="Shape 50"/>
          <p:cNvSpPr/>
          <p:nvPr/>
        </p:nvSpPr>
        <p:spPr>
          <a:xfrm flipV="1">
            <a:off x="9098280" y="3099816"/>
            <a:ext cx="1234440" cy="1133856"/>
          </a:xfrm>
          <a:prstGeom prst="line">
            <a:avLst/>
          </a:prstGeom>
          <a:noFill/>
          <a:ln w="6350">
            <a:solidFill>
              <a:srgbClr val="3A4A70">
                <a:alpha val="45000"/>
              </a:srgbClr>
            </a:solidFill>
            <a:prstDash val="solid"/>
          </a:ln>
        </p:spPr>
      </p:sp>
      <p:sp>
        <p:nvSpPr>
          <p:cNvPr id="53" name="Shape 51"/>
          <p:cNvSpPr/>
          <p:nvPr/>
        </p:nvSpPr>
        <p:spPr>
          <a:xfrm flipV="1">
            <a:off x="9098280" y="3666744"/>
            <a:ext cx="1234440" cy="566928"/>
          </a:xfrm>
          <a:prstGeom prst="line">
            <a:avLst/>
          </a:prstGeom>
          <a:noFill/>
          <a:ln w="6350">
            <a:solidFill>
              <a:srgbClr val="3A4A70">
                <a:alpha val="45000"/>
              </a:srgbClr>
            </a:solidFill>
            <a:prstDash val="solid"/>
          </a:ln>
        </p:spPr>
      </p:sp>
      <p:sp>
        <p:nvSpPr>
          <p:cNvPr id="54" name="Shape 52"/>
          <p:cNvSpPr/>
          <p:nvPr/>
        </p:nvSpPr>
        <p:spPr>
          <a:xfrm>
            <a:off x="9098280" y="4233672"/>
            <a:ext cx="1234440" cy="0"/>
          </a:xfrm>
          <a:prstGeom prst="line">
            <a:avLst/>
          </a:prstGeom>
          <a:noFill/>
          <a:ln w="6350">
            <a:solidFill>
              <a:srgbClr val="3A4A70">
                <a:alpha val="45000"/>
              </a:srgbClr>
            </a:solidFill>
            <a:prstDash val="solid"/>
          </a:ln>
        </p:spPr>
      </p:sp>
      <p:sp>
        <p:nvSpPr>
          <p:cNvPr id="55" name="Shape 53"/>
          <p:cNvSpPr/>
          <p:nvPr/>
        </p:nvSpPr>
        <p:spPr>
          <a:xfrm>
            <a:off x="9098280" y="4233672"/>
            <a:ext cx="1234440" cy="566928"/>
          </a:xfrm>
          <a:prstGeom prst="line">
            <a:avLst/>
          </a:prstGeom>
          <a:noFill/>
          <a:ln w="6350">
            <a:solidFill>
              <a:srgbClr val="3A4A70">
                <a:alpha val="45000"/>
              </a:srgbClr>
            </a:solidFill>
            <a:prstDash val="solid"/>
          </a:ln>
        </p:spPr>
      </p:sp>
      <p:sp>
        <p:nvSpPr>
          <p:cNvPr id="56" name="Shape 54"/>
          <p:cNvSpPr/>
          <p:nvPr/>
        </p:nvSpPr>
        <p:spPr>
          <a:xfrm flipV="1">
            <a:off x="9098280" y="1965960"/>
            <a:ext cx="1234440" cy="2834640"/>
          </a:xfrm>
          <a:prstGeom prst="line">
            <a:avLst/>
          </a:prstGeom>
          <a:noFill/>
          <a:ln w="6350">
            <a:solidFill>
              <a:srgbClr val="3A4A70">
                <a:alpha val="45000"/>
              </a:srgbClr>
            </a:solidFill>
            <a:prstDash val="solid"/>
          </a:ln>
        </p:spPr>
      </p:sp>
      <p:sp>
        <p:nvSpPr>
          <p:cNvPr id="57" name="Shape 55"/>
          <p:cNvSpPr/>
          <p:nvPr/>
        </p:nvSpPr>
        <p:spPr>
          <a:xfrm flipV="1">
            <a:off x="9098280" y="2532888"/>
            <a:ext cx="1234440" cy="2267712"/>
          </a:xfrm>
          <a:prstGeom prst="line">
            <a:avLst/>
          </a:prstGeom>
          <a:noFill/>
          <a:ln w="6350">
            <a:solidFill>
              <a:srgbClr val="3A4A70">
                <a:alpha val="45000"/>
              </a:srgbClr>
            </a:solidFill>
            <a:prstDash val="solid"/>
          </a:ln>
        </p:spPr>
      </p:sp>
      <p:sp>
        <p:nvSpPr>
          <p:cNvPr id="58" name="Shape 56"/>
          <p:cNvSpPr/>
          <p:nvPr/>
        </p:nvSpPr>
        <p:spPr>
          <a:xfrm flipV="1">
            <a:off x="9098280" y="3099816"/>
            <a:ext cx="1234440" cy="1700784"/>
          </a:xfrm>
          <a:prstGeom prst="line">
            <a:avLst/>
          </a:prstGeom>
          <a:noFill/>
          <a:ln w="6350">
            <a:solidFill>
              <a:srgbClr val="3A4A70">
                <a:alpha val="45000"/>
              </a:srgbClr>
            </a:solidFill>
            <a:prstDash val="solid"/>
          </a:ln>
        </p:spPr>
      </p:sp>
      <p:sp>
        <p:nvSpPr>
          <p:cNvPr id="59" name="Shape 57"/>
          <p:cNvSpPr/>
          <p:nvPr/>
        </p:nvSpPr>
        <p:spPr>
          <a:xfrm flipV="1">
            <a:off x="9098280" y="3666744"/>
            <a:ext cx="1234440" cy="1133856"/>
          </a:xfrm>
          <a:prstGeom prst="line">
            <a:avLst/>
          </a:prstGeom>
          <a:noFill/>
          <a:ln w="6350">
            <a:solidFill>
              <a:srgbClr val="3A4A70">
                <a:alpha val="45000"/>
              </a:srgbClr>
            </a:solidFill>
            <a:prstDash val="solid"/>
          </a:ln>
        </p:spPr>
      </p:sp>
      <p:sp>
        <p:nvSpPr>
          <p:cNvPr id="60" name="Shape 58"/>
          <p:cNvSpPr/>
          <p:nvPr/>
        </p:nvSpPr>
        <p:spPr>
          <a:xfrm flipV="1">
            <a:off x="9098280" y="4233672"/>
            <a:ext cx="1234440" cy="566928"/>
          </a:xfrm>
          <a:prstGeom prst="line">
            <a:avLst/>
          </a:prstGeom>
          <a:noFill/>
          <a:ln w="6350">
            <a:solidFill>
              <a:srgbClr val="3A4A70">
                <a:alpha val="45000"/>
              </a:srgbClr>
            </a:solidFill>
            <a:prstDash val="solid"/>
          </a:ln>
        </p:spPr>
      </p:sp>
      <p:sp>
        <p:nvSpPr>
          <p:cNvPr id="61" name="Shape 59"/>
          <p:cNvSpPr/>
          <p:nvPr/>
        </p:nvSpPr>
        <p:spPr>
          <a:xfrm>
            <a:off x="9098280" y="4800600"/>
            <a:ext cx="1234440" cy="0"/>
          </a:xfrm>
          <a:prstGeom prst="line">
            <a:avLst/>
          </a:prstGeom>
          <a:noFill/>
          <a:ln w="6350">
            <a:solidFill>
              <a:srgbClr val="3A4A70">
                <a:alpha val="45000"/>
              </a:srgbClr>
            </a:solidFill>
            <a:prstDash val="solid"/>
          </a:ln>
        </p:spPr>
      </p:sp>
      <p:sp>
        <p:nvSpPr>
          <p:cNvPr id="62" name="Shape 60"/>
          <p:cNvSpPr/>
          <p:nvPr/>
        </p:nvSpPr>
        <p:spPr>
          <a:xfrm>
            <a:off x="10332720" y="1965960"/>
            <a:ext cx="1234440" cy="850392"/>
          </a:xfrm>
          <a:prstGeom prst="line">
            <a:avLst/>
          </a:prstGeom>
          <a:noFill/>
          <a:ln w="6350">
            <a:solidFill>
              <a:srgbClr val="3A4A70">
                <a:alpha val="45000"/>
              </a:srgbClr>
            </a:solidFill>
            <a:prstDash val="solid"/>
          </a:ln>
        </p:spPr>
      </p:sp>
      <p:sp>
        <p:nvSpPr>
          <p:cNvPr id="63" name="Shape 61"/>
          <p:cNvSpPr/>
          <p:nvPr/>
        </p:nvSpPr>
        <p:spPr>
          <a:xfrm>
            <a:off x="10332720" y="1965960"/>
            <a:ext cx="1234440" cy="1417320"/>
          </a:xfrm>
          <a:prstGeom prst="line">
            <a:avLst/>
          </a:prstGeom>
          <a:noFill/>
          <a:ln w="6350">
            <a:solidFill>
              <a:srgbClr val="3A4A70">
                <a:alpha val="45000"/>
              </a:srgbClr>
            </a:solidFill>
            <a:prstDash val="solid"/>
          </a:ln>
        </p:spPr>
      </p:sp>
      <p:sp>
        <p:nvSpPr>
          <p:cNvPr id="64" name="Shape 62"/>
          <p:cNvSpPr/>
          <p:nvPr/>
        </p:nvSpPr>
        <p:spPr>
          <a:xfrm>
            <a:off x="10332720" y="1965960"/>
            <a:ext cx="1234440" cy="1984248"/>
          </a:xfrm>
          <a:prstGeom prst="line">
            <a:avLst/>
          </a:prstGeom>
          <a:noFill/>
          <a:ln w="6350">
            <a:solidFill>
              <a:srgbClr val="3A4A70">
                <a:alpha val="45000"/>
              </a:srgbClr>
            </a:solidFill>
            <a:prstDash val="solid"/>
          </a:ln>
        </p:spPr>
      </p:sp>
      <p:sp>
        <p:nvSpPr>
          <p:cNvPr id="65" name="Shape 63"/>
          <p:cNvSpPr/>
          <p:nvPr/>
        </p:nvSpPr>
        <p:spPr>
          <a:xfrm>
            <a:off x="10332720" y="2532888"/>
            <a:ext cx="1234440" cy="283464"/>
          </a:xfrm>
          <a:prstGeom prst="line">
            <a:avLst/>
          </a:prstGeom>
          <a:noFill/>
          <a:ln w="6350">
            <a:solidFill>
              <a:srgbClr val="3A4A70">
                <a:alpha val="45000"/>
              </a:srgbClr>
            </a:solidFill>
            <a:prstDash val="solid"/>
          </a:ln>
        </p:spPr>
      </p:sp>
      <p:sp>
        <p:nvSpPr>
          <p:cNvPr id="66" name="Shape 64"/>
          <p:cNvSpPr/>
          <p:nvPr/>
        </p:nvSpPr>
        <p:spPr>
          <a:xfrm>
            <a:off x="10332720" y="2532888"/>
            <a:ext cx="1234440" cy="850392"/>
          </a:xfrm>
          <a:prstGeom prst="line">
            <a:avLst/>
          </a:prstGeom>
          <a:noFill/>
          <a:ln w="6350">
            <a:solidFill>
              <a:srgbClr val="3A4A70">
                <a:alpha val="45000"/>
              </a:srgbClr>
            </a:solidFill>
            <a:prstDash val="solid"/>
          </a:ln>
        </p:spPr>
      </p:sp>
      <p:sp>
        <p:nvSpPr>
          <p:cNvPr id="67" name="Shape 65"/>
          <p:cNvSpPr/>
          <p:nvPr/>
        </p:nvSpPr>
        <p:spPr>
          <a:xfrm>
            <a:off x="10332720" y="2532888"/>
            <a:ext cx="1234440" cy="1417320"/>
          </a:xfrm>
          <a:prstGeom prst="line">
            <a:avLst/>
          </a:prstGeom>
          <a:noFill/>
          <a:ln w="6350">
            <a:solidFill>
              <a:srgbClr val="3A4A70">
                <a:alpha val="45000"/>
              </a:srgbClr>
            </a:solidFill>
            <a:prstDash val="solid"/>
          </a:ln>
        </p:spPr>
      </p:sp>
      <p:sp>
        <p:nvSpPr>
          <p:cNvPr id="68" name="Shape 66"/>
          <p:cNvSpPr/>
          <p:nvPr/>
        </p:nvSpPr>
        <p:spPr>
          <a:xfrm flipV="1">
            <a:off x="10332720" y="2816352"/>
            <a:ext cx="1234440" cy="283464"/>
          </a:xfrm>
          <a:prstGeom prst="line">
            <a:avLst/>
          </a:prstGeom>
          <a:noFill/>
          <a:ln w="6350">
            <a:solidFill>
              <a:srgbClr val="3A4A70">
                <a:alpha val="45000"/>
              </a:srgbClr>
            </a:solidFill>
            <a:prstDash val="solid"/>
          </a:ln>
        </p:spPr>
      </p:sp>
      <p:sp>
        <p:nvSpPr>
          <p:cNvPr id="69" name="Shape 67"/>
          <p:cNvSpPr/>
          <p:nvPr/>
        </p:nvSpPr>
        <p:spPr>
          <a:xfrm>
            <a:off x="10332720" y="3099816"/>
            <a:ext cx="1234440" cy="283464"/>
          </a:xfrm>
          <a:prstGeom prst="line">
            <a:avLst/>
          </a:prstGeom>
          <a:noFill/>
          <a:ln w="6350">
            <a:solidFill>
              <a:srgbClr val="3A4A70">
                <a:alpha val="45000"/>
              </a:srgbClr>
            </a:solidFill>
            <a:prstDash val="solid"/>
          </a:ln>
        </p:spPr>
      </p:sp>
      <p:sp>
        <p:nvSpPr>
          <p:cNvPr id="70" name="Shape 68"/>
          <p:cNvSpPr/>
          <p:nvPr/>
        </p:nvSpPr>
        <p:spPr>
          <a:xfrm>
            <a:off x="10332720" y="3099816"/>
            <a:ext cx="1234440" cy="850392"/>
          </a:xfrm>
          <a:prstGeom prst="line">
            <a:avLst/>
          </a:prstGeom>
          <a:noFill/>
          <a:ln w="6350">
            <a:solidFill>
              <a:srgbClr val="3A4A70">
                <a:alpha val="45000"/>
              </a:srgbClr>
            </a:solidFill>
            <a:prstDash val="solid"/>
          </a:ln>
        </p:spPr>
      </p:sp>
      <p:sp>
        <p:nvSpPr>
          <p:cNvPr id="71" name="Shape 69"/>
          <p:cNvSpPr/>
          <p:nvPr/>
        </p:nvSpPr>
        <p:spPr>
          <a:xfrm flipV="1">
            <a:off x="10332720" y="2816352"/>
            <a:ext cx="1234440" cy="850392"/>
          </a:xfrm>
          <a:prstGeom prst="line">
            <a:avLst/>
          </a:prstGeom>
          <a:noFill/>
          <a:ln w="6350">
            <a:solidFill>
              <a:srgbClr val="3A4A70">
                <a:alpha val="45000"/>
              </a:srgbClr>
            </a:solidFill>
            <a:prstDash val="solid"/>
          </a:ln>
        </p:spPr>
      </p:sp>
      <p:sp>
        <p:nvSpPr>
          <p:cNvPr id="72" name="Shape 70"/>
          <p:cNvSpPr/>
          <p:nvPr/>
        </p:nvSpPr>
        <p:spPr>
          <a:xfrm flipV="1">
            <a:off x="10332720" y="3383280"/>
            <a:ext cx="1234440" cy="283464"/>
          </a:xfrm>
          <a:prstGeom prst="line">
            <a:avLst/>
          </a:prstGeom>
          <a:noFill/>
          <a:ln w="6350">
            <a:solidFill>
              <a:srgbClr val="3A4A70">
                <a:alpha val="45000"/>
              </a:srgbClr>
            </a:solidFill>
            <a:prstDash val="solid"/>
          </a:ln>
        </p:spPr>
      </p:sp>
      <p:sp>
        <p:nvSpPr>
          <p:cNvPr id="73" name="Shape 71"/>
          <p:cNvSpPr/>
          <p:nvPr/>
        </p:nvSpPr>
        <p:spPr>
          <a:xfrm>
            <a:off x="10332720" y="3666744"/>
            <a:ext cx="1234440" cy="283464"/>
          </a:xfrm>
          <a:prstGeom prst="line">
            <a:avLst/>
          </a:prstGeom>
          <a:noFill/>
          <a:ln w="6350">
            <a:solidFill>
              <a:srgbClr val="3A4A70">
                <a:alpha val="45000"/>
              </a:srgbClr>
            </a:solidFill>
            <a:prstDash val="solid"/>
          </a:ln>
        </p:spPr>
      </p:sp>
      <p:sp>
        <p:nvSpPr>
          <p:cNvPr id="74" name="Shape 72"/>
          <p:cNvSpPr/>
          <p:nvPr/>
        </p:nvSpPr>
        <p:spPr>
          <a:xfrm flipV="1">
            <a:off x="10332720" y="2816352"/>
            <a:ext cx="1234440" cy="1417320"/>
          </a:xfrm>
          <a:prstGeom prst="line">
            <a:avLst/>
          </a:prstGeom>
          <a:noFill/>
          <a:ln w="6350">
            <a:solidFill>
              <a:srgbClr val="3A4A70">
                <a:alpha val="45000"/>
              </a:srgbClr>
            </a:solidFill>
            <a:prstDash val="solid"/>
          </a:ln>
        </p:spPr>
      </p:sp>
      <p:sp>
        <p:nvSpPr>
          <p:cNvPr id="75" name="Shape 73"/>
          <p:cNvSpPr/>
          <p:nvPr/>
        </p:nvSpPr>
        <p:spPr>
          <a:xfrm flipV="1">
            <a:off x="10332720" y="3383280"/>
            <a:ext cx="1234440" cy="850392"/>
          </a:xfrm>
          <a:prstGeom prst="line">
            <a:avLst/>
          </a:prstGeom>
          <a:noFill/>
          <a:ln w="6350">
            <a:solidFill>
              <a:srgbClr val="3A4A70">
                <a:alpha val="45000"/>
              </a:srgbClr>
            </a:solidFill>
            <a:prstDash val="solid"/>
          </a:ln>
        </p:spPr>
      </p:sp>
      <p:sp>
        <p:nvSpPr>
          <p:cNvPr id="76" name="Shape 74"/>
          <p:cNvSpPr/>
          <p:nvPr/>
        </p:nvSpPr>
        <p:spPr>
          <a:xfrm flipV="1">
            <a:off x="10332720" y="3950208"/>
            <a:ext cx="1234440" cy="283464"/>
          </a:xfrm>
          <a:prstGeom prst="line">
            <a:avLst/>
          </a:prstGeom>
          <a:noFill/>
          <a:ln w="6350">
            <a:solidFill>
              <a:srgbClr val="3A4A70">
                <a:alpha val="45000"/>
              </a:srgbClr>
            </a:solidFill>
            <a:prstDash val="solid"/>
          </a:ln>
        </p:spPr>
      </p:sp>
      <p:sp>
        <p:nvSpPr>
          <p:cNvPr id="77" name="Shape 75"/>
          <p:cNvSpPr/>
          <p:nvPr/>
        </p:nvSpPr>
        <p:spPr>
          <a:xfrm flipV="1">
            <a:off x="10332720" y="2816352"/>
            <a:ext cx="1234440" cy="1984248"/>
          </a:xfrm>
          <a:prstGeom prst="line">
            <a:avLst/>
          </a:prstGeom>
          <a:noFill/>
          <a:ln w="6350">
            <a:solidFill>
              <a:srgbClr val="3A4A70">
                <a:alpha val="45000"/>
              </a:srgbClr>
            </a:solidFill>
            <a:prstDash val="solid"/>
          </a:ln>
        </p:spPr>
      </p:sp>
      <p:sp>
        <p:nvSpPr>
          <p:cNvPr id="78" name="Shape 76"/>
          <p:cNvSpPr/>
          <p:nvPr/>
        </p:nvSpPr>
        <p:spPr>
          <a:xfrm flipV="1">
            <a:off x="10332720" y="3383280"/>
            <a:ext cx="1234440" cy="1417320"/>
          </a:xfrm>
          <a:prstGeom prst="line">
            <a:avLst/>
          </a:prstGeom>
          <a:noFill/>
          <a:ln w="6350">
            <a:solidFill>
              <a:srgbClr val="3A4A70">
                <a:alpha val="45000"/>
              </a:srgbClr>
            </a:solidFill>
            <a:prstDash val="solid"/>
          </a:ln>
        </p:spPr>
      </p:sp>
      <p:sp>
        <p:nvSpPr>
          <p:cNvPr id="79" name="Shape 77"/>
          <p:cNvSpPr/>
          <p:nvPr/>
        </p:nvSpPr>
        <p:spPr>
          <a:xfrm flipV="1">
            <a:off x="10332720" y="3950208"/>
            <a:ext cx="1234440" cy="850392"/>
          </a:xfrm>
          <a:prstGeom prst="line">
            <a:avLst/>
          </a:prstGeom>
          <a:noFill/>
          <a:ln w="6350">
            <a:solidFill>
              <a:srgbClr val="3A4A70">
                <a:alpha val="45000"/>
              </a:srgbClr>
            </a:solidFill>
            <a:prstDash val="solid"/>
          </a:ln>
        </p:spPr>
      </p:sp>
      <p:sp>
        <p:nvSpPr>
          <p:cNvPr id="80" name="Shape 78"/>
          <p:cNvSpPr/>
          <p:nvPr/>
        </p:nvSpPr>
        <p:spPr>
          <a:xfrm>
            <a:off x="7795260" y="2464308"/>
            <a:ext cx="137160" cy="137160"/>
          </a:xfrm>
          <a:prstGeom prst="ellipse">
            <a:avLst/>
          </a:prstGeom>
          <a:solidFill>
            <a:srgbClr val="6FA3E0">
              <a:alpha val="65000"/>
            </a:srgbClr>
          </a:solidFill>
          <a:ln w="9525">
            <a:solidFill>
              <a:srgbClr val="8FA3C9">
                <a:alpha val="60000"/>
              </a:srgbClr>
            </a:solidFill>
            <a:prstDash val="solid"/>
          </a:ln>
        </p:spPr>
      </p:sp>
      <p:sp>
        <p:nvSpPr>
          <p:cNvPr id="81" name="Shape 79"/>
          <p:cNvSpPr/>
          <p:nvPr/>
        </p:nvSpPr>
        <p:spPr>
          <a:xfrm>
            <a:off x="7795260" y="3031236"/>
            <a:ext cx="137160" cy="137160"/>
          </a:xfrm>
          <a:prstGeom prst="ellipse">
            <a:avLst/>
          </a:prstGeom>
          <a:solidFill>
            <a:srgbClr val="6FA3E0">
              <a:alpha val="65000"/>
            </a:srgbClr>
          </a:solidFill>
          <a:ln w="9525">
            <a:solidFill>
              <a:srgbClr val="8FA3C9">
                <a:alpha val="60000"/>
              </a:srgbClr>
            </a:solidFill>
            <a:prstDash val="solid"/>
          </a:ln>
        </p:spPr>
      </p:sp>
      <p:sp>
        <p:nvSpPr>
          <p:cNvPr id="82" name="Shape 80"/>
          <p:cNvSpPr/>
          <p:nvPr/>
        </p:nvSpPr>
        <p:spPr>
          <a:xfrm>
            <a:off x="7795260" y="3598164"/>
            <a:ext cx="137160" cy="137160"/>
          </a:xfrm>
          <a:prstGeom prst="ellipse">
            <a:avLst/>
          </a:prstGeom>
          <a:solidFill>
            <a:srgbClr val="6FA3E0">
              <a:alpha val="65000"/>
            </a:srgbClr>
          </a:solidFill>
          <a:ln w="9525">
            <a:solidFill>
              <a:srgbClr val="8FA3C9">
                <a:alpha val="60000"/>
              </a:srgbClr>
            </a:solidFill>
            <a:prstDash val="solid"/>
          </a:ln>
        </p:spPr>
      </p:sp>
      <p:sp>
        <p:nvSpPr>
          <p:cNvPr id="83" name="Shape 81"/>
          <p:cNvSpPr/>
          <p:nvPr/>
        </p:nvSpPr>
        <p:spPr>
          <a:xfrm>
            <a:off x="7795260" y="4165092"/>
            <a:ext cx="137160" cy="137160"/>
          </a:xfrm>
          <a:prstGeom prst="ellipse">
            <a:avLst/>
          </a:prstGeom>
          <a:solidFill>
            <a:srgbClr val="6FA3E0">
              <a:alpha val="65000"/>
            </a:srgbClr>
          </a:solidFill>
          <a:ln w="9525">
            <a:solidFill>
              <a:srgbClr val="8FA3C9">
                <a:alpha val="60000"/>
              </a:srgbClr>
            </a:solidFill>
            <a:prstDash val="solid"/>
          </a:ln>
        </p:spPr>
      </p:sp>
      <p:sp>
        <p:nvSpPr>
          <p:cNvPr id="84" name="Shape 82"/>
          <p:cNvSpPr/>
          <p:nvPr/>
        </p:nvSpPr>
        <p:spPr>
          <a:xfrm>
            <a:off x="9029700" y="1897380"/>
            <a:ext cx="137160" cy="137160"/>
          </a:xfrm>
          <a:prstGeom prst="ellipse">
            <a:avLst/>
          </a:prstGeom>
          <a:solidFill>
            <a:srgbClr val="6FA3E0">
              <a:alpha val="65000"/>
            </a:srgbClr>
          </a:solidFill>
          <a:ln w="9525">
            <a:solidFill>
              <a:srgbClr val="8FA3C9">
                <a:alpha val="60000"/>
              </a:srgbClr>
            </a:solidFill>
            <a:prstDash val="solid"/>
          </a:ln>
        </p:spPr>
      </p:sp>
      <p:sp>
        <p:nvSpPr>
          <p:cNvPr id="85" name="Shape 83"/>
          <p:cNvSpPr/>
          <p:nvPr/>
        </p:nvSpPr>
        <p:spPr>
          <a:xfrm>
            <a:off x="9029700" y="2464308"/>
            <a:ext cx="137160" cy="137160"/>
          </a:xfrm>
          <a:prstGeom prst="ellipse">
            <a:avLst/>
          </a:prstGeom>
          <a:solidFill>
            <a:srgbClr val="6FA3E0">
              <a:alpha val="65000"/>
            </a:srgbClr>
          </a:solidFill>
          <a:ln w="9525">
            <a:solidFill>
              <a:srgbClr val="8FA3C9">
                <a:alpha val="60000"/>
              </a:srgbClr>
            </a:solidFill>
            <a:prstDash val="solid"/>
          </a:ln>
        </p:spPr>
      </p:sp>
      <p:sp>
        <p:nvSpPr>
          <p:cNvPr id="86" name="Shape 84"/>
          <p:cNvSpPr/>
          <p:nvPr/>
        </p:nvSpPr>
        <p:spPr>
          <a:xfrm>
            <a:off x="9029700" y="3031236"/>
            <a:ext cx="137160" cy="137160"/>
          </a:xfrm>
          <a:prstGeom prst="ellipse">
            <a:avLst/>
          </a:prstGeom>
          <a:solidFill>
            <a:srgbClr val="6FA3E0">
              <a:alpha val="65000"/>
            </a:srgbClr>
          </a:solidFill>
          <a:ln w="9525">
            <a:solidFill>
              <a:srgbClr val="8FA3C9">
                <a:alpha val="60000"/>
              </a:srgbClr>
            </a:solidFill>
            <a:prstDash val="solid"/>
          </a:ln>
        </p:spPr>
      </p:sp>
      <p:sp>
        <p:nvSpPr>
          <p:cNvPr id="87" name="Shape 85"/>
          <p:cNvSpPr/>
          <p:nvPr/>
        </p:nvSpPr>
        <p:spPr>
          <a:xfrm>
            <a:off x="9029700" y="3598164"/>
            <a:ext cx="137160" cy="137160"/>
          </a:xfrm>
          <a:prstGeom prst="ellipse">
            <a:avLst/>
          </a:prstGeom>
          <a:solidFill>
            <a:srgbClr val="6FA3E0">
              <a:alpha val="65000"/>
            </a:srgbClr>
          </a:solidFill>
          <a:ln w="9525">
            <a:solidFill>
              <a:srgbClr val="8FA3C9">
                <a:alpha val="60000"/>
              </a:srgbClr>
            </a:solidFill>
            <a:prstDash val="solid"/>
          </a:ln>
        </p:spPr>
      </p:sp>
      <p:sp>
        <p:nvSpPr>
          <p:cNvPr id="88" name="Shape 86"/>
          <p:cNvSpPr/>
          <p:nvPr/>
        </p:nvSpPr>
        <p:spPr>
          <a:xfrm>
            <a:off x="9029700" y="4165092"/>
            <a:ext cx="137160" cy="137160"/>
          </a:xfrm>
          <a:prstGeom prst="ellipse">
            <a:avLst/>
          </a:prstGeom>
          <a:solidFill>
            <a:srgbClr val="6FA3E0">
              <a:alpha val="65000"/>
            </a:srgbClr>
          </a:solidFill>
          <a:ln w="9525">
            <a:solidFill>
              <a:srgbClr val="8FA3C9">
                <a:alpha val="60000"/>
              </a:srgbClr>
            </a:solidFill>
            <a:prstDash val="solid"/>
          </a:ln>
        </p:spPr>
      </p:sp>
      <p:sp>
        <p:nvSpPr>
          <p:cNvPr id="89" name="Shape 87"/>
          <p:cNvSpPr/>
          <p:nvPr/>
        </p:nvSpPr>
        <p:spPr>
          <a:xfrm>
            <a:off x="9029700" y="4732020"/>
            <a:ext cx="137160" cy="137160"/>
          </a:xfrm>
          <a:prstGeom prst="ellipse">
            <a:avLst/>
          </a:prstGeom>
          <a:solidFill>
            <a:srgbClr val="6FA3E0">
              <a:alpha val="65000"/>
            </a:srgbClr>
          </a:solidFill>
          <a:ln w="9525">
            <a:solidFill>
              <a:srgbClr val="8FA3C9">
                <a:alpha val="60000"/>
              </a:srgbClr>
            </a:solidFill>
            <a:prstDash val="solid"/>
          </a:ln>
        </p:spPr>
      </p:sp>
      <p:sp>
        <p:nvSpPr>
          <p:cNvPr id="90" name="Shape 88"/>
          <p:cNvSpPr/>
          <p:nvPr/>
        </p:nvSpPr>
        <p:spPr>
          <a:xfrm>
            <a:off x="10264140" y="1897380"/>
            <a:ext cx="137160" cy="137160"/>
          </a:xfrm>
          <a:prstGeom prst="ellipse">
            <a:avLst/>
          </a:prstGeom>
          <a:solidFill>
            <a:srgbClr val="6FA3E0">
              <a:alpha val="65000"/>
            </a:srgbClr>
          </a:solidFill>
          <a:ln w="9525">
            <a:solidFill>
              <a:srgbClr val="8FA3C9">
                <a:alpha val="60000"/>
              </a:srgbClr>
            </a:solidFill>
            <a:prstDash val="solid"/>
          </a:ln>
        </p:spPr>
      </p:sp>
      <p:sp>
        <p:nvSpPr>
          <p:cNvPr id="91" name="Shape 89"/>
          <p:cNvSpPr/>
          <p:nvPr/>
        </p:nvSpPr>
        <p:spPr>
          <a:xfrm>
            <a:off x="10264140" y="2464308"/>
            <a:ext cx="137160" cy="137160"/>
          </a:xfrm>
          <a:prstGeom prst="ellipse">
            <a:avLst/>
          </a:prstGeom>
          <a:solidFill>
            <a:srgbClr val="6FA3E0">
              <a:alpha val="65000"/>
            </a:srgbClr>
          </a:solidFill>
          <a:ln w="9525">
            <a:solidFill>
              <a:srgbClr val="8FA3C9">
                <a:alpha val="60000"/>
              </a:srgbClr>
            </a:solidFill>
            <a:prstDash val="solid"/>
          </a:ln>
        </p:spPr>
      </p:sp>
      <p:sp>
        <p:nvSpPr>
          <p:cNvPr id="92" name="Shape 90"/>
          <p:cNvSpPr/>
          <p:nvPr/>
        </p:nvSpPr>
        <p:spPr>
          <a:xfrm>
            <a:off x="10264140" y="3031236"/>
            <a:ext cx="137160" cy="137160"/>
          </a:xfrm>
          <a:prstGeom prst="ellipse">
            <a:avLst/>
          </a:prstGeom>
          <a:solidFill>
            <a:srgbClr val="6FA3E0">
              <a:alpha val="65000"/>
            </a:srgbClr>
          </a:solidFill>
          <a:ln w="9525">
            <a:solidFill>
              <a:srgbClr val="8FA3C9">
                <a:alpha val="60000"/>
              </a:srgbClr>
            </a:solidFill>
            <a:prstDash val="solid"/>
          </a:ln>
        </p:spPr>
      </p:sp>
      <p:sp>
        <p:nvSpPr>
          <p:cNvPr id="93" name="Shape 91"/>
          <p:cNvSpPr/>
          <p:nvPr/>
        </p:nvSpPr>
        <p:spPr>
          <a:xfrm>
            <a:off x="10264140" y="3598164"/>
            <a:ext cx="137160" cy="137160"/>
          </a:xfrm>
          <a:prstGeom prst="ellipse">
            <a:avLst/>
          </a:prstGeom>
          <a:solidFill>
            <a:srgbClr val="6FA3E0">
              <a:alpha val="65000"/>
            </a:srgbClr>
          </a:solidFill>
          <a:ln w="9525">
            <a:solidFill>
              <a:srgbClr val="8FA3C9">
                <a:alpha val="60000"/>
              </a:srgbClr>
            </a:solidFill>
            <a:prstDash val="solid"/>
          </a:ln>
        </p:spPr>
      </p:sp>
      <p:sp>
        <p:nvSpPr>
          <p:cNvPr id="94" name="Shape 92"/>
          <p:cNvSpPr/>
          <p:nvPr/>
        </p:nvSpPr>
        <p:spPr>
          <a:xfrm>
            <a:off x="10264140" y="4165092"/>
            <a:ext cx="137160" cy="137160"/>
          </a:xfrm>
          <a:prstGeom prst="ellipse">
            <a:avLst/>
          </a:prstGeom>
          <a:solidFill>
            <a:srgbClr val="6FA3E0">
              <a:alpha val="65000"/>
            </a:srgbClr>
          </a:solidFill>
          <a:ln w="9525">
            <a:solidFill>
              <a:srgbClr val="8FA3C9">
                <a:alpha val="60000"/>
              </a:srgbClr>
            </a:solidFill>
            <a:prstDash val="solid"/>
          </a:ln>
        </p:spPr>
      </p:sp>
      <p:sp>
        <p:nvSpPr>
          <p:cNvPr id="95" name="Shape 93"/>
          <p:cNvSpPr/>
          <p:nvPr/>
        </p:nvSpPr>
        <p:spPr>
          <a:xfrm>
            <a:off x="10264140" y="4732020"/>
            <a:ext cx="137160" cy="137160"/>
          </a:xfrm>
          <a:prstGeom prst="ellipse">
            <a:avLst/>
          </a:prstGeom>
          <a:solidFill>
            <a:srgbClr val="6FA3E0">
              <a:alpha val="65000"/>
            </a:srgbClr>
          </a:solidFill>
          <a:ln w="9525">
            <a:solidFill>
              <a:srgbClr val="8FA3C9">
                <a:alpha val="60000"/>
              </a:srgbClr>
            </a:solidFill>
            <a:prstDash val="solid"/>
          </a:ln>
        </p:spPr>
      </p:sp>
      <p:sp>
        <p:nvSpPr>
          <p:cNvPr id="96" name="Shape 94"/>
          <p:cNvSpPr/>
          <p:nvPr/>
        </p:nvSpPr>
        <p:spPr>
          <a:xfrm>
            <a:off x="11498580" y="2747772"/>
            <a:ext cx="137160" cy="137160"/>
          </a:xfrm>
          <a:prstGeom prst="ellipse">
            <a:avLst/>
          </a:prstGeom>
          <a:solidFill>
            <a:srgbClr val="6FA3E0">
              <a:alpha val="65000"/>
            </a:srgbClr>
          </a:solidFill>
          <a:ln w="9525">
            <a:solidFill>
              <a:srgbClr val="8FA3C9">
                <a:alpha val="60000"/>
              </a:srgbClr>
            </a:solidFill>
            <a:prstDash val="solid"/>
          </a:ln>
        </p:spPr>
      </p:sp>
      <p:sp>
        <p:nvSpPr>
          <p:cNvPr id="97" name="Shape 95"/>
          <p:cNvSpPr/>
          <p:nvPr/>
        </p:nvSpPr>
        <p:spPr>
          <a:xfrm>
            <a:off x="11498580" y="3314700"/>
            <a:ext cx="137160" cy="137160"/>
          </a:xfrm>
          <a:prstGeom prst="ellipse">
            <a:avLst/>
          </a:prstGeom>
          <a:solidFill>
            <a:srgbClr val="6FA3E0">
              <a:alpha val="65000"/>
            </a:srgbClr>
          </a:solidFill>
          <a:ln w="9525">
            <a:solidFill>
              <a:srgbClr val="8FA3C9">
                <a:alpha val="60000"/>
              </a:srgbClr>
            </a:solidFill>
            <a:prstDash val="solid"/>
          </a:ln>
        </p:spPr>
      </p:sp>
      <p:sp>
        <p:nvSpPr>
          <p:cNvPr id="98" name="Shape 96"/>
          <p:cNvSpPr/>
          <p:nvPr/>
        </p:nvSpPr>
        <p:spPr>
          <a:xfrm>
            <a:off x="11498580" y="3881628"/>
            <a:ext cx="137160" cy="137160"/>
          </a:xfrm>
          <a:prstGeom prst="ellipse">
            <a:avLst/>
          </a:prstGeom>
          <a:solidFill>
            <a:srgbClr val="6FA3E0">
              <a:alpha val="65000"/>
            </a:srgbClr>
          </a:solidFill>
          <a:ln w="9525">
            <a:solidFill>
              <a:srgbClr val="8FA3C9">
                <a:alpha val="60000"/>
              </a:srgbClr>
            </a:solidFill>
            <a:prstDash val="solid"/>
          </a:ln>
        </p:spPr>
      </p:sp>
      <p:sp>
        <p:nvSpPr>
          <p:cNvPr id="99" name="Text 97"/>
          <p:cNvSpPr txBox="1"/>
          <p:nvPr/>
        </p:nvSpPr>
        <p:spPr>
          <a:xfrm>
            <a:off x="640080" y="1965960"/>
            <a:ext cx="10911535"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Backpropagation &amp; Parameter Initialization</a:t>
            </a:r>
            <a:endParaRPr lang="en-US" sz="3400" dirty="0"/>
          </a:p>
        </p:txBody>
      </p:sp>
      <p:sp>
        <p:nvSpPr>
          <p:cNvPr id="100" name="Text 98"/>
          <p:cNvSpPr txBox="1"/>
          <p:nvPr/>
        </p:nvSpPr>
        <p:spPr>
          <a:xfrm>
            <a:off x="640080" y="2788920"/>
            <a:ext cx="10911535" cy="548640"/>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in Deep Neural Networks</a:t>
            </a:r>
            <a:endParaRPr lang="en-US" sz="2200" dirty="0"/>
          </a:p>
        </p:txBody>
      </p:sp>
      <p:sp>
        <p:nvSpPr>
          <p:cNvPr id="101" name="Text 99"/>
          <p:cNvSpPr txBox="1"/>
          <p:nvPr/>
        </p:nvSpPr>
        <p:spPr>
          <a:xfrm>
            <a:off x="640080" y="3520440"/>
            <a:ext cx="10911535" cy="45720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How gradients and initialization determine whether a neural network can learn</a:t>
            </a:r>
            <a:endParaRPr lang="en-US" sz="1500" dirty="0"/>
          </a:p>
        </p:txBody>
      </p:sp>
      <p:sp>
        <p:nvSpPr>
          <p:cNvPr id="102" name="Shape 100"/>
          <p:cNvSpPr/>
          <p:nvPr/>
        </p:nvSpPr>
        <p:spPr>
          <a:xfrm>
            <a:off x="5272888" y="4160520"/>
            <a:ext cx="1645920" cy="0"/>
          </a:xfrm>
          <a:prstGeom prst="line">
            <a:avLst/>
          </a:prstGeom>
          <a:noFill/>
          <a:ln w="25400">
            <a:solidFill>
              <a:srgbClr val="285AB4"/>
            </a:solidFill>
            <a:prstDash val="solid"/>
          </a:ln>
        </p:spPr>
      </p:sp>
      <p:sp>
        <p:nvSpPr>
          <p:cNvPr id="103" name="Text 101"/>
          <p:cNvSpPr txBox="1"/>
          <p:nvPr/>
        </p:nvSpPr>
        <p:spPr>
          <a:xfrm>
            <a:off x="640080" y="4389120"/>
            <a:ext cx="10911535" cy="365760"/>
          </a:xfrm>
          <a:prstGeom prst="rect">
            <a:avLst/>
          </a:prstGeom>
          <a:noFill/>
          <a:ln/>
        </p:spPr>
        <p:txBody>
          <a:bodyPr wrap="square" lIns="0" tIns="0" rIns="0" bIns="0" rtlCol="0" anchor="ctr"/>
          <a:lstStyle/>
          <a:p>
            <a:pPr algn="ctr" indent="0" marL="0">
              <a:buNone/>
            </a:pPr>
            <a:r>
              <a:rPr lang="en-US" sz="1250" dirty="0">
                <a:solidFill>
                  <a:srgbClr val="8FA3C9"/>
                </a:solidFill>
                <a:latin typeface="Calibri" pitchFamily="34" charset="0"/>
                <a:ea typeface="Calibri" pitchFamily="34" charset="-122"/>
                <a:cs typeface="Calibri" pitchFamily="34" charset="-120"/>
              </a:rPr>
              <a:t>Đạo hàm &amp; Khởi tạo trong Deep Learning — Backpropagation và Parameter Initialization</a:t>
            </a:r>
            <a:endParaRPr lang="en-US" sz="1250" dirty="0"/>
          </a:p>
        </p:txBody>
      </p:sp>
      <p:sp>
        <p:nvSpPr>
          <p:cNvPr id="104" name="Text 102"/>
          <p:cNvSpPr txBox="1"/>
          <p:nvPr/>
        </p:nvSpPr>
        <p:spPr>
          <a:xfrm>
            <a:off x="640080" y="5943600"/>
            <a:ext cx="10911535" cy="365760"/>
          </a:xfrm>
          <a:prstGeom prst="rect">
            <a:avLst/>
          </a:prstGeom>
          <a:noFill/>
          <a:ln/>
        </p:spPr>
        <p:txBody>
          <a:bodyPr wrap="square" lIns="0" tIns="0" rIns="0" bIns="0" rtlCol="0" anchor="ctr"/>
          <a:lstStyle/>
          <a:p>
            <a:pPr algn="ctr" indent="0" marL="0">
              <a:buNone/>
            </a:pPr>
            <a:r>
              <a:rPr lang="en-US" sz="1300" dirty="0">
                <a:solidFill>
                  <a:srgbClr val="8FA3C9"/>
                </a:solidFill>
                <a:latin typeface="Calibri" pitchFamily="34" charset="0"/>
                <a:ea typeface="Calibri" pitchFamily="34" charset="-122"/>
                <a:cs typeface="Calibri" pitchFamily="34" charset="-120"/>
              </a:rPr>
              <a:t>Bùi Đức Quân · Học phần Deep Learning (Thạc sĩ) · Tháng 9,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MOTIVATION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How does a 50-layer network learn?</a:t>
            </a:r>
            <a:endParaRPr lang="en-US" sz="2900" dirty="0"/>
          </a:p>
        </p:txBody>
      </p:sp>
      <p:sp>
        <p:nvSpPr>
          <p:cNvPr id="4" name="Shape 2"/>
          <p:cNvSpPr/>
          <p:nvPr/>
        </p:nvSpPr>
        <p:spPr>
          <a:xfrm>
            <a:off x="4907128" y="1783080"/>
            <a:ext cx="2377440" cy="502920"/>
          </a:xfrm>
          <a:prstGeom prst="roundRect">
            <a:avLst>
              <a:gd name="adj" fmla="val 10909"/>
            </a:avLst>
          </a:prstGeom>
          <a:solidFill>
            <a:srgbClr val="F1F4F9"/>
          </a:solidFill>
          <a:ln w="15875">
            <a:solidFill>
              <a:srgbClr val="D9DEE8"/>
            </a:solidFill>
            <a:prstDash val="solid"/>
          </a:ln>
        </p:spPr>
      </p:sp>
      <p:sp>
        <p:nvSpPr>
          <p:cNvPr id="5" name="Text 3"/>
          <p:cNvSpPr txBox="1"/>
          <p:nvPr/>
        </p:nvSpPr>
        <p:spPr>
          <a:xfrm>
            <a:off x="4907128" y="1783080"/>
            <a:ext cx="2377440" cy="502920"/>
          </a:xfrm>
          <a:prstGeom prst="rect">
            <a:avLst/>
          </a:prstGeom>
          <a:noFill/>
          <a:ln/>
        </p:spPr>
        <p:txBody>
          <a:bodyPr wrap="square" lIns="0" tIns="0" rIns="0" bIns="0" rtlCol="0" anchor="ctr"/>
          <a:lstStyle/>
          <a:p>
            <a:pPr algn="ctr" indent="0" marL="0">
              <a:buNone/>
            </a:pPr>
            <a:r>
              <a:rPr lang="en-US" sz="1350" dirty="0">
                <a:solidFill>
                  <a:srgbClr val="1A2238"/>
                </a:solidFill>
                <a:latin typeface="Cambria Math" pitchFamily="34" charset="0"/>
                <a:ea typeface="Cambria Math" pitchFamily="34" charset="-122"/>
                <a:cs typeface="Cambria Math" pitchFamily="34" charset="-120"/>
              </a:rPr>
              <a:t>Input</a:t>
            </a:r>
            <a:endParaRPr lang="en-US" sz="1350" dirty="0"/>
          </a:p>
        </p:txBody>
      </p:sp>
      <p:sp>
        <p:nvSpPr>
          <p:cNvPr id="6" name="Shape 4"/>
          <p:cNvSpPr/>
          <p:nvPr/>
        </p:nvSpPr>
        <p:spPr>
          <a:xfrm>
            <a:off x="6095848" y="2286000"/>
            <a:ext cx="0" cy="292608"/>
          </a:xfrm>
          <a:prstGeom prst="line">
            <a:avLst/>
          </a:prstGeom>
          <a:noFill/>
          <a:ln w="25400">
            <a:solidFill>
              <a:srgbClr val="285AB4"/>
            </a:solidFill>
            <a:prstDash val="solid"/>
            <a:tailEnd type="triangle"/>
          </a:ln>
        </p:spPr>
      </p:sp>
      <p:sp>
        <p:nvSpPr>
          <p:cNvPr id="7" name="Shape 5"/>
          <p:cNvSpPr/>
          <p:nvPr/>
        </p:nvSpPr>
        <p:spPr>
          <a:xfrm>
            <a:off x="4907128" y="2578608"/>
            <a:ext cx="2377440" cy="502920"/>
          </a:xfrm>
          <a:prstGeom prst="roundRect">
            <a:avLst>
              <a:gd name="adj" fmla="val 10909"/>
            </a:avLst>
          </a:prstGeom>
          <a:solidFill>
            <a:srgbClr val="F1F4F9"/>
          </a:solidFill>
          <a:ln w="15875">
            <a:solidFill>
              <a:srgbClr val="D9DEE8"/>
            </a:solidFill>
            <a:prstDash val="solid"/>
          </a:ln>
        </p:spPr>
      </p:sp>
      <p:sp>
        <p:nvSpPr>
          <p:cNvPr id="8" name="Text 6"/>
          <p:cNvSpPr txBox="1"/>
          <p:nvPr/>
        </p:nvSpPr>
        <p:spPr>
          <a:xfrm>
            <a:off x="4907128" y="2578608"/>
            <a:ext cx="2377440" cy="502920"/>
          </a:xfrm>
          <a:prstGeom prst="rect">
            <a:avLst/>
          </a:prstGeom>
          <a:noFill/>
          <a:ln/>
        </p:spPr>
        <p:txBody>
          <a:bodyPr wrap="square" lIns="0" tIns="0" rIns="0" bIns="0" rtlCol="0" anchor="ctr"/>
          <a:lstStyle/>
          <a:p>
            <a:pPr algn="ctr" indent="0" marL="0">
              <a:buNone/>
            </a:pPr>
            <a:r>
              <a:rPr lang="en-US" sz="1350" dirty="0">
                <a:solidFill>
                  <a:srgbClr val="1A2238"/>
                </a:solidFill>
                <a:latin typeface="Cambria Math" pitchFamily="34" charset="0"/>
                <a:ea typeface="Cambria Math" pitchFamily="34" charset="-122"/>
                <a:cs typeface="Cambria Math" pitchFamily="34" charset="-120"/>
              </a:rPr>
              <a:t>Layer 1</a:t>
            </a:r>
            <a:endParaRPr lang="en-US" sz="1350" dirty="0"/>
          </a:p>
        </p:txBody>
      </p:sp>
      <p:sp>
        <p:nvSpPr>
          <p:cNvPr id="9" name="Shape 7"/>
          <p:cNvSpPr/>
          <p:nvPr/>
        </p:nvSpPr>
        <p:spPr>
          <a:xfrm>
            <a:off x="6095848" y="3081528"/>
            <a:ext cx="0" cy="292608"/>
          </a:xfrm>
          <a:prstGeom prst="line">
            <a:avLst/>
          </a:prstGeom>
          <a:noFill/>
          <a:ln w="25400">
            <a:solidFill>
              <a:srgbClr val="285AB4"/>
            </a:solidFill>
            <a:prstDash val="solid"/>
            <a:tailEnd type="triangle"/>
          </a:ln>
        </p:spPr>
      </p:sp>
      <p:sp>
        <p:nvSpPr>
          <p:cNvPr id="10" name="Shape 8"/>
          <p:cNvSpPr/>
          <p:nvPr/>
        </p:nvSpPr>
        <p:spPr>
          <a:xfrm>
            <a:off x="4907128" y="3374136"/>
            <a:ext cx="2377440" cy="502920"/>
          </a:xfrm>
          <a:prstGeom prst="roundRect">
            <a:avLst>
              <a:gd name="adj" fmla="val 10909"/>
            </a:avLst>
          </a:prstGeom>
          <a:solidFill>
            <a:srgbClr val="F1F4F9"/>
          </a:solidFill>
          <a:ln w="15875">
            <a:solidFill>
              <a:srgbClr val="D9DEE8"/>
            </a:solidFill>
            <a:prstDash val="solid"/>
          </a:ln>
        </p:spPr>
      </p:sp>
      <p:sp>
        <p:nvSpPr>
          <p:cNvPr id="11" name="Text 9"/>
          <p:cNvSpPr txBox="1"/>
          <p:nvPr/>
        </p:nvSpPr>
        <p:spPr>
          <a:xfrm>
            <a:off x="4907128" y="3374136"/>
            <a:ext cx="2377440" cy="502920"/>
          </a:xfrm>
          <a:prstGeom prst="rect">
            <a:avLst/>
          </a:prstGeom>
          <a:noFill/>
          <a:ln/>
        </p:spPr>
        <p:txBody>
          <a:bodyPr wrap="square" lIns="0" tIns="0" rIns="0" bIns="0" rtlCol="0" anchor="ctr"/>
          <a:lstStyle/>
          <a:p>
            <a:pPr algn="ctr" indent="0" marL="0">
              <a:buNone/>
            </a:pPr>
            <a:r>
              <a:rPr lang="en-US" sz="1350" dirty="0">
                <a:solidFill>
                  <a:srgbClr val="1A2238"/>
                </a:solidFill>
                <a:latin typeface="Cambria Math" pitchFamily="34" charset="0"/>
                <a:ea typeface="Cambria Math" pitchFamily="34" charset="-122"/>
                <a:cs typeface="Cambria Math" pitchFamily="34" charset="-120"/>
              </a:rPr>
              <a:t>Layer 2</a:t>
            </a:r>
            <a:endParaRPr lang="en-US" sz="1350" dirty="0"/>
          </a:p>
        </p:txBody>
      </p:sp>
      <p:sp>
        <p:nvSpPr>
          <p:cNvPr id="12" name="Shape 10"/>
          <p:cNvSpPr/>
          <p:nvPr/>
        </p:nvSpPr>
        <p:spPr>
          <a:xfrm>
            <a:off x="6095848" y="3877056"/>
            <a:ext cx="0" cy="292608"/>
          </a:xfrm>
          <a:prstGeom prst="line">
            <a:avLst/>
          </a:prstGeom>
          <a:noFill/>
          <a:ln w="25400">
            <a:solidFill>
              <a:srgbClr val="285AB4"/>
            </a:solidFill>
            <a:prstDash val="solid"/>
            <a:tailEnd type="triangle"/>
          </a:ln>
        </p:spPr>
      </p:sp>
      <p:sp>
        <p:nvSpPr>
          <p:cNvPr id="13" name="Shape 11"/>
          <p:cNvSpPr/>
          <p:nvPr/>
        </p:nvSpPr>
        <p:spPr>
          <a:xfrm>
            <a:off x="4907128" y="4169664"/>
            <a:ext cx="2377440" cy="502920"/>
          </a:xfrm>
          <a:prstGeom prst="roundRect">
            <a:avLst>
              <a:gd name="adj" fmla="val 10909"/>
            </a:avLst>
          </a:prstGeom>
          <a:solidFill>
            <a:srgbClr val="F1F4F9"/>
          </a:solidFill>
          <a:ln w="15875">
            <a:solidFill>
              <a:srgbClr val="D9DEE8"/>
            </a:solidFill>
            <a:prstDash val="solid"/>
          </a:ln>
        </p:spPr>
      </p:sp>
      <p:sp>
        <p:nvSpPr>
          <p:cNvPr id="14" name="Text 12"/>
          <p:cNvSpPr txBox="1"/>
          <p:nvPr/>
        </p:nvSpPr>
        <p:spPr>
          <a:xfrm>
            <a:off x="4907128" y="4169664"/>
            <a:ext cx="2377440" cy="502920"/>
          </a:xfrm>
          <a:prstGeom prst="rect">
            <a:avLst/>
          </a:prstGeom>
          <a:noFill/>
          <a:ln/>
        </p:spPr>
        <p:txBody>
          <a:bodyPr wrap="square" lIns="0" tIns="0" rIns="0" bIns="0" rtlCol="0" anchor="ctr"/>
          <a:lstStyle/>
          <a:p>
            <a:pPr algn="ctr" indent="0" marL="0">
              <a:buNone/>
            </a:pPr>
            <a:r>
              <a:rPr lang="en-US" sz="1350" dirty="0">
                <a:solidFill>
                  <a:srgbClr val="1A2238"/>
                </a:solidFill>
                <a:latin typeface="Cambria Math" pitchFamily="34" charset="0"/>
                <a:ea typeface="Cambria Math" pitchFamily="34" charset="-122"/>
                <a:cs typeface="Cambria Math" pitchFamily="34" charset="-120"/>
              </a:rPr>
              <a:t>...</a:t>
            </a:r>
            <a:endParaRPr lang="en-US" sz="1350" dirty="0"/>
          </a:p>
        </p:txBody>
      </p:sp>
      <p:sp>
        <p:nvSpPr>
          <p:cNvPr id="15" name="Shape 13"/>
          <p:cNvSpPr/>
          <p:nvPr/>
        </p:nvSpPr>
        <p:spPr>
          <a:xfrm>
            <a:off x="6095848" y="4672584"/>
            <a:ext cx="0" cy="292608"/>
          </a:xfrm>
          <a:prstGeom prst="line">
            <a:avLst/>
          </a:prstGeom>
          <a:noFill/>
          <a:ln w="25400">
            <a:solidFill>
              <a:srgbClr val="285AB4"/>
            </a:solidFill>
            <a:prstDash val="solid"/>
            <a:tailEnd type="triangle"/>
          </a:ln>
        </p:spPr>
      </p:sp>
      <p:sp>
        <p:nvSpPr>
          <p:cNvPr id="16" name="Shape 14"/>
          <p:cNvSpPr/>
          <p:nvPr/>
        </p:nvSpPr>
        <p:spPr>
          <a:xfrm>
            <a:off x="4907128" y="4965192"/>
            <a:ext cx="2377440" cy="502920"/>
          </a:xfrm>
          <a:prstGeom prst="roundRect">
            <a:avLst>
              <a:gd name="adj" fmla="val 10909"/>
            </a:avLst>
          </a:prstGeom>
          <a:solidFill>
            <a:srgbClr val="F1F4F9"/>
          </a:solidFill>
          <a:ln w="15875">
            <a:solidFill>
              <a:srgbClr val="D9DEE8"/>
            </a:solidFill>
            <a:prstDash val="solid"/>
          </a:ln>
        </p:spPr>
      </p:sp>
      <p:sp>
        <p:nvSpPr>
          <p:cNvPr id="17" name="Text 15"/>
          <p:cNvSpPr txBox="1"/>
          <p:nvPr/>
        </p:nvSpPr>
        <p:spPr>
          <a:xfrm>
            <a:off x="4907128" y="4965192"/>
            <a:ext cx="2377440" cy="502920"/>
          </a:xfrm>
          <a:prstGeom prst="rect">
            <a:avLst/>
          </a:prstGeom>
          <a:noFill/>
          <a:ln/>
        </p:spPr>
        <p:txBody>
          <a:bodyPr wrap="square" lIns="0" tIns="0" rIns="0" bIns="0" rtlCol="0" anchor="ctr"/>
          <a:lstStyle/>
          <a:p>
            <a:pPr algn="ctr" indent="0" marL="0">
              <a:buNone/>
            </a:pPr>
            <a:r>
              <a:rPr lang="en-US" sz="1350" dirty="0">
                <a:solidFill>
                  <a:srgbClr val="1A2238"/>
                </a:solidFill>
                <a:latin typeface="Cambria Math" pitchFamily="34" charset="0"/>
                <a:ea typeface="Cambria Math" pitchFamily="34" charset="-122"/>
                <a:cs typeface="Cambria Math" pitchFamily="34" charset="-120"/>
              </a:rPr>
              <a:t>Layer 50</a:t>
            </a:r>
            <a:endParaRPr lang="en-US" sz="1350" dirty="0"/>
          </a:p>
        </p:txBody>
      </p:sp>
      <p:sp>
        <p:nvSpPr>
          <p:cNvPr id="18" name="Shape 16"/>
          <p:cNvSpPr/>
          <p:nvPr/>
        </p:nvSpPr>
        <p:spPr>
          <a:xfrm>
            <a:off x="6095848" y="5468112"/>
            <a:ext cx="0" cy="292608"/>
          </a:xfrm>
          <a:prstGeom prst="line">
            <a:avLst/>
          </a:prstGeom>
          <a:noFill/>
          <a:ln w="25400">
            <a:solidFill>
              <a:srgbClr val="285AB4"/>
            </a:solidFill>
            <a:prstDash val="solid"/>
            <a:tailEnd type="triangle"/>
          </a:ln>
        </p:spPr>
      </p:sp>
      <p:sp>
        <p:nvSpPr>
          <p:cNvPr id="19" name="Shape 17"/>
          <p:cNvSpPr/>
          <p:nvPr/>
        </p:nvSpPr>
        <p:spPr>
          <a:xfrm>
            <a:off x="4907128" y="5760720"/>
            <a:ext cx="2377440" cy="502920"/>
          </a:xfrm>
          <a:prstGeom prst="roundRect">
            <a:avLst>
              <a:gd name="adj" fmla="val 10909"/>
            </a:avLst>
          </a:prstGeom>
          <a:solidFill>
            <a:srgbClr val="FBEEEC"/>
          </a:solidFill>
          <a:ln w="15875">
            <a:solidFill>
              <a:srgbClr val="BE3C32"/>
            </a:solidFill>
            <a:prstDash val="solid"/>
          </a:ln>
        </p:spPr>
      </p:sp>
      <p:sp>
        <p:nvSpPr>
          <p:cNvPr id="20" name="Text 18"/>
          <p:cNvSpPr txBox="1"/>
          <p:nvPr/>
        </p:nvSpPr>
        <p:spPr>
          <a:xfrm>
            <a:off x="4907128" y="5760720"/>
            <a:ext cx="2377440" cy="502920"/>
          </a:xfrm>
          <a:prstGeom prst="rect">
            <a:avLst/>
          </a:prstGeom>
          <a:noFill/>
          <a:ln/>
        </p:spPr>
        <p:txBody>
          <a:bodyPr wrap="square" lIns="0" tIns="0" rIns="0" bIns="0" rtlCol="0" anchor="ctr"/>
          <a:lstStyle/>
          <a:p>
            <a:pPr algn="ctr" indent="0" marL="0">
              <a:buNone/>
            </a:pPr>
            <a:r>
              <a:rPr lang="en-US" sz="1350" dirty="0">
                <a:solidFill>
                  <a:srgbClr val="1A2238"/>
                </a:solidFill>
                <a:latin typeface="Cambria Math" pitchFamily="34" charset="0"/>
                <a:ea typeface="Cambria Math" pitchFamily="34" charset="-122"/>
                <a:cs typeface="Cambria Math" pitchFamily="34" charset="-120"/>
              </a:rPr>
              <a:t>Loss</a:t>
            </a:r>
            <a:endParaRPr lang="en-US" sz="1350" dirty="0"/>
          </a:p>
        </p:txBody>
      </p:sp>
      <p:sp>
        <p:nvSpPr>
          <p:cNvPr id="21" name="Text 19"/>
          <p:cNvSpPr txBox="1"/>
          <p:nvPr/>
        </p:nvSpPr>
        <p:spPr>
          <a:xfrm>
            <a:off x="640080" y="1737360"/>
            <a:ext cx="3931920" cy="731520"/>
          </a:xfrm>
          <a:prstGeom prst="rect">
            <a:avLst/>
          </a:prstGeom>
          <a:noFill/>
          <a:ln/>
        </p:spPr>
        <p:txBody>
          <a:bodyPr wrap="square" lIns="0" tIns="0" rIns="0" bIns="0" rtlCol="0" anchor="ctr"/>
          <a:lstStyle/>
          <a:p>
            <a:pPr indent="0" marL="0">
              <a:buNone/>
            </a:pPr>
            <a:r>
              <a:rPr lang="en-US" sz="1500" i="1" dirty="0">
                <a:solidFill>
                  <a:srgbClr val="1A2238"/>
                </a:solidFill>
                <a:latin typeface="Calibri" pitchFamily="34" charset="0"/>
                <a:ea typeface="Calibri" pitchFamily="34" charset="-122"/>
                <a:cs typeface="Calibri" pitchFamily="34" charset="-120"/>
              </a:rPr>
              <a:t>How does Layer 1 know how it should change?</a:t>
            </a:r>
            <a:endParaRPr lang="en-US" sz="1500" dirty="0"/>
          </a:p>
        </p:txBody>
      </p:sp>
      <p:sp>
        <p:nvSpPr>
          <p:cNvPr id="22" name="Text 20"/>
          <p:cNvSpPr txBox="1"/>
          <p:nvPr/>
        </p:nvSpPr>
        <p:spPr>
          <a:xfrm>
            <a:off x="640080" y="2560320"/>
            <a:ext cx="3931920" cy="457200"/>
          </a:xfrm>
          <a:prstGeom prst="rect">
            <a:avLst/>
          </a:prstGeom>
          <a:noFill/>
          <a:ln/>
        </p:spPr>
        <p:txBody>
          <a:bodyPr wrap="square" lIns="0" tIns="0" rIns="0" bIns="0" rtlCol="0" anchor="ctr"/>
          <a:lstStyle/>
          <a:p>
            <a:pPr indent="0" marL="0">
              <a:buNone/>
            </a:pPr>
            <a:r>
              <a:rPr lang="en-US" sz="1700" b="1" dirty="0">
                <a:solidFill>
                  <a:srgbClr val="285AB4"/>
                </a:solidFill>
                <a:latin typeface="Cambria" pitchFamily="34" charset="0"/>
                <a:ea typeface="Cambria" pitchFamily="34" charset="-122"/>
                <a:cs typeface="Cambria" pitchFamily="34" charset="-120"/>
              </a:rPr>
              <a:t>⇒ Backpropagation</a:t>
            </a:r>
            <a:endParaRPr lang="en-US" sz="1700" dirty="0"/>
          </a:p>
        </p:txBody>
      </p:sp>
      <p:sp>
        <p:nvSpPr>
          <p:cNvPr id="23" name="Text 21"/>
          <p:cNvSpPr txBox="1"/>
          <p:nvPr/>
        </p:nvSpPr>
        <p:spPr>
          <a:xfrm>
            <a:off x="7619695" y="3977640"/>
            <a:ext cx="3931920" cy="457200"/>
          </a:xfrm>
          <a:prstGeom prst="rect">
            <a:avLst/>
          </a:prstGeom>
          <a:noFill/>
          <a:ln/>
        </p:spPr>
        <p:txBody>
          <a:bodyPr wrap="square" lIns="0" tIns="0" rIns="0" bIns="0" rtlCol="0" anchor="ctr"/>
          <a:lstStyle/>
          <a:p>
            <a:pPr indent="0" marL="0">
              <a:buNone/>
            </a:pPr>
            <a:r>
              <a:rPr lang="en-US" sz="1500" i="1" dirty="0">
                <a:solidFill>
                  <a:srgbClr val="1A2238"/>
                </a:solidFill>
                <a:latin typeface="Calibri" pitchFamily="34" charset="0"/>
                <a:ea typeface="Calibri" pitchFamily="34" charset="-122"/>
                <a:cs typeface="Calibri" pitchFamily="34" charset="-120"/>
              </a:rPr>
              <a:t>But then a new problem appears:</a:t>
            </a:r>
            <a:endParaRPr lang="en-US" sz="1500" dirty="0"/>
          </a:p>
        </p:txBody>
      </p:sp>
      <p:sp>
        <p:nvSpPr>
          <p:cNvPr id="24" name="Text 22"/>
          <p:cNvSpPr txBox="1"/>
          <p:nvPr/>
        </p:nvSpPr>
        <p:spPr>
          <a:xfrm>
            <a:off x="7619695" y="4526280"/>
            <a:ext cx="3931920" cy="914400"/>
          </a:xfrm>
          <a:prstGeom prst="rect">
            <a:avLst/>
          </a:prstGeom>
          <a:noFill/>
          <a:ln/>
        </p:spPr>
        <p:txBody>
          <a:bodyPr wrap="square" lIns="0" tIns="0" rIns="0" bIns="0" rtlCol="0" anchor="ctr"/>
          <a:lstStyle/>
          <a:p>
            <a:pPr indent="0" marL="0">
              <a:buNone/>
            </a:pPr>
            <a:r>
              <a:rPr lang="en-US" sz="1800" b="1" dirty="0">
                <a:solidFill>
                  <a:srgbClr val="BE3C32"/>
                </a:solidFill>
                <a:latin typeface="Cambria Math" pitchFamily="34" charset="0"/>
                <a:ea typeface="Cambria Math" pitchFamily="34" charset="-122"/>
                <a:cs typeface="Cambria Math" pitchFamily="34" charset="-120"/>
              </a:rPr>
              <a:t>gradient → 0 ?</a:t>
            </a:r>
            <a:endParaRPr lang="en-US" sz="1800" dirty="0"/>
          </a:p>
          <a:p>
            <a:pPr indent="0" marL="0">
              <a:buNone/>
            </a:pPr>
            <a:r>
              <a:rPr lang="en-US" sz="1800" b="1" dirty="0">
                <a:solidFill>
                  <a:srgbClr val="BE3C32"/>
                </a:solidFill>
                <a:latin typeface="Cambria Math" pitchFamily="34" charset="0"/>
                <a:ea typeface="Cambria Math" pitchFamily="34" charset="-122"/>
                <a:cs typeface="Cambria Math" pitchFamily="34" charset="-120"/>
              </a:rPr>
              <a:t>gradient → ∞ ?</a:t>
            </a:r>
            <a:endParaRPr lang="en-US" sz="1800" dirty="0"/>
          </a:p>
        </p:txBody>
      </p:sp>
      <p:sp>
        <p:nvSpPr>
          <p:cNvPr id="25" name="Text 23"/>
          <p:cNvSpPr txBox="1"/>
          <p:nvPr/>
        </p:nvSpPr>
        <p:spPr>
          <a:xfrm>
            <a:off x="7619695" y="5577840"/>
            <a:ext cx="3931920" cy="457200"/>
          </a:xfrm>
          <a:prstGeom prst="rect">
            <a:avLst/>
          </a:prstGeom>
          <a:noFill/>
          <a:ln/>
        </p:spPr>
        <p:txBody>
          <a:bodyPr wrap="square" lIns="0" tIns="0" rIns="0" bIns="0" rtlCol="0" anchor="ctr"/>
          <a:lstStyle/>
          <a:p>
            <a:pPr indent="0" marL="0">
              <a:buNone/>
            </a:pPr>
            <a:r>
              <a:rPr lang="en-US" sz="1700" b="1" dirty="0">
                <a:solidFill>
                  <a:srgbClr val="C68A2E"/>
                </a:solidFill>
                <a:latin typeface="Cambria" pitchFamily="34" charset="0"/>
                <a:ea typeface="Cambria" pitchFamily="34" charset="-122"/>
                <a:cs typeface="Cambria" pitchFamily="34" charset="-120"/>
              </a:rPr>
              <a:t>⇒ Parameter Initialization</a:t>
            </a:r>
            <a:endParaRPr lang="en-US" sz="1700" dirty="0"/>
          </a:p>
        </p:txBody>
      </p:sp>
      <p:sp>
        <p:nvSpPr>
          <p:cNvPr id="26" name="Text 24"/>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2/29</a:t>
            </a:r>
            <a:endParaRPr lang="en-US" sz="900" dirty="0"/>
          </a:p>
        </p:txBody>
      </p:sp>
      <p:sp>
        <p:nvSpPr>
          <p:cNvPr id="27" name="Shape 25"/>
          <p:cNvSpPr/>
          <p:nvPr/>
        </p:nvSpPr>
        <p:spPr>
          <a:xfrm>
            <a:off x="595503" y="6459093"/>
            <a:ext cx="89154" cy="89154"/>
          </a:xfrm>
          <a:prstGeom prst="ellipse">
            <a:avLst/>
          </a:prstGeom>
          <a:solidFill>
            <a:srgbClr val="285AB4"/>
          </a:solidFill>
          <a:ln/>
        </p:spPr>
      </p:sp>
      <p:sp>
        <p:nvSpPr>
          <p:cNvPr id="28" name="Shape 26"/>
          <p:cNvSpPr/>
          <p:nvPr/>
        </p:nvSpPr>
        <p:spPr>
          <a:xfrm>
            <a:off x="829818" y="6473952"/>
            <a:ext cx="59436" cy="59436"/>
          </a:xfrm>
          <a:prstGeom prst="ellipse">
            <a:avLst/>
          </a:prstGeom>
          <a:solidFill>
            <a:srgbClr val="D9DEE8"/>
          </a:solidFill>
          <a:ln/>
        </p:spPr>
      </p:sp>
      <p:sp>
        <p:nvSpPr>
          <p:cNvPr id="29" name="Shape 27"/>
          <p:cNvSpPr/>
          <p:nvPr/>
        </p:nvSpPr>
        <p:spPr>
          <a:xfrm>
            <a:off x="1049274" y="6473952"/>
            <a:ext cx="59436" cy="59436"/>
          </a:xfrm>
          <a:prstGeom prst="ellipse">
            <a:avLst/>
          </a:prstGeom>
          <a:solidFill>
            <a:srgbClr val="D9DEE8"/>
          </a:solidFill>
          <a:ln/>
        </p:spPr>
      </p:sp>
      <p:sp>
        <p:nvSpPr>
          <p:cNvPr id="30" name="Shape 28"/>
          <p:cNvSpPr/>
          <p:nvPr/>
        </p:nvSpPr>
        <p:spPr>
          <a:xfrm>
            <a:off x="1268730" y="6473952"/>
            <a:ext cx="59436" cy="59436"/>
          </a:xfrm>
          <a:prstGeom prst="ellipse">
            <a:avLst/>
          </a:prstGeom>
          <a:solidFill>
            <a:srgbClr val="D9DEE8"/>
          </a:solidFill>
          <a:ln/>
        </p:spPr>
      </p:sp>
      <p:sp>
        <p:nvSpPr>
          <p:cNvPr id="31" name="Text 29"/>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Derivative</a:t>
            </a:r>
            <a:endParaRPr lang="en-US" sz="2900" dirty="0"/>
          </a:p>
        </p:txBody>
      </p:sp>
      <p:sp>
        <p:nvSpPr>
          <p:cNvPr id="4" name="Shape 2"/>
          <p:cNvSpPr/>
          <p:nvPr/>
        </p:nvSpPr>
        <p:spPr>
          <a:xfrm>
            <a:off x="640080" y="1783080"/>
            <a:ext cx="10911535" cy="777240"/>
          </a:xfrm>
          <a:prstGeom prst="roundRect">
            <a:avLst>
              <a:gd name="adj" fmla="val 9412"/>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777240"/>
          </a:xfrm>
          <a:prstGeom prst="rect">
            <a:avLst/>
          </a:prstGeom>
          <a:noFill/>
          <a:ln/>
        </p:spPr>
        <p:txBody>
          <a:bodyPr wrap="square" lIns="0" tIns="0" rIns="0" bIns="0" rtlCol="0" anchor="ctr"/>
          <a:lstStyle/>
          <a:p>
            <a:pPr algn="ctr" indent="0" marL="0">
              <a:buNone/>
            </a:pPr>
            <a:r>
              <a:rPr lang="en-US" sz="1900" dirty="0">
                <a:solidFill>
                  <a:srgbClr val="16213E"/>
                </a:solidFill>
                <a:latin typeface="Cambria Math" pitchFamily="34" charset="0"/>
                <a:ea typeface="Cambria Math" pitchFamily="34" charset="-122"/>
                <a:cs typeface="Cambria Math" pitchFamily="34" charset="-120"/>
              </a:rPr>
              <a:t>f'(x) = lim_{h→0} [f(x+h) − f(x)] / h</a:t>
            </a:r>
            <a:endParaRPr lang="en-US" sz="1900" dirty="0"/>
          </a:p>
        </p:txBody>
      </p:sp>
      <p:sp>
        <p:nvSpPr>
          <p:cNvPr id="6" name="Text 4"/>
          <p:cNvSpPr txBox="1"/>
          <p:nvPr/>
        </p:nvSpPr>
        <p:spPr>
          <a:xfrm>
            <a:off x="640080" y="2834640"/>
            <a:ext cx="10911535" cy="237744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A2238"/>
                </a:solidFill>
                <a:latin typeface="Calibri" pitchFamily="34" charset="0"/>
                <a:ea typeface="Calibri" pitchFamily="34" charset="-122"/>
                <a:cs typeface="Calibri" pitchFamily="34" charset="-120"/>
              </a:rPr>
              <a:t>Derivative đo mức độ thay đổi của output khi input thay đổi một lượng nhỏ</a:t>
            </a:r>
            <a:endParaRPr lang="en-US" sz="1700" dirty="0"/>
          </a:p>
          <a:p>
            <a:pPr marL="228600" indent="-228600">
              <a:spcAft>
                <a:spcPts val="1400"/>
              </a:spcAft>
              <a:buSzPct val="100000"/>
              <a:buChar char="▪"/>
            </a:pPr>
            <a:r>
              <a:rPr lang="en-US" sz="1700" dirty="0">
                <a:solidFill>
                  <a:srgbClr val="1A2238"/>
                </a:solidFill>
                <a:latin typeface="Calibri" pitchFamily="34" charset="0"/>
                <a:ea typeface="Calibri" pitchFamily="34" charset="-122"/>
                <a:cs typeface="Calibri" pitchFamily="34" charset="-120"/>
              </a:rPr>
              <a:t>Ví dụ: f(x) = x²  ⇒  f′(x) = 2x</a:t>
            </a:r>
            <a:endParaRPr lang="en-US" sz="1700" dirty="0"/>
          </a:p>
          <a:p>
            <a:pPr marL="228600" indent="-228600">
              <a:spcAft>
                <a:spcPts val="1400"/>
              </a:spcAft>
              <a:buSzPct val="100000"/>
              <a:buChar char="▪"/>
            </a:pPr>
            <a:r>
              <a:rPr lang="en-US" sz="1700" dirty="0">
                <a:solidFill>
                  <a:srgbClr val="1A2238"/>
                </a:solidFill>
                <a:latin typeface="Calibri" pitchFamily="34" charset="0"/>
                <a:ea typeface="Calibri" pitchFamily="34" charset="-122"/>
                <a:cs typeface="Calibri" pitchFamily="34" charset="-120"/>
              </a:rPr>
              <a:t>Đây là viên gạch nền tảng duy nhất cần nhớ — mọi thứ sau đây (gradient, chain rule, backprop) chỉ là ÁP DỤNG CÓ HỆ THỐNG của khái niệm này</a:t>
            </a:r>
            <a:endParaRPr lang="en-US" sz="1700" dirty="0"/>
          </a:p>
        </p:txBody>
      </p:sp>
      <p:sp>
        <p:nvSpPr>
          <p:cNvPr id="7" name="Text 5"/>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3/29</a:t>
            </a:r>
            <a:endParaRPr lang="en-US" sz="900" dirty="0"/>
          </a:p>
        </p:txBody>
      </p:sp>
      <p:sp>
        <p:nvSpPr>
          <p:cNvPr id="8" name="Shape 6"/>
          <p:cNvSpPr/>
          <p:nvPr/>
        </p:nvSpPr>
        <p:spPr>
          <a:xfrm>
            <a:off x="595503" y="6459093"/>
            <a:ext cx="89154" cy="89154"/>
          </a:xfrm>
          <a:prstGeom prst="ellipse">
            <a:avLst/>
          </a:prstGeom>
          <a:solidFill>
            <a:srgbClr val="285AB4"/>
          </a:solidFill>
          <a:ln/>
        </p:spPr>
      </p:sp>
      <p:sp>
        <p:nvSpPr>
          <p:cNvPr id="9" name="Shape 7"/>
          <p:cNvSpPr/>
          <p:nvPr/>
        </p:nvSpPr>
        <p:spPr>
          <a:xfrm>
            <a:off x="829818" y="6473952"/>
            <a:ext cx="59436" cy="59436"/>
          </a:xfrm>
          <a:prstGeom prst="ellipse">
            <a:avLst/>
          </a:prstGeom>
          <a:solidFill>
            <a:srgbClr val="D9DEE8"/>
          </a:solidFill>
          <a:ln/>
        </p:spPr>
      </p:sp>
      <p:sp>
        <p:nvSpPr>
          <p:cNvPr id="10" name="Shape 8"/>
          <p:cNvSpPr/>
          <p:nvPr/>
        </p:nvSpPr>
        <p:spPr>
          <a:xfrm>
            <a:off x="1049274" y="6473952"/>
            <a:ext cx="59436" cy="59436"/>
          </a:xfrm>
          <a:prstGeom prst="ellipse">
            <a:avLst/>
          </a:prstGeom>
          <a:solidFill>
            <a:srgbClr val="D9DEE8"/>
          </a:solidFill>
          <a:ln/>
        </p:spPr>
      </p:sp>
      <p:sp>
        <p:nvSpPr>
          <p:cNvPr id="11" name="Shape 9"/>
          <p:cNvSpPr/>
          <p:nvPr/>
        </p:nvSpPr>
        <p:spPr>
          <a:xfrm>
            <a:off x="1268730" y="6473952"/>
            <a:ext cx="59436" cy="59436"/>
          </a:xfrm>
          <a:prstGeom prst="ellipse">
            <a:avLst/>
          </a:prstGeom>
          <a:solidFill>
            <a:srgbClr val="D9DEE8"/>
          </a:solidFill>
          <a:ln/>
        </p:spPr>
      </p:sp>
      <p:sp>
        <p:nvSpPr>
          <p:cNvPr id="12" name="Text 10"/>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Partial Derivative &amp; Gradient</a:t>
            </a:r>
            <a:endParaRPr lang="en-US" sz="2900" dirty="0"/>
          </a:p>
        </p:txBody>
      </p:sp>
      <p:sp>
        <p:nvSpPr>
          <p:cNvPr id="4" name="Text 2"/>
          <p:cNvSpPr txBox="1"/>
          <p:nvPr/>
        </p:nvSpPr>
        <p:spPr>
          <a:xfrm>
            <a:off x="640080" y="1828800"/>
            <a:ext cx="5669280" cy="3291840"/>
          </a:xfrm>
          <a:prstGeom prst="rect">
            <a:avLst/>
          </a:prstGeom>
          <a:noFill/>
          <a:ln/>
        </p:spPr>
        <p:txBody>
          <a:bodyPr wrap="square" lIns="0" tIns="0" rIns="0" bIns="0" rtlCol="0" anchor="t"/>
          <a:lstStyle/>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Deep Learning có hàng triệu tham số: L(w₁, w₂, ..., wₙ)</a:t>
            </a:r>
            <a:endParaRPr lang="en-US" sz="1550" dirty="0"/>
          </a:p>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Gradient = vector gồm TẤT CẢ đạo hàm riêng, một cho mỗi tham số</a:t>
            </a:r>
            <a:endParaRPr lang="en-US" sz="1550" dirty="0"/>
          </a:p>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∇L chỉ HƯỚNG TĂNG nhanh nhất của Loss trong không gian tham số</a:t>
            </a:r>
            <a:endParaRPr lang="en-US" sz="1550" dirty="0"/>
          </a:p>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Gradient Descent cập nhật theo hướng NGƯỢC gradient (−∇L) — hướng giảm nhanh nhất cục bộ</a:t>
            </a:r>
            <a:endParaRPr lang="en-US" sz="1550" dirty="0"/>
          </a:p>
        </p:txBody>
      </p:sp>
      <p:sp>
        <p:nvSpPr>
          <p:cNvPr id="5" name="Shape 3"/>
          <p:cNvSpPr/>
          <p:nvPr/>
        </p:nvSpPr>
        <p:spPr>
          <a:xfrm>
            <a:off x="6675120" y="2103120"/>
            <a:ext cx="4876495" cy="2377440"/>
          </a:xfrm>
          <a:prstGeom prst="roundRect">
            <a:avLst>
              <a:gd name="adj" fmla="val 3077"/>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6" name="Text 4"/>
          <p:cNvSpPr txBox="1"/>
          <p:nvPr/>
        </p:nvSpPr>
        <p:spPr>
          <a:xfrm>
            <a:off x="6903720" y="2103120"/>
            <a:ext cx="4419295" cy="2377440"/>
          </a:xfrm>
          <a:prstGeom prst="rect">
            <a:avLst/>
          </a:prstGeom>
          <a:noFill/>
          <a:ln/>
        </p:spPr>
        <p:txBody>
          <a:bodyPr wrap="square" lIns="0" tIns="0" rIns="0" bIns="0" rtlCol="0" anchor="ctr"/>
          <a:lstStyle/>
          <a:p>
            <a:pPr algn="ctr" indent="0" marL="0">
              <a:buNone/>
            </a:pPr>
            <a:r>
              <a:rPr lang="en-US" sz="1700" dirty="0">
                <a:solidFill>
                  <a:srgbClr val="16213E"/>
                </a:solidFill>
                <a:latin typeface="Cambria Math" pitchFamily="34" charset="0"/>
                <a:ea typeface="Cambria Math" pitchFamily="34" charset="-122"/>
                <a:cs typeface="Cambria Math" pitchFamily="34" charset="-120"/>
              </a:rPr>
              <a:t>∇L = [ ∂L/∂w₁ ; ∂L/∂w₂ ; ... ; ∂L/∂wₙ ]</a:t>
            </a:r>
            <a:endParaRPr lang="en-US" sz="1700" dirty="0"/>
          </a:p>
        </p:txBody>
      </p:sp>
      <p:sp>
        <p:nvSpPr>
          <p:cNvPr id="7" name="Text 5"/>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4/29</a:t>
            </a:r>
            <a:endParaRPr lang="en-US" sz="900" dirty="0"/>
          </a:p>
        </p:txBody>
      </p:sp>
      <p:sp>
        <p:nvSpPr>
          <p:cNvPr id="8" name="Shape 6"/>
          <p:cNvSpPr/>
          <p:nvPr/>
        </p:nvSpPr>
        <p:spPr>
          <a:xfrm>
            <a:off x="595503" y="6459093"/>
            <a:ext cx="89154" cy="89154"/>
          </a:xfrm>
          <a:prstGeom prst="ellipse">
            <a:avLst/>
          </a:prstGeom>
          <a:solidFill>
            <a:srgbClr val="285AB4"/>
          </a:solidFill>
          <a:ln/>
        </p:spPr>
      </p:sp>
      <p:sp>
        <p:nvSpPr>
          <p:cNvPr id="9" name="Shape 7"/>
          <p:cNvSpPr/>
          <p:nvPr/>
        </p:nvSpPr>
        <p:spPr>
          <a:xfrm>
            <a:off x="829818" y="6473952"/>
            <a:ext cx="59436" cy="59436"/>
          </a:xfrm>
          <a:prstGeom prst="ellipse">
            <a:avLst/>
          </a:prstGeom>
          <a:solidFill>
            <a:srgbClr val="D9DEE8"/>
          </a:solidFill>
          <a:ln/>
        </p:spPr>
      </p:sp>
      <p:sp>
        <p:nvSpPr>
          <p:cNvPr id="10" name="Shape 8"/>
          <p:cNvSpPr/>
          <p:nvPr/>
        </p:nvSpPr>
        <p:spPr>
          <a:xfrm>
            <a:off x="1049274" y="6473952"/>
            <a:ext cx="59436" cy="59436"/>
          </a:xfrm>
          <a:prstGeom prst="ellipse">
            <a:avLst/>
          </a:prstGeom>
          <a:solidFill>
            <a:srgbClr val="D9DEE8"/>
          </a:solidFill>
          <a:ln/>
        </p:spPr>
      </p:sp>
      <p:sp>
        <p:nvSpPr>
          <p:cNvPr id="11" name="Shape 9"/>
          <p:cNvSpPr/>
          <p:nvPr/>
        </p:nvSpPr>
        <p:spPr>
          <a:xfrm>
            <a:off x="1268730" y="6473952"/>
            <a:ext cx="59436" cy="59436"/>
          </a:xfrm>
          <a:prstGeom prst="ellipse">
            <a:avLst/>
          </a:prstGeom>
          <a:solidFill>
            <a:srgbClr val="D9DEE8"/>
          </a:solidFill>
          <a:ln/>
        </p:spPr>
      </p:sp>
      <p:sp>
        <p:nvSpPr>
          <p:cNvPr id="12" name="Text 10"/>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Gradient Descent</a:t>
            </a:r>
            <a:endParaRPr lang="en-US" sz="2900" dirty="0"/>
          </a:p>
        </p:txBody>
      </p:sp>
      <p:sp>
        <p:nvSpPr>
          <p:cNvPr id="4" name="Shape 2"/>
          <p:cNvSpPr/>
          <p:nvPr/>
        </p:nvSpPr>
        <p:spPr>
          <a:xfrm>
            <a:off x="640080" y="1783080"/>
            <a:ext cx="10911535" cy="777240"/>
          </a:xfrm>
          <a:prstGeom prst="roundRect">
            <a:avLst>
              <a:gd name="adj" fmla="val 9412"/>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777240"/>
          </a:xfrm>
          <a:prstGeom prst="rect">
            <a:avLst/>
          </a:prstGeom>
          <a:noFill/>
          <a:ln/>
        </p:spPr>
        <p:txBody>
          <a:bodyPr wrap="square" lIns="0" tIns="0" rIns="0" bIns="0" rtlCol="0" anchor="ctr"/>
          <a:lstStyle/>
          <a:p>
            <a:pPr algn="ctr" indent="0" marL="0">
              <a:buNone/>
            </a:pPr>
            <a:r>
              <a:rPr lang="en-US" sz="1700" dirty="0">
                <a:solidFill>
                  <a:srgbClr val="16213E"/>
                </a:solidFill>
                <a:latin typeface="Cambria Math" pitchFamily="34" charset="0"/>
                <a:ea typeface="Cambria Math" pitchFamily="34" charset="-122"/>
                <a:cs typeface="Cambria Math" pitchFamily="34" charset="-120"/>
              </a:rPr>
              <a:t>w_new = w_old − η · ∂L/∂w          (dạng vector: θ_new = θ_old − η∇_θL)</a:t>
            </a:r>
            <a:endParaRPr lang="en-US" sz="1700" dirty="0"/>
          </a:p>
        </p:txBody>
      </p:sp>
      <p:sp>
        <p:nvSpPr>
          <p:cNvPr id="6" name="Text 4"/>
          <p:cNvSpPr txBox="1"/>
          <p:nvPr/>
        </p:nvSpPr>
        <p:spPr>
          <a:xfrm>
            <a:off x="640080" y="2834640"/>
            <a:ext cx="10911535" cy="2926080"/>
          </a:xfrm>
          <a:prstGeom prst="rect">
            <a:avLst/>
          </a:prstGeom>
          <a:noFill/>
          <a:ln/>
        </p:spPr>
        <p:txBody>
          <a:bodyPr wrap="square" lIns="0" tIns="0" rIns="0" bIns="0" rtlCol="0" anchor="t"/>
          <a:lstStyle/>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w — parameter cần cập nhật (θ — toàn bộ vector tham số)</a:t>
            </a:r>
            <a:endParaRPr lang="en-US" sz="1550" dirty="0"/>
          </a:p>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η (learning rate) — bước nhảy mỗi lần cập nhật</a:t>
            </a:r>
            <a:endParaRPr lang="en-US" sz="1550" dirty="0"/>
          </a:p>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L — loss function cần tối thiểu hoá</a:t>
            </a:r>
            <a:endParaRPr lang="en-US" sz="1550" dirty="0"/>
          </a:p>
          <a:p>
            <a:pPr marL="228600" indent="-228600">
              <a:spcAft>
                <a:spcPts val="1200"/>
              </a:spcAft>
              <a:buSzPct val="100000"/>
              <a:buChar char="▪"/>
            </a:pPr>
            <a:r>
              <a:rPr lang="en-US" sz="1550" dirty="0">
                <a:solidFill>
                  <a:srgbClr val="1A2238"/>
                </a:solidFill>
                <a:latin typeface="Calibri" pitchFamily="34" charset="0"/>
                <a:ea typeface="Calibri" pitchFamily="34" charset="-122"/>
                <a:cs typeface="Calibri" pitchFamily="34" charset="-120"/>
              </a:rPr>
              <a:t>Dấu trừ là bắt buộc: −∇L mới là hướng GIẢM, vì ∇L tự nó chỉ hướng tăng — trực giác: quả bóng lăn xuống 'loss landscape' theo hướng ngược gradient</a:t>
            </a:r>
            <a:endParaRPr lang="en-US" sz="1550" dirty="0"/>
          </a:p>
        </p:txBody>
      </p:sp>
      <p:sp>
        <p:nvSpPr>
          <p:cNvPr id="7" name="Text 5"/>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5/29</a:t>
            </a:r>
            <a:endParaRPr lang="en-US" sz="900" dirty="0"/>
          </a:p>
        </p:txBody>
      </p:sp>
      <p:sp>
        <p:nvSpPr>
          <p:cNvPr id="8" name="Shape 6"/>
          <p:cNvSpPr/>
          <p:nvPr/>
        </p:nvSpPr>
        <p:spPr>
          <a:xfrm>
            <a:off x="595503" y="6459093"/>
            <a:ext cx="89154" cy="89154"/>
          </a:xfrm>
          <a:prstGeom prst="ellipse">
            <a:avLst/>
          </a:prstGeom>
          <a:solidFill>
            <a:srgbClr val="285AB4"/>
          </a:solidFill>
          <a:ln/>
        </p:spPr>
      </p:sp>
      <p:sp>
        <p:nvSpPr>
          <p:cNvPr id="9" name="Shape 7"/>
          <p:cNvSpPr/>
          <p:nvPr/>
        </p:nvSpPr>
        <p:spPr>
          <a:xfrm>
            <a:off x="829818" y="6473952"/>
            <a:ext cx="59436" cy="59436"/>
          </a:xfrm>
          <a:prstGeom prst="ellipse">
            <a:avLst/>
          </a:prstGeom>
          <a:solidFill>
            <a:srgbClr val="D9DEE8"/>
          </a:solidFill>
          <a:ln/>
        </p:spPr>
      </p:sp>
      <p:sp>
        <p:nvSpPr>
          <p:cNvPr id="10" name="Shape 8"/>
          <p:cNvSpPr/>
          <p:nvPr/>
        </p:nvSpPr>
        <p:spPr>
          <a:xfrm>
            <a:off x="1049274" y="6473952"/>
            <a:ext cx="59436" cy="59436"/>
          </a:xfrm>
          <a:prstGeom prst="ellipse">
            <a:avLst/>
          </a:prstGeom>
          <a:solidFill>
            <a:srgbClr val="D9DEE8"/>
          </a:solidFill>
          <a:ln/>
        </p:spPr>
      </p:sp>
      <p:sp>
        <p:nvSpPr>
          <p:cNvPr id="11" name="Shape 9"/>
          <p:cNvSpPr/>
          <p:nvPr/>
        </p:nvSpPr>
        <p:spPr>
          <a:xfrm>
            <a:off x="1268730" y="6473952"/>
            <a:ext cx="59436" cy="59436"/>
          </a:xfrm>
          <a:prstGeom prst="ellipse">
            <a:avLst/>
          </a:prstGeom>
          <a:solidFill>
            <a:srgbClr val="D9DEE8"/>
          </a:solidFill>
          <a:ln/>
        </p:spPr>
      </p:sp>
      <p:sp>
        <p:nvSpPr>
          <p:cNvPr id="12" name="Text 10"/>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NEURAL NETWORK</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Forward Propagation</a:t>
            </a:r>
            <a:endParaRPr lang="en-US" sz="2900" dirty="0"/>
          </a:p>
        </p:txBody>
      </p:sp>
      <p:sp>
        <p:nvSpPr>
          <p:cNvPr id="4" name="Shape 2"/>
          <p:cNvSpPr/>
          <p:nvPr/>
        </p:nvSpPr>
        <p:spPr>
          <a:xfrm>
            <a:off x="914400" y="1554480"/>
            <a:ext cx="1188720" cy="457200"/>
          </a:xfrm>
          <a:prstGeom prst="roundRect">
            <a:avLst>
              <a:gd name="adj" fmla="val 12000"/>
            </a:avLst>
          </a:prstGeom>
          <a:solidFill>
            <a:srgbClr val="F1F4F9"/>
          </a:solidFill>
          <a:ln w="15875">
            <a:solidFill>
              <a:srgbClr val="1A2238"/>
            </a:solidFill>
            <a:prstDash val="solid"/>
          </a:ln>
        </p:spPr>
      </p:sp>
      <p:sp>
        <p:nvSpPr>
          <p:cNvPr id="5" name="Text 3"/>
          <p:cNvSpPr txBox="1"/>
          <p:nvPr/>
        </p:nvSpPr>
        <p:spPr>
          <a:xfrm>
            <a:off x="914400" y="1554480"/>
            <a:ext cx="1188720" cy="45720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x₁</a:t>
            </a:r>
            <a:endParaRPr lang="en-US" sz="1300" dirty="0"/>
          </a:p>
        </p:txBody>
      </p:sp>
      <p:sp>
        <p:nvSpPr>
          <p:cNvPr id="6" name="Shape 4"/>
          <p:cNvSpPr/>
          <p:nvPr/>
        </p:nvSpPr>
        <p:spPr>
          <a:xfrm>
            <a:off x="914400" y="2377440"/>
            <a:ext cx="1188720" cy="457200"/>
          </a:xfrm>
          <a:prstGeom prst="roundRect">
            <a:avLst>
              <a:gd name="adj" fmla="val 12000"/>
            </a:avLst>
          </a:prstGeom>
          <a:solidFill>
            <a:srgbClr val="F1F4F9"/>
          </a:solidFill>
          <a:ln w="15875">
            <a:solidFill>
              <a:srgbClr val="1A2238"/>
            </a:solidFill>
            <a:prstDash val="solid"/>
          </a:ln>
        </p:spPr>
      </p:sp>
      <p:sp>
        <p:nvSpPr>
          <p:cNvPr id="7" name="Text 5"/>
          <p:cNvSpPr txBox="1"/>
          <p:nvPr/>
        </p:nvSpPr>
        <p:spPr>
          <a:xfrm>
            <a:off x="914400" y="2377440"/>
            <a:ext cx="1188720" cy="45720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x₂</a:t>
            </a:r>
            <a:endParaRPr lang="en-US" sz="1300" dirty="0"/>
          </a:p>
        </p:txBody>
      </p:sp>
      <p:sp>
        <p:nvSpPr>
          <p:cNvPr id="8" name="Shape 6"/>
          <p:cNvSpPr/>
          <p:nvPr/>
        </p:nvSpPr>
        <p:spPr>
          <a:xfrm>
            <a:off x="3291840" y="1965960"/>
            <a:ext cx="1188720" cy="548640"/>
          </a:xfrm>
          <a:prstGeom prst="roundRect">
            <a:avLst>
              <a:gd name="adj" fmla="val 10000"/>
            </a:avLst>
          </a:prstGeom>
          <a:solidFill>
            <a:srgbClr val="EAF0FB"/>
          </a:solidFill>
          <a:ln w="15875">
            <a:solidFill>
              <a:srgbClr val="285AB4"/>
            </a:solidFill>
            <a:prstDash val="solid"/>
          </a:ln>
        </p:spPr>
      </p:sp>
      <p:sp>
        <p:nvSpPr>
          <p:cNvPr id="9" name="Text 7"/>
          <p:cNvSpPr txBox="1"/>
          <p:nvPr/>
        </p:nvSpPr>
        <p:spPr>
          <a:xfrm>
            <a:off x="3291840" y="1965960"/>
            <a:ext cx="1188720" cy="54864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z</a:t>
            </a:r>
            <a:endParaRPr lang="en-US" sz="1300" dirty="0"/>
          </a:p>
        </p:txBody>
      </p:sp>
      <p:sp>
        <p:nvSpPr>
          <p:cNvPr id="10" name="Shape 8"/>
          <p:cNvSpPr/>
          <p:nvPr/>
        </p:nvSpPr>
        <p:spPr>
          <a:xfrm>
            <a:off x="5303520" y="1965960"/>
            <a:ext cx="1554480" cy="548640"/>
          </a:xfrm>
          <a:prstGeom prst="roundRect">
            <a:avLst>
              <a:gd name="adj" fmla="val 10000"/>
            </a:avLst>
          </a:prstGeom>
          <a:solidFill>
            <a:srgbClr val="EAF0FB"/>
          </a:solidFill>
          <a:ln w="15875">
            <a:solidFill>
              <a:srgbClr val="285AB4"/>
            </a:solidFill>
            <a:prstDash val="solid"/>
          </a:ln>
        </p:spPr>
      </p:sp>
      <p:sp>
        <p:nvSpPr>
          <p:cNvPr id="11" name="Text 9"/>
          <p:cNvSpPr txBox="1"/>
          <p:nvPr/>
        </p:nvSpPr>
        <p:spPr>
          <a:xfrm>
            <a:off x="5303520" y="1965960"/>
            <a:ext cx="1554480" cy="548640"/>
          </a:xfrm>
          <a:prstGeom prst="rect">
            <a:avLst/>
          </a:prstGeom>
          <a:noFill/>
          <a:ln/>
        </p:spPr>
        <p:txBody>
          <a:bodyPr wrap="square" lIns="0" tIns="0" rIns="0" bIns="0" rtlCol="0" anchor="ctr"/>
          <a:lstStyle/>
          <a:p>
            <a:pPr algn="ctr" indent="0" marL="0">
              <a:buNone/>
            </a:pPr>
            <a:r>
              <a:rPr lang="en-US" sz="1200" dirty="0">
                <a:solidFill>
                  <a:srgbClr val="1A2238"/>
                </a:solidFill>
                <a:latin typeface="Cambria Math" pitchFamily="34" charset="0"/>
                <a:ea typeface="Cambria Math" pitchFamily="34" charset="-122"/>
                <a:cs typeface="Cambria Math" pitchFamily="34" charset="-120"/>
              </a:rPr>
              <a:t>activation</a:t>
            </a:r>
            <a:endParaRPr lang="en-US" sz="1200" dirty="0"/>
          </a:p>
        </p:txBody>
      </p:sp>
      <p:sp>
        <p:nvSpPr>
          <p:cNvPr id="12" name="Shape 10"/>
          <p:cNvSpPr/>
          <p:nvPr/>
        </p:nvSpPr>
        <p:spPr>
          <a:xfrm>
            <a:off x="7498080" y="1965960"/>
            <a:ext cx="1188720" cy="548640"/>
          </a:xfrm>
          <a:prstGeom prst="roundRect">
            <a:avLst>
              <a:gd name="adj" fmla="val 10000"/>
            </a:avLst>
          </a:prstGeom>
          <a:solidFill>
            <a:srgbClr val="FBEEEC"/>
          </a:solidFill>
          <a:ln w="15875">
            <a:solidFill>
              <a:srgbClr val="BE3C32"/>
            </a:solidFill>
            <a:prstDash val="solid"/>
          </a:ln>
        </p:spPr>
      </p:sp>
      <p:sp>
        <p:nvSpPr>
          <p:cNvPr id="13" name="Text 11"/>
          <p:cNvSpPr txBox="1"/>
          <p:nvPr/>
        </p:nvSpPr>
        <p:spPr>
          <a:xfrm>
            <a:off x="7498080" y="1965960"/>
            <a:ext cx="1188720" cy="54864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ŷ → L</a:t>
            </a:r>
            <a:endParaRPr lang="en-US" sz="1300" dirty="0"/>
          </a:p>
        </p:txBody>
      </p:sp>
      <p:sp>
        <p:nvSpPr>
          <p:cNvPr id="14" name="Shape 12"/>
          <p:cNvSpPr/>
          <p:nvPr/>
        </p:nvSpPr>
        <p:spPr>
          <a:xfrm>
            <a:off x="2103120" y="1783080"/>
            <a:ext cx="1188720" cy="457200"/>
          </a:xfrm>
          <a:prstGeom prst="line">
            <a:avLst/>
          </a:prstGeom>
          <a:noFill/>
          <a:ln w="22225">
            <a:solidFill>
              <a:srgbClr val="285AB4"/>
            </a:solidFill>
            <a:prstDash val="solid"/>
            <a:tailEnd type="triangle"/>
          </a:ln>
        </p:spPr>
      </p:sp>
      <p:sp>
        <p:nvSpPr>
          <p:cNvPr id="15" name="Shape 13"/>
          <p:cNvSpPr/>
          <p:nvPr/>
        </p:nvSpPr>
        <p:spPr>
          <a:xfrm>
            <a:off x="2103120" y="2240280"/>
            <a:ext cx="1188720" cy="365760"/>
          </a:xfrm>
          <a:prstGeom prst="line">
            <a:avLst/>
          </a:prstGeom>
          <a:noFill/>
          <a:ln w="22225">
            <a:solidFill>
              <a:srgbClr val="285AB4"/>
            </a:solidFill>
            <a:prstDash val="solid"/>
            <a:headEnd type="triangle"/>
          </a:ln>
        </p:spPr>
      </p:sp>
      <p:sp>
        <p:nvSpPr>
          <p:cNvPr id="16" name="Shape 14"/>
          <p:cNvSpPr/>
          <p:nvPr/>
        </p:nvSpPr>
        <p:spPr>
          <a:xfrm>
            <a:off x="4480560" y="2240280"/>
            <a:ext cx="822960" cy="0"/>
          </a:xfrm>
          <a:prstGeom prst="line">
            <a:avLst/>
          </a:prstGeom>
          <a:noFill/>
          <a:ln w="22225">
            <a:solidFill>
              <a:srgbClr val="285AB4"/>
            </a:solidFill>
            <a:prstDash val="solid"/>
            <a:tailEnd type="triangle"/>
          </a:ln>
        </p:spPr>
      </p:sp>
      <p:sp>
        <p:nvSpPr>
          <p:cNvPr id="17" name="Shape 15"/>
          <p:cNvSpPr/>
          <p:nvPr/>
        </p:nvSpPr>
        <p:spPr>
          <a:xfrm>
            <a:off x="6858000" y="2240280"/>
            <a:ext cx="640080" cy="0"/>
          </a:xfrm>
          <a:prstGeom prst="line">
            <a:avLst/>
          </a:prstGeom>
          <a:noFill/>
          <a:ln w="22225">
            <a:solidFill>
              <a:srgbClr val="285AB4"/>
            </a:solidFill>
            <a:prstDash val="solid"/>
            <a:tailEnd type="triangle"/>
          </a:ln>
        </p:spPr>
      </p:sp>
      <p:sp>
        <p:nvSpPr>
          <p:cNvPr id="18" name="Shape 16"/>
          <p:cNvSpPr/>
          <p:nvPr/>
        </p:nvSpPr>
        <p:spPr>
          <a:xfrm>
            <a:off x="640080" y="3383280"/>
            <a:ext cx="10911535" cy="777240"/>
          </a:xfrm>
          <a:prstGeom prst="roundRect">
            <a:avLst>
              <a:gd name="adj" fmla="val 9412"/>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19" name="Text 17"/>
          <p:cNvSpPr txBox="1"/>
          <p:nvPr/>
        </p:nvSpPr>
        <p:spPr>
          <a:xfrm>
            <a:off x="868680" y="3383280"/>
            <a:ext cx="10454335" cy="777240"/>
          </a:xfrm>
          <a:prstGeom prst="rect">
            <a:avLst/>
          </a:prstGeom>
          <a:noFill/>
          <a:ln/>
        </p:spPr>
        <p:txBody>
          <a:bodyPr wrap="square" lIns="0" tIns="0" rIns="0" bIns="0" rtlCol="0" anchor="ctr"/>
          <a:lstStyle/>
          <a:p>
            <a:pPr algn="ctr" indent="0" marL="0">
              <a:buNone/>
            </a:pPr>
            <a:r>
              <a:rPr lang="en-US" sz="1700" dirty="0">
                <a:solidFill>
                  <a:srgbClr val="16213E"/>
                </a:solidFill>
                <a:latin typeface="Cambria Math" pitchFamily="34" charset="0"/>
                <a:ea typeface="Cambria Math" pitchFamily="34" charset="-122"/>
                <a:cs typeface="Cambria Math" pitchFamily="34" charset="-120"/>
              </a:rPr>
              <a:t>z = w₁x₁ + w₂x₂ + b        a = f(z)        L = L(a, y)</a:t>
            </a:r>
            <a:endParaRPr lang="en-US" sz="1700" dirty="0"/>
          </a:p>
        </p:txBody>
      </p:sp>
      <p:sp>
        <p:nvSpPr>
          <p:cNvPr id="20" name="Text 18"/>
          <p:cNvSpPr txBox="1"/>
          <p:nvPr/>
        </p:nvSpPr>
        <p:spPr>
          <a:xfrm>
            <a:off x="640080" y="4480560"/>
            <a:ext cx="10911535" cy="14630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Forward pass CHƯA tính parameter gradients — nó tính output VÀ lưu lại các intermediate values/computational graph mà backward pass cần để tính gradient</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Mục tiêu cuối cùng: tính được ∂L/∂w₁ (và mọi tham số khác) để cập nhật bằng Gradient Descent</a:t>
            </a:r>
            <a:endParaRPr lang="en-US" sz="1500" dirty="0"/>
          </a:p>
        </p:txBody>
      </p:sp>
      <p:sp>
        <p:nvSpPr>
          <p:cNvPr id="21" name="Text 19"/>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6/29</a:t>
            </a:r>
            <a:endParaRPr lang="en-US" sz="900" dirty="0"/>
          </a:p>
        </p:txBody>
      </p:sp>
      <p:sp>
        <p:nvSpPr>
          <p:cNvPr id="22" name="Shape 20"/>
          <p:cNvSpPr/>
          <p:nvPr/>
        </p:nvSpPr>
        <p:spPr>
          <a:xfrm>
            <a:off x="595503" y="6459093"/>
            <a:ext cx="89154" cy="89154"/>
          </a:xfrm>
          <a:prstGeom prst="ellipse">
            <a:avLst/>
          </a:prstGeom>
          <a:solidFill>
            <a:srgbClr val="285AB4"/>
          </a:solidFill>
          <a:ln/>
        </p:spPr>
      </p:sp>
      <p:sp>
        <p:nvSpPr>
          <p:cNvPr id="23" name="Shape 21"/>
          <p:cNvSpPr/>
          <p:nvPr/>
        </p:nvSpPr>
        <p:spPr>
          <a:xfrm>
            <a:off x="829818" y="6473952"/>
            <a:ext cx="59436" cy="59436"/>
          </a:xfrm>
          <a:prstGeom prst="ellipse">
            <a:avLst/>
          </a:prstGeom>
          <a:solidFill>
            <a:srgbClr val="D9DEE8"/>
          </a:solidFill>
          <a:ln/>
        </p:spPr>
      </p:sp>
      <p:sp>
        <p:nvSpPr>
          <p:cNvPr id="24" name="Shape 22"/>
          <p:cNvSpPr/>
          <p:nvPr/>
        </p:nvSpPr>
        <p:spPr>
          <a:xfrm>
            <a:off x="1049274" y="6473952"/>
            <a:ext cx="59436" cy="59436"/>
          </a:xfrm>
          <a:prstGeom prst="ellipse">
            <a:avLst/>
          </a:prstGeom>
          <a:solidFill>
            <a:srgbClr val="D9DEE8"/>
          </a:solidFill>
          <a:ln/>
        </p:spPr>
      </p:sp>
      <p:sp>
        <p:nvSpPr>
          <p:cNvPr id="25" name="Shape 23"/>
          <p:cNvSpPr/>
          <p:nvPr/>
        </p:nvSpPr>
        <p:spPr>
          <a:xfrm>
            <a:off x="1268730" y="6473952"/>
            <a:ext cx="59436" cy="59436"/>
          </a:xfrm>
          <a:prstGeom prst="ellipse">
            <a:avLst/>
          </a:prstGeom>
          <a:solidFill>
            <a:srgbClr val="D9DEE8"/>
          </a:solidFill>
          <a:ln/>
        </p:spPr>
      </p:sp>
      <p:sp>
        <p:nvSpPr>
          <p:cNvPr id="26" name="Text 24"/>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BACKPROPAGATION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Chain Rule — trái tim của Backpropagation</a:t>
            </a:r>
            <a:endParaRPr lang="en-US" sz="2900" dirty="0"/>
          </a:p>
        </p:txBody>
      </p:sp>
      <p:sp>
        <p:nvSpPr>
          <p:cNvPr id="4" name="Shape 2"/>
          <p:cNvSpPr/>
          <p:nvPr/>
        </p:nvSpPr>
        <p:spPr>
          <a:xfrm>
            <a:off x="1554480" y="1828800"/>
            <a:ext cx="1463040" cy="502920"/>
          </a:xfrm>
          <a:prstGeom prst="roundRect">
            <a:avLst>
              <a:gd name="adj" fmla="val 10909"/>
            </a:avLst>
          </a:prstGeom>
          <a:solidFill>
            <a:srgbClr val="F1F4F9"/>
          </a:solidFill>
          <a:ln w="15875">
            <a:solidFill>
              <a:srgbClr val="D9DEE8"/>
            </a:solidFill>
            <a:prstDash val="solid"/>
          </a:ln>
        </p:spPr>
      </p:sp>
      <p:sp>
        <p:nvSpPr>
          <p:cNvPr id="5" name="Text 3"/>
          <p:cNvSpPr txBox="1"/>
          <p:nvPr/>
        </p:nvSpPr>
        <p:spPr>
          <a:xfrm>
            <a:off x="1554480" y="1828800"/>
            <a:ext cx="146304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w</a:t>
            </a:r>
            <a:endParaRPr lang="en-US" sz="1300" dirty="0"/>
          </a:p>
        </p:txBody>
      </p:sp>
      <p:sp>
        <p:nvSpPr>
          <p:cNvPr id="6" name="Shape 4"/>
          <p:cNvSpPr/>
          <p:nvPr/>
        </p:nvSpPr>
        <p:spPr>
          <a:xfrm>
            <a:off x="2286000" y="2331720"/>
            <a:ext cx="0" cy="384048"/>
          </a:xfrm>
          <a:prstGeom prst="line">
            <a:avLst/>
          </a:prstGeom>
          <a:noFill/>
          <a:ln w="25400">
            <a:solidFill>
              <a:srgbClr val="285AB4"/>
            </a:solidFill>
            <a:prstDash val="solid"/>
            <a:tailEnd type="triangle"/>
          </a:ln>
        </p:spPr>
      </p:sp>
      <p:sp>
        <p:nvSpPr>
          <p:cNvPr id="7" name="Shape 5"/>
          <p:cNvSpPr/>
          <p:nvPr/>
        </p:nvSpPr>
        <p:spPr>
          <a:xfrm>
            <a:off x="1554480" y="2715768"/>
            <a:ext cx="1463040" cy="502920"/>
          </a:xfrm>
          <a:prstGeom prst="roundRect">
            <a:avLst>
              <a:gd name="adj" fmla="val 10909"/>
            </a:avLst>
          </a:prstGeom>
          <a:solidFill>
            <a:srgbClr val="F1F4F9"/>
          </a:solidFill>
          <a:ln w="15875">
            <a:solidFill>
              <a:srgbClr val="D9DEE8"/>
            </a:solidFill>
            <a:prstDash val="solid"/>
          </a:ln>
        </p:spPr>
      </p:sp>
      <p:sp>
        <p:nvSpPr>
          <p:cNvPr id="8" name="Text 6"/>
          <p:cNvSpPr txBox="1"/>
          <p:nvPr/>
        </p:nvSpPr>
        <p:spPr>
          <a:xfrm>
            <a:off x="1554480" y="2715768"/>
            <a:ext cx="146304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z</a:t>
            </a:r>
            <a:endParaRPr lang="en-US" sz="1300" dirty="0"/>
          </a:p>
        </p:txBody>
      </p:sp>
      <p:sp>
        <p:nvSpPr>
          <p:cNvPr id="9" name="Shape 7"/>
          <p:cNvSpPr/>
          <p:nvPr/>
        </p:nvSpPr>
        <p:spPr>
          <a:xfrm>
            <a:off x="2286000" y="3218688"/>
            <a:ext cx="0" cy="384048"/>
          </a:xfrm>
          <a:prstGeom prst="line">
            <a:avLst/>
          </a:prstGeom>
          <a:noFill/>
          <a:ln w="25400">
            <a:solidFill>
              <a:srgbClr val="285AB4"/>
            </a:solidFill>
            <a:prstDash val="solid"/>
            <a:tailEnd type="triangle"/>
          </a:ln>
        </p:spPr>
      </p:sp>
      <p:sp>
        <p:nvSpPr>
          <p:cNvPr id="10" name="Shape 8"/>
          <p:cNvSpPr/>
          <p:nvPr/>
        </p:nvSpPr>
        <p:spPr>
          <a:xfrm>
            <a:off x="1554480" y="3602736"/>
            <a:ext cx="1463040" cy="502920"/>
          </a:xfrm>
          <a:prstGeom prst="roundRect">
            <a:avLst>
              <a:gd name="adj" fmla="val 10909"/>
            </a:avLst>
          </a:prstGeom>
          <a:solidFill>
            <a:srgbClr val="F1F4F9"/>
          </a:solidFill>
          <a:ln w="15875">
            <a:solidFill>
              <a:srgbClr val="D9DEE8"/>
            </a:solidFill>
            <a:prstDash val="solid"/>
          </a:ln>
        </p:spPr>
      </p:sp>
      <p:sp>
        <p:nvSpPr>
          <p:cNvPr id="11" name="Text 9"/>
          <p:cNvSpPr txBox="1"/>
          <p:nvPr/>
        </p:nvSpPr>
        <p:spPr>
          <a:xfrm>
            <a:off x="1554480" y="3602736"/>
            <a:ext cx="146304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a</a:t>
            </a:r>
            <a:endParaRPr lang="en-US" sz="1300" dirty="0"/>
          </a:p>
        </p:txBody>
      </p:sp>
      <p:sp>
        <p:nvSpPr>
          <p:cNvPr id="12" name="Shape 10"/>
          <p:cNvSpPr/>
          <p:nvPr/>
        </p:nvSpPr>
        <p:spPr>
          <a:xfrm>
            <a:off x="2286000" y="4105656"/>
            <a:ext cx="0" cy="384048"/>
          </a:xfrm>
          <a:prstGeom prst="line">
            <a:avLst/>
          </a:prstGeom>
          <a:noFill/>
          <a:ln w="25400">
            <a:solidFill>
              <a:srgbClr val="285AB4"/>
            </a:solidFill>
            <a:prstDash val="solid"/>
            <a:tailEnd type="triangle"/>
          </a:ln>
        </p:spPr>
      </p:sp>
      <p:sp>
        <p:nvSpPr>
          <p:cNvPr id="13" name="Shape 11"/>
          <p:cNvSpPr/>
          <p:nvPr/>
        </p:nvSpPr>
        <p:spPr>
          <a:xfrm>
            <a:off x="1554480" y="4489704"/>
            <a:ext cx="1463040" cy="502920"/>
          </a:xfrm>
          <a:prstGeom prst="roundRect">
            <a:avLst>
              <a:gd name="adj" fmla="val 10909"/>
            </a:avLst>
          </a:prstGeom>
          <a:solidFill>
            <a:srgbClr val="FBEEEC"/>
          </a:solidFill>
          <a:ln w="15875">
            <a:solidFill>
              <a:srgbClr val="BE3C32"/>
            </a:solidFill>
            <a:prstDash val="solid"/>
          </a:ln>
        </p:spPr>
      </p:sp>
      <p:sp>
        <p:nvSpPr>
          <p:cNvPr id="14" name="Text 12"/>
          <p:cNvSpPr txBox="1"/>
          <p:nvPr/>
        </p:nvSpPr>
        <p:spPr>
          <a:xfrm>
            <a:off x="1554480" y="4489704"/>
            <a:ext cx="146304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L</a:t>
            </a:r>
            <a:endParaRPr lang="en-US" sz="1300" dirty="0"/>
          </a:p>
        </p:txBody>
      </p:sp>
      <p:sp>
        <p:nvSpPr>
          <p:cNvPr id="15" name="Text 13"/>
          <p:cNvSpPr txBox="1"/>
          <p:nvPr/>
        </p:nvSpPr>
        <p:spPr>
          <a:xfrm>
            <a:off x="1371600" y="1325880"/>
            <a:ext cx="3108960" cy="36576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Forward: mỗi mũi tên là 1 phép biến đổi</a:t>
            </a:r>
            <a:endParaRPr lang="en-US" sz="1250" dirty="0"/>
          </a:p>
        </p:txBody>
      </p:sp>
      <p:sp>
        <p:nvSpPr>
          <p:cNvPr id="16" name="Shape 14"/>
          <p:cNvSpPr/>
          <p:nvPr/>
        </p:nvSpPr>
        <p:spPr>
          <a:xfrm>
            <a:off x="3931920" y="2651760"/>
            <a:ext cx="7619695" cy="914400"/>
          </a:xfrm>
          <a:prstGeom prst="roundRect">
            <a:avLst>
              <a:gd name="adj" fmla="val 8000"/>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17" name="Text 15"/>
          <p:cNvSpPr txBox="1"/>
          <p:nvPr/>
        </p:nvSpPr>
        <p:spPr>
          <a:xfrm>
            <a:off x="4160520" y="2651760"/>
            <a:ext cx="7162495" cy="914400"/>
          </a:xfrm>
          <a:prstGeom prst="rect">
            <a:avLst/>
          </a:prstGeom>
          <a:noFill/>
          <a:ln/>
        </p:spPr>
        <p:txBody>
          <a:bodyPr wrap="square" lIns="0" tIns="0" rIns="0" bIns="0" rtlCol="0" anchor="ctr"/>
          <a:lstStyle/>
          <a:p>
            <a:pPr algn="ctr" indent="0" marL="0">
              <a:buNone/>
            </a:pPr>
            <a:r>
              <a:rPr lang="en-US" sz="1900" dirty="0">
                <a:solidFill>
                  <a:srgbClr val="16213E"/>
                </a:solidFill>
                <a:latin typeface="Cambria Math" pitchFamily="34" charset="0"/>
                <a:ea typeface="Cambria Math" pitchFamily="34" charset="-122"/>
                <a:cs typeface="Cambria Math" pitchFamily="34" charset="-120"/>
              </a:rPr>
              <a:t>∂L/∂w  =  (∂L/∂a) · (∂a/∂z) · (∂z/∂w)</a:t>
            </a:r>
            <a:endParaRPr lang="en-US" sz="1900" dirty="0"/>
          </a:p>
        </p:txBody>
      </p:sp>
      <p:sp>
        <p:nvSpPr>
          <p:cNvPr id="18" name="Text 16"/>
          <p:cNvSpPr txBox="1"/>
          <p:nvPr/>
        </p:nvSpPr>
        <p:spPr>
          <a:xfrm>
            <a:off x="3931920" y="3840480"/>
            <a:ext cx="7619695" cy="1371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Muốn biết w ảnh hưởng L thế nào, ta NHÂN các đạo hàm cục bộ dọc theo đường đi w → z → a → L</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Đây chính là ý tưởng cốt lõi của Backpropagation: đi ngược đồ thị, nhân dồn đạo hàm cục bộ</a:t>
            </a:r>
            <a:endParaRPr lang="en-US" sz="1500" dirty="0"/>
          </a:p>
        </p:txBody>
      </p:sp>
      <p:sp>
        <p:nvSpPr>
          <p:cNvPr id="19" name="Text 17"/>
          <p:cNvSpPr txBox="1"/>
          <p:nvPr/>
        </p:nvSpPr>
        <p:spPr>
          <a:xfrm>
            <a:off x="3931920" y="5532120"/>
            <a:ext cx="7619695" cy="822960"/>
          </a:xfrm>
          <a:prstGeom prst="rect">
            <a:avLst/>
          </a:prstGeom>
          <a:noFill/>
          <a:ln/>
        </p:spPr>
        <p:txBody>
          <a:bodyPr wrap="square" lIns="0" tIns="0" rIns="0" bIns="0"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Trong mạng thực tế, activation/parameter là vector/ma trận — Backpropagation áp dụng multivariable chain rule qua Jacobian/vector-Jacobian product; PyTorch autograd làm việc này tự động.</a:t>
            </a:r>
            <a:endParaRPr lang="en-US" sz="1150" dirty="0"/>
          </a:p>
        </p:txBody>
      </p:sp>
      <p:sp>
        <p:nvSpPr>
          <p:cNvPr id="20" name="Text 18"/>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7/29</a:t>
            </a:r>
            <a:endParaRPr lang="en-US" sz="900" dirty="0"/>
          </a:p>
        </p:txBody>
      </p:sp>
      <p:sp>
        <p:nvSpPr>
          <p:cNvPr id="21" name="Shape 19"/>
          <p:cNvSpPr/>
          <p:nvPr/>
        </p:nvSpPr>
        <p:spPr>
          <a:xfrm>
            <a:off x="595503" y="6459093"/>
            <a:ext cx="89154" cy="89154"/>
          </a:xfrm>
          <a:prstGeom prst="ellipse">
            <a:avLst/>
          </a:prstGeom>
          <a:solidFill>
            <a:srgbClr val="285AB4"/>
          </a:solidFill>
          <a:ln/>
        </p:spPr>
      </p:sp>
      <p:sp>
        <p:nvSpPr>
          <p:cNvPr id="22" name="Shape 20"/>
          <p:cNvSpPr/>
          <p:nvPr/>
        </p:nvSpPr>
        <p:spPr>
          <a:xfrm>
            <a:off x="829818" y="6473952"/>
            <a:ext cx="59436" cy="59436"/>
          </a:xfrm>
          <a:prstGeom prst="ellipse">
            <a:avLst/>
          </a:prstGeom>
          <a:solidFill>
            <a:srgbClr val="D9DEE8"/>
          </a:solidFill>
          <a:ln/>
        </p:spPr>
      </p:sp>
      <p:sp>
        <p:nvSpPr>
          <p:cNvPr id="23" name="Shape 21"/>
          <p:cNvSpPr/>
          <p:nvPr/>
        </p:nvSpPr>
        <p:spPr>
          <a:xfrm>
            <a:off x="1049274" y="6473952"/>
            <a:ext cx="59436" cy="59436"/>
          </a:xfrm>
          <a:prstGeom prst="ellipse">
            <a:avLst/>
          </a:prstGeom>
          <a:solidFill>
            <a:srgbClr val="D9DEE8"/>
          </a:solidFill>
          <a:ln/>
        </p:spPr>
      </p:sp>
      <p:sp>
        <p:nvSpPr>
          <p:cNvPr id="24" name="Shape 22"/>
          <p:cNvSpPr/>
          <p:nvPr/>
        </p:nvSpPr>
        <p:spPr>
          <a:xfrm>
            <a:off x="1268730" y="6473952"/>
            <a:ext cx="59436" cy="59436"/>
          </a:xfrm>
          <a:prstGeom prst="ellipse">
            <a:avLst/>
          </a:prstGeom>
          <a:solidFill>
            <a:srgbClr val="D9DEE8"/>
          </a:solidFill>
          <a:ln/>
        </p:spPr>
      </p:sp>
      <p:sp>
        <p:nvSpPr>
          <p:cNvPr id="25" name="Text 23"/>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BACKPROPAGATION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Backpropagation Example</a:t>
            </a:r>
            <a:endParaRPr lang="en-US" sz="2900" dirty="0"/>
          </a:p>
        </p:txBody>
      </p:sp>
      <p:sp>
        <p:nvSpPr>
          <p:cNvPr id="4" name="Shape 2"/>
          <p:cNvSpPr/>
          <p:nvPr/>
        </p:nvSpPr>
        <p:spPr>
          <a:xfrm>
            <a:off x="1005840" y="2011680"/>
            <a:ext cx="1188720" cy="502920"/>
          </a:xfrm>
          <a:prstGeom prst="roundRect">
            <a:avLst>
              <a:gd name="adj" fmla="val 10909"/>
            </a:avLst>
          </a:prstGeom>
          <a:solidFill>
            <a:srgbClr val="F1F4F9"/>
          </a:solidFill>
          <a:ln w="15875">
            <a:solidFill>
              <a:srgbClr val="1A2238"/>
            </a:solidFill>
            <a:prstDash val="solid"/>
          </a:ln>
        </p:spPr>
      </p:sp>
      <p:sp>
        <p:nvSpPr>
          <p:cNvPr id="5" name="Text 3"/>
          <p:cNvSpPr txBox="1"/>
          <p:nvPr/>
        </p:nvSpPr>
        <p:spPr>
          <a:xfrm>
            <a:off x="1005840" y="2011680"/>
            <a:ext cx="118872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x = 2</a:t>
            </a:r>
            <a:endParaRPr lang="en-US" sz="1300" dirty="0"/>
          </a:p>
        </p:txBody>
      </p:sp>
      <p:sp>
        <p:nvSpPr>
          <p:cNvPr id="6" name="Shape 4"/>
          <p:cNvSpPr/>
          <p:nvPr/>
        </p:nvSpPr>
        <p:spPr>
          <a:xfrm>
            <a:off x="2743200" y="2834640"/>
            <a:ext cx="1188720" cy="502920"/>
          </a:xfrm>
          <a:prstGeom prst="roundRect">
            <a:avLst>
              <a:gd name="adj" fmla="val 10909"/>
            </a:avLst>
          </a:prstGeom>
          <a:solidFill>
            <a:srgbClr val="F1F4F9"/>
          </a:solidFill>
          <a:ln w="15875">
            <a:solidFill>
              <a:srgbClr val="1A2238"/>
            </a:solidFill>
            <a:prstDash val="solid"/>
          </a:ln>
        </p:spPr>
      </p:sp>
      <p:sp>
        <p:nvSpPr>
          <p:cNvPr id="7" name="Text 5"/>
          <p:cNvSpPr txBox="1"/>
          <p:nvPr/>
        </p:nvSpPr>
        <p:spPr>
          <a:xfrm>
            <a:off x="2743200" y="2834640"/>
            <a:ext cx="118872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w = 3</a:t>
            </a:r>
            <a:endParaRPr lang="en-US" sz="1300" dirty="0"/>
          </a:p>
        </p:txBody>
      </p:sp>
      <p:sp>
        <p:nvSpPr>
          <p:cNvPr id="8" name="Shape 6"/>
          <p:cNvSpPr/>
          <p:nvPr/>
        </p:nvSpPr>
        <p:spPr>
          <a:xfrm>
            <a:off x="4480560" y="2011680"/>
            <a:ext cx="1188720" cy="502920"/>
          </a:xfrm>
          <a:prstGeom prst="roundRect">
            <a:avLst>
              <a:gd name="adj" fmla="val 10909"/>
            </a:avLst>
          </a:prstGeom>
          <a:solidFill>
            <a:srgbClr val="EAF0FB"/>
          </a:solidFill>
          <a:ln w="15875">
            <a:solidFill>
              <a:srgbClr val="285AB4"/>
            </a:solidFill>
            <a:prstDash val="solid"/>
          </a:ln>
        </p:spPr>
      </p:sp>
      <p:sp>
        <p:nvSpPr>
          <p:cNvPr id="9" name="Text 7"/>
          <p:cNvSpPr txBox="1"/>
          <p:nvPr/>
        </p:nvSpPr>
        <p:spPr>
          <a:xfrm>
            <a:off x="4480560" y="2011680"/>
            <a:ext cx="118872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z = wx</a:t>
            </a:r>
            <a:endParaRPr lang="en-US" sz="1300" dirty="0"/>
          </a:p>
        </p:txBody>
      </p:sp>
      <p:sp>
        <p:nvSpPr>
          <p:cNvPr id="10" name="Shape 8"/>
          <p:cNvSpPr/>
          <p:nvPr/>
        </p:nvSpPr>
        <p:spPr>
          <a:xfrm>
            <a:off x="6217920" y="2011680"/>
            <a:ext cx="1188720" cy="502920"/>
          </a:xfrm>
          <a:prstGeom prst="roundRect">
            <a:avLst>
              <a:gd name="adj" fmla="val 10909"/>
            </a:avLst>
          </a:prstGeom>
          <a:solidFill>
            <a:srgbClr val="FBEEEC"/>
          </a:solidFill>
          <a:ln w="15875">
            <a:solidFill>
              <a:srgbClr val="BE3C32"/>
            </a:solidFill>
            <a:prstDash val="solid"/>
          </a:ln>
        </p:spPr>
      </p:sp>
      <p:sp>
        <p:nvSpPr>
          <p:cNvPr id="11" name="Text 9"/>
          <p:cNvSpPr txBox="1"/>
          <p:nvPr/>
        </p:nvSpPr>
        <p:spPr>
          <a:xfrm>
            <a:off x="6217920" y="2011680"/>
            <a:ext cx="1188720" cy="502920"/>
          </a:xfrm>
          <a:prstGeom prst="rect">
            <a:avLst/>
          </a:prstGeom>
          <a:noFill/>
          <a:ln/>
        </p:spPr>
        <p:txBody>
          <a:bodyPr wrap="square" lIns="0" tIns="0" rIns="0" bIns="0" rtlCol="0" anchor="ctr"/>
          <a:lstStyle/>
          <a:p>
            <a:pPr algn="ctr" indent="0" marL="0">
              <a:buNone/>
            </a:pPr>
            <a:r>
              <a:rPr lang="en-US" sz="1300" dirty="0">
                <a:solidFill>
                  <a:srgbClr val="1A2238"/>
                </a:solidFill>
                <a:latin typeface="Cambria Math" pitchFamily="34" charset="0"/>
                <a:ea typeface="Cambria Math" pitchFamily="34" charset="-122"/>
                <a:cs typeface="Cambria Math" pitchFamily="34" charset="-120"/>
              </a:rPr>
              <a:t>y = z²</a:t>
            </a:r>
            <a:endParaRPr lang="en-US" sz="1300" dirty="0"/>
          </a:p>
        </p:txBody>
      </p:sp>
      <p:sp>
        <p:nvSpPr>
          <p:cNvPr id="12" name="Shape 10"/>
          <p:cNvSpPr/>
          <p:nvPr/>
        </p:nvSpPr>
        <p:spPr>
          <a:xfrm>
            <a:off x="2194560" y="2263140"/>
            <a:ext cx="2286000" cy="0"/>
          </a:xfrm>
          <a:prstGeom prst="line">
            <a:avLst/>
          </a:prstGeom>
          <a:noFill/>
          <a:ln w="25400">
            <a:solidFill>
              <a:srgbClr val="285AB4"/>
            </a:solidFill>
            <a:prstDash val="solid"/>
            <a:tailEnd type="triangle"/>
          </a:ln>
        </p:spPr>
      </p:sp>
      <p:sp>
        <p:nvSpPr>
          <p:cNvPr id="13" name="Shape 11"/>
          <p:cNvSpPr/>
          <p:nvPr/>
        </p:nvSpPr>
        <p:spPr>
          <a:xfrm>
            <a:off x="3337560" y="2514600"/>
            <a:ext cx="1737360" cy="320040"/>
          </a:xfrm>
          <a:prstGeom prst="line">
            <a:avLst/>
          </a:prstGeom>
          <a:noFill/>
          <a:ln w="25400">
            <a:solidFill>
              <a:srgbClr val="285AB4"/>
            </a:solidFill>
            <a:prstDash val="solid"/>
            <a:headEnd type="triangle"/>
          </a:ln>
        </p:spPr>
      </p:sp>
      <p:sp>
        <p:nvSpPr>
          <p:cNvPr id="14" name="Shape 12"/>
          <p:cNvSpPr/>
          <p:nvPr/>
        </p:nvSpPr>
        <p:spPr>
          <a:xfrm>
            <a:off x="5669280" y="2263140"/>
            <a:ext cx="548640" cy="0"/>
          </a:xfrm>
          <a:prstGeom prst="line">
            <a:avLst/>
          </a:prstGeom>
          <a:noFill/>
          <a:ln w="25400">
            <a:solidFill>
              <a:srgbClr val="285AB4"/>
            </a:solidFill>
            <a:prstDash val="solid"/>
            <a:tailEnd type="triangle"/>
          </a:ln>
        </p:spPr>
      </p:sp>
      <p:sp>
        <p:nvSpPr>
          <p:cNvPr id="15" name="Text 13"/>
          <p:cNvSpPr txBox="1"/>
          <p:nvPr/>
        </p:nvSpPr>
        <p:spPr>
          <a:xfrm>
            <a:off x="640080" y="3566160"/>
            <a:ext cx="10911535" cy="365760"/>
          </a:xfrm>
          <a:prstGeom prst="rect">
            <a:avLst/>
          </a:prstGeom>
          <a:noFill/>
          <a:ln/>
        </p:spPr>
        <p:txBody>
          <a:bodyPr wrap="square" lIns="0" tIns="0" rIns="0" bIns="0" rtlCol="0" anchor="ctr"/>
          <a:lstStyle/>
          <a:p>
            <a:pPr indent="0" marL="0">
              <a:buNone/>
            </a:pPr>
            <a:r>
              <a:rPr lang="en-US" sz="1550" dirty="0">
                <a:solidFill>
                  <a:srgbClr val="1A2238"/>
                </a:solidFill>
                <a:latin typeface="Cambria Math" pitchFamily="34" charset="0"/>
                <a:ea typeface="Cambria Math" pitchFamily="34" charset="-122"/>
                <a:cs typeface="Cambria Math" pitchFamily="34" charset="-120"/>
              </a:rPr>
              <a:t>Forward:  z = 3×2 = 6      y = 6² = 36</a:t>
            </a:r>
            <a:endParaRPr lang="en-US" sz="1550" dirty="0"/>
          </a:p>
        </p:txBody>
      </p:sp>
      <p:sp>
        <p:nvSpPr>
          <p:cNvPr id="16" name="Shape 14"/>
          <p:cNvSpPr/>
          <p:nvPr/>
        </p:nvSpPr>
        <p:spPr>
          <a:xfrm>
            <a:off x="5074920" y="2560320"/>
            <a:ext cx="1737360" cy="457200"/>
          </a:xfrm>
          <a:prstGeom prst="line">
            <a:avLst/>
          </a:prstGeom>
          <a:noFill/>
          <a:ln w="28575">
            <a:solidFill>
              <a:srgbClr val="BE3C32"/>
            </a:solidFill>
            <a:prstDash val="dash"/>
            <a:headEnd type="triangle"/>
          </a:ln>
        </p:spPr>
      </p:sp>
      <p:sp>
        <p:nvSpPr>
          <p:cNvPr id="17" name="Shape 15"/>
          <p:cNvSpPr/>
          <p:nvPr/>
        </p:nvSpPr>
        <p:spPr>
          <a:xfrm>
            <a:off x="3337560" y="3017520"/>
            <a:ext cx="1737360" cy="320040"/>
          </a:xfrm>
          <a:prstGeom prst="line">
            <a:avLst/>
          </a:prstGeom>
          <a:noFill/>
          <a:ln w="28575">
            <a:solidFill>
              <a:srgbClr val="BE3C32"/>
            </a:solidFill>
            <a:prstDash val="dash"/>
            <a:headEnd type="triangle"/>
          </a:ln>
        </p:spPr>
      </p:sp>
      <p:sp>
        <p:nvSpPr>
          <p:cNvPr id="18" name="Shape 16"/>
          <p:cNvSpPr/>
          <p:nvPr/>
        </p:nvSpPr>
        <p:spPr>
          <a:xfrm>
            <a:off x="640080" y="4480560"/>
            <a:ext cx="10911535" cy="914400"/>
          </a:xfrm>
          <a:prstGeom prst="roundRect">
            <a:avLst>
              <a:gd name="adj" fmla="val 8000"/>
            </a:avLst>
          </a:prstGeom>
          <a:solidFill>
            <a:srgbClr val="FBEEEC"/>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19" name="Text 17"/>
          <p:cNvSpPr txBox="1"/>
          <p:nvPr/>
        </p:nvSpPr>
        <p:spPr>
          <a:xfrm>
            <a:off x="868680" y="4480560"/>
            <a:ext cx="10454335" cy="914400"/>
          </a:xfrm>
          <a:prstGeom prst="rect">
            <a:avLst/>
          </a:prstGeom>
          <a:noFill/>
          <a:ln/>
        </p:spPr>
        <p:txBody>
          <a:bodyPr wrap="square" lIns="0" tIns="0" rIns="0" bIns="0" rtlCol="0" anchor="ctr"/>
          <a:lstStyle/>
          <a:p>
            <a:pPr algn="ctr" indent="0" marL="0">
              <a:buNone/>
            </a:pPr>
            <a:r>
              <a:rPr lang="en-US" sz="1700" dirty="0">
                <a:solidFill>
                  <a:srgbClr val="BE3C32"/>
                </a:solidFill>
                <a:latin typeface="Cambria Math" pitchFamily="34" charset="0"/>
                <a:ea typeface="Cambria Math" pitchFamily="34" charset="-122"/>
                <a:cs typeface="Cambria Math" pitchFamily="34" charset="-120"/>
              </a:rPr>
              <a:t>∂y/∂z = 2z = 12          ∂z/∂w = x = 2          ⇒  ∂y/∂w = 12 × 2 = 24</a:t>
            </a:r>
            <a:endParaRPr lang="en-US" sz="1700" dirty="0"/>
          </a:p>
        </p:txBody>
      </p:sp>
      <p:sp>
        <p:nvSpPr>
          <p:cNvPr id="20" name="Text 18"/>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8/29</a:t>
            </a:r>
            <a:endParaRPr lang="en-US" sz="900" dirty="0"/>
          </a:p>
        </p:txBody>
      </p:sp>
      <p:sp>
        <p:nvSpPr>
          <p:cNvPr id="21" name="Shape 19"/>
          <p:cNvSpPr/>
          <p:nvPr/>
        </p:nvSpPr>
        <p:spPr>
          <a:xfrm>
            <a:off x="595503" y="6459093"/>
            <a:ext cx="89154" cy="89154"/>
          </a:xfrm>
          <a:prstGeom prst="ellipse">
            <a:avLst/>
          </a:prstGeom>
          <a:solidFill>
            <a:srgbClr val="285AB4"/>
          </a:solidFill>
          <a:ln/>
        </p:spPr>
      </p:sp>
      <p:sp>
        <p:nvSpPr>
          <p:cNvPr id="22" name="Shape 20"/>
          <p:cNvSpPr/>
          <p:nvPr/>
        </p:nvSpPr>
        <p:spPr>
          <a:xfrm>
            <a:off x="829818" y="6473952"/>
            <a:ext cx="59436" cy="59436"/>
          </a:xfrm>
          <a:prstGeom prst="ellipse">
            <a:avLst/>
          </a:prstGeom>
          <a:solidFill>
            <a:srgbClr val="D9DEE8"/>
          </a:solidFill>
          <a:ln/>
        </p:spPr>
      </p:sp>
      <p:sp>
        <p:nvSpPr>
          <p:cNvPr id="23" name="Shape 21"/>
          <p:cNvSpPr/>
          <p:nvPr/>
        </p:nvSpPr>
        <p:spPr>
          <a:xfrm>
            <a:off x="1049274" y="6473952"/>
            <a:ext cx="59436" cy="59436"/>
          </a:xfrm>
          <a:prstGeom prst="ellipse">
            <a:avLst/>
          </a:prstGeom>
          <a:solidFill>
            <a:srgbClr val="D9DEE8"/>
          </a:solidFill>
          <a:ln/>
        </p:spPr>
      </p:sp>
      <p:sp>
        <p:nvSpPr>
          <p:cNvPr id="24" name="Shape 22"/>
          <p:cNvSpPr/>
          <p:nvPr/>
        </p:nvSpPr>
        <p:spPr>
          <a:xfrm>
            <a:off x="1268730" y="6473952"/>
            <a:ext cx="59436" cy="59436"/>
          </a:xfrm>
          <a:prstGeom prst="ellipse">
            <a:avLst/>
          </a:prstGeom>
          <a:solidFill>
            <a:srgbClr val="D9DEE8"/>
          </a:solidFill>
          <a:ln/>
        </p:spPr>
      </p:sp>
      <p:sp>
        <p:nvSpPr>
          <p:cNvPr id="25" name="Text 23"/>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BACKPROPAGATION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Multi-layer Backpropagation</a:t>
            </a:r>
            <a:endParaRPr lang="en-US" sz="2900" dirty="0"/>
          </a:p>
        </p:txBody>
      </p:sp>
      <p:sp>
        <p:nvSpPr>
          <p:cNvPr id="4" name="Shape 2"/>
          <p:cNvSpPr/>
          <p:nvPr/>
        </p:nvSpPr>
        <p:spPr>
          <a:xfrm>
            <a:off x="914400" y="1691640"/>
            <a:ext cx="1371600" cy="384048"/>
          </a:xfrm>
          <a:prstGeom prst="roundRect">
            <a:avLst>
              <a:gd name="adj" fmla="val 14286"/>
            </a:avLst>
          </a:prstGeom>
          <a:solidFill>
            <a:srgbClr val="F1F4F9"/>
          </a:solidFill>
          <a:ln w="15875">
            <a:solidFill>
              <a:srgbClr val="D9DEE8"/>
            </a:solidFill>
            <a:prstDash val="solid"/>
          </a:ln>
        </p:spPr>
      </p:sp>
      <p:sp>
        <p:nvSpPr>
          <p:cNvPr id="5" name="Text 3"/>
          <p:cNvSpPr txBox="1"/>
          <p:nvPr/>
        </p:nvSpPr>
        <p:spPr>
          <a:xfrm>
            <a:off x="914400" y="169164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x</a:t>
            </a:r>
            <a:endParaRPr lang="en-US" sz="1250" dirty="0"/>
          </a:p>
        </p:txBody>
      </p:sp>
      <p:sp>
        <p:nvSpPr>
          <p:cNvPr id="6" name="Shape 4"/>
          <p:cNvSpPr/>
          <p:nvPr/>
        </p:nvSpPr>
        <p:spPr>
          <a:xfrm>
            <a:off x="1600200" y="2075688"/>
            <a:ext cx="0" cy="164592"/>
          </a:xfrm>
          <a:prstGeom prst="line">
            <a:avLst/>
          </a:prstGeom>
          <a:noFill/>
          <a:ln w="22860">
            <a:solidFill>
              <a:srgbClr val="285AB4"/>
            </a:solidFill>
            <a:prstDash val="solid"/>
            <a:tailEnd type="triangle"/>
          </a:ln>
        </p:spPr>
      </p:sp>
      <p:sp>
        <p:nvSpPr>
          <p:cNvPr id="7" name="Shape 5"/>
          <p:cNvSpPr/>
          <p:nvPr/>
        </p:nvSpPr>
        <p:spPr>
          <a:xfrm>
            <a:off x="914400" y="2240280"/>
            <a:ext cx="1371600" cy="384048"/>
          </a:xfrm>
          <a:prstGeom prst="roundRect">
            <a:avLst>
              <a:gd name="adj" fmla="val 14286"/>
            </a:avLst>
          </a:prstGeom>
          <a:solidFill>
            <a:srgbClr val="F1F4F9"/>
          </a:solidFill>
          <a:ln w="15875">
            <a:solidFill>
              <a:srgbClr val="D9DEE8"/>
            </a:solidFill>
            <a:prstDash val="solid"/>
          </a:ln>
        </p:spPr>
      </p:sp>
      <p:sp>
        <p:nvSpPr>
          <p:cNvPr id="8" name="Text 6"/>
          <p:cNvSpPr txBox="1"/>
          <p:nvPr/>
        </p:nvSpPr>
        <p:spPr>
          <a:xfrm>
            <a:off x="914400" y="224028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W₁</a:t>
            </a:r>
            <a:endParaRPr lang="en-US" sz="1250" dirty="0"/>
          </a:p>
        </p:txBody>
      </p:sp>
      <p:sp>
        <p:nvSpPr>
          <p:cNvPr id="9" name="Shape 7"/>
          <p:cNvSpPr/>
          <p:nvPr/>
        </p:nvSpPr>
        <p:spPr>
          <a:xfrm>
            <a:off x="1600200" y="2624328"/>
            <a:ext cx="0" cy="164592"/>
          </a:xfrm>
          <a:prstGeom prst="line">
            <a:avLst/>
          </a:prstGeom>
          <a:noFill/>
          <a:ln w="22860">
            <a:solidFill>
              <a:srgbClr val="285AB4"/>
            </a:solidFill>
            <a:prstDash val="solid"/>
            <a:tailEnd type="triangle"/>
          </a:ln>
        </p:spPr>
      </p:sp>
      <p:sp>
        <p:nvSpPr>
          <p:cNvPr id="10" name="Shape 8"/>
          <p:cNvSpPr/>
          <p:nvPr/>
        </p:nvSpPr>
        <p:spPr>
          <a:xfrm>
            <a:off x="914400" y="2788920"/>
            <a:ext cx="1371600" cy="384048"/>
          </a:xfrm>
          <a:prstGeom prst="roundRect">
            <a:avLst>
              <a:gd name="adj" fmla="val 14286"/>
            </a:avLst>
          </a:prstGeom>
          <a:solidFill>
            <a:srgbClr val="F1F4F9"/>
          </a:solidFill>
          <a:ln w="15875">
            <a:solidFill>
              <a:srgbClr val="D9DEE8"/>
            </a:solidFill>
            <a:prstDash val="solid"/>
          </a:ln>
        </p:spPr>
      </p:sp>
      <p:sp>
        <p:nvSpPr>
          <p:cNvPr id="11" name="Text 9"/>
          <p:cNvSpPr txBox="1"/>
          <p:nvPr/>
        </p:nvSpPr>
        <p:spPr>
          <a:xfrm>
            <a:off x="914400" y="278892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h₁</a:t>
            </a:r>
            <a:endParaRPr lang="en-US" sz="1250" dirty="0"/>
          </a:p>
        </p:txBody>
      </p:sp>
      <p:sp>
        <p:nvSpPr>
          <p:cNvPr id="12" name="Shape 10"/>
          <p:cNvSpPr/>
          <p:nvPr/>
        </p:nvSpPr>
        <p:spPr>
          <a:xfrm>
            <a:off x="1600200" y="3172968"/>
            <a:ext cx="0" cy="164592"/>
          </a:xfrm>
          <a:prstGeom prst="line">
            <a:avLst/>
          </a:prstGeom>
          <a:noFill/>
          <a:ln w="22860">
            <a:solidFill>
              <a:srgbClr val="285AB4"/>
            </a:solidFill>
            <a:prstDash val="solid"/>
            <a:tailEnd type="triangle"/>
          </a:ln>
        </p:spPr>
      </p:sp>
      <p:sp>
        <p:nvSpPr>
          <p:cNvPr id="13" name="Shape 11"/>
          <p:cNvSpPr/>
          <p:nvPr/>
        </p:nvSpPr>
        <p:spPr>
          <a:xfrm>
            <a:off x="914400" y="3337560"/>
            <a:ext cx="1371600" cy="384048"/>
          </a:xfrm>
          <a:prstGeom prst="roundRect">
            <a:avLst>
              <a:gd name="adj" fmla="val 14286"/>
            </a:avLst>
          </a:prstGeom>
          <a:solidFill>
            <a:srgbClr val="F1F4F9"/>
          </a:solidFill>
          <a:ln w="15875">
            <a:solidFill>
              <a:srgbClr val="D9DEE8"/>
            </a:solidFill>
            <a:prstDash val="solid"/>
          </a:ln>
        </p:spPr>
      </p:sp>
      <p:sp>
        <p:nvSpPr>
          <p:cNvPr id="14" name="Text 12"/>
          <p:cNvSpPr txBox="1"/>
          <p:nvPr/>
        </p:nvSpPr>
        <p:spPr>
          <a:xfrm>
            <a:off x="914400" y="333756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W₂</a:t>
            </a:r>
            <a:endParaRPr lang="en-US" sz="1250" dirty="0"/>
          </a:p>
        </p:txBody>
      </p:sp>
      <p:sp>
        <p:nvSpPr>
          <p:cNvPr id="15" name="Shape 13"/>
          <p:cNvSpPr/>
          <p:nvPr/>
        </p:nvSpPr>
        <p:spPr>
          <a:xfrm>
            <a:off x="1600200" y="3721608"/>
            <a:ext cx="0" cy="164592"/>
          </a:xfrm>
          <a:prstGeom prst="line">
            <a:avLst/>
          </a:prstGeom>
          <a:noFill/>
          <a:ln w="22860">
            <a:solidFill>
              <a:srgbClr val="285AB4"/>
            </a:solidFill>
            <a:prstDash val="solid"/>
            <a:tailEnd type="triangle"/>
          </a:ln>
        </p:spPr>
      </p:sp>
      <p:sp>
        <p:nvSpPr>
          <p:cNvPr id="16" name="Shape 14"/>
          <p:cNvSpPr/>
          <p:nvPr/>
        </p:nvSpPr>
        <p:spPr>
          <a:xfrm>
            <a:off x="914400" y="3886200"/>
            <a:ext cx="1371600" cy="384048"/>
          </a:xfrm>
          <a:prstGeom prst="roundRect">
            <a:avLst>
              <a:gd name="adj" fmla="val 14286"/>
            </a:avLst>
          </a:prstGeom>
          <a:solidFill>
            <a:srgbClr val="F1F4F9"/>
          </a:solidFill>
          <a:ln w="15875">
            <a:solidFill>
              <a:srgbClr val="D9DEE8"/>
            </a:solidFill>
            <a:prstDash val="solid"/>
          </a:ln>
        </p:spPr>
      </p:sp>
      <p:sp>
        <p:nvSpPr>
          <p:cNvPr id="17" name="Text 15"/>
          <p:cNvSpPr txBox="1"/>
          <p:nvPr/>
        </p:nvSpPr>
        <p:spPr>
          <a:xfrm>
            <a:off x="914400" y="388620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h₂</a:t>
            </a:r>
            <a:endParaRPr lang="en-US" sz="1250" dirty="0"/>
          </a:p>
        </p:txBody>
      </p:sp>
      <p:sp>
        <p:nvSpPr>
          <p:cNvPr id="18" name="Shape 16"/>
          <p:cNvSpPr/>
          <p:nvPr/>
        </p:nvSpPr>
        <p:spPr>
          <a:xfrm>
            <a:off x="1600200" y="4270248"/>
            <a:ext cx="0" cy="164592"/>
          </a:xfrm>
          <a:prstGeom prst="line">
            <a:avLst/>
          </a:prstGeom>
          <a:noFill/>
          <a:ln w="22860">
            <a:solidFill>
              <a:srgbClr val="285AB4"/>
            </a:solidFill>
            <a:prstDash val="solid"/>
            <a:tailEnd type="triangle"/>
          </a:ln>
        </p:spPr>
      </p:sp>
      <p:sp>
        <p:nvSpPr>
          <p:cNvPr id="19" name="Shape 17"/>
          <p:cNvSpPr/>
          <p:nvPr/>
        </p:nvSpPr>
        <p:spPr>
          <a:xfrm>
            <a:off x="914400" y="4434840"/>
            <a:ext cx="1371600" cy="384048"/>
          </a:xfrm>
          <a:prstGeom prst="roundRect">
            <a:avLst>
              <a:gd name="adj" fmla="val 14286"/>
            </a:avLst>
          </a:prstGeom>
          <a:solidFill>
            <a:srgbClr val="F1F4F9"/>
          </a:solidFill>
          <a:ln w="15875">
            <a:solidFill>
              <a:srgbClr val="D9DEE8"/>
            </a:solidFill>
            <a:prstDash val="solid"/>
          </a:ln>
        </p:spPr>
      </p:sp>
      <p:sp>
        <p:nvSpPr>
          <p:cNvPr id="20" name="Text 18"/>
          <p:cNvSpPr txBox="1"/>
          <p:nvPr/>
        </p:nvSpPr>
        <p:spPr>
          <a:xfrm>
            <a:off x="914400" y="443484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W₃</a:t>
            </a:r>
            <a:endParaRPr lang="en-US" sz="1250" dirty="0"/>
          </a:p>
        </p:txBody>
      </p:sp>
      <p:sp>
        <p:nvSpPr>
          <p:cNvPr id="21" name="Shape 19"/>
          <p:cNvSpPr/>
          <p:nvPr/>
        </p:nvSpPr>
        <p:spPr>
          <a:xfrm>
            <a:off x="1600200" y="4818888"/>
            <a:ext cx="0" cy="164592"/>
          </a:xfrm>
          <a:prstGeom prst="line">
            <a:avLst/>
          </a:prstGeom>
          <a:noFill/>
          <a:ln w="22860">
            <a:solidFill>
              <a:srgbClr val="285AB4"/>
            </a:solidFill>
            <a:prstDash val="solid"/>
            <a:tailEnd type="triangle"/>
          </a:ln>
        </p:spPr>
      </p:sp>
      <p:sp>
        <p:nvSpPr>
          <p:cNvPr id="22" name="Shape 20"/>
          <p:cNvSpPr/>
          <p:nvPr/>
        </p:nvSpPr>
        <p:spPr>
          <a:xfrm>
            <a:off x="914400" y="4983480"/>
            <a:ext cx="1371600" cy="384048"/>
          </a:xfrm>
          <a:prstGeom prst="roundRect">
            <a:avLst>
              <a:gd name="adj" fmla="val 14286"/>
            </a:avLst>
          </a:prstGeom>
          <a:solidFill>
            <a:srgbClr val="F1F4F9"/>
          </a:solidFill>
          <a:ln w="15875">
            <a:solidFill>
              <a:srgbClr val="D9DEE8"/>
            </a:solidFill>
            <a:prstDash val="solid"/>
          </a:ln>
        </p:spPr>
      </p:sp>
      <p:sp>
        <p:nvSpPr>
          <p:cNvPr id="23" name="Text 21"/>
          <p:cNvSpPr txBox="1"/>
          <p:nvPr/>
        </p:nvSpPr>
        <p:spPr>
          <a:xfrm>
            <a:off x="914400" y="498348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ŷ</a:t>
            </a:r>
            <a:endParaRPr lang="en-US" sz="1250" dirty="0"/>
          </a:p>
        </p:txBody>
      </p:sp>
      <p:sp>
        <p:nvSpPr>
          <p:cNvPr id="24" name="Shape 22"/>
          <p:cNvSpPr/>
          <p:nvPr/>
        </p:nvSpPr>
        <p:spPr>
          <a:xfrm>
            <a:off x="1600200" y="5367528"/>
            <a:ext cx="0" cy="164592"/>
          </a:xfrm>
          <a:prstGeom prst="line">
            <a:avLst/>
          </a:prstGeom>
          <a:noFill/>
          <a:ln w="22860">
            <a:solidFill>
              <a:srgbClr val="285AB4"/>
            </a:solidFill>
            <a:prstDash val="solid"/>
            <a:tailEnd type="triangle"/>
          </a:ln>
        </p:spPr>
      </p:sp>
      <p:sp>
        <p:nvSpPr>
          <p:cNvPr id="25" name="Shape 23"/>
          <p:cNvSpPr/>
          <p:nvPr/>
        </p:nvSpPr>
        <p:spPr>
          <a:xfrm>
            <a:off x="914400" y="5532120"/>
            <a:ext cx="1371600" cy="384048"/>
          </a:xfrm>
          <a:prstGeom prst="roundRect">
            <a:avLst>
              <a:gd name="adj" fmla="val 14286"/>
            </a:avLst>
          </a:prstGeom>
          <a:solidFill>
            <a:srgbClr val="FBEEEC"/>
          </a:solidFill>
          <a:ln w="15875">
            <a:solidFill>
              <a:srgbClr val="BE3C32"/>
            </a:solidFill>
            <a:prstDash val="solid"/>
          </a:ln>
        </p:spPr>
      </p:sp>
      <p:sp>
        <p:nvSpPr>
          <p:cNvPr id="26" name="Text 24"/>
          <p:cNvSpPr txBox="1"/>
          <p:nvPr/>
        </p:nvSpPr>
        <p:spPr>
          <a:xfrm>
            <a:off x="914400" y="5532120"/>
            <a:ext cx="137160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Loss</a:t>
            </a:r>
            <a:endParaRPr lang="en-US" sz="1250" dirty="0"/>
          </a:p>
        </p:txBody>
      </p:sp>
      <p:sp>
        <p:nvSpPr>
          <p:cNvPr id="27" name="Shape 25"/>
          <p:cNvSpPr/>
          <p:nvPr/>
        </p:nvSpPr>
        <p:spPr>
          <a:xfrm>
            <a:off x="3931920" y="1691640"/>
            <a:ext cx="1645920" cy="384048"/>
          </a:xfrm>
          <a:prstGeom prst="roundRect">
            <a:avLst>
              <a:gd name="adj" fmla="val 14286"/>
            </a:avLst>
          </a:prstGeom>
          <a:solidFill>
            <a:srgbClr val="FBEEEC"/>
          </a:solidFill>
          <a:ln w="15875">
            <a:solidFill>
              <a:srgbClr val="BE3C32"/>
            </a:solidFill>
            <a:prstDash val="solid"/>
          </a:ln>
        </p:spPr>
      </p:sp>
      <p:sp>
        <p:nvSpPr>
          <p:cNvPr id="28" name="Text 26"/>
          <p:cNvSpPr txBox="1"/>
          <p:nvPr/>
        </p:nvSpPr>
        <p:spPr>
          <a:xfrm>
            <a:off x="3931920" y="1691640"/>
            <a:ext cx="164592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Loss</a:t>
            </a:r>
            <a:endParaRPr lang="en-US" sz="1250" dirty="0"/>
          </a:p>
        </p:txBody>
      </p:sp>
      <p:sp>
        <p:nvSpPr>
          <p:cNvPr id="29" name="Shape 27"/>
          <p:cNvSpPr/>
          <p:nvPr/>
        </p:nvSpPr>
        <p:spPr>
          <a:xfrm>
            <a:off x="4754880" y="2075688"/>
            <a:ext cx="0" cy="896112"/>
          </a:xfrm>
          <a:prstGeom prst="line">
            <a:avLst/>
          </a:prstGeom>
          <a:noFill/>
          <a:ln w="22860">
            <a:solidFill>
              <a:srgbClr val="BE3C32"/>
            </a:solidFill>
            <a:prstDash val="solid"/>
            <a:tailEnd type="triangle"/>
          </a:ln>
        </p:spPr>
      </p:sp>
      <p:sp>
        <p:nvSpPr>
          <p:cNvPr id="30" name="Shape 28"/>
          <p:cNvSpPr/>
          <p:nvPr/>
        </p:nvSpPr>
        <p:spPr>
          <a:xfrm>
            <a:off x="3931920" y="2971800"/>
            <a:ext cx="1645920" cy="384048"/>
          </a:xfrm>
          <a:prstGeom prst="roundRect">
            <a:avLst>
              <a:gd name="adj" fmla="val 14286"/>
            </a:avLst>
          </a:prstGeom>
          <a:solidFill>
            <a:srgbClr val="EAF0FB"/>
          </a:solidFill>
          <a:ln w="15875">
            <a:solidFill>
              <a:srgbClr val="285AB4"/>
            </a:solidFill>
            <a:prstDash val="solid"/>
          </a:ln>
        </p:spPr>
      </p:sp>
      <p:sp>
        <p:nvSpPr>
          <p:cNvPr id="31" name="Text 29"/>
          <p:cNvSpPr txBox="1"/>
          <p:nvPr/>
        </p:nvSpPr>
        <p:spPr>
          <a:xfrm>
            <a:off x="3931920" y="2971800"/>
            <a:ext cx="164592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∇W₃</a:t>
            </a:r>
            <a:endParaRPr lang="en-US" sz="1250" dirty="0"/>
          </a:p>
        </p:txBody>
      </p:sp>
      <p:sp>
        <p:nvSpPr>
          <p:cNvPr id="32" name="Shape 30"/>
          <p:cNvSpPr/>
          <p:nvPr/>
        </p:nvSpPr>
        <p:spPr>
          <a:xfrm>
            <a:off x="4754880" y="3355848"/>
            <a:ext cx="0" cy="896112"/>
          </a:xfrm>
          <a:prstGeom prst="line">
            <a:avLst/>
          </a:prstGeom>
          <a:noFill/>
          <a:ln w="22860">
            <a:solidFill>
              <a:srgbClr val="BE3C32"/>
            </a:solidFill>
            <a:prstDash val="solid"/>
            <a:tailEnd type="triangle"/>
          </a:ln>
        </p:spPr>
      </p:sp>
      <p:sp>
        <p:nvSpPr>
          <p:cNvPr id="33" name="Shape 31"/>
          <p:cNvSpPr/>
          <p:nvPr/>
        </p:nvSpPr>
        <p:spPr>
          <a:xfrm>
            <a:off x="3931920" y="4251960"/>
            <a:ext cx="1645920" cy="384048"/>
          </a:xfrm>
          <a:prstGeom prst="roundRect">
            <a:avLst>
              <a:gd name="adj" fmla="val 14286"/>
            </a:avLst>
          </a:prstGeom>
          <a:solidFill>
            <a:srgbClr val="EAF0FB"/>
          </a:solidFill>
          <a:ln w="15875">
            <a:solidFill>
              <a:srgbClr val="285AB4"/>
            </a:solidFill>
            <a:prstDash val="solid"/>
          </a:ln>
        </p:spPr>
      </p:sp>
      <p:sp>
        <p:nvSpPr>
          <p:cNvPr id="34" name="Text 32"/>
          <p:cNvSpPr txBox="1"/>
          <p:nvPr/>
        </p:nvSpPr>
        <p:spPr>
          <a:xfrm>
            <a:off x="3931920" y="4251960"/>
            <a:ext cx="164592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∇W₂</a:t>
            </a:r>
            <a:endParaRPr lang="en-US" sz="1250" dirty="0"/>
          </a:p>
        </p:txBody>
      </p:sp>
      <p:sp>
        <p:nvSpPr>
          <p:cNvPr id="35" name="Shape 33"/>
          <p:cNvSpPr/>
          <p:nvPr/>
        </p:nvSpPr>
        <p:spPr>
          <a:xfrm>
            <a:off x="4754880" y="4636008"/>
            <a:ext cx="0" cy="896112"/>
          </a:xfrm>
          <a:prstGeom prst="line">
            <a:avLst/>
          </a:prstGeom>
          <a:noFill/>
          <a:ln w="22860">
            <a:solidFill>
              <a:srgbClr val="BE3C32"/>
            </a:solidFill>
            <a:prstDash val="solid"/>
            <a:tailEnd type="triangle"/>
          </a:ln>
        </p:spPr>
      </p:sp>
      <p:sp>
        <p:nvSpPr>
          <p:cNvPr id="36" name="Shape 34"/>
          <p:cNvSpPr/>
          <p:nvPr/>
        </p:nvSpPr>
        <p:spPr>
          <a:xfrm>
            <a:off x="3931920" y="5532120"/>
            <a:ext cx="1645920" cy="384048"/>
          </a:xfrm>
          <a:prstGeom prst="roundRect">
            <a:avLst>
              <a:gd name="adj" fmla="val 14286"/>
            </a:avLst>
          </a:prstGeom>
          <a:solidFill>
            <a:srgbClr val="EAF0FB"/>
          </a:solidFill>
          <a:ln w="15875">
            <a:solidFill>
              <a:srgbClr val="285AB4"/>
            </a:solidFill>
            <a:prstDash val="solid"/>
          </a:ln>
        </p:spPr>
      </p:sp>
      <p:sp>
        <p:nvSpPr>
          <p:cNvPr id="37" name="Text 35"/>
          <p:cNvSpPr txBox="1"/>
          <p:nvPr/>
        </p:nvSpPr>
        <p:spPr>
          <a:xfrm>
            <a:off x="3931920" y="5532120"/>
            <a:ext cx="1645920" cy="384048"/>
          </a:xfrm>
          <a:prstGeom prst="rect">
            <a:avLst/>
          </a:prstGeom>
          <a:noFill/>
          <a:ln/>
        </p:spPr>
        <p:txBody>
          <a:bodyPr wrap="square" lIns="0" tIns="0" rIns="0" bIns="0" rtlCol="0" anchor="ctr"/>
          <a:lstStyle/>
          <a:p>
            <a:pPr algn="ctr" indent="0" marL="0">
              <a:buNone/>
            </a:pPr>
            <a:r>
              <a:rPr lang="en-US" sz="1250" dirty="0">
                <a:solidFill>
                  <a:srgbClr val="1A2238"/>
                </a:solidFill>
                <a:latin typeface="Cambria Math" pitchFamily="34" charset="0"/>
                <a:ea typeface="Cambria Math" pitchFamily="34" charset="-122"/>
                <a:cs typeface="Cambria Math" pitchFamily="34" charset="-120"/>
              </a:rPr>
              <a:t>∇W₁</a:t>
            </a:r>
            <a:endParaRPr lang="en-US" sz="1250" dirty="0"/>
          </a:p>
        </p:txBody>
      </p:sp>
      <p:sp>
        <p:nvSpPr>
          <p:cNvPr id="38" name="Text 36"/>
          <p:cNvSpPr txBox="1"/>
          <p:nvPr/>
        </p:nvSpPr>
        <p:spPr>
          <a:xfrm>
            <a:off x="6035040" y="1965960"/>
            <a:ext cx="5516575" cy="2377440"/>
          </a:xfrm>
          <a:prstGeom prst="rect">
            <a:avLst/>
          </a:prstGeom>
          <a:noFill/>
          <a:ln/>
        </p:spPr>
        <p:txBody>
          <a:bodyPr wrap="square" lIns="0" tIns="0" rIns="0" bIns="0" rtlCol="0" anchor="t"/>
          <a:lstStyle/>
          <a:p>
            <a:pPr marL="228600" indent="-228600">
              <a:spcAft>
                <a:spcPts val="1400"/>
              </a:spcAft>
              <a:buSzPct val="100000"/>
              <a:buChar char="▪"/>
            </a:pPr>
            <a:r>
              <a:rPr lang="en-US" sz="1550" dirty="0">
                <a:solidFill>
                  <a:srgbClr val="1A2238"/>
                </a:solidFill>
                <a:latin typeface="Calibri" pitchFamily="34" charset="0"/>
                <a:ea typeface="Calibri" pitchFamily="34" charset="-122"/>
                <a:cs typeface="Calibri" pitchFamily="34" charset="-120"/>
              </a:rPr>
              <a:t>Gradient của lớp CÀNG GẦN INPUT phụ thuộc vào TÍCH của CÀNG NHIỀU đạo hàm cục bộ</a:t>
            </a:r>
            <a:endParaRPr lang="en-US" sz="1550" dirty="0"/>
          </a:p>
          <a:p>
            <a:pPr marL="228600" indent="-228600">
              <a:spcAft>
                <a:spcPts val="1400"/>
              </a:spcAft>
              <a:buSzPct val="100000"/>
              <a:buChar char="▪"/>
            </a:pPr>
            <a:r>
              <a:rPr lang="en-US" sz="1550" dirty="0">
                <a:solidFill>
                  <a:srgbClr val="1A2238"/>
                </a:solidFill>
                <a:latin typeface="Calibri" pitchFamily="34" charset="0"/>
                <a:ea typeface="Calibri" pitchFamily="34" charset="-122"/>
                <a:cs typeface="Calibri" pitchFamily="34" charset="-120"/>
              </a:rPr>
              <a:t>Đây chính là cầu nối trực tiếp sang vấn đề tiếp theo: điều gì xảy ra khi tích đó có nhiều số hạng?</a:t>
            </a:r>
            <a:endParaRPr lang="en-US" sz="1550" dirty="0"/>
          </a:p>
        </p:txBody>
      </p:sp>
      <p:sp>
        <p:nvSpPr>
          <p:cNvPr id="39" name="Text 37"/>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9/29</a:t>
            </a:r>
            <a:endParaRPr lang="en-US" sz="900" dirty="0"/>
          </a:p>
        </p:txBody>
      </p:sp>
      <p:sp>
        <p:nvSpPr>
          <p:cNvPr id="40" name="Shape 38"/>
          <p:cNvSpPr/>
          <p:nvPr/>
        </p:nvSpPr>
        <p:spPr>
          <a:xfrm>
            <a:off x="595503" y="6459093"/>
            <a:ext cx="89154" cy="89154"/>
          </a:xfrm>
          <a:prstGeom prst="ellipse">
            <a:avLst/>
          </a:prstGeom>
          <a:solidFill>
            <a:srgbClr val="285AB4"/>
          </a:solidFill>
          <a:ln/>
        </p:spPr>
      </p:sp>
      <p:sp>
        <p:nvSpPr>
          <p:cNvPr id="41" name="Shape 39"/>
          <p:cNvSpPr/>
          <p:nvPr/>
        </p:nvSpPr>
        <p:spPr>
          <a:xfrm>
            <a:off x="829818" y="6473952"/>
            <a:ext cx="59436" cy="59436"/>
          </a:xfrm>
          <a:prstGeom prst="ellipse">
            <a:avLst/>
          </a:prstGeom>
          <a:solidFill>
            <a:srgbClr val="D9DEE8"/>
          </a:solidFill>
          <a:ln/>
        </p:spPr>
      </p:sp>
      <p:sp>
        <p:nvSpPr>
          <p:cNvPr id="42" name="Shape 40"/>
          <p:cNvSpPr/>
          <p:nvPr/>
        </p:nvSpPr>
        <p:spPr>
          <a:xfrm>
            <a:off x="1049274" y="6473952"/>
            <a:ext cx="59436" cy="59436"/>
          </a:xfrm>
          <a:prstGeom prst="ellipse">
            <a:avLst/>
          </a:prstGeom>
          <a:solidFill>
            <a:srgbClr val="D9DEE8"/>
          </a:solidFill>
          <a:ln/>
        </p:spPr>
      </p:sp>
      <p:sp>
        <p:nvSpPr>
          <p:cNvPr id="43" name="Shape 41"/>
          <p:cNvSpPr/>
          <p:nvPr/>
        </p:nvSpPr>
        <p:spPr>
          <a:xfrm>
            <a:off x="1268730" y="6473952"/>
            <a:ext cx="59436" cy="59436"/>
          </a:xfrm>
          <a:prstGeom prst="ellipse">
            <a:avLst/>
          </a:prstGeom>
          <a:solidFill>
            <a:srgbClr val="D9DEE8"/>
          </a:solidFill>
          <a:ln/>
        </p:spPr>
      </p:sp>
      <p:sp>
        <p:nvSpPr>
          <p:cNvPr id="44" name="Text 42"/>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VANISHING / EXPLODING GRADIENT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Vanishing Gradient</a:t>
            </a:r>
            <a:endParaRPr lang="en-US" sz="2900" dirty="0"/>
          </a:p>
        </p:txBody>
      </p:sp>
      <p:sp>
        <p:nvSpPr>
          <p:cNvPr id="4" name="Shape 2"/>
          <p:cNvSpPr/>
          <p:nvPr/>
        </p:nvSpPr>
        <p:spPr>
          <a:xfrm>
            <a:off x="640080" y="1783080"/>
            <a:ext cx="10911535" cy="822960"/>
          </a:xfrm>
          <a:prstGeom prst="roundRect">
            <a:avLst>
              <a:gd name="adj" fmla="val 8889"/>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822960"/>
          </a:xfrm>
          <a:prstGeom prst="rect">
            <a:avLst/>
          </a:prstGeom>
          <a:noFill/>
          <a:ln/>
        </p:spPr>
        <p:txBody>
          <a:bodyPr wrap="square" lIns="0" tIns="0" rIns="0" bIns="0" rtlCol="0" anchor="ctr"/>
          <a:lstStyle/>
          <a:p>
            <a:pPr algn="ctr" indent="0" marL="0">
              <a:buNone/>
            </a:pPr>
            <a:r>
              <a:rPr lang="en-US" sz="1500" dirty="0">
                <a:solidFill>
                  <a:srgbClr val="16213E"/>
                </a:solidFill>
                <a:latin typeface="Cambria Math" pitchFamily="34" charset="0"/>
                <a:ea typeface="Cambria Math" pitchFamily="34" charset="-122"/>
                <a:cs typeface="Cambria Math" pitchFamily="34" charset="-120"/>
              </a:rPr>
              <a:t>Minh hoạ: nếu mỗi bước co norm gradient theo hệ số ≈0.5, qua 20 layer:  0.5²⁰ ≈ 9.54×10⁻⁷</a:t>
            </a:r>
            <a:endParaRPr lang="en-US" sz="1500" dirty="0"/>
          </a:p>
        </p:txBody>
      </p:sp>
      <p:sp>
        <p:nvSpPr>
          <p:cNvPr id="6" name="Shape 4"/>
          <p:cNvSpPr/>
          <p:nvPr/>
        </p:nvSpPr>
        <p:spPr>
          <a:xfrm>
            <a:off x="2651760" y="2834640"/>
            <a:ext cx="6949440" cy="365760"/>
          </a:xfrm>
          <a:prstGeom prst="roundRect">
            <a:avLst>
              <a:gd name="adj" fmla="val 10000"/>
            </a:avLst>
          </a:prstGeom>
          <a:solidFill>
            <a:srgbClr val="BE3C32"/>
          </a:solidFill>
          <a:ln/>
        </p:spPr>
      </p:sp>
      <p:sp>
        <p:nvSpPr>
          <p:cNvPr id="7" name="Text 5"/>
          <p:cNvSpPr txBox="1"/>
          <p:nvPr/>
        </p:nvSpPr>
        <p:spPr>
          <a:xfrm>
            <a:off x="640080" y="2834640"/>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20</a:t>
            </a:r>
            <a:endParaRPr lang="en-US" sz="1250" dirty="0"/>
          </a:p>
        </p:txBody>
      </p:sp>
      <p:sp>
        <p:nvSpPr>
          <p:cNvPr id="8" name="Shape 6"/>
          <p:cNvSpPr/>
          <p:nvPr/>
        </p:nvSpPr>
        <p:spPr>
          <a:xfrm>
            <a:off x="2651760" y="3328416"/>
            <a:ext cx="3840480" cy="365760"/>
          </a:xfrm>
          <a:prstGeom prst="roundRect">
            <a:avLst>
              <a:gd name="adj" fmla="val 10000"/>
            </a:avLst>
          </a:prstGeom>
          <a:solidFill>
            <a:srgbClr val="BE3C32"/>
          </a:solidFill>
          <a:ln/>
        </p:spPr>
      </p:sp>
      <p:sp>
        <p:nvSpPr>
          <p:cNvPr id="9" name="Text 7"/>
          <p:cNvSpPr txBox="1"/>
          <p:nvPr/>
        </p:nvSpPr>
        <p:spPr>
          <a:xfrm>
            <a:off x="640080" y="3328416"/>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15</a:t>
            </a:r>
            <a:endParaRPr lang="en-US" sz="1250" dirty="0"/>
          </a:p>
        </p:txBody>
      </p:sp>
      <p:sp>
        <p:nvSpPr>
          <p:cNvPr id="10" name="Shape 8"/>
          <p:cNvSpPr/>
          <p:nvPr/>
        </p:nvSpPr>
        <p:spPr>
          <a:xfrm>
            <a:off x="2651760" y="3822192"/>
            <a:ext cx="1737360" cy="365760"/>
          </a:xfrm>
          <a:prstGeom prst="roundRect">
            <a:avLst>
              <a:gd name="adj" fmla="val 10000"/>
            </a:avLst>
          </a:prstGeom>
          <a:solidFill>
            <a:srgbClr val="BE3C32"/>
          </a:solidFill>
          <a:ln/>
        </p:spPr>
      </p:sp>
      <p:sp>
        <p:nvSpPr>
          <p:cNvPr id="11" name="Text 9"/>
          <p:cNvSpPr txBox="1"/>
          <p:nvPr/>
        </p:nvSpPr>
        <p:spPr>
          <a:xfrm>
            <a:off x="640080" y="3822192"/>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10</a:t>
            </a:r>
            <a:endParaRPr lang="en-US" sz="1250" dirty="0"/>
          </a:p>
        </p:txBody>
      </p:sp>
      <p:sp>
        <p:nvSpPr>
          <p:cNvPr id="12" name="Shape 10"/>
          <p:cNvSpPr/>
          <p:nvPr/>
        </p:nvSpPr>
        <p:spPr>
          <a:xfrm>
            <a:off x="2651760" y="4315968"/>
            <a:ext cx="548640" cy="365760"/>
          </a:xfrm>
          <a:prstGeom prst="roundRect">
            <a:avLst>
              <a:gd name="adj" fmla="val 10000"/>
            </a:avLst>
          </a:prstGeom>
          <a:solidFill>
            <a:srgbClr val="BE3C32"/>
          </a:solidFill>
          <a:ln/>
        </p:spPr>
      </p:sp>
      <p:sp>
        <p:nvSpPr>
          <p:cNvPr id="13" name="Text 11"/>
          <p:cNvSpPr txBox="1"/>
          <p:nvPr/>
        </p:nvSpPr>
        <p:spPr>
          <a:xfrm>
            <a:off x="640080" y="4315968"/>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5</a:t>
            </a:r>
            <a:endParaRPr lang="en-US" sz="1250" dirty="0"/>
          </a:p>
        </p:txBody>
      </p:sp>
      <p:sp>
        <p:nvSpPr>
          <p:cNvPr id="14" name="Shape 12"/>
          <p:cNvSpPr/>
          <p:nvPr/>
        </p:nvSpPr>
        <p:spPr>
          <a:xfrm>
            <a:off x="2651760" y="4809744"/>
            <a:ext cx="109728" cy="365760"/>
          </a:xfrm>
          <a:prstGeom prst="roundRect">
            <a:avLst>
              <a:gd name="adj" fmla="val 33333"/>
            </a:avLst>
          </a:prstGeom>
          <a:solidFill>
            <a:srgbClr val="BE3C32"/>
          </a:solidFill>
          <a:ln/>
        </p:spPr>
      </p:sp>
      <p:sp>
        <p:nvSpPr>
          <p:cNvPr id="15" name="Text 13"/>
          <p:cNvSpPr txBox="1"/>
          <p:nvPr/>
        </p:nvSpPr>
        <p:spPr>
          <a:xfrm>
            <a:off x="640080" y="4809744"/>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1</a:t>
            </a:r>
            <a:endParaRPr lang="en-US" sz="1250" dirty="0"/>
          </a:p>
        </p:txBody>
      </p:sp>
      <p:sp>
        <p:nvSpPr>
          <p:cNvPr id="16" name="Text 14"/>
          <p:cNvSpPr txBox="1"/>
          <p:nvPr/>
        </p:nvSpPr>
        <p:spPr>
          <a:xfrm>
            <a:off x="640080" y="5440680"/>
            <a:ext cx="10911535" cy="1005840"/>
          </a:xfrm>
          <a:prstGeom prst="rect">
            <a:avLst/>
          </a:prstGeom>
          <a:noFill/>
          <a:ln/>
        </p:spPr>
        <p:txBody>
          <a:bodyPr wrap="square" lIns="0" tIns="0" rIns="0" bIns="0" rtlCol="0" anchor="t"/>
          <a:lstStyle/>
          <a:p>
            <a:pPr marL="228600" indent="-228600">
              <a:spcAft>
                <a:spcPts val="600"/>
              </a:spcAft>
              <a:buSzPct val="100000"/>
              <a:buChar char="▪"/>
            </a:pPr>
            <a:r>
              <a:rPr lang="en-US" sz="1300" dirty="0">
                <a:solidFill>
                  <a:srgbClr val="1A2238"/>
                </a:solidFill>
                <a:latin typeface="Calibri" pitchFamily="34" charset="0"/>
                <a:ea typeface="Calibri" pitchFamily="34" charset="-122"/>
                <a:cs typeface="Calibri" pitchFamily="34" charset="-120"/>
              </a:rPr>
              <a:t>Gradient trong mạng sâu = tích của nhiều local Jacobian và weight matrix; nếu các phép biến đổi này liên tục CO norm của gradient, gradient sẽ vanish</a:t>
            </a:r>
            <a:endParaRPr lang="en-US" sz="1300" dirty="0"/>
          </a:p>
          <a:p>
            <a:pPr marL="228600" indent="-228600">
              <a:spcAft>
                <a:spcPts val="600"/>
              </a:spcAft>
              <a:buSzPct val="100000"/>
              <a:buChar char="▪"/>
            </a:pPr>
            <a:r>
              <a:rPr lang="en-US" sz="1300" dirty="0">
                <a:solidFill>
                  <a:srgbClr val="1A2238"/>
                </a:solidFill>
                <a:latin typeface="Calibri" pitchFamily="34" charset="0"/>
                <a:ea typeface="Calibri" pitchFamily="34" charset="-122"/>
                <a:cs typeface="Calibri" pitchFamily="34" charset="-120"/>
              </a:rPr>
              <a:t>Layer càng gần input, gradient càng phải đi qua nhiều phép nhân này — nên thường bị ảnh hưởng nặng nhất</a:t>
            </a:r>
            <a:endParaRPr lang="en-US" sz="1300" dirty="0"/>
          </a:p>
        </p:txBody>
      </p:sp>
      <p:sp>
        <p:nvSpPr>
          <p:cNvPr id="17" name="Text 15"/>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10/29</a:t>
            </a:r>
            <a:endParaRPr lang="en-US" sz="900" dirty="0"/>
          </a:p>
        </p:txBody>
      </p:sp>
      <p:sp>
        <p:nvSpPr>
          <p:cNvPr id="18" name="Shape 16"/>
          <p:cNvSpPr/>
          <p:nvPr/>
        </p:nvSpPr>
        <p:spPr>
          <a:xfrm>
            <a:off x="610362" y="6473952"/>
            <a:ext cx="59436" cy="59436"/>
          </a:xfrm>
          <a:prstGeom prst="ellipse">
            <a:avLst/>
          </a:prstGeom>
          <a:solidFill>
            <a:srgbClr val="D9DEE8"/>
          </a:solidFill>
          <a:ln/>
        </p:spPr>
      </p:sp>
      <p:sp>
        <p:nvSpPr>
          <p:cNvPr id="19" name="Shape 17"/>
          <p:cNvSpPr/>
          <p:nvPr/>
        </p:nvSpPr>
        <p:spPr>
          <a:xfrm>
            <a:off x="814959" y="6459093"/>
            <a:ext cx="89154" cy="89154"/>
          </a:xfrm>
          <a:prstGeom prst="ellipse">
            <a:avLst/>
          </a:prstGeom>
          <a:solidFill>
            <a:srgbClr val="285AB4"/>
          </a:solidFill>
          <a:ln/>
        </p:spPr>
      </p:sp>
      <p:sp>
        <p:nvSpPr>
          <p:cNvPr id="20" name="Shape 18"/>
          <p:cNvSpPr/>
          <p:nvPr/>
        </p:nvSpPr>
        <p:spPr>
          <a:xfrm>
            <a:off x="1049274" y="6473952"/>
            <a:ext cx="59436" cy="59436"/>
          </a:xfrm>
          <a:prstGeom prst="ellipse">
            <a:avLst/>
          </a:prstGeom>
          <a:solidFill>
            <a:srgbClr val="D9DEE8"/>
          </a:solidFill>
          <a:ln/>
        </p:spPr>
      </p:sp>
      <p:sp>
        <p:nvSpPr>
          <p:cNvPr id="21" name="Shape 19"/>
          <p:cNvSpPr/>
          <p:nvPr/>
        </p:nvSpPr>
        <p:spPr>
          <a:xfrm>
            <a:off x="1268730" y="6473952"/>
            <a:ext cx="59436" cy="59436"/>
          </a:xfrm>
          <a:prstGeom prst="ellipse">
            <a:avLst/>
          </a:prstGeom>
          <a:solidFill>
            <a:srgbClr val="D9DEE8"/>
          </a:solidFill>
          <a:ln/>
        </p:spPr>
      </p:sp>
      <p:sp>
        <p:nvSpPr>
          <p:cNvPr id="22" name="Text 20"/>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VANISHING / EXPLODING GRADIENT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Exploding Gradient</a:t>
            </a:r>
            <a:endParaRPr lang="en-US" sz="2900" dirty="0"/>
          </a:p>
        </p:txBody>
      </p:sp>
      <p:sp>
        <p:nvSpPr>
          <p:cNvPr id="4" name="Shape 2"/>
          <p:cNvSpPr/>
          <p:nvPr/>
        </p:nvSpPr>
        <p:spPr>
          <a:xfrm>
            <a:off x="640080" y="1783080"/>
            <a:ext cx="10911535" cy="822960"/>
          </a:xfrm>
          <a:prstGeom prst="roundRect">
            <a:avLst>
              <a:gd name="adj" fmla="val 8889"/>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822960"/>
          </a:xfrm>
          <a:prstGeom prst="rect">
            <a:avLst/>
          </a:prstGeom>
          <a:noFill/>
          <a:ln/>
        </p:spPr>
        <p:txBody>
          <a:bodyPr wrap="square" lIns="0" tIns="0" rIns="0" bIns="0" rtlCol="0" anchor="ctr"/>
          <a:lstStyle/>
          <a:p>
            <a:pPr algn="ctr" indent="0" marL="0">
              <a:buNone/>
            </a:pPr>
            <a:r>
              <a:rPr lang="en-US" sz="1500" dirty="0">
                <a:solidFill>
                  <a:srgbClr val="16213E"/>
                </a:solidFill>
                <a:latin typeface="Cambria Math" pitchFamily="34" charset="0"/>
                <a:ea typeface="Cambria Math" pitchFamily="34" charset="-122"/>
                <a:cs typeface="Cambria Math" pitchFamily="34" charset="-120"/>
              </a:rPr>
              <a:t>Minh hoạ: nếu mỗi bước khuếch đại norm gradient theo hệ số ≈1.5, qua 20 layer:  1.5²⁰ ≈ 3325</a:t>
            </a:r>
            <a:endParaRPr lang="en-US" sz="1500" dirty="0"/>
          </a:p>
        </p:txBody>
      </p:sp>
      <p:sp>
        <p:nvSpPr>
          <p:cNvPr id="6" name="Shape 4"/>
          <p:cNvSpPr/>
          <p:nvPr/>
        </p:nvSpPr>
        <p:spPr>
          <a:xfrm>
            <a:off x="2651760" y="2834640"/>
            <a:ext cx="109728" cy="365760"/>
          </a:xfrm>
          <a:prstGeom prst="roundRect">
            <a:avLst>
              <a:gd name="adj" fmla="val 33333"/>
            </a:avLst>
          </a:prstGeom>
          <a:solidFill>
            <a:srgbClr val="7D3C98"/>
          </a:solidFill>
          <a:ln/>
        </p:spPr>
      </p:sp>
      <p:sp>
        <p:nvSpPr>
          <p:cNvPr id="7" name="Text 5"/>
          <p:cNvSpPr txBox="1"/>
          <p:nvPr/>
        </p:nvSpPr>
        <p:spPr>
          <a:xfrm>
            <a:off x="640080" y="2834640"/>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1</a:t>
            </a:r>
            <a:endParaRPr lang="en-US" sz="1250" dirty="0"/>
          </a:p>
        </p:txBody>
      </p:sp>
      <p:sp>
        <p:nvSpPr>
          <p:cNvPr id="8" name="Shape 6"/>
          <p:cNvSpPr/>
          <p:nvPr/>
        </p:nvSpPr>
        <p:spPr>
          <a:xfrm>
            <a:off x="2651760" y="3328416"/>
            <a:ext cx="457200" cy="365760"/>
          </a:xfrm>
          <a:prstGeom prst="roundRect">
            <a:avLst>
              <a:gd name="adj" fmla="val 10000"/>
            </a:avLst>
          </a:prstGeom>
          <a:solidFill>
            <a:srgbClr val="7D3C98"/>
          </a:solidFill>
          <a:ln/>
        </p:spPr>
      </p:sp>
      <p:sp>
        <p:nvSpPr>
          <p:cNvPr id="9" name="Text 7"/>
          <p:cNvSpPr txBox="1"/>
          <p:nvPr/>
        </p:nvSpPr>
        <p:spPr>
          <a:xfrm>
            <a:off x="640080" y="3328416"/>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5</a:t>
            </a:r>
            <a:endParaRPr lang="en-US" sz="1250" dirty="0"/>
          </a:p>
        </p:txBody>
      </p:sp>
      <p:sp>
        <p:nvSpPr>
          <p:cNvPr id="10" name="Shape 8"/>
          <p:cNvSpPr/>
          <p:nvPr/>
        </p:nvSpPr>
        <p:spPr>
          <a:xfrm>
            <a:off x="2651760" y="3822192"/>
            <a:ext cx="1463040" cy="365760"/>
          </a:xfrm>
          <a:prstGeom prst="roundRect">
            <a:avLst>
              <a:gd name="adj" fmla="val 10000"/>
            </a:avLst>
          </a:prstGeom>
          <a:solidFill>
            <a:srgbClr val="7D3C98"/>
          </a:solidFill>
          <a:ln/>
        </p:spPr>
      </p:sp>
      <p:sp>
        <p:nvSpPr>
          <p:cNvPr id="11" name="Text 9"/>
          <p:cNvSpPr txBox="1"/>
          <p:nvPr/>
        </p:nvSpPr>
        <p:spPr>
          <a:xfrm>
            <a:off x="640080" y="3822192"/>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10</a:t>
            </a:r>
            <a:endParaRPr lang="en-US" sz="1250" dirty="0"/>
          </a:p>
        </p:txBody>
      </p:sp>
      <p:sp>
        <p:nvSpPr>
          <p:cNvPr id="12" name="Shape 10"/>
          <p:cNvSpPr/>
          <p:nvPr/>
        </p:nvSpPr>
        <p:spPr>
          <a:xfrm>
            <a:off x="2651760" y="4315968"/>
            <a:ext cx="4023360" cy="365760"/>
          </a:xfrm>
          <a:prstGeom prst="roundRect">
            <a:avLst>
              <a:gd name="adj" fmla="val 10000"/>
            </a:avLst>
          </a:prstGeom>
          <a:solidFill>
            <a:srgbClr val="7D3C98"/>
          </a:solidFill>
          <a:ln/>
        </p:spPr>
      </p:sp>
      <p:sp>
        <p:nvSpPr>
          <p:cNvPr id="13" name="Text 11"/>
          <p:cNvSpPr txBox="1"/>
          <p:nvPr/>
        </p:nvSpPr>
        <p:spPr>
          <a:xfrm>
            <a:off x="640080" y="4315968"/>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15</a:t>
            </a:r>
            <a:endParaRPr lang="en-US" sz="1250" dirty="0"/>
          </a:p>
        </p:txBody>
      </p:sp>
      <p:sp>
        <p:nvSpPr>
          <p:cNvPr id="14" name="Shape 12"/>
          <p:cNvSpPr/>
          <p:nvPr/>
        </p:nvSpPr>
        <p:spPr>
          <a:xfrm>
            <a:off x="2651760" y="4809744"/>
            <a:ext cx="7498080" cy="365760"/>
          </a:xfrm>
          <a:prstGeom prst="roundRect">
            <a:avLst>
              <a:gd name="adj" fmla="val 10000"/>
            </a:avLst>
          </a:prstGeom>
          <a:solidFill>
            <a:srgbClr val="7D3C98"/>
          </a:solidFill>
          <a:ln/>
        </p:spPr>
      </p:sp>
      <p:sp>
        <p:nvSpPr>
          <p:cNvPr id="15" name="Text 13"/>
          <p:cNvSpPr txBox="1"/>
          <p:nvPr/>
        </p:nvSpPr>
        <p:spPr>
          <a:xfrm>
            <a:off x="640080" y="4809744"/>
            <a:ext cx="1920240" cy="36576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Layer 20</a:t>
            </a:r>
            <a:endParaRPr lang="en-US" sz="1250" dirty="0"/>
          </a:p>
        </p:txBody>
      </p:sp>
      <p:sp>
        <p:nvSpPr>
          <p:cNvPr id="16" name="Text 14"/>
          <p:cNvSpPr txBox="1"/>
          <p:nvPr/>
        </p:nvSpPr>
        <p:spPr>
          <a:xfrm>
            <a:off x="640080" y="5532120"/>
            <a:ext cx="10911535" cy="109728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1A2238"/>
                </a:solidFill>
                <a:latin typeface="Calibri" pitchFamily="34" charset="0"/>
                <a:ea typeface="Calibri" pitchFamily="34" charset="-122"/>
                <a:cs typeface="Calibri" pitchFamily="34" charset="-120"/>
              </a:rPr>
              <a:t>Hậu quả: loss dao động mạnh hoặc trở thành NaN, weight tăng vọt</a:t>
            </a:r>
            <a:endParaRPr lang="en-US" sz="1300" dirty="0"/>
          </a:p>
          <a:p>
            <a:pPr marL="228600" indent="-228600">
              <a:spcAft>
                <a:spcPts val="500"/>
              </a:spcAft>
              <a:buSzPct val="100000"/>
              <a:buChar char="▪"/>
            </a:pPr>
            <a:r>
              <a:rPr lang="en-US" sz="1300" dirty="0">
                <a:solidFill>
                  <a:srgbClr val="1A2238"/>
                </a:solidFill>
                <a:latin typeface="Calibri" pitchFamily="34" charset="0"/>
                <a:ea typeface="Calibri" pitchFamily="34" charset="-122"/>
                <a:cs typeface="Calibri" pitchFamily="34" charset="-120"/>
              </a:rPr>
              <a:t>Cùng cơ chế với vanishing — TÍCH của Jacobian/weight matrix, nhưng liên tục KHUẾCH ĐẠI thay vì co norm gradient</a:t>
            </a:r>
            <a:endParaRPr lang="en-US" sz="1300" dirty="0"/>
          </a:p>
          <a:p>
            <a:pPr marL="228600" indent="-228600">
              <a:spcAft>
                <a:spcPts val="500"/>
              </a:spcAft>
              <a:buSzPct val="100000"/>
              <a:buChar char="▪"/>
            </a:pPr>
            <a:r>
              <a:rPr lang="en-US" sz="1300" dirty="0">
                <a:solidFill>
                  <a:srgbClr val="1A2238"/>
                </a:solidFill>
                <a:latin typeface="Calibri" pitchFamily="34" charset="0"/>
                <a:ea typeface="Calibri" pitchFamily="34" charset="-122"/>
                <a:cs typeface="Calibri" pitchFamily="34" charset="-120"/>
              </a:rPr>
              <a:t>Sẽ thấy hiện tượng này XẢY RA THẬT ở Experiment 3 (Random large init) ngay sau đây</a:t>
            </a:r>
            <a:endParaRPr lang="en-US" sz="1300" dirty="0"/>
          </a:p>
        </p:txBody>
      </p:sp>
      <p:sp>
        <p:nvSpPr>
          <p:cNvPr id="17" name="Text 15"/>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11/29</a:t>
            </a:r>
            <a:endParaRPr lang="en-US" sz="900" dirty="0"/>
          </a:p>
        </p:txBody>
      </p:sp>
      <p:sp>
        <p:nvSpPr>
          <p:cNvPr id="18" name="Shape 16"/>
          <p:cNvSpPr/>
          <p:nvPr/>
        </p:nvSpPr>
        <p:spPr>
          <a:xfrm>
            <a:off x="610362" y="6473952"/>
            <a:ext cx="59436" cy="59436"/>
          </a:xfrm>
          <a:prstGeom prst="ellipse">
            <a:avLst/>
          </a:prstGeom>
          <a:solidFill>
            <a:srgbClr val="D9DEE8"/>
          </a:solidFill>
          <a:ln/>
        </p:spPr>
      </p:sp>
      <p:sp>
        <p:nvSpPr>
          <p:cNvPr id="19" name="Shape 17"/>
          <p:cNvSpPr/>
          <p:nvPr/>
        </p:nvSpPr>
        <p:spPr>
          <a:xfrm>
            <a:off x="814959" y="6459093"/>
            <a:ext cx="89154" cy="89154"/>
          </a:xfrm>
          <a:prstGeom prst="ellipse">
            <a:avLst/>
          </a:prstGeom>
          <a:solidFill>
            <a:srgbClr val="285AB4"/>
          </a:solidFill>
          <a:ln/>
        </p:spPr>
      </p:sp>
      <p:sp>
        <p:nvSpPr>
          <p:cNvPr id="20" name="Shape 18"/>
          <p:cNvSpPr/>
          <p:nvPr/>
        </p:nvSpPr>
        <p:spPr>
          <a:xfrm>
            <a:off x="1049274" y="6473952"/>
            <a:ext cx="59436" cy="59436"/>
          </a:xfrm>
          <a:prstGeom prst="ellipse">
            <a:avLst/>
          </a:prstGeom>
          <a:solidFill>
            <a:srgbClr val="D9DEE8"/>
          </a:solidFill>
          <a:ln/>
        </p:spPr>
      </p:sp>
      <p:sp>
        <p:nvSpPr>
          <p:cNvPr id="21" name="Shape 19"/>
          <p:cNvSpPr/>
          <p:nvPr/>
        </p:nvSpPr>
        <p:spPr>
          <a:xfrm>
            <a:off x="1268730" y="6473952"/>
            <a:ext cx="59436" cy="59436"/>
          </a:xfrm>
          <a:prstGeom prst="ellipse">
            <a:avLst/>
          </a:prstGeom>
          <a:solidFill>
            <a:srgbClr val="D9DEE8"/>
          </a:solidFill>
          <a:ln/>
        </p:spPr>
      </p:sp>
      <p:sp>
        <p:nvSpPr>
          <p:cNvPr id="22" name="Text 20"/>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Tại sao không đặt tất cả weight = 0?</a:t>
            </a:r>
            <a:endParaRPr lang="en-US" sz="2900" dirty="0"/>
          </a:p>
        </p:txBody>
      </p:sp>
      <p:sp>
        <p:nvSpPr>
          <p:cNvPr id="4" name="Shape 2"/>
          <p:cNvSpPr/>
          <p:nvPr/>
        </p:nvSpPr>
        <p:spPr>
          <a:xfrm>
            <a:off x="640080" y="1783080"/>
            <a:ext cx="10911535" cy="640080"/>
          </a:xfrm>
          <a:prstGeom prst="roundRect">
            <a:avLst>
              <a:gd name="adj" fmla="val 11429"/>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640080"/>
          </a:xfrm>
          <a:prstGeom prst="rect">
            <a:avLst/>
          </a:prstGeom>
          <a:noFill/>
          <a:ln/>
        </p:spPr>
        <p:txBody>
          <a:bodyPr wrap="square" lIns="0" tIns="0" rIns="0" bIns="0" rtlCol="0" anchor="ctr"/>
          <a:lstStyle/>
          <a:p>
            <a:pPr algn="ctr" indent="0" marL="0">
              <a:buNone/>
            </a:pPr>
            <a:r>
              <a:rPr lang="en-US" sz="1700" dirty="0">
                <a:solidFill>
                  <a:srgbClr val="16213E"/>
                </a:solidFill>
                <a:latin typeface="Cambria Math" pitchFamily="34" charset="0"/>
                <a:ea typeface="Cambria Math" pitchFamily="34" charset="-122"/>
                <a:cs typeface="Cambria Math" pitchFamily="34" charset="-120"/>
              </a:rPr>
              <a:t>W = np.zeros(...)</a:t>
            </a:r>
            <a:endParaRPr lang="en-US" sz="1700" dirty="0"/>
          </a:p>
        </p:txBody>
      </p:sp>
      <p:sp>
        <p:nvSpPr>
          <p:cNvPr id="6" name="Text 4"/>
          <p:cNvSpPr txBox="1"/>
          <p:nvPr/>
        </p:nvSpPr>
        <p:spPr>
          <a:xfrm>
            <a:off x="640080" y="2651760"/>
            <a:ext cx="10911535" cy="2103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Mọi HIDDEN UNIT trong 1 lớp nhận CÙNG input, CÙNG weight ⇒ CÙNG z, CÙNG a, CÙNG gradient — giữ SYMMETRY</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Sau update: các hidden unit này vẫn giống hệt nhau — vấn đề áp dụng cho WEIGHT, không phải bias (bias thường vẫn khởi tạo 0 được, vì không gây đối xứng giữa các unit)</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Trong kiến trúc đang khảo sát: zero-init khiến hidden-layer gradient bằng 0, mạng không học được representation hữu ích</a:t>
            </a:r>
            <a:endParaRPr lang="en-US" sz="1500" dirty="0"/>
          </a:p>
        </p:txBody>
      </p:sp>
      <p:sp>
        <p:nvSpPr>
          <p:cNvPr id="7" name="Text 5"/>
          <p:cNvSpPr txBox="1"/>
          <p:nvPr/>
        </p:nvSpPr>
        <p:spPr>
          <a:xfrm>
            <a:off x="640080" y="5029200"/>
            <a:ext cx="3840480" cy="822960"/>
          </a:xfrm>
          <a:prstGeom prst="rect">
            <a:avLst/>
          </a:prstGeom>
          <a:noFill/>
          <a:ln/>
        </p:spPr>
        <p:txBody>
          <a:bodyPr wrap="square" lIns="0" tIns="0" rIns="0" bIns="0" rtlCol="0" anchor="b"/>
          <a:lstStyle/>
          <a:p>
            <a:pPr algn="ctr" indent="0" marL="0">
              <a:buNone/>
            </a:pPr>
            <a:r>
              <a:rPr lang="en-US" sz="3000" b="1" dirty="0">
                <a:solidFill>
                  <a:srgbClr val="BE3C32"/>
                </a:solidFill>
                <a:latin typeface="Cambria" pitchFamily="34" charset="0"/>
                <a:ea typeface="Cambria" pitchFamily="34" charset="-122"/>
                <a:cs typeface="Cambria" pitchFamily="34" charset="-120"/>
              </a:rPr>
              <a:t>0.0</a:t>
            </a:r>
            <a:endParaRPr lang="en-US" sz="3000" dirty="0"/>
          </a:p>
        </p:txBody>
      </p:sp>
      <p:sp>
        <p:nvSpPr>
          <p:cNvPr id="8" name="Text 6"/>
          <p:cNvSpPr txBox="1"/>
          <p:nvPr/>
        </p:nvSpPr>
        <p:spPr>
          <a:xfrm>
            <a:off x="640080" y="5852160"/>
            <a:ext cx="3840480" cy="548640"/>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gradient RMS lớp ẩn đo được (thực nghiệm thật, Zero-init) — test acc = 10.0%</a:t>
            </a:r>
            <a:endParaRPr lang="en-US" sz="1100" dirty="0"/>
          </a:p>
        </p:txBody>
      </p:sp>
      <p:sp>
        <p:nvSpPr>
          <p:cNvPr id="9" name="Text 7"/>
          <p:cNvSpPr txBox="1"/>
          <p:nvPr/>
        </p:nvSpPr>
        <p:spPr>
          <a:xfrm>
            <a:off x="4846320" y="5257800"/>
            <a:ext cx="6705295" cy="91440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Số liệu thật: trong setup này, Zero-init cho hidden-layer gradient RMS bằng 0.0 (không phải xấp xỉ)</a:t>
            </a:r>
            <a:endParaRPr lang="en-US" sz="1300" dirty="0"/>
          </a:p>
        </p:txBody>
      </p:sp>
      <p:sp>
        <p:nvSpPr>
          <p:cNvPr id="10" name="Text 8"/>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12/29</a:t>
            </a:r>
            <a:endParaRPr lang="en-US" sz="900" dirty="0"/>
          </a:p>
        </p:txBody>
      </p:sp>
      <p:sp>
        <p:nvSpPr>
          <p:cNvPr id="11" name="Shape 9"/>
          <p:cNvSpPr/>
          <p:nvPr/>
        </p:nvSpPr>
        <p:spPr>
          <a:xfrm>
            <a:off x="610362" y="6473952"/>
            <a:ext cx="59436" cy="59436"/>
          </a:xfrm>
          <a:prstGeom prst="ellipse">
            <a:avLst/>
          </a:prstGeom>
          <a:solidFill>
            <a:srgbClr val="D9DEE8"/>
          </a:solidFill>
          <a:ln/>
        </p:spPr>
      </p:sp>
      <p:sp>
        <p:nvSpPr>
          <p:cNvPr id="12" name="Shape 10"/>
          <p:cNvSpPr/>
          <p:nvPr/>
        </p:nvSpPr>
        <p:spPr>
          <a:xfrm>
            <a:off x="814959" y="6459093"/>
            <a:ext cx="89154" cy="89154"/>
          </a:xfrm>
          <a:prstGeom prst="ellipse">
            <a:avLst/>
          </a:prstGeom>
          <a:solidFill>
            <a:srgbClr val="285AB4"/>
          </a:solidFill>
          <a:ln/>
        </p:spPr>
      </p:sp>
      <p:sp>
        <p:nvSpPr>
          <p:cNvPr id="13" name="Shape 11"/>
          <p:cNvSpPr/>
          <p:nvPr/>
        </p:nvSpPr>
        <p:spPr>
          <a:xfrm>
            <a:off x="1049274" y="6473952"/>
            <a:ext cx="59436" cy="59436"/>
          </a:xfrm>
          <a:prstGeom prst="ellipse">
            <a:avLst/>
          </a:prstGeom>
          <a:solidFill>
            <a:srgbClr val="D9DEE8"/>
          </a:solidFill>
          <a:ln/>
        </p:spPr>
      </p:sp>
      <p:sp>
        <p:nvSpPr>
          <p:cNvPr id="14" name="Shape 12"/>
          <p:cNvSpPr/>
          <p:nvPr/>
        </p:nvSpPr>
        <p:spPr>
          <a:xfrm>
            <a:off x="1268730" y="6473952"/>
            <a:ext cx="59436" cy="59436"/>
          </a:xfrm>
          <a:prstGeom prst="ellipse">
            <a:avLst/>
          </a:prstGeom>
          <a:solidFill>
            <a:srgbClr val="D9DEE8"/>
          </a:solidFill>
          <a:ln/>
        </p:spPr>
      </p:sp>
      <p:sp>
        <p:nvSpPr>
          <p:cNvPr id="15" name="Text 13"/>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Random Initialization</a:t>
            </a:r>
            <a:endParaRPr lang="en-US" sz="2900" dirty="0"/>
          </a:p>
        </p:txBody>
      </p:sp>
      <p:sp>
        <p:nvSpPr>
          <p:cNvPr id="4" name="Shape 2"/>
          <p:cNvSpPr/>
          <p:nvPr/>
        </p:nvSpPr>
        <p:spPr>
          <a:xfrm>
            <a:off x="640080" y="1737360"/>
            <a:ext cx="10911535" cy="640080"/>
          </a:xfrm>
          <a:prstGeom prst="roundRect">
            <a:avLst>
              <a:gd name="adj" fmla="val 11429"/>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37360"/>
            <a:ext cx="10454335" cy="640080"/>
          </a:xfrm>
          <a:prstGeom prst="rect">
            <a:avLst/>
          </a:prstGeom>
          <a:noFill/>
          <a:ln/>
        </p:spPr>
        <p:txBody>
          <a:bodyPr wrap="square" lIns="0" tIns="0" rIns="0" bIns="0" rtlCol="0" anchor="ctr"/>
          <a:lstStyle/>
          <a:p>
            <a:pPr algn="ctr" indent="0" marL="0">
              <a:buNone/>
            </a:pPr>
            <a:r>
              <a:rPr lang="en-US" sz="1700" dirty="0">
                <a:solidFill>
                  <a:srgbClr val="16213E"/>
                </a:solidFill>
                <a:latin typeface="Cambria Math" pitchFamily="34" charset="0"/>
                <a:ea typeface="Cambria Math" pitchFamily="34" charset="-122"/>
                <a:cs typeface="Cambria Math" pitchFamily="34" charset="-120"/>
              </a:rPr>
              <a:t>W = np.random.randn(...) × std</a:t>
            </a:r>
            <a:endParaRPr lang="en-US" sz="1700" dirty="0"/>
          </a:p>
        </p:txBody>
      </p:sp>
      <p:sp>
        <p:nvSpPr>
          <p:cNvPr id="6" name="Shape 4"/>
          <p:cNvSpPr/>
          <p:nvPr/>
        </p:nvSpPr>
        <p:spPr>
          <a:xfrm>
            <a:off x="640080" y="2514600"/>
            <a:ext cx="5120640" cy="2880360"/>
          </a:xfrm>
          <a:prstGeom prst="roundRect">
            <a:avLst>
              <a:gd name="adj" fmla="val 2540"/>
            </a:avLst>
          </a:prstGeom>
          <a:solidFill>
            <a:srgbClr val="EAF0FB"/>
          </a:solidFill>
          <a:ln w="12700">
            <a:solidFill>
              <a:srgbClr val="285AB4"/>
            </a:solidFill>
            <a:prstDash val="solid"/>
          </a:ln>
          <a:effectLst>
            <a:outerShdw sx="100000" sy="100000" kx="0" ky="0" algn="bl" rotWithShape="0" blurRad="114300" dist="38100" dir="5400000">
              <a:srgbClr val="1A1A2E">
                <a:alpha val="20000"/>
              </a:srgbClr>
            </a:outerShdw>
          </a:effectLst>
        </p:spPr>
      </p:sp>
      <p:sp>
        <p:nvSpPr>
          <p:cNvPr id="7" name="Text 5"/>
          <p:cNvSpPr txBox="1"/>
          <p:nvPr/>
        </p:nvSpPr>
        <p:spPr>
          <a:xfrm>
            <a:off x="914400" y="2715768"/>
            <a:ext cx="4572000" cy="548640"/>
          </a:xfrm>
          <a:prstGeom prst="rect">
            <a:avLst/>
          </a:prstGeom>
          <a:noFill/>
          <a:ln/>
        </p:spPr>
        <p:txBody>
          <a:bodyPr wrap="square" lIns="0" tIns="0" rIns="0" bIns="0" rtlCol="0" anchor="ctr"/>
          <a:lstStyle/>
          <a:p>
            <a:pPr indent="0" marL="0">
              <a:buNone/>
            </a:pPr>
            <a:r>
              <a:rPr lang="en-US" sz="1450" b="1" dirty="0">
                <a:solidFill>
                  <a:srgbClr val="285AB4"/>
                </a:solidFill>
                <a:latin typeface="Cambria" pitchFamily="34" charset="0"/>
                <a:ea typeface="Cambria" pitchFamily="34" charset="-122"/>
                <a:cs typeface="Cambria" pitchFamily="34" charset="-120"/>
              </a:rPr>
              <a:t>std quá NHỎ</a:t>
            </a:r>
            <a:endParaRPr lang="en-US" sz="1450" dirty="0"/>
          </a:p>
        </p:txBody>
      </p:sp>
      <p:sp>
        <p:nvSpPr>
          <p:cNvPr id="8" name="Text 6"/>
          <p:cNvSpPr txBox="1"/>
          <p:nvPr/>
        </p:nvSpPr>
        <p:spPr>
          <a:xfrm>
            <a:off x="914400" y="3383280"/>
            <a:ext cx="4572000" cy="1874520"/>
          </a:xfrm>
          <a:prstGeom prst="rect">
            <a:avLst/>
          </a:prstGeom>
          <a:noFill/>
          <a:ln/>
        </p:spPr>
        <p:txBody>
          <a:bodyPr wrap="square" lIns="0" tIns="0" rIns="0" bIns="0" rtlCol="0" anchor="t"/>
          <a:lstStyle/>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weight nhỏ → activation nhỏ</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 gradient nhỏ dần qua mỗi lớp</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 có xu hướng VANISHING GRADIENT</a:t>
            </a:r>
            <a:endParaRPr lang="en-US" sz="1350" dirty="0"/>
          </a:p>
        </p:txBody>
      </p:sp>
      <p:sp>
        <p:nvSpPr>
          <p:cNvPr id="9" name="Shape 7"/>
          <p:cNvSpPr/>
          <p:nvPr/>
        </p:nvSpPr>
        <p:spPr>
          <a:xfrm>
            <a:off x="6430975" y="2514600"/>
            <a:ext cx="5120640" cy="2880360"/>
          </a:xfrm>
          <a:prstGeom prst="roundRect">
            <a:avLst>
              <a:gd name="adj" fmla="val 2540"/>
            </a:avLst>
          </a:prstGeom>
          <a:solidFill>
            <a:srgbClr val="F3EAFB"/>
          </a:solidFill>
          <a:ln w="12700">
            <a:solidFill>
              <a:srgbClr val="7D3C98"/>
            </a:solidFill>
            <a:prstDash val="solid"/>
          </a:ln>
          <a:effectLst>
            <a:outerShdw sx="100000" sy="100000" kx="0" ky="0" algn="bl" rotWithShape="0" blurRad="114300" dist="38100" dir="5400000">
              <a:srgbClr val="1A1A2E">
                <a:alpha val="20000"/>
              </a:srgbClr>
            </a:outerShdw>
          </a:effectLst>
        </p:spPr>
      </p:sp>
      <p:sp>
        <p:nvSpPr>
          <p:cNvPr id="10" name="Text 8"/>
          <p:cNvSpPr txBox="1"/>
          <p:nvPr/>
        </p:nvSpPr>
        <p:spPr>
          <a:xfrm>
            <a:off x="6705295" y="2715768"/>
            <a:ext cx="4572000" cy="548640"/>
          </a:xfrm>
          <a:prstGeom prst="rect">
            <a:avLst/>
          </a:prstGeom>
          <a:noFill/>
          <a:ln/>
        </p:spPr>
        <p:txBody>
          <a:bodyPr wrap="square" lIns="0" tIns="0" rIns="0" bIns="0" rtlCol="0" anchor="ctr"/>
          <a:lstStyle/>
          <a:p>
            <a:pPr indent="0" marL="0">
              <a:buNone/>
            </a:pPr>
            <a:r>
              <a:rPr lang="en-US" sz="1450" b="1" dirty="0">
                <a:solidFill>
                  <a:srgbClr val="7D3C98"/>
                </a:solidFill>
                <a:latin typeface="Cambria" pitchFamily="34" charset="0"/>
                <a:ea typeface="Cambria" pitchFamily="34" charset="-122"/>
                <a:cs typeface="Cambria" pitchFamily="34" charset="-120"/>
              </a:rPr>
              <a:t>std quá LỚN</a:t>
            </a:r>
            <a:endParaRPr lang="en-US" sz="1450" dirty="0"/>
          </a:p>
        </p:txBody>
      </p:sp>
      <p:sp>
        <p:nvSpPr>
          <p:cNvPr id="11" name="Text 9"/>
          <p:cNvSpPr txBox="1"/>
          <p:nvPr/>
        </p:nvSpPr>
        <p:spPr>
          <a:xfrm>
            <a:off x="6705295" y="3383280"/>
            <a:ext cx="4572000" cy="1874520"/>
          </a:xfrm>
          <a:prstGeom prst="rect">
            <a:avLst/>
          </a:prstGeom>
          <a:noFill/>
          <a:ln/>
        </p:spPr>
        <p:txBody>
          <a:bodyPr wrap="square" lIns="0" tIns="0" rIns="0" bIns="0" rtlCol="0" anchor="t"/>
          <a:lstStyle/>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weight lớn → activation/pre-activation lớn</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ReLU: gradient có xu hướng tăng vọt qua mỗi lớp → EXPLODING</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Sigmoid/Tanh: pre-activation dễ rơi vào vùng BÃO HOÀ → derivative ≈ 0 → cũng VANISHING</a:t>
            </a:r>
            <a:endParaRPr lang="en-US" sz="1350" dirty="0"/>
          </a:p>
        </p:txBody>
      </p:sp>
      <p:sp>
        <p:nvSpPr>
          <p:cNvPr id="12" name="Text 10"/>
          <p:cNvSpPr txBox="1"/>
          <p:nvPr/>
        </p:nvSpPr>
        <p:spPr>
          <a:xfrm>
            <a:off x="640080" y="5532120"/>
            <a:ext cx="10911535" cy="91440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Hai thí nghiệm sau (Experiment 2 &amp; 3, mạng ReLU) tái hiện std-nhỏ → vanishing và std-lớn → exploding bằng số liệu thật. Với activation bão hoà (sigmoid/tanh), std lớn còn có thể gây vanishing theo cơ chế khác (bão hoà), không chỉ exploding.</a:t>
            </a:r>
            <a:endParaRPr lang="en-US" sz="1200" dirty="0"/>
          </a:p>
        </p:txBody>
      </p:sp>
      <p:sp>
        <p:nvSpPr>
          <p:cNvPr id="13" name="Text 11"/>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13/29</a:t>
            </a:r>
            <a:endParaRPr lang="en-US" sz="900" dirty="0"/>
          </a:p>
        </p:txBody>
      </p:sp>
      <p:sp>
        <p:nvSpPr>
          <p:cNvPr id="14" name="Shape 12"/>
          <p:cNvSpPr/>
          <p:nvPr/>
        </p:nvSpPr>
        <p:spPr>
          <a:xfrm>
            <a:off x="610362" y="6473952"/>
            <a:ext cx="59436" cy="59436"/>
          </a:xfrm>
          <a:prstGeom prst="ellipse">
            <a:avLst/>
          </a:prstGeom>
          <a:solidFill>
            <a:srgbClr val="D9DEE8"/>
          </a:solidFill>
          <a:ln/>
        </p:spPr>
      </p:sp>
      <p:sp>
        <p:nvSpPr>
          <p:cNvPr id="15" name="Shape 13"/>
          <p:cNvSpPr/>
          <p:nvPr/>
        </p:nvSpPr>
        <p:spPr>
          <a:xfrm>
            <a:off x="814959" y="6459093"/>
            <a:ext cx="89154" cy="89154"/>
          </a:xfrm>
          <a:prstGeom prst="ellipse">
            <a:avLst/>
          </a:prstGeom>
          <a:solidFill>
            <a:srgbClr val="285AB4"/>
          </a:solidFill>
          <a:ln/>
        </p:spPr>
      </p:sp>
      <p:sp>
        <p:nvSpPr>
          <p:cNvPr id="16" name="Shape 14"/>
          <p:cNvSpPr/>
          <p:nvPr/>
        </p:nvSpPr>
        <p:spPr>
          <a:xfrm>
            <a:off x="1049274" y="6473952"/>
            <a:ext cx="59436" cy="59436"/>
          </a:xfrm>
          <a:prstGeom prst="ellipse">
            <a:avLst/>
          </a:prstGeom>
          <a:solidFill>
            <a:srgbClr val="D9DEE8"/>
          </a:solidFill>
          <a:ln/>
        </p:spPr>
      </p:sp>
      <p:sp>
        <p:nvSpPr>
          <p:cNvPr id="17" name="Shape 15"/>
          <p:cNvSpPr/>
          <p:nvPr/>
        </p:nvSpPr>
        <p:spPr>
          <a:xfrm>
            <a:off x="1268730" y="6473952"/>
            <a:ext cx="59436" cy="59436"/>
          </a:xfrm>
          <a:prstGeom prst="ellipse">
            <a:avLst/>
          </a:prstGeom>
          <a:solidFill>
            <a:srgbClr val="D9DEE8"/>
          </a:solidFill>
          <a:ln/>
        </p:spPr>
      </p:sp>
      <p:sp>
        <p:nvSpPr>
          <p:cNvPr id="18" name="Text 16"/>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Xavier / Glorot Initialization</a:t>
            </a:r>
            <a:endParaRPr lang="en-US" sz="2900" dirty="0"/>
          </a:p>
        </p:txBody>
      </p:sp>
      <p:sp>
        <p:nvSpPr>
          <p:cNvPr id="4" name="Shape 2"/>
          <p:cNvSpPr/>
          <p:nvPr/>
        </p:nvSpPr>
        <p:spPr>
          <a:xfrm>
            <a:off x="640080" y="1783080"/>
            <a:ext cx="10911535" cy="777240"/>
          </a:xfrm>
          <a:prstGeom prst="roundRect">
            <a:avLst>
              <a:gd name="adj" fmla="val 9412"/>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777240"/>
          </a:xfrm>
          <a:prstGeom prst="rect">
            <a:avLst/>
          </a:prstGeom>
          <a:noFill/>
          <a:ln/>
        </p:spPr>
        <p:txBody>
          <a:bodyPr wrap="square" lIns="0" tIns="0" rIns="0" bIns="0" rtlCol="0" anchor="ctr"/>
          <a:lstStyle/>
          <a:p>
            <a:pPr algn="ctr" indent="0" marL="0">
              <a:buNone/>
            </a:pPr>
            <a:r>
              <a:rPr lang="en-US" sz="1800" dirty="0">
                <a:solidFill>
                  <a:srgbClr val="16213E"/>
                </a:solidFill>
                <a:latin typeface="Cambria Math" pitchFamily="34" charset="0"/>
                <a:ea typeface="Cambria Math" pitchFamily="34" charset="-122"/>
                <a:cs typeface="Cambria Math" pitchFamily="34" charset="-120"/>
              </a:rPr>
              <a:t>Xavier/Glorot Normal:   W_ij ~ N(0, 2/(n_in+n_out))</a:t>
            </a:r>
            <a:endParaRPr lang="en-US" sz="1800" dirty="0"/>
          </a:p>
        </p:txBody>
      </p:sp>
      <p:sp>
        <p:nvSpPr>
          <p:cNvPr id="6" name="Text 4"/>
          <p:cNvSpPr txBox="1"/>
          <p:nvPr/>
        </p:nvSpPr>
        <p:spPr>
          <a:xfrm>
            <a:off x="640080" y="2834640"/>
            <a:ext cx="10911535" cy="2103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Mục tiêu: giữ variance của tín hiệu ỔN ĐỊNH qua từng lớp (Layer 1 variance ≈ Layer 2 ≈ Layer 3 ≈ ...)</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Cân bằng 2 điều kiện: giữ Var(z) khi forward VÀ giữ Var(gradient) khi backward</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Thường dùng với Tanh hoặc activation có gain phù hợp — riêng Tanh còn có lợi thế ZERO-CENTERED (Sigmoid thì KHÔNG zero-centered)</a:t>
            </a:r>
            <a:endParaRPr lang="en-US" sz="1500" dirty="0"/>
          </a:p>
        </p:txBody>
      </p:sp>
      <p:sp>
        <p:nvSpPr>
          <p:cNvPr id="7" name="Text 5"/>
          <p:cNvSpPr txBox="1"/>
          <p:nvPr/>
        </p:nvSpPr>
        <p:spPr>
          <a:xfrm>
            <a:off x="640080" y="5120640"/>
            <a:ext cx="3474720" cy="768096"/>
          </a:xfrm>
          <a:prstGeom prst="rect">
            <a:avLst/>
          </a:prstGeom>
          <a:noFill/>
          <a:ln/>
        </p:spPr>
        <p:txBody>
          <a:bodyPr wrap="square" lIns="0" tIns="0" rIns="0" bIns="0" rtlCol="0" anchor="b"/>
          <a:lstStyle/>
          <a:p>
            <a:pPr algn="ctr" indent="0" marL="0">
              <a:buNone/>
            </a:pPr>
            <a:r>
              <a:rPr lang="en-US" sz="3000" b="1" dirty="0">
                <a:solidFill>
                  <a:srgbClr val="2E7D5B"/>
                </a:solidFill>
                <a:latin typeface="Cambria" pitchFamily="34" charset="0"/>
                <a:ea typeface="Cambria" pitchFamily="34" charset="-122"/>
                <a:cs typeface="Cambria" pitchFamily="34" charset="-120"/>
              </a:rPr>
              <a:t>67.4%</a:t>
            </a:r>
            <a:endParaRPr lang="en-US" sz="3000" dirty="0"/>
          </a:p>
        </p:txBody>
      </p:sp>
      <p:sp>
        <p:nvSpPr>
          <p:cNvPr id="8" name="Text 6"/>
          <p:cNvSpPr txBox="1"/>
          <p:nvPr/>
        </p:nvSpPr>
        <p:spPr>
          <a:xfrm>
            <a:off x="640080" y="5888736"/>
            <a:ext cx="3474720"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Xavier + ReLU — test accuracy (thực nghiệm thật, 6 hidden layer)</a:t>
            </a:r>
            <a:endParaRPr lang="en-US" sz="1100" dirty="0"/>
          </a:p>
        </p:txBody>
      </p:sp>
      <p:sp>
        <p:nvSpPr>
          <p:cNvPr id="9" name="Text 7"/>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14/29</a:t>
            </a:r>
            <a:endParaRPr lang="en-US" sz="900" dirty="0"/>
          </a:p>
        </p:txBody>
      </p:sp>
      <p:sp>
        <p:nvSpPr>
          <p:cNvPr id="10" name="Shape 8"/>
          <p:cNvSpPr/>
          <p:nvPr/>
        </p:nvSpPr>
        <p:spPr>
          <a:xfrm>
            <a:off x="610362" y="6473952"/>
            <a:ext cx="59436" cy="59436"/>
          </a:xfrm>
          <a:prstGeom prst="ellipse">
            <a:avLst/>
          </a:prstGeom>
          <a:solidFill>
            <a:srgbClr val="D9DEE8"/>
          </a:solidFill>
          <a:ln/>
        </p:spPr>
      </p:sp>
      <p:sp>
        <p:nvSpPr>
          <p:cNvPr id="11" name="Shape 9"/>
          <p:cNvSpPr/>
          <p:nvPr/>
        </p:nvSpPr>
        <p:spPr>
          <a:xfrm>
            <a:off x="814959" y="6459093"/>
            <a:ext cx="89154" cy="89154"/>
          </a:xfrm>
          <a:prstGeom prst="ellipse">
            <a:avLst/>
          </a:prstGeom>
          <a:solidFill>
            <a:srgbClr val="285AB4"/>
          </a:solidFill>
          <a:ln/>
        </p:spPr>
      </p:sp>
      <p:sp>
        <p:nvSpPr>
          <p:cNvPr id="12" name="Shape 10"/>
          <p:cNvSpPr/>
          <p:nvPr/>
        </p:nvSpPr>
        <p:spPr>
          <a:xfrm>
            <a:off x="1049274" y="6473952"/>
            <a:ext cx="59436" cy="59436"/>
          </a:xfrm>
          <a:prstGeom prst="ellipse">
            <a:avLst/>
          </a:prstGeom>
          <a:solidFill>
            <a:srgbClr val="D9DEE8"/>
          </a:solidFill>
          <a:ln/>
        </p:spPr>
      </p:sp>
      <p:sp>
        <p:nvSpPr>
          <p:cNvPr id="13" name="Shape 11"/>
          <p:cNvSpPr/>
          <p:nvPr/>
        </p:nvSpPr>
        <p:spPr>
          <a:xfrm>
            <a:off x="1268730" y="6473952"/>
            <a:ext cx="59436" cy="59436"/>
          </a:xfrm>
          <a:prstGeom prst="ellipse">
            <a:avLst/>
          </a:prstGeom>
          <a:solidFill>
            <a:srgbClr val="D9DEE8"/>
          </a:solidFill>
          <a:ln/>
        </p:spPr>
      </p:sp>
      <p:sp>
        <p:nvSpPr>
          <p:cNvPr id="14" name="Text 12"/>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He / Kaiming Initialization</a:t>
            </a:r>
            <a:endParaRPr lang="en-US" sz="2900" dirty="0"/>
          </a:p>
        </p:txBody>
      </p:sp>
      <p:sp>
        <p:nvSpPr>
          <p:cNvPr id="4" name="Shape 2"/>
          <p:cNvSpPr/>
          <p:nvPr/>
        </p:nvSpPr>
        <p:spPr>
          <a:xfrm>
            <a:off x="640080" y="1783080"/>
            <a:ext cx="10911535" cy="777240"/>
          </a:xfrm>
          <a:prstGeom prst="roundRect">
            <a:avLst>
              <a:gd name="adj" fmla="val 9412"/>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783080"/>
            <a:ext cx="10454335" cy="777240"/>
          </a:xfrm>
          <a:prstGeom prst="rect">
            <a:avLst/>
          </a:prstGeom>
          <a:noFill/>
          <a:ln/>
        </p:spPr>
        <p:txBody>
          <a:bodyPr wrap="square" lIns="0" tIns="0" rIns="0" bIns="0" rtlCol="0" anchor="ctr"/>
          <a:lstStyle/>
          <a:p>
            <a:pPr algn="ctr" indent="0" marL="0">
              <a:buNone/>
            </a:pPr>
            <a:r>
              <a:rPr lang="en-US" sz="1700" dirty="0">
                <a:solidFill>
                  <a:srgbClr val="16213E"/>
                </a:solidFill>
                <a:latin typeface="Cambria Math" pitchFamily="34" charset="0"/>
                <a:ea typeface="Cambria Math" pitchFamily="34" charset="-122"/>
                <a:cs typeface="Cambria Math" pitchFamily="34" charset="-120"/>
              </a:rPr>
              <a:t>He/Kaiming Normal:   W_ij ~ N(0, 2/n_in)          [ReLU / Leaky ReLU]</a:t>
            </a:r>
            <a:endParaRPr lang="en-US" sz="1700" dirty="0"/>
          </a:p>
        </p:txBody>
      </p:sp>
      <p:sp>
        <p:nvSpPr>
          <p:cNvPr id="6" name="Text 4"/>
          <p:cNvSpPr txBox="1"/>
          <p:nvPr/>
        </p:nvSpPr>
        <p:spPr>
          <a:xfrm>
            <a:off x="640080" y="2834640"/>
            <a:ext cx="10911535" cy="2103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Dưới giả định pre-activation gần đối xứng quanh 0, ReLU đặt khoảng một nửa giá trị về 0</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He dùng scale 2/n_in để bù sự suy giảm second moment (variance) do ReLU gây ra — gấp đôi công thức forward-preserving thuần (1/n_in)</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Trong nhiều thiết lập, cách này giúp giữ Var(a) cùng bậc độ lớn với Var(x) qua các lớp ReLU</a:t>
            </a:r>
            <a:endParaRPr lang="en-US" sz="1500" dirty="0"/>
          </a:p>
        </p:txBody>
      </p:sp>
      <p:sp>
        <p:nvSpPr>
          <p:cNvPr id="7" name="Text 5"/>
          <p:cNvSpPr txBox="1"/>
          <p:nvPr/>
        </p:nvSpPr>
        <p:spPr>
          <a:xfrm>
            <a:off x="640080" y="5120640"/>
            <a:ext cx="3474720" cy="768096"/>
          </a:xfrm>
          <a:prstGeom prst="rect">
            <a:avLst/>
          </a:prstGeom>
          <a:noFill/>
          <a:ln/>
        </p:spPr>
        <p:txBody>
          <a:bodyPr wrap="square" lIns="0" tIns="0" rIns="0" bIns="0" rtlCol="0" anchor="b"/>
          <a:lstStyle/>
          <a:p>
            <a:pPr algn="ctr" indent="0" marL="0">
              <a:buNone/>
            </a:pPr>
            <a:r>
              <a:rPr lang="en-US" sz="3000" b="1" dirty="0">
                <a:solidFill>
                  <a:srgbClr val="2E7D5B"/>
                </a:solidFill>
                <a:latin typeface="Cambria" pitchFamily="34" charset="0"/>
                <a:ea typeface="Cambria" pitchFamily="34" charset="-122"/>
                <a:cs typeface="Cambria" pitchFamily="34" charset="-120"/>
              </a:rPr>
              <a:t>66.7%</a:t>
            </a:r>
            <a:endParaRPr lang="en-US" sz="3000" dirty="0"/>
          </a:p>
        </p:txBody>
      </p:sp>
      <p:sp>
        <p:nvSpPr>
          <p:cNvPr id="8" name="Text 6"/>
          <p:cNvSpPr txBox="1"/>
          <p:nvPr/>
        </p:nvSpPr>
        <p:spPr>
          <a:xfrm>
            <a:off x="640080" y="5888736"/>
            <a:ext cx="3474720"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He + ReLU — test accuracy (thực nghiệm thật, 6 hidden layer)</a:t>
            </a:r>
            <a:endParaRPr lang="en-US" sz="1100" dirty="0"/>
          </a:p>
        </p:txBody>
      </p:sp>
      <p:sp>
        <p:nvSpPr>
          <p:cNvPr id="9" name="Text 7"/>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15/29</a:t>
            </a:r>
            <a:endParaRPr lang="en-US" sz="900" dirty="0"/>
          </a:p>
        </p:txBody>
      </p:sp>
      <p:sp>
        <p:nvSpPr>
          <p:cNvPr id="10" name="Shape 8"/>
          <p:cNvSpPr/>
          <p:nvPr/>
        </p:nvSpPr>
        <p:spPr>
          <a:xfrm>
            <a:off x="610362" y="6473952"/>
            <a:ext cx="59436" cy="59436"/>
          </a:xfrm>
          <a:prstGeom prst="ellipse">
            <a:avLst/>
          </a:prstGeom>
          <a:solidFill>
            <a:srgbClr val="D9DEE8"/>
          </a:solidFill>
          <a:ln/>
        </p:spPr>
      </p:sp>
      <p:sp>
        <p:nvSpPr>
          <p:cNvPr id="11" name="Shape 9"/>
          <p:cNvSpPr/>
          <p:nvPr/>
        </p:nvSpPr>
        <p:spPr>
          <a:xfrm>
            <a:off x="814959" y="6459093"/>
            <a:ext cx="89154" cy="89154"/>
          </a:xfrm>
          <a:prstGeom prst="ellipse">
            <a:avLst/>
          </a:prstGeom>
          <a:solidFill>
            <a:srgbClr val="285AB4"/>
          </a:solidFill>
          <a:ln/>
        </p:spPr>
      </p:sp>
      <p:sp>
        <p:nvSpPr>
          <p:cNvPr id="12" name="Shape 10"/>
          <p:cNvSpPr/>
          <p:nvPr/>
        </p:nvSpPr>
        <p:spPr>
          <a:xfrm>
            <a:off x="1049274" y="6473952"/>
            <a:ext cx="59436" cy="59436"/>
          </a:xfrm>
          <a:prstGeom prst="ellipse">
            <a:avLst/>
          </a:prstGeom>
          <a:solidFill>
            <a:srgbClr val="D9DEE8"/>
          </a:solidFill>
          <a:ln/>
        </p:spPr>
      </p:sp>
      <p:sp>
        <p:nvSpPr>
          <p:cNvPr id="13" name="Shape 11"/>
          <p:cNvSpPr/>
          <p:nvPr/>
        </p:nvSpPr>
        <p:spPr>
          <a:xfrm>
            <a:off x="1268730" y="6473952"/>
            <a:ext cx="59436" cy="59436"/>
          </a:xfrm>
          <a:prstGeom prst="ellipse">
            <a:avLst/>
          </a:prstGeom>
          <a:solidFill>
            <a:srgbClr val="D9DEE8"/>
          </a:solidFill>
          <a:ln/>
        </p:spPr>
      </p:sp>
      <p:sp>
        <p:nvSpPr>
          <p:cNvPr id="14" name="Text 12"/>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So sánh các phương pháp khởi tạo</a:t>
            </a:r>
            <a:endParaRPr lang="en-US" sz="2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2651760"/>
        </p:xfrm>
        <a:graphic>
          <a:graphicData uri="http://schemas.openxmlformats.org/drawingml/2006/table">
            <a:tbl>
              <a:tblPr/>
              <a:tblGrid>
                <a:gridCol w="2926080"/>
                <a:gridCol w="3685032"/>
                <a:gridCol w="4325112"/>
              </a:tblGrid>
              <a:tr h="441960">
                <a:tc>
                  <a:txBody>
                    <a:bodyPr/>
                    <a:lstStyle/>
                    <a:p>
                      <a:pPr indent="0" marL="0">
                        <a:buNone/>
                      </a:pPr>
                      <a:r>
                        <a:rPr lang="en-US" sz="1400" b="1" dirty="0">
                          <a:solidFill>
                            <a:srgbClr val="FFFFFF"/>
                          </a:solidFill>
                        </a:rPr>
                        <a:t>Initialization</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rPr>
                        <a:t>Formula</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rPr>
                        <a:t>Activation phù hợp</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r>
              <a:tr h="441960">
                <a:tc>
                  <a:txBody>
                    <a:bodyPr/>
                    <a:lstStyle/>
                    <a:p>
                      <a:pPr algn="l" indent="0" marL="0">
                        <a:buNone/>
                      </a:pPr>
                      <a:r>
                        <a:rPr lang="en-US" sz="1400" b="1" dirty="0">
                          <a:solidFill>
                            <a:srgbClr val="1A2238"/>
                          </a:solidFill>
                        </a:rPr>
                        <a:t>Zero</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400" dirty="0">
                          <a:solidFill>
                            <a:srgbClr val="1A2238"/>
                          </a:solidFill>
                        </a:rPr>
                        <a:t>W = 0</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400" dirty="0">
                          <a:solidFill>
                            <a:srgbClr val="1A2238"/>
                          </a:solidFill>
                        </a:rPr>
                        <a:t>Không nên dùng</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r>
              <a:tr h="441960">
                <a:tc>
                  <a:txBody>
                    <a:bodyPr/>
                    <a:lstStyle/>
                    <a:p>
                      <a:pPr algn="l" indent="0" marL="0">
                        <a:buNone/>
                      </a:pPr>
                      <a:r>
                        <a:rPr lang="en-US" sz="1400" b="1" dirty="0">
                          <a:solidFill>
                            <a:srgbClr val="1A2238"/>
                          </a:solidFill>
                        </a:rPr>
                        <a:t>Small Random</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8"/>
                          </a:solidFill>
                        </a:rPr>
                        <a:t>N(0, 0.01²)</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8"/>
                          </a:solidFill>
                        </a:rPr>
                        <a:t>Chỉ mạng rất nông</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r>
              <a:tr h="441960">
                <a:tc>
                  <a:txBody>
                    <a:bodyPr/>
                    <a:lstStyle/>
                    <a:p>
                      <a:pPr algn="l" indent="0" marL="0">
                        <a:buNone/>
                      </a:pPr>
                      <a:r>
                        <a:rPr lang="en-US" sz="1400" b="1" dirty="0">
                          <a:solidFill>
                            <a:srgbClr val="1A2238"/>
                          </a:solidFill>
                        </a:rPr>
                        <a:t>Xavier / Glorot</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400" dirty="0">
                          <a:solidFill>
                            <a:srgbClr val="1A2238"/>
                          </a:solidFill>
                        </a:rPr>
                        <a:t>2 / (n_in+n_out)</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400" dirty="0">
                          <a:solidFill>
                            <a:srgbClr val="1A2238"/>
                          </a:solidFill>
                        </a:rPr>
                        <a:t>Tanh (zero-centered)</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r>
              <a:tr h="441960">
                <a:tc>
                  <a:txBody>
                    <a:bodyPr/>
                    <a:lstStyle/>
                    <a:p>
                      <a:pPr algn="l" indent="0" marL="0">
                        <a:buNone/>
                      </a:pPr>
                      <a:r>
                        <a:rPr lang="en-US" sz="1400" b="1" dirty="0">
                          <a:solidFill>
                            <a:srgbClr val="1A2238"/>
                          </a:solidFill>
                        </a:rPr>
                        <a:t>He / Kaiming</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8"/>
                          </a:solidFill>
                        </a:rPr>
                        <a:t>2 / n_in</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8"/>
                          </a:solidFill>
                        </a:rPr>
                        <a:t>ReLU / Leaky ReLU</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r>
              <a:tr h="441960">
                <a:tc>
                  <a:txBody>
                    <a:bodyPr/>
                    <a:lstStyle/>
                    <a:p>
                      <a:pPr algn="l" indent="0" marL="0">
                        <a:buNone/>
                      </a:pPr>
                      <a:r>
                        <a:rPr lang="en-US" sz="1400" b="1" dirty="0">
                          <a:solidFill>
                            <a:srgbClr val="1A2238"/>
                          </a:solidFill>
                        </a:rPr>
                        <a:t>Orthogonal*</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400" dirty="0">
                          <a:solidFill>
                            <a:srgbClr val="1A2238"/>
                          </a:solidFill>
                        </a:rPr>
                        <a:t>WᵀW = I</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400" dirty="0">
                          <a:solidFill>
                            <a:srgbClr val="1A2238"/>
                          </a:solidFill>
                        </a:rPr>
                        <a:t>Deep / RNN</a:t>
                      </a:r>
                      <a:endParaRPr lang="en-US" sz="14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r>
            </a:tbl>
          </a:graphicData>
        </a:graphic>
      </p:graphicFrame>
      <p:sp>
        <p:nvSpPr>
          <p:cNvPr id="5" name="Text 2"/>
          <p:cNvSpPr txBox="1"/>
          <p:nvPr/>
        </p:nvSpPr>
        <p:spPr>
          <a:xfrm>
            <a:off x="640080" y="4709160"/>
            <a:ext cx="10911535" cy="548640"/>
          </a:xfrm>
          <a:prstGeom prst="rect">
            <a:avLst/>
          </a:prstGeom>
          <a:noFill/>
          <a:ln/>
        </p:spPr>
        <p:txBody>
          <a:bodyPr wrap="square" lIns="0" tIns="0" rIns="0" bIns="0"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 Orthogonal initialization không nằm trong lưới thực nghiệm của báo cáo này (chỉ Zero/Random/LeCun/Xavier/He được test) — liệt kê ở đây cho đầy đủ bức tranh lý thuyết, không có số liệu thực nghiệm đi kèm.</a:t>
            </a:r>
            <a:endParaRPr lang="en-US" sz="1150" dirty="0"/>
          </a:p>
        </p:txBody>
      </p:sp>
      <p:sp>
        <p:nvSpPr>
          <p:cNvPr id="6" name="Text 3"/>
          <p:cNvSpPr txBox="1"/>
          <p:nvPr/>
        </p:nvSpPr>
        <p:spPr>
          <a:xfrm>
            <a:off x="640080" y="5394960"/>
            <a:ext cx="10911535" cy="731520"/>
          </a:xfrm>
          <a:prstGeom prst="rect">
            <a:avLst/>
          </a:prstGeom>
          <a:noFill/>
          <a:ln/>
        </p:spPr>
        <p:txBody>
          <a:bodyPr wrap="square" lIns="0" tIns="0" rIns="0" bIns="0" rtlCol="0" anchor="t"/>
          <a:lstStyle/>
          <a:p>
            <a:pPr marL="228600" indent="-228600">
              <a:buSzPct val="100000"/>
              <a:buChar char="▪"/>
            </a:pPr>
            <a:r>
              <a:rPr lang="en-US" sz="1450" dirty="0">
                <a:solidFill>
                  <a:srgbClr val="1A2238"/>
                </a:solidFill>
                <a:latin typeface="Calibri" pitchFamily="34" charset="0"/>
                <a:ea typeface="Calibri" pitchFamily="34" charset="-122"/>
                <a:cs typeface="Calibri" pitchFamily="34" charset="-120"/>
              </a:rPr>
              <a:t>Đây là một trong những slide quan trọng nhất — mọi thí nghiệm tiếp theo đều nhằm KIỂM CHỨNG bảng này bằng số liệu thật</a:t>
            </a:r>
            <a:endParaRPr lang="en-US" sz="1450" dirty="0"/>
          </a:p>
        </p:txBody>
      </p:sp>
      <p:sp>
        <p:nvSpPr>
          <p:cNvPr id="7" name="Text 4"/>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16/29</a:t>
            </a:r>
            <a:endParaRPr lang="en-US" sz="900" dirty="0"/>
          </a:p>
        </p:txBody>
      </p:sp>
      <p:sp>
        <p:nvSpPr>
          <p:cNvPr id="8" name="Shape 5"/>
          <p:cNvSpPr/>
          <p:nvPr/>
        </p:nvSpPr>
        <p:spPr>
          <a:xfrm>
            <a:off x="610362" y="6473952"/>
            <a:ext cx="59436" cy="59436"/>
          </a:xfrm>
          <a:prstGeom prst="ellipse">
            <a:avLst/>
          </a:prstGeom>
          <a:solidFill>
            <a:srgbClr val="D9DEE8"/>
          </a:solidFill>
          <a:ln/>
        </p:spPr>
      </p:sp>
      <p:sp>
        <p:nvSpPr>
          <p:cNvPr id="9" name="Shape 6"/>
          <p:cNvSpPr/>
          <p:nvPr/>
        </p:nvSpPr>
        <p:spPr>
          <a:xfrm>
            <a:off x="814959" y="6459093"/>
            <a:ext cx="89154" cy="89154"/>
          </a:xfrm>
          <a:prstGeom prst="ellipse">
            <a:avLst/>
          </a:prstGeom>
          <a:solidFill>
            <a:srgbClr val="285AB4"/>
          </a:solidFill>
          <a:ln/>
        </p:spPr>
      </p:sp>
      <p:sp>
        <p:nvSpPr>
          <p:cNvPr id="10" name="Shape 7"/>
          <p:cNvSpPr/>
          <p:nvPr/>
        </p:nvSpPr>
        <p:spPr>
          <a:xfrm>
            <a:off x="1049274" y="6473952"/>
            <a:ext cx="59436" cy="59436"/>
          </a:xfrm>
          <a:prstGeom prst="ellipse">
            <a:avLst/>
          </a:prstGeom>
          <a:solidFill>
            <a:srgbClr val="D9DEE8"/>
          </a:solidFill>
          <a:ln/>
        </p:spPr>
      </p:sp>
      <p:sp>
        <p:nvSpPr>
          <p:cNvPr id="11" name="Shape 8"/>
          <p:cNvSpPr/>
          <p:nvPr/>
        </p:nvSpPr>
        <p:spPr>
          <a:xfrm>
            <a:off x="1268730" y="6473952"/>
            <a:ext cx="59436" cy="59436"/>
          </a:xfrm>
          <a:prstGeom prst="ellipse">
            <a:avLst/>
          </a:prstGeom>
          <a:solidFill>
            <a:srgbClr val="D9DEE8"/>
          </a:solidFill>
          <a:ln/>
        </p:spPr>
      </p:sp>
      <p:sp>
        <p:nvSpPr>
          <p:cNvPr id="12" name="Text 9"/>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PARAMETER INITIALIZATION — SYNTHESIS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600" b="1" dirty="0">
                <a:solidFill>
                  <a:srgbClr val="1A2238"/>
                </a:solidFill>
                <a:latin typeface="Cambria" pitchFamily="34" charset="0"/>
                <a:ea typeface="Cambria" pitchFamily="34" charset="-122"/>
                <a:cs typeface="Cambria" pitchFamily="34" charset="-120"/>
              </a:rPr>
              <a:t>Xavier và He đang cố giữ điều gì?</a:t>
            </a:r>
            <a:endParaRPr lang="en-US" sz="2600" dirty="0"/>
          </a:p>
        </p:txBody>
      </p:sp>
      <p:sp>
        <p:nvSpPr>
          <p:cNvPr id="4" name="Shape 2"/>
          <p:cNvSpPr/>
          <p:nvPr/>
        </p:nvSpPr>
        <p:spPr>
          <a:xfrm>
            <a:off x="640080" y="1965960"/>
            <a:ext cx="5120640" cy="1965960"/>
          </a:xfrm>
          <a:prstGeom prst="roundRect">
            <a:avLst>
              <a:gd name="adj" fmla="val 3721"/>
            </a:avLst>
          </a:prstGeom>
          <a:solidFill>
            <a:srgbClr val="EAF0FB"/>
          </a:solidFill>
          <a:ln w="12700">
            <a:solidFill>
              <a:srgbClr val="285AB4"/>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914400" y="2167128"/>
            <a:ext cx="4572000" cy="548640"/>
          </a:xfrm>
          <a:prstGeom prst="rect">
            <a:avLst/>
          </a:prstGeom>
          <a:noFill/>
          <a:ln/>
        </p:spPr>
        <p:txBody>
          <a:bodyPr wrap="square" lIns="0" tIns="0" rIns="0" bIns="0" rtlCol="0" anchor="ctr"/>
          <a:lstStyle/>
          <a:p>
            <a:pPr indent="0" marL="0">
              <a:buNone/>
            </a:pPr>
            <a:r>
              <a:rPr lang="en-US" sz="1450" b="1" dirty="0">
                <a:solidFill>
                  <a:srgbClr val="285AB4"/>
                </a:solidFill>
                <a:latin typeface="Cambria" pitchFamily="34" charset="0"/>
                <a:ea typeface="Cambria" pitchFamily="34" charset="-122"/>
                <a:cs typeface="Cambria" pitchFamily="34" charset="-120"/>
              </a:rPr>
              <a:t>Forward</a:t>
            </a:r>
            <a:endParaRPr lang="en-US" sz="1450" dirty="0"/>
          </a:p>
        </p:txBody>
      </p:sp>
      <p:sp>
        <p:nvSpPr>
          <p:cNvPr id="6" name="Text 4"/>
          <p:cNvSpPr txBox="1"/>
          <p:nvPr/>
        </p:nvSpPr>
        <p:spPr>
          <a:xfrm>
            <a:off x="914400" y="2834640"/>
            <a:ext cx="4572000" cy="960120"/>
          </a:xfrm>
          <a:prstGeom prst="rect">
            <a:avLst/>
          </a:prstGeom>
          <a:noFill/>
          <a:ln/>
        </p:spPr>
        <p:txBody>
          <a:bodyPr wrap="square" lIns="0" tIns="0" rIns="0" bIns="0" rtlCol="0" anchor="t"/>
          <a:lstStyle/>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Var(a⁽ˡ⁾) ≈ ổn định qua các layer</a:t>
            </a:r>
            <a:endParaRPr lang="en-US" sz="1450" dirty="0"/>
          </a:p>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(không co cụm về 0, không bùng nổ khi đi qua nhiều lớp)</a:t>
            </a:r>
            <a:endParaRPr lang="en-US" sz="1450" dirty="0"/>
          </a:p>
        </p:txBody>
      </p:sp>
      <p:sp>
        <p:nvSpPr>
          <p:cNvPr id="7" name="Shape 5"/>
          <p:cNvSpPr/>
          <p:nvPr/>
        </p:nvSpPr>
        <p:spPr>
          <a:xfrm>
            <a:off x="6430975" y="1965960"/>
            <a:ext cx="5120640" cy="1965960"/>
          </a:xfrm>
          <a:prstGeom prst="roundRect">
            <a:avLst>
              <a:gd name="adj" fmla="val 3721"/>
            </a:avLst>
          </a:prstGeom>
          <a:solidFill>
            <a:srgbClr val="FBEEEC"/>
          </a:solidFill>
          <a:ln w="12700">
            <a:solidFill>
              <a:srgbClr val="BE3C32"/>
            </a:solidFill>
            <a:prstDash val="solid"/>
          </a:ln>
          <a:effectLst>
            <a:outerShdw sx="100000" sy="100000" kx="0" ky="0" algn="bl" rotWithShape="0" blurRad="114300" dist="38100" dir="5400000">
              <a:srgbClr val="1A1A2E">
                <a:alpha val="20000"/>
              </a:srgbClr>
            </a:outerShdw>
          </a:effectLst>
        </p:spPr>
      </p:sp>
      <p:sp>
        <p:nvSpPr>
          <p:cNvPr id="8" name="Text 6"/>
          <p:cNvSpPr txBox="1"/>
          <p:nvPr/>
        </p:nvSpPr>
        <p:spPr>
          <a:xfrm>
            <a:off x="6705295" y="2167128"/>
            <a:ext cx="4572000" cy="548640"/>
          </a:xfrm>
          <a:prstGeom prst="rect">
            <a:avLst/>
          </a:prstGeom>
          <a:noFill/>
          <a:ln/>
        </p:spPr>
        <p:txBody>
          <a:bodyPr wrap="square" lIns="0" tIns="0" rIns="0" bIns="0" rtlCol="0" anchor="ctr"/>
          <a:lstStyle/>
          <a:p>
            <a:pPr indent="0" marL="0">
              <a:buNone/>
            </a:pPr>
            <a:r>
              <a:rPr lang="en-US" sz="1450" b="1" dirty="0">
                <a:solidFill>
                  <a:srgbClr val="BE3C32"/>
                </a:solidFill>
                <a:latin typeface="Cambria" pitchFamily="34" charset="0"/>
                <a:ea typeface="Cambria" pitchFamily="34" charset="-122"/>
                <a:cs typeface="Cambria" pitchFamily="34" charset="-120"/>
              </a:rPr>
              <a:t>Backward</a:t>
            </a:r>
            <a:endParaRPr lang="en-US" sz="1450" dirty="0"/>
          </a:p>
        </p:txBody>
      </p:sp>
      <p:sp>
        <p:nvSpPr>
          <p:cNvPr id="9" name="Text 7"/>
          <p:cNvSpPr txBox="1"/>
          <p:nvPr/>
        </p:nvSpPr>
        <p:spPr>
          <a:xfrm>
            <a:off x="6705295" y="2834640"/>
            <a:ext cx="4572000" cy="960120"/>
          </a:xfrm>
          <a:prstGeom prst="rect">
            <a:avLst/>
          </a:prstGeom>
          <a:noFill/>
          <a:ln/>
        </p:spPr>
        <p:txBody>
          <a:bodyPr wrap="square" lIns="0" tIns="0" rIns="0" bIns="0" rtlCol="0" anchor="t"/>
          <a:lstStyle/>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Var(δ⁽ˡ⁾) ≈ ổn định qua các layer</a:t>
            </a:r>
            <a:endParaRPr lang="en-US" sz="1450" dirty="0"/>
          </a:p>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(δ = ∂L/∂z — cùng logic áp dụng cho gradient khi lan truyền ngược)</a:t>
            </a:r>
            <a:endParaRPr lang="en-US" sz="1450" dirty="0"/>
          </a:p>
        </p:txBody>
      </p:sp>
      <p:sp>
        <p:nvSpPr>
          <p:cNvPr id="10" name="Shape 8"/>
          <p:cNvSpPr/>
          <p:nvPr/>
        </p:nvSpPr>
        <p:spPr>
          <a:xfrm>
            <a:off x="640080" y="4343400"/>
            <a:ext cx="10911535" cy="1051560"/>
          </a:xfrm>
          <a:prstGeom prst="roundRect">
            <a:avLst>
              <a:gd name="adj" fmla="val 6957"/>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11" name="Text 9"/>
          <p:cNvSpPr txBox="1"/>
          <p:nvPr/>
        </p:nvSpPr>
        <p:spPr>
          <a:xfrm>
            <a:off x="868680" y="4343400"/>
            <a:ext cx="10454335" cy="1051560"/>
          </a:xfrm>
          <a:prstGeom prst="rect">
            <a:avLst/>
          </a:prstGeom>
          <a:noFill/>
          <a:ln/>
        </p:spPr>
        <p:txBody>
          <a:bodyPr wrap="square" lIns="0" tIns="0" rIns="0" bIns="0" rtlCol="0" anchor="ctr"/>
          <a:lstStyle/>
          <a:p>
            <a:pPr algn="ctr" indent="0" marL="0">
              <a:buNone/>
            </a:pPr>
            <a:r>
              <a:rPr lang="en-US" sz="1500" dirty="0">
                <a:solidFill>
                  <a:srgbClr val="16213E"/>
                </a:solidFill>
                <a:latin typeface="Cambria Math" pitchFamily="34" charset="0"/>
                <a:ea typeface="Cambria Math" pitchFamily="34" charset="-122"/>
                <a:cs typeface="Cambria Math" pitchFamily="34" charset="-120"/>
              </a:rPr>
              <a:t>Good initialization attempts to prevent the scale of signals and gradients from systematically collapsing or exploding as depth increases.</a:t>
            </a:r>
            <a:endParaRPr lang="en-US" sz="1500" dirty="0"/>
          </a:p>
        </p:txBody>
      </p:sp>
      <p:sp>
        <p:nvSpPr>
          <p:cNvPr id="12" name="Text 10"/>
          <p:cNvSpPr txBox="1"/>
          <p:nvPr/>
        </p:nvSpPr>
        <p:spPr>
          <a:xfrm>
            <a:off x="640080" y="5577840"/>
            <a:ext cx="10911535" cy="64008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Đây là MỤC TIÊU chung của Xavier/He, dưới các giả định đơn giản hoá (activation gần tuyến tính quanh 0, weight độc lập...) — không phải một đảm bảo toán học tuyệt đối trong mọi kiến trúc/activation thực tế.</a:t>
            </a:r>
            <a:endParaRPr lang="en-US" sz="1200" dirty="0"/>
          </a:p>
        </p:txBody>
      </p:sp>
      <p:sp>
        <p:nvSpPr>
          <p:cNvPr id="13" name="Text 11"/>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17/29</a:t>
            </a:r>
            <a:endParaRPr lang="en-US" sz="900" dirty="0"/>
          </a:p>
        </p:txBody>
      </p:sp>
      <p:sp>
        <p:nvSpPr>
          <p:cNvPr id="14" name="Shape 12"/>
          <p:cNvSpPr/>
          <p:nvPr/>
        </p:nvSpPr>
        <p:spPr>
          <a:xfrm>
            <a:off x="610362" y="6473952"/>
            <a:ext cx="59436" cy="59436"/>
          </a:xfrm>
          <a:prstGeom prst="ellipse">
            <a:avLst/>
          </a:prstGeom>
          <a:solidFill>
            <a:srgbClr val="D9DEE8"/>
          </a:solidFill>
          <a:ln/>
        </p:spPr>
      </p:sp>
      <p:sp>
        <p:nvSpPr>
          <p:cNvPr id="15" name="Shape 13"/>
          <p:cNvSpPr/>
          <p:nvPr/>
        </p:nvSpPr>
        <p:spPr>
          <a:xfrm>
            <a:off x="814959" y="6459093"/>
            <a:ext cx="89154" cy="89154"/>
          </a:xfrm>
          <a:prstGeom prst="ellipse">
            <a:avLst/>
          </a:prstGeom>
          <a:solidFill>
            <a:srgbClr val="285AB4"/>
          </a:solidFill>
          <a:ln/>
        </p:spPr>
      </p:sp>
      <p:sp>
        <p:nvSpPr>
          <p:cNvPr id="16" name="Shape 14"/>
          <p:cNvSpPr/>
          <p:nvPr/>
        </p:nvSpPr>
        <p:spPr>
          <a:xfrm>
            <a:off x="1049274" y="6473952"/>
            <a:ext cx="59436" cy="59436"/>
          </a:xfrm>
          <a:prstGeom prst="ellipse">
            <a:avLst/>
          </a:prstGeom>
          <a:solidFill>
            <a:srgbClr val="D9DEE8"/>
          </a:solidFill>
          <a:ln/>
        </p:spPr>
      </p:sp>
      <p:sp>
        <p:nvSpPr>
          <p:cNvPr id="17" name="Shape 15"/>
          <p:cNvSpPr/>
          <p:nvPr/>
        </p:nvSpPr>
        <p:spPr>
          <a:xfrm>
            <a:off x="1268730" y="6473952"/>
            <a:ext cx="59436" cy="59436"/>
          </a:xfrm>
          <a:prstGeom prst="ellipse">
            <a:avLst/>
          </a:prstGeom>
          <a:solidFill>
            <a:srgbClr val="D9DEE8"/>
          </a:solidFill>
          <a:ln/>
        </p:spPr>
      </p:sp>
      <p:sp>
        <p:nvSpPr>
          <p:cNvPr id="18" name="Text 16"/>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MINI RESEARCH EXPERIMENT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600" b="1" dirty="0">
                <a:solidFill>
                  <a:srgbClr val="1A2238"/>
                </a:solidFill>
                <a:latin typeface="Cambria" pitchFamily="34" charset="0"/>
                <a:ea typeface="Cambria" pitchFamily="34" charset="-122"/>
                <a:cs typeface="Cambria" pitchFamily="34" charset="-120"/>
              </a:rPr>
              <a:t>Thiết kế thực nghiệm</a:t>
            </a:r>
            <a:endParaRPr lang="en-US" sz="2600" dirty="0"/>
          </a:p>
        </p:txBody>
      </p:sp>
      <p:sp>
        <p:nvSpPr>
          <p:cNvPr id="4" name="Shape 2"/>
          <p:cNvSpPr/>
          <p:nvPr/>
        </p:nvSpPr>
        <p:spPr>
          <a:xfrm>
            <a:off x="640080" y="1600200"/>
            <a:ext cx="10911535" cy="594360"/>
          </a:xfrm>
          <a:prstGeom prst="roundRect">
            <a:avLst>
              <a:gd name="adj" fmla="val 12308"/>
            </a:avLst>
          </a:prstGeom>
          <a:solidFill>
            <a:srgbClr val="F1F4F9"/>
          </a:solidFill>
          <a:ln w="9525">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868680" y="1600200"/>
            <a:ext cx="10454335" cy="594360"/>
          </a:xfrm>
          <a:prstGeom prst="rect">
            <a:avLst/>
          </a:prstGeom>
          <a:noFill/>
          <a:ln/>
        </p:spPr>
        <p:txBody>
          <a:bodyPr wrap="square" lIns="0" tIns="0" rIns="0" bIns="0" rtlCol="0" anchor="ctr"/>
          <a:lstStyle/>
          <a:p>
            <a:pPr algn="ctr" indent="0" marL="0">
              <a:buNone/>
            </a:pPr>
            <a:r>
              <a:rPr lang="en-US" sz="1550" dirty="0">
                <a:solidFill>
                  <a:srgbClr val="16213E"/>
                </a:solidFill>
                <a:latin typeface="Cambria Math" pitchFamily="34" charset="0"/>
                <a:ea typeface="Cambria Math" pitchFamily="34" charset="-122"/>
                <a:cs typeface="Cambria Math" pitchFamily="34" charset="-120"/>
              </a:rPr>
              <a:t>How does weight initialization affect gradient flow and convergence?</a:t>
            </a:r>
            <a:endParaRPr lang="en-US" sz="1550" dirty="0"/>
          </a:p>
        </p:txBody>
      </p:sp>
      <p:sp>
        <p:nvSpPr>
          <p:cNvPr id="6" name="Shape 4"/>
          <p:cNvSpPr/>
          <p:nvPr/>
        </p:nvSpPr>
        <p:spPr>
          <a:xfrm>
            <a:off x="640080" y="2450592"/>
            <a:ext cx="1828800" cy="310896"/>
          </a:xfrm>
          <a:prstGeom prst="roundRect">
            <a:avLst>
              <a:gd name="adj" fmla="val 17647"/>
            </a:avLst>
          </a:prstGeom>
          <a:solidFill>
            <a:srgbClr val="F1F4F9"/>
          </a:solidFill>
          <a:ln w="15875">
            <a:solidFill>
              <a:srgbClr val="D9DEE8"/>
            </a:solidFill>
            <a:prstDash val="solid"/>
          </a:ln>
        </p:spPr>
      </p:sp>
      <p:sp>
        <p:nvSpPr>
          <p:cNvPr id="7" name="Text 5"/>
          <p:cNvSpPr txBox="1"/>
          <p:nvPr/>
        </p:nvSpPr>
        <p:spPr>
          <a:xfrm>
            <a:off x="640080" y="2450592"/>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Input 784</a:t>
            </a:r>
            <a:endParaRPr lang="en-US" sz="1100" dirty="0"/>
          </a:p>
        </p:txBody>
      </p:sp>
      <p:sp>
        <p:nvSpPr>
          <p:cNvPr id="8" name="Shape 6"/>
          <p:cNvSpPr/>
          <p:nvPr/>
        </p:nvSpPr>
        <p:spPr>
          <a:xfrm>
            <a:off x="640080" y="2852928"/>
            <a:ext cx="1828800" cy="310896"/>
          </a:xfrm>
          <a:prstGeom prst="roundRect">
            <a:avLst>
              <a:gd name="adj" fmla="val 17647"/>
            </a:avLst>
          </a:prstGeom>
          <a:solidFill>
            <a:srgbClr val="F1F4F9"/>
          </a:solidFill>
          <a:ln w="15875">
            <a:solidFill>
              <a:srgbClr val="D9DEE8"/>
            </a:solidFill>
            <a:prstDash val="solid"/>
          </a:ln>
        </p:spPr>
      </p:sp>
      <p:sp>
        <p:nvSpPr>
          <p:cNvPr id="9" name="Text 7"/>
          <p:cNvSpPr txBox="1"/>
          <p:nvPr/>
        </p:nvSpPr>
        <p:spPr>
          <a:xfrm>
            <a:off x="640080" y="2852928"/>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Linear 128</a:t>
            </a:r>
            <a:endParaRPr lang="en-US" sz="1100" dirty="0"/>
          </a:p>
        </p:txBody>
      </p:sp>
      <p:sp>
        <p:nvSpPr>
          <p:cNvPr id="10" name="Shape 8"/>
          <p:cNvSpPr/>
          <p:nvPr/>
        </p:nvSpPr>
        <p:spPr>
          <a:xfrm>
            <a:off x="640080" y="3255264"/>
            <a:ext cx="1828800" cy="310896"/>
          </a:xfrm>
          <a:prstGeom prst="roundRect">
            <a:avLst>
              <a:gd name="adj" fmla="val 17647"/>
            </a:avLst>
          </a:prstGeom>
          <a:solidFill>
            <a:srgbClr val="EAF0FB"/>
          </a:solidFill>
          <a:ln w="15875">
            <a:solidFill>
              <a:srgbClr val="285AB4"/>
            </a:solidFill>
            <a:prstDash val="solid"/>
          </a:ln>
        </p:spPr>
      </p:sp>
      <p:sp>
        <p:nvSpPr>
          <p:cNvPr id="11" name="Text 9"/>
          <p:cNvSpPr txBox="1"/>
          <p:nvPr/>
        </p:nvSpPr>
        <p:spPr>
          <a:xfrm>
            <a:off x="640080" y="3255264"/>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ReLU</a:t>
            </a:r>
            <a:endParaRPr lang="en-US" sz="1100" dirty="0"/>
          </a:p>
        </p:txBody>
      </p:sp>
      <p:sp>
        <p:nvSpPr>
          <p:cNvPr id="12" name="Shape 10"/>
          <p:cNvSpPr/>
          <p:nvPr/>
        </p:nvSpPr>
        <p:spPr>
          <a:xfrm>
            <a:off x="640080" y="3657600"/>
            <a:ext cx="1828800" cy="310896"/>
          </a:xfrm>
          <a:prstGeom prst="roundRect">
            <a:avLst>
              <a:gd name="adj" fmla="val 17647"/>
            </a:avLst>
          </a:prstGeom>
          <a:solidFill>
            <a:srgbClr val="F1F4F9"/>
          </a:solidFill>
          <a:ln w="15875">
            <a:solidFill>
              <a:srgbClr val="D9DEE8"/>
            </a:solidFill>
            <a:prstDash val="solid"/>
          </a:ln>
        </p:spPr>
      </p:sp>
      <p:sp>
        <p:nvSpPr>
          <p:cNvPr id="13" name="Text 11"/>
          <p:cNvSpPr txBox="1"/>
          <p:nvPr/>
        </p:nvSpPr>
        <p:spPr>
          <a:xfrm>
            <a:off x="640080" y="3657600"/>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Linear 128</a:t>
            </a:r>
            <a:endParaRPr lang="en-US" sz="1100" dirty="0"/>
          </a:p>
        </p:txBody>
      </p:sp>
      <p:sp>
        <p:nvSpPr>
          <p:cNvPr id="14" name="Shape 12"/>
          <p:cNvSpPr/>
          <p:nvPr/>
        </p:nvSpPr>
        <p:spPr>
          <a:xfrm>
            <a:off x="640080" y="4059936"/>
            <a:ext cx="1828800" cy="310896"/>
          </a:xfrm>
          <a:prstGeom prst="roundRect">
            <a:avLst>
              <a:gd name="adj" fmla="val 17647"/>
            </a:avLst>
          </a:prstGeom>
          <a:solidFill>
            <a:srgbClr val="EAF0FB"/>
          </a:solidFill>
          <a:ln w="15875">
            <a:solidFill>
              <a:srgbClr val="285AB4"/>
            </a:solidFill>
            <a:prstDash val="solid"/>
          </a:ln>
        </p:spPr>
      </p:sp>
      <p:sp>
        <p:nvSpPr>
          <p:cNvPr id="15" name="Text 13"/>
          <p:cNvSpPr txBox="1"/>
          <p:nvPr/>
        </p:nvSpPr>
        <p:spPr>
          <a:xfrm>
            <a:off x="640080" y="4059936"/>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ReLU</a:t>
            </a:r>
            <a:endParaRPr lang="en-US" sz="1100" dirty="0"/>
          </a:p>
        </p:txBody>
      </p:sp>
      <p:sp>
        <p:nvSpPr>
          <p:cNvPr id="16" name="Shape 14"/>
          <p:cNvSpPr/>
          <p:nvPr/>
        </p:nvSpPr>
        <p:spPr>
          <a:xfrm>
            <a:off x="640080" y="4462272"/>
            <a:ext cx="1828800" cy="310896"/>
          </a:xfrm>
          <a:prstGeom prst="roundRect">
            <a:avLst>
              <a:gd name="adj" fmla="val 17647"/>
            </a:avLst>
          </a:prstGeom>
          <a:solidFill>
            <a:srgbClr val="F1F4F9"/>
          </a:solidFill>
          <a:ln w="15875">
            <a:solidFill>
              <a:srgbClr val="D9DEE8"/>
            </a:solidFill>
            <a:prstDash val="solid"/>
          </a:ln>
        </p:spPr>
      </p:sp>
      <p:sp>
        <p:nvSpPr>
          <p:cNvPr id="17" name="Text 15"/>
          <p:cNvSpPr txBox="1"/>
          <p:nvPr/>
        </p:nvSpPr>
        <p:spPr>
          <a:xfrm>
            <a:off x="640080" y="4462272"/>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a:t>
            </a:r>
            <a:endParaRPr lang="en-US" sz="1100" dirty="0"/>
          </a:p>
        </p:txBody>
      </p:sp>
      <p:sp>
        <p:nvSpPr>
          <p:cNvPr id="18" name="Shape 16"/>
          <p:cNvSpPr/>
          <p:nvPr/>
        </p:nvSpPr>
        <p:spPr>
          <a:xfrm>
            <a:off x="640080" y="4864608"/>
            <a:ext cx="1828800" cy="310896"/>
          </a:xfrm>
          <a:prstGeom prst="roundRect">
            <a:avLst>
              <a:gd name="adj" fmla="val 17647"/>
            </a:avLst>
          </a:prstGeom>
          <a:solidFill>
            <a:srgbClr val="F1F4F9"/>
          </a:solidFill>
          <a:ln w="15875">
            <a:solidFill>
              <a:srgbClr val="D9DEE8"/>
            </a:solidFill>
            <a:prstDash val="solid"/>
          </a:ln>
        </p:spPr>
      </p:sp>
      <p:sp>
        <p:nvSpPr>
          <p:cNvPr id="19" name="Text 17"/>
          <p:cNvSpPr txBox="1"/>
          <p:nvPr/>
        </p:nvSpPr>
        <p:spPr>
          <a:xfrm>
            <a:off x="640080" y="4864608"/>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Linear 128</a:t>
            </a:r>
            <a:endParaRPr lang="en-US" sz="1100" dirty="0"/>
          </a:p>
        </p:txBody>
      </p:sp>
      <p:sp>
        <p:nvSpPr>
          <p:cNvPr id="20" name="Shape 18"/>
          <p:cNvSpPr/>
          <p:nvPr/>
        </p:nvSpPr>
        <p:spPr>
          <a:xfrm>
            <a:off x="640080" y="5266944"/>
            <a:ext cx="1828800" cy="310896"/>
          </a:xfrm>
          <a:prstGeom prst="roundRect">
            <a:avLst>
              <a:gd name="adj" fmla="val 17647"/>
            </a:avLst>
          </a:prstGeom>
          <a:solidFill>
            <a:srgbClr val="EAF0FB"/>
          </a:solidFill>
          <a:ln w="15875">
            <a:solidFill>
              <a:srgbClr val="285AB4"/>
            </a:solidFill>
            <a:prstDash val="solid"/>
          </a:ln>
        </p:spPr>
      </p:sp>
      <p:sp>
        <p:nvSpPr>
          <p:cNvPr id="21" name="Text 19"/>
          <p:cNvSpPr txBox="1"/>
          <p:nvPr/>
        </p:nvSpPr>
        <p:spPr>
          <a:xfrm>
            <a:off x="640080" y="5266944"/>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ReLU</a:t>
            </a:r>
            <a:endParaRPr lang="en-US" sz="1100" dirty="0"/>
          </a:p>
        </p:txBody>
      </p:sp>
      <p:sp>
        <p:nvSpPr>
          <p:cNvPr id="22" name="Shape 20"/>
          <p:cNvSpPr/>
          <p:nvPr/>
        </p:nvSpPr>
        <p:spPr>
          <a:xfrm>
            <a:off x="640080" y="5669280"/>
            <a:ext cx="1828800" cy="310896"/>
          </a:xfrm>
          <a:prstGeom prst="roundRect">
            <a:avLst>
              <a:gd name="adj" fmla="val 17647"/>
            </a:avLst>
          </a:prstGeom>
          <a:solidFill>
            <a:srgbClr val="F1F4F9"/>
          </a:solidFill>
          <a:ln w="15875">
            <a:solidFill>
              <a:srgbClr val="D9DEE8"/>
            </a:solidFill>
            <a:prstDash val="solid"/>
          </a:ln>
        </p:spPr>
      </p:sp>
      <p:sp>
        <p:nvSpPr>
          <p:cNvPr id="23" name="Text 21"/>
          <p:cNvSpPr txBox="1"/>
          <p:nvPr/>
        </p:nvSpPr>
        <p:spPr>
          <a:xfrm>
            <a:off x="640080" y="5669280"/>
            <a:ext cx="1828800" cy="310896"/>
          </a:xfrm>
          <a:prstGeom prst="rect">
            <a:avLst/>
          </a:prstGeom>
          <a:noFill/>
          <a:ln/>
        </p:spPr>
        <p:txBody>
          <a:bodyPr wrap="square" lIns="0" tIns="0" rIns="0" bIns="0" rtlCol="0" anchor="ctr"/>
          <a:lstStyle/>
          <a:p>
            <a:pPr algn="ctr" indent="0" marL="0">
              <a:buNone/>
            </a:pPr>
            <a:r>
              <a:rPr lang="en-US" sz="1100" dirty="0">
                <a:solidFill>
                  <a:srgbClr val="1A2238"/>
                </a:solidFill>
                <a:latin typeface="Cambria Math" pitchFamily="34" charset="0"/>
                <a:ea typeface="Cambria Math" pitchFamily="34" charset="-122"/>
                <a:cs typeface="Cambria Math" pitchFamily="34" charset="-120"/>
              </a:rPr>
              <a:t>Linear 10</a:t>
            </a:r>
            <a:endParaRPr lang="en-US" sz="1100" dirty="0"/>
          </a:p>
        </p:txBody>
      </p:sp>
      <p:sp>
        <p:nvSpPr>
          <p:cNvPr id="24" name="Text 22"/>
          <p:cNvSpPr txBox="1"/>
          <p:nvPr/>
        </p:nvSpPr>
        <p:spPr>
          <a:xfrm>
            <a:off x="3017520" y="2450592"/>
            <a:ext cx="8534095" cy="3931920"/>
          </a:xfrm>
          <a:prstGeom prst="rect">
            <a:avLst/>
          </a:prstGeom>
          <a:noFill/>
          <a:ln/>
        </p:spPr>
        <p:txBody>
          <a:bodyPr wrap="square" lIns="0" tIns="0" rIns="0" bIns="0" rtlCol="0" anchor="t"/>
          <a:lstStyle/>
          <a:p>
            <a:pPr marL="228600" indent="-228600">
              <a:spcAft>
                <a:spcPts val="1400"/>
              </a:spcAft>
              <a:buSzPct val="100000"/>
              <a:buChar char="▪"/>
            </a:pPr>
            <a:r>
              <a:rPr lang="en-US" sz="1400" dirty="0">
                <a:solidFill>
                  <a:srgbClr val="1A2238"/>
                </a:solidFill>
                <a:latin typeface="Calibri" pitchFamily="34" charset="0"/>
                <a:ea typeface="Calibri" pitchFamily="34" charset="-122"/>
                <a:cs typeface="Calibri" pitchFamily="34" charset="-120"/>
              </a:rPr>
              <a:t>Kiến trúc: 784 → (Linear 128 → ReLU) × 10 → 10 — cố tình khá sâu (10 hidden layer) để vấn đề gradient thể hiện rõ</a:t>
            </a:r>
            <a:endParaRPr lang="en-US" sz="1400" dirty="0"/>
          </a:p>
          <a:p>
            <a:pPr marL="228600" indent="-228600">
              <a:spcAft>
                <a:spcPts val="1400"/>
              </a:spcAft>
              <a:buSzPct val="100000"/>
              <a:buChar char="▪"/>
            </a:pPr>
            <a:r>
              <a:rPr lang="en-US" sz="1400" dirty="0">
                <a:solidFill>
                  <a:srgbClr val="1A2238"/>
                </a:solidFill>
                <a:latin typeface="Calibri" pitchFamily="34" charset="0"/>
                <a:ea typeface="Calibri" pitchFamily="34" charset="-122"/>
                <a:cs typeface="Calibri" pitchFamily="34" charset="-120"/>
              </a:rPr>
              <a:t>Dataset: Fashion-MNIST subset (5,000 train / 1,000 val / 2,000 test) — giống hệt lưới thực nghiệm chính</a:t>
            </a:r>
            <a:endParaRPr lang="en-US" sz="1400" dirty="0"/>
          </a:p>
          <a:p>
            <a:pPr marL="228600" indent="-228600">
              <a:spcAft>
                <a:spcPts val="1400"/>
              </a:spcAft>
              <a:buSzPct val="100000"/>
              <a:buChar char="▪"/>
            </a:pPr>
            <a:r>
              <a:rPr lang="en-US" sz="1400" dirty="0">
                <a:solidFill>
                  <a:srgbClr val="1A2238"/>
                </a:solidFill>
                <a:latin typeface="Calibri" pitchFamily="34" charset="0"/>
                <a:ea typeface="Calibri" pitchFamily="34" charset="-122"/>
                <a:cs typeface="Calibri" pitchFamily="34" charset="-120"/>
              </a:rPr>
              <a:t>Biến duy nhất thay đổi: cách khởi tạo weight (Zero, Random nhỏ, Random lớn, Xavier, He)</a:t>
            </a:r>
            <a:endParaRPr lang="en-US" sz="1400" dirty="0"/>
          </a:p>
          <a:p>
            <a:pPr marL="228600" indent="-228600">
              <a:spcAft>
                <a:spcPts val="1400"/>
              </a:spcAft>
              <a:buSzPct val="100000"/>
              <a:buChar char="▪"/>
            </a:pPr>
            <a:r>
              <a:rPr lang="en-US" sz="1400" dirty="0">
                <a:solidFill>
                  <a:srgbClr val="1A2238"/>
                </a:solidFill>
                <a:latin typeface="Calibri" pitchFamily="34" charset="0"/>
                <a:ea typeface="Calibri" pitchFamily="34" charset="-122"/>
                <a:cs typeface="Calibri" pitchFamily="34" charset="-120"/>
              </a:rPr>
              <a:t>Mọi thứ khác GIỮ NGUYÊN: cùng optimizer (SGD, lr=0.05), cùng 15 epoch — cùng seed giúp reproducibility và giảm một nguồn randomness khi so sánh (không thay thế cho việc lặp lại nhiều seed — xem slide Multi-seed)</a:t>
            </a:r>
            <a:endParaRPr lang="en-US" sz="1400" dirty="0"/>
          </a:p>
        </p:txBody>
      </p:sp>
      <p:sp>
        <p:nvSpPr>
          <p:cNvPr id="25" name="Text 23"/>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18/29</a:t>
            </a:r>
            <a:endParaRPr lang="en-US" sz="900" dirty="0"/>
          </a:p>
        </p:txBody>
      </p:sp>
      <p:sp>
        <p:nvSpPr>
          <p:cNvPr id="26" name="Shape 24"/>
          <p:cNvSpPr/>
          <p:nvPr/>
        </p:nvSpPr>
        <p:spPr>
          <a:xfrm>
            <a:off x="610362" y="6473952"/>
            <a:ext cx="59436" cy="59436"/>
          </a:xfrm>
          <a:prstGeom prst="ellipse">
            <a:avLst/>
          </a:prstGeom>
          <a:solidFill>
            <a:srgbClr val="D9DEE8"/>
          </a:solidFill>
          <a:ln/>
        </p:spPr>
      </p:sp>
      <p:sp>
        <p:nvSpPr>
          <p:cNvPr id="27" name="Shape 25"/>
          <p:cNvSpPr/>
          <p:nvPr/>
        </p:nvSpPr>
        <p:spPr>
          <a:xfrm>
            <a:off x="829818" y="6473952"/>
            <a:ext cx="59436" cy="59436"/>
          </a:xfrm>
          <a:prstGeom prst="ellipse">
            <a:avLst/>
          </a:prstGeom>
          <a:solidFill>
            <a:srgbClr val="D9DEE8"/>
          </a:solidFill>
          <a:ln/>
        </p:spPr>
      </p:sp>
      <p:sp>
        <p:nvSpPr>
          <p:cNvPr id="28" name="Shape 26"/>
          <p:cNvSpPr/>
          <p:nvPr/>
        </p:nvSpPr>
        <p:spPr>
          <a:xfrm>
            <a:off x="1034415" y="6459093"/>
            <a:ext cx="89154" cy="89154"/>
          </a:xfrm>
          <a:prstGeom prst="ellipse">
            <a:avLst/>
          </a:prstGeom>
          <a:solidFill>
            <a:srgbClr val="285AB4"/>
          </a:solidFill>
          <a:ln/>
        </p:spPr>
      </p:sp>
      <p:sp>
        <p:nvSpPr>
          <p:cNvPr id="29" name="Shape 27"/>
          <p:cNvSpPr/>
          <p:nvPr/>
        </p:nvSpPr>
        <p:spPr>
          <a:xfrm>
            <a:off x="1268730" y="6473952"/>
            <a:ext cx="59436" cy="59436"/>
          </a:xfrm>
          <a:prstGeom prst="ellipse">
            <a:avLst/>
          </a:prstGeom>
          <a:solidFill>
            <a:srgbClr val="D9DEE8"/>
          </a:solidFill>
          <a:ln/>
        </p:spPr>
      </p:sp>
      <p:sp>
        <p:nvSpPr>
          <p:cNvPr id="30" name="Text 28"/>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MINI RESEARCH EXPERIMENT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900" b="1" dirty="0">
                <a:solidFill>
                  <a:srgbClr val="1A2238"/>
                </a:solidFill>
                <a:latin typeface="Cambria" pitchFamily="34" charset="0"/>
                <a:ea typeface="Cambria" pitchFamily="34" charset="-122"/>
                <a:cs typeface="Cambria" pitchFamily="34" charset="-120"/>
              </a:rPr>
              <a:t>4 nhóm metric được log mỗi cấu hình</a:t>
            </a:r>
            <a:endParaRPr lang="en-US" sz="2900" dirty="0"/>
          </a:p>
        </p:txBody>
      </p:sp>
      <p:sp>
        <p:nvSpPr>
          <p:cNvPr id="4" name="Shape 2"/>
          <p:cNvSpPr/>
          <p:nvPr/>
        </p:nvSpPr>
        <p:spPr>
          <a:xfrm>
            <a:off x="640080" y="1920240"/>
            <a:ext cx="10911535" cy="914400"/>
          </a:xfrm>
          <a:prstGeom prst="roundRect">
            <a:avLst>
              <a:gd name="adj" fmla="val 6000"/>
            </a:avLst>
          </a:prstGeom>
          <a:solidFill>
            <a:srgbClr val="F1F4F9"/>
          </a:solidFill>
          <a:ln w="6350">
            <a:solidFill>
              <a:srgbClr val="D9DEE8"/>
            </a:solidFill>
            <a:prstDash val="solid"/>
          </a:ln>
          <a:effectLst>
            <a:outerShdw sx="100000" sy="100000" kx="0" ky="0" algn="bl" rotWithShape="0" blurRad="114300" dist="38100" dir="5400000">
              <a:srgbClr val="1A1A2E">
                <a:alpha val="20000"/>
              </a:srgbClr>
            </a:outerShdw>
          </a:effectLst>
        </p:spPr>
      </p:sp>
      <p:sp>
        <p:nvSpPr>
          <p:cNvPr id="5" name="Text 3"/>
          <p:cNvSpPr txBox="1"/>
          <p:nvPr/>
        </p:nvSpPr>
        <p:spPr>
          <a:xfrm>
            <a:off x="914400" y="1920240"/>
            <a:ext cx="3931920" cy="91440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1. Activation Variance theo layer</a:t>
            </a:r>
            <a:endParaRPr lang="en-US" sz="1500" dirty="0"/>
          </a:p>
        </p:txBody>
      </p:sp>
      <p:sp>
        <p:nvSpPr>
          <p:cNvPr id="6" name="Text 4"/>
          <p:cNvSpPr txBox="1"/>
          <p:nvPr/>
        </p:nvSpPr>
        <p:spPr>
          <a:xfrm>
            <a:off x="4937760" y="1920240"/>
            <a:ext cx="6339535" cy="91440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Var(A⁽ˡ⁾) tại bước khởi tạo — tín hiệu SỚM NHẤT cho co cụm/bão hoà, ưu tiên đọc đầu tiên</a:t>
            </a:r>
            <a:endParaRPr lang="en-US" sz="1300" dirty="0"/>
          </a:p>
        </p:txBody>
      </p:sp>
      <p:sp>
        <p:nvSpPr>
          <p:cNvPr id="7" name="Shape 5"/>
          <p:cNvSpPr/>
          <p:nvPr/>
        </p:nvSpPr>
        <p:spPr>
          <a:xfrm>
            <a:off x="640080" y="2971800"/>
            <a:ext cx="10911535" cy="914400"/>
          </a:xfrm>
          <a:prstGeom prst="roundRect">
            <a:avLst>
              <a:gd name="adj" fmla="val 6000"/>
            </a:avLst>
          </a:prstGeom>
          <a:solidFill>
            <a:srgbClr val="F1F4F9"/>
          </a:solidFill>
          <a:ln w="6350">
            <a:solidFill>
              <a:srgbClr val="D9DEE8"/>
            </a:solidFill>
            <a:prstDash val="solid"/>
          </a:ln>
          <a:effectLst>
            <a:outerShdw sx="100000" sy="100000" kx="0" ky="0" algn="bl" rotWithShape="0" blurRad="114300" dist="38100" dir="5400000">
              <a:srgbClr val="1A1A2E">
                <a:alpha val="20000"/>
              </a:srgbClr>
            </a:outerShdw>
          </a:effectLst>
        </p:spPr>
      </p:sp>
      <p:sp>
        <p:nvSpPr>
          <p:cNvPr id="8" name="Text 6"/>
          <p:cNvSpPr txBox="1"/>
          <p:nvPr/>
        </p:nvSpPr>
        <p:spPr>
          <a:xfrm>
            <a:off x="914400" y="2971800"/>
            <a:ext cx="3931920" cy="91440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2. Gradient RMS theo layer</a:t>
            </a:r>
            <a:endParaRPr lang="en-US" sz="1500" dirty="0"/>
          </a:p>
        </p:txBody>
      </p:sp>
      <p:sp>
        <p:nvSpPr>
          <p:cNvPr id="9" name="Text 7"/>
          <p:cNvSpPr txBox="1"/>
          <p:nvPr/>
        </p:nvSpPr>
        <p:spPr>
          <a:xfrm>
            <a:off x="4937760" y="2971800"/>
            <a:ext cx="6339535" cy="91440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RMS(∂L/∂W⁽ˡ⁾) = grad.pow(2).mean().sqrt() — chuẩn hoá theo số phần tử, so sánh công bằng giữa các layer</a:t>
            </a:r>
            <a:endParaRPr lang="en-US" sz="1300" dirty="0"/>
          </a:p>
        </p:txBody>
      </p:sp>
      <p:sp>
        <p:nvSpPr>
          <p:cNvPr id="10" name="Shape 8"/>
          <p:cNvSpPr/>
          <p:nvPr/>
        </p:nvSpPr>
        <p:spPr>
          <a:xfrm>
            <a:off x="640080" y="4023360"/>
            <a:ext cx="10911535" cy="914400"/>
          </a:xfrm>
          <a:prstGeom prst="roundRect">
            <a:avLst>
              <a:gd name="adj" fmla="val 6000"/>
            </a:avLst>
          </a:prstGeom>
          <a:solidFill>
            <a:srgbClr val="F1F4F9"/>
          </a:solidFill>
          <a:ln w="6350">
            <a:solidFill>
              <a:srgbClr val="D9DEE8"/>
            </a:solidFill>
            <a:prstDash val="solid"/>
          </a:ln>
          <a:effectLst>
            <a:outerShdw sx="100000" sy="100000" kx="0" ky="0" algn="bl" rotWithShape="0" blurRad="114300" dist="38100" dir="5400000">
              <a:srgbClr val="1A1A2E">
                <a:alpha val="20000"/>
              </a:srgbClr>
            </a:outerShdw>
          </a:effectLst>
        </p:spPr>
      </p:sp>
      <p:sp>
        <p:nvSpPr>
          <p:cNvPr id="11" name="Text 9"/>
          <p:cNvSpPr txBox="1"/>
          <p:nvPr/>
        </p:nvSpPr>
        <p:spPr>
          <a:xfrm>
            <a:off x="914400" y="4023360"/>
            <a:ext cx="3931920" cy="91440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3. Training Loss &amp; Accuracy</a:t>
            </a:r>
            <a:endParaRPr lang="en-US" sz="1500" dirty="0"/>
          </a:p>
        </p:txBody>
      </p:sp>
      <p:sp>
        <p:nvSpPr>
          <p:cNvPr id="12" name="Text 10"/>
          <p:cNvSpPr txBox="1"/>
          <p:nvPr/>
        </p:nvSpPr>
        <p:spPr>
          <a:xfrm>
            <a:off x="4937760" y="4023360"/>
            <a:ext cx="6339535" cy="91440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mỗi epoch — train + validation, theo dõi hội tụ theo thời gian</a:t>
            </a:r>
            <a:endParaRPr lang="en-US" sz="1300" dirty="0"/>
          </a:p>
        </p:txBody>
      </p:sp>
      <p:sp>
        <p:nvSpPr>
          <p:cNvPr id="13" name="Shape 11"/>
          <p:cNvSpPr/>
          <p:nvPr/>
        </p:nvSpPr>
        <p:spPr>
          <a:xfrm>
            <a:off x="640080" y="5074920"/>
            <a:ext cx="10911535" cy="914400"/>
          </a:xfrm>
          <a:prstGeom prst="roundRect">
            <a:avLst>
              <a:gd name="adj" fmla="val 6000"/>
            </a:avLst>
          </a:prstGeom>
          <a:solidFill>
            <a:srgbClr val="F1F4F9"/>
          </a:solidFill>
          <a:ln w="6350">
            <a:solidFill>
              <a:srgbClr val="D9DEE8"/>
            </a:solidFill>
            <a:prstDash val="solid"/>
          </a:ln>
          <a:effectLst>
            <a:outerShdw sx="100000" sy="100000" kx="0" ky="0" algn="bl" rotWithShape="0" blurRad="114300" dist="38100" dir="5400000">
              <a:srgbClr val="1A1A2E">
                <a:alpha val="20000"/>
              </a:srgbClr>
            </a:outerShdw>
          </a:effectLst>
        </p:spPr>
      </p:sp>
      <p:sp>
        <p:nvSpPr>
          <p:cNvPr id="14" name="Text 12"/>
          <p:cNvSpPr txBox="1"/>
          <p:nvPr/>
        </p:nvSpPr>
        <p:spPr>
          <a:xfrm>
            <a:off x="914400" y="5074920"/>
            <a:ext cx="3931920" cy="91440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4. Weight Variance theo layer</a:t>
            </a:r>
            <a:endParaRPr lang="en-US" sz="1500" dirty="0"/>
          </a:p>
        </p:txBody>
      </p:sp>
      <p:sp>
        <p:nvSpPr>
          <p:cNvPr id="15" name="Text 13"/>
          <p:cNvSpPr txBox="1"/>
          <p:nvPr/>
        </p:nvSpPr>
        <p:spPr>
          <a:xfrm>
            <a:off x="4937760" y="5074920"/>
            <a:ext cx="6339535" cy="91440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đối chiếu Var(W) đo thực tế vs. công thức lý thuyết</a:t>
            </a:r>
            <a:endParaRPr lang="en-US" sz="1300" dirty="0"/>
          </a:p>
        </p:txBody>
      </p:sp>
      <p:sp>
        <p:nvSpPr>
          <p:cNvPr id="16" name="Text 14"/>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19/29</a:t>
            </a:r>
            <a:endParaRPr lang="en-US" sz="900" dirty="0"/>
          </a:p>
        </p:txBody>
      </p:sp>
      <p:sp>
        <p:nvSpPr>
          <p:cNvPr id="17" name="Shape 15"/>
          <p:cNvSpPr/>
          <p:nvPr/>
        </p:nvSpPr>
        <p:spPr>
          <a:xfrm>
            <a:off x="610362" y="6473952"/>
            <a:ext cx="59436" cy="59436"/>
          </a:xfrm>
          <a:prstGeom prst="ellipse">
            <a:avLst/>
          </a:prstGeom>
          <a:solidFill>
            <a:srgbClr val="D9DEE8"/>
          </a:solidFill>
          <a:ln/>
        </p:spPr>
      </p:sp>
      <p:sp>
        <p:nvSpPr>
          <p:cNvPr id="18" name="Shape 16"/>
          <p:cNvSpPr/>
          <p:nvPr/>
        </p:nvSpPr>
        <p:spPr>
          <a:xfrm>
            <a:off x="829818" y="6473952"/>
            <a:ext cx="59436" cy="59436"/>
          </a:xfrm>
          <a:prstGeom prst="ellipse">
            <a:avLst/>
          </a:prstGeom>
          <a:solidFill>
            <a:srgbClr val="D9DEE8"/>
          </a:solidFill>
          <a:ln/>
        </p:spPr>
      </p:sp>
      <p:sp>
        <p:nvSpPr>
          <p:cNvPr id="19" name="Shape 17"/>
          <p:cNvSpPr/>
          <p:nvPr/>
        </p:nvSpPr>
        <p:spPr>
          <a:xfrm>
            <a:off x="1034415" y="6459093"/>
            <a:ext cx="89154" cy="89154"/>
          </a:xfrm>
          <a:prstGeom prst="ellipse">
            <a:avLst/>
          </a:prstGeom>
          <a:solidFill>
            <a:srgbClr val="285AB4"/>
          </a:solidFill>
          <a:ln/>
        </p:spPr>
      </p:sp>
      <p:sp>
        <p:nvSpPr>
          <p:cNvPr id="20" name="Shape 18"/>
          <p:cNvSpPr/>
          <p:nvPr/>
        </p:nvSpPr>
        <p:spPr>
          <a:xfrm>
            <a:off x="1268730" y="6473952"/>
            <a:ext cx="59436" cy="59436"/>
          </a:xfrm>
          <a:prstGeom prst="ellipse">
            <a:avLst/>
          </a:prstGeom>
          <a:solidFill>
            <a:srgbClr val="D9DEE8"/>
          </a:solidFill>
          <a:ln/>
        </p:spPr>
      </p:sp>
      <p:sp>
        <p:nvSpPr>
          <p:cNvPr id="21" name="Text 19"/>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EXPERIMENT 1 &amp; 2</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400" b="1" dirty="0">
                <a:solidFill>
                  <a:srgbClr val="1A2238"/>
                </a:solidFill>
                <a:latin typeface="Cambria" pitchFamily="34" charset="0"/>
                <a:ea typeface="Cambria" pitchFamily="34" charset="-122"/>
                <a:cs typeface="Cambria" pitchFamily="34" charset="-120"/>
              </a:rPr>
              <a:t>Zero vs. Random nhỏ (std=0.01) — cả hai đều VANISHING</a:t>
            </a:r>
            <a:endParaRPr lang="en-US" sz="2400" dirty="0"/>
          </a:p>
        </p:txBody>
      </p:sp>
      <p:sp>
        <p:nvSpPr>
          <p:cNvPr id="4" name="Shape 2"/>
          <p:cNvSpPr/>
          <p:nvPr/>
        </p:nvSpPr>
        <p:spPr>
          <a:xfrm>
            <a:off x="640080" y="1691640"/>
            <a:ext cx="10911535" cy="1554480"/>
          </a:xfrm>
          <a:prstGeom prst="roundRect">
            <a:avLst>
              <a:gd name="adj" fmla="val 2941"/>
            </a:avLst>
          </a:prstGeom>
          <a:solidFill>
            <a:srgbClr val="1E2A44"/>
          </a:solidFill>
          <a:ln/>
        </p:spPr>
      </p:sp>
      <p:sp>
        <p:nvSpPr>
          <p:cNvPr id="5" name="Text 3"/>
          <p:cNvSpPr txBox="1"/>
          <p:nvPr/>
        </p:nvSpPr>
        <p:spPr>
          <a:xfrm>
            <a:off x="868680" y="1801368"/>
            <a:ext cx="10454335" cy="1371600"/>
          </a:xfrm>
          <a:prstGeom prst="rect">
            <a:avLst/>
          </a:prstGeom>
          <a:noFill/>
          <a:ln/>
        </p:spPr>
        <p:txBody>
          <a:bodyPr wrap="square" lIns="0" tIns="0" rIns="0" bIns="0" rtlCol="0" anchor="t"/>
          <a:lstStyle/>
          <a:p>
            <a:pPr indent="0" marL="0">
              <a:buNone/>
            </a:pPr>
            <a:r>
              <a:rPr lang="en-US" sz="1250" dirty="0">
                <a:solidFill>
                  <a:srgbClr val="D8E0EF"/>
                </a:solidFill>
                <a:latin typeface="Consolas" pitchFamily="34" charset="0"/>
                <a:ea typeface="Consolas" pitchFamily="34" charset="-122"/>
                <a:cs typeface="Consolas" pitchFamily="34" charset="-120"/>
              </a:rPr>
              <a:t>for layer in model.modules():</a:t>
            </a:r>
            <a:endParaRPr lang="en-US" sz="1250" dirty="0"/>
          </a:p>
          <a:p>
            <a:pPr indent="0" marL="0">
              <a:buNone/>
            </a:pPr>
            <a:r>
              <a:rPr lang="en-US" sz="1250" dirty="0">
                <a:solidFill>
                  <a:srgbClr val="D8E0EF"/>
                </a:solidFill>
                <a:latin typeface="Consolas" pitchFamily="34" charset="0"/>
                <a:ea typeface="Consolas" pitchFamily="34" charset="-122"/>
                <a:cs typeface="Consolas" pitchFamily="34" charset="-120"/>
              </a:rPr>
              <a:t>    if isinstance(layer, nn.Linear):</a:t>
            </a:r>
            <a:endParaRPr lang="en-US" sz="1250" dirty="0"/>
          </a:p>
          <a:p>
            <a:pPr indent="0" marL="0">
              <a:buNone/>
            </a:pPr>
            <a:r>
              <a:rPr lang="en-US" sz="1250" dirty="0">
                <a:solidFill>
                  <a:srgbClr val="D8E0EF"/>
                </a:solidFill>
                <a:latin typeface="Consolas" pitchFamily="34" charset="0"/>
                <a:ea typeface="Consolas" pitchFamily="34" charset="-122"/>
                <a:cs typeface="Consolas" pitchFamily="34" charset="-120"/>
              </a:rPr>
              <a:t>        nn.init.zeros_(layer.weight)          # Experiment 1</a:t>
            </a:r>
            <a:endParaRPr lang="en-US" sz="1250" dirty="0"/>
          </a:p>
          <a:p>
            <a:pPr indent="0" marL="0">
              <a:buNone/>
            </a:pPr>
            <a:r>
              <a:rPr lang="en-US" sz="1250" dirty="0">
                <a:solidFill>
                  <a:srgbClr val="D8E0EF"/>
                </a:solidFill>
                <a:latin typeface="Consolas" pitchFamily="34" charset="0"/>
                <a:ea typeface="Consolas" pitchFamily="34" charset="-122"/>
                <a:cs typeface="Consolas" pitchFamily="34" charset="-120"/>
              </a:rPr>
              <a:t>        # hoặc: nn.init.normal_(layer.weight, std=0.01)   # Experiment 2</a:t>
            </a:r>
            <a:endParaRPr lang="en-US" sz="1250" dirty="0"/>
          </a:p>
        </p:txBody>
      </p:sp>
      <p:sp>
        <p:nvSpPr>
          <p:cNvPr id="6" name="Text 4"/>
          <p:cNvSpPr txBox="1"/>
          <p:nvPr/>
        </p:nvSpPr>
        <p:spPr>
          <a:xfrm>
            <a:off x="640080" y="3566160"/>
            <a:ext cx="3454298" cy="768096"/>
          </a:xfrm>
          <a:prstGeom prst="rect">
            <a:avLst/>
          </a:prstGeom>
          <a:noFill/>
          <a:ln/>
        </p:spPr>
        <p:txBody>
          <a:bodyPr wrap="square" lIns="0" tIns="0" rIns="0" bIns="0" rtlCol="0" anchor="b"/>
          <a:lstStyle/>
          <a:p>
            <a:pPr algn="ctr" indent="0" marL="0">
              <a:buNone/>
            </a:pPr>
            <a:r>
              <a:rPr lang="en-US" sz="3000" b="1" dirty="0">
                <a:solidFill>
                  <a:srgbClr val="BE3C32"/>
                </a:solidFill>
                <a:latin typeface="Cambria" pitchFamily="34" charset="0"/>
                <a:ea typeface="Cambria" pitchFamily="34" charset="-122"/>
                <a:cs typeface="Cambria" pitchFamily="34" charset="-120"/>
              </a:rPr>
              <a:t>0.0</a:t>
            </a:r>
            <a:endParaRPr lang="en-US" sz="3000" dirty="0"/>
          </a:p>
        </p:txBody>
      </p:sp>
      <p:sp>
        <p:nvSpPr>
          <p:cNvPr id="7" name="Text 5"/>
          <p:cNvSpPr txBox="1"/>
          <p:nvPr/>
        </p:nvSpPr>
        <p:spPr>
          <a:xfrm>
            <a:off x="640080" y="433425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Zero — gradient RMS lớp 1 (khởi tạo)</a:t>
            </a:r>
            <a:endParaRPr lang="en-US" sz="1100" dirty="0"/>
          </a:p>
        </p:txBody>
      </p:sp>
      <p:sp>
        <p:nvSpPr>
          <p:cNvPr id="8" name="Text 6"/>
          <p:cNvSpPr txBox="1"/>
          <p:nvPr/>
        </p:nvSpPr>
        <p:spPr>
          <a:xfrm>
            <a:off x="4368698" y="3566160"/>
            <a:ext cx="3454298" cy="768096"/>
          </a:xfrm>
          <a:prstGeom prst="rect">
            <a:avLst/>
          </a:prstGeom>
          <a:noFill/>
          <a:ln/>
        </p:spPr>
        <p:txBody>
          <a:bodyPr wrap="square" lIns="0" tIns="0" rIns="0" bIns="0" rtlCol="0" anchor="b"/>
          <a:lstStyle/>
          <a:p>
            <a:pPr algn="ctr" indent="0" marL="0">
              <a:buNone/>
            </a:pPr>
            <a:r>
              <a:rPr lang="en-US" sz="3000" b="1" dirty="0">
                <a:solidFill>
                  <a:srgbClr val="BE3C32"/>
                </a:solidFill>
                <a:latin typeface="Cambria" pitchFamily="34" charset="0"/>
                <a:ea typeface="Cambria" pitchFamily="34" charset="-122"/>
                <a:cs typeface="Cambria" pitchFamily="34" charset="-120"/>
              </a:rPr>
              <a:t>1.13e-13</a:t>
            </a:r>
            <a:endParaRPr lang="en-US" sz="3000" dirty="0"/>
          </a:p>
        </p:txBody>
      </p:sp>
      <p:sp>
        <p:nvSpPr>
          <p:cNvPr id="9" name="Text 7"/>
          <p:cNvSpPr txBox="1"/>
          <p:nvPr/>
        </p:nvSpPr>
        <p:spPr>
          <a:xfrm>
            <a:off x="4368698" y="433425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Random nhỏ — gradient RMS lớp 1</a:t>
            </a:r>
            <a:endParaRPr lang="en-US" sz="1100" dirty="0"/>
          </a:p>
        </p:txBody>
      </p:sp>
      <p:sp>
        <p:nvSpPr>
          <p:cNvPr id="10" name="Text 8"/>
          <p:cNvSpPr txBox="1"/>
          <p:nvPr/>
        </p:nvSpPr>
        <p:spPr>
          <a:xfrm>
            <a:off x="8097317" y="3566160"/>
            <a:ext cx="3454298" cy="768096"/>
          </a:xfrm>
          <a:prstGeom prst="rect">
            <a:avLst/>
          </a:prstGeom>
          <a:noFill/>
          <a:ln/>
        </p:spPr>
        <p:txBody>
          <a:bodyPr wrap="square" lIns="0" tIns="0" rIns="0" bIns="0" rtlCol="0" anchor="b"/>
          <a:lstStyle/>
          <a:p>
            <a:pPr algn="ctr" indent="0" marL="0">
              <a:buNone/>
            </a:pPr>
            <a:r>
              <a:rPr lang="en-US" sz="3000" b="1" dirty="0">
                <a:solidFill>
                  <a:srgbClr val="5B6478"/>
                </a:solidFill>
                <a:latin typeface="Cambria" pitchFamily="34" charset="0"/>
                <a:ea typeface="Cambria" pitchFamily="34" charset="-122"/>
                <a:cs typeface="Cambria" pitchFamily="34" charset="-120"/>
              </a:rPr>
              <a:t>10.0%</a:t>
            </a:r>
            <a:endParaRPr lang="en-US" sz="3000" dirty="0"/>
          </a:p>
        </p:txBody>
      </p:sp>
      <p:sp>
        <p:nvSpPr>
          <p:cNvPr id="11" name="Text 9"/>
          <p:cNvSpPr txBox="1"/>
          <p:nvPr/>
        </p:nvSpPr>
        <p:spPr>
          <a:xfrm>
            <a:off x="8097317" y="433425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Test accuracy — cả 2 cấu hình (mức ngẫu nhiên)</a:t>
            </a:r>
            <a:endParaRPr lang="en-US" sz="1100" dirty="0"/>
          </a:p>
        </p:txBody>
      </p:sp>
      <p:sp>
        <p:nvSpPr>
          <p:cNvPr id="12" name="Shape 10"/>
          <p:cNvSpPr/>
          <p:nvPr/>
        </p:nvSpPr>
        <p:spPr>
          <a:xfrm>
            <a:off x="640080" y="5120640"/>
            <a:ext cx="10911535" cy="777240"/>
          </a:xfrm>
          <a:prstGeom prst="roundRect">
            <a:avLst>
              <a:gd name="adj" fmla="val 7059"/>
            </a:avLst>
          </a:prstGeom>
          <a:solidFill>
            <a:srgbClr val="FBEEEC"/>
          </a:solidFill>
          <a:ln w="9525">
            <a:solidFill>
              <a:srgbClr val="BE3C32"/>
            </a:solidFill>
            <a:prstDash val="solid"/>
          </a:ln>
        </p:spPr>
      </p:sp>
      <p:sp>
        <p:nvSpPr>
          <p:cNvPr id="13" name="Text 11"/>
          <p:cNvSpPr txBox="1"/>
          <p:nvPr/>
        </p:nvSpPr>
        <p:spPr>
          <a:xfrm>
            <a:off x="914400" y="5120640"/>
            <a:ext cx="10362895" cy="777240"/>
          </a:xfrm>
          <a:prstGeom prst="rect">
            <a:avLst/>
          </a:prstGeom>
          <a:noFill/>
          <a:ln/>
        </p:spPr>
        <p:txBody>
          <a:bodyPr wrap="square" lIns="0" tIns="0" rIns="0" bIns="0" rtlCol="0" anchor="ctr"/>
          <a:lstStyle/>
          <a:p>
            <a:pPr indent="0" marL="0">
              <a:buNone/>
            </a:pPr>
            <a:r>
              <a:rPr lang="en-US" sz="1450" b="1" dirty="0">
                <a:solidFill>
                  <a:srgbClr val="BE3C32"/>
                </a:solidFill>
                <a:latin typeface="Calibri" pitchFamily="34" charset="0"/>
                <a:ea typeface="Calibri" pitchFamily="34" charset="-122"/>
                <a:cs typeface="Calibri" pitchFamily="34" charset="-120"/>
              </a:rPr>
              <a:t>Kết quả thật (10 hidden layer, ReLU, 15 epoch): CẢ HAI kẹt đúng ở mức ngẫu nhiên 10.0% — Zero vì symmetry breaking, Random nhỏ vì gradient co lại theo hàm mũ qua 10 lớp.</a:t>
            </a:r>
            <a:endParaRPr lang="en-US" sz="1450" dirty="0"/>
          </a:p>
        </p:txBody>
      </p:sp>
      <p:sp>
        <p:nvSpPr>
          <p:cNvPr id="14" name="Text 12"/>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20/29</a:t>
            </a:r>
            <a:endParaRPr lang="en-US" sz="900" dirty="0"/>
          </a:p>
        </p:txBody>
      </p:sp>
      <p:sp>
        <p:nvSpPr>
          <p:cNvPr id="15" name="Shape 13"/>
          <p:cNvSpPr/>
          <p:nvPr/>
        </p:nvSpPr>
        <p:spPr>
          <a:xfrm>
            <a:off x="610362" y="6473952"/>
            <a:ext cx="59436" cy="59436"/>
          </a:xfrm>
          <a:prstGeom prst="ellipse">
            <a:avLst/>
          </a:prstGeom>
          <a:solidFill>
            <a:srgbClr val="D9DEE8"/>
          </a:solidFill>
          <a:ln/>
        </p:spPr>
      </p:sp>
      <p:sp>
        <p:nvSpPr>
          <p:cNvPr id="16" name="Shape 14"/>
          <p:cNvSpPr/>
          <p:nvPr/>
        </p:nvSpPr>
        <p:spPr>
          <a:xfrm>
            <a:off x="829818" y="6473952"/>
            <a:ext cx="59436" cy="59436"/>
          </a:xfrm>
          <a:prstGeom prst="ellipse">
            <a:avLst/>
          </a:prstGeom>
          <a:solidFill>
            <a:srgbClr val="D9DEE8"/>
          </a:solidFill>
          <a:ln/>
        </p:spPr>
      </p:sp>
      <p:sp>
        <p:nvSpPr>
          <p:cNvPr id="17" name="Shape 15"/>
          <p:cNvSpPr/>
          <p:nvPr/>
        </p:nvSpPr>
        <p:spPr>
          <a:xfrm>
            <a:off x="1034415" y="6459093"/>
            <a:ext cx="89154" cy="89154"/>
          </a:xfrm>
          <a:prstGeom prst="ellipse">
            <a:avLst/>
          </a:prstGeom>
          <a:solidFill>
            <a:srgbClr val="285AB4"/>
          </a:solidFill>
          <a:ln/>
        </p:spPr>
      </p:sp>
      <p:sp>
        <p:nvSpPr>
          <p:cNvPr id="18" name="Shape 16"/>
          <p:cNvSpPr/>
          <p:nvPr/>
        </p:nvSpPr>
        <p:spPr>
          <a:xfrm>
            <a:off x="1268730" y="6473952"/>
            <a:ext cx="59436" cy="59436"/>
          </a:xfrm>
          <a:prstGeom prst="ellipse">
            <a:avLst/>
          </a:prstGeom>
          <a:solidFill>
            <a:srgbClr val="D9DEE8"/>
          </a:solidFill>
          <a:ln/>
        </p:spPr>
      </p:sp>
      <p:sp>
        <p:nvSpPr>
          <p:cNvPr id="19" name="Text 17"/>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EXPERIMENT 3</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400" b="1" dirty="0">
                <a:solidFill>
                  <a:srgbClr val="1A2238"/>
                </a:solidFill>
                <a:latin typeface="Cambria" pitchFamily="34" charset="0"/>
                <a:ea typeface="Cambria" pitchFamily="34" charset="-122"/>
                <a:cs typeface="Cambria" pitchFamily="34" charset="-120"/>
              </a:rPr>
              <a:t>Random LỚN (std=1.0) — EXPLODING GRADIENT thật sự</a:t>
            </a:r>
            <a:endParaRPr lang="en-US" sz="2400" dirty="0"/>
          </a:p>
        </p:txBody>
      </p:sp>
      <p:sp>
        <p:nvSpPr>
          <p:cNvPr id="4" name="Shape 2"/>
          <p:cNvSpPr/>
          <p:nvPr/>
        </p:nvSpPr>
        <p:spPr>
          <a:xfrm>
            <a:off x="640080" y="1691640"/>
            <a:ext cx="10911535" cy="594360"/>
          </a:xfrm>
          <a:prstGeom prst="roundRect">
            <a:avLst>
              <a:gd name="adj" fmla="val 7692"/>
            </a:avLst>
          </a:prstGeom>
          <a:solidFill>
            <a:srgbClr val="1E2A44"/>
          </a:solidFill>
          <a:ln/>
        </p:spPr>
      </p:sp>
      <p:sp>
        <p:nvSpPr>
          <p:cNvPr id="5" name="Text 3"/>
          <p:cNvSpPr txBox="1"/>
          <p:nvPr/>
        </p:nvSpPr>
        <p:spPr>
          <a:xfrm>
            <a:off x="868680" y="1801368"/>
            <a:ext cx="10454335" cy="411480"/>
          </a:xfrm>
          <a:prstGeom prst="rect">
            <a:avLst/>
          </a:prstGeom>
          <a:noFill/>
          <a:ln/>
        </p:spPr>
        <p:txBody>
          <a:bodyPr wrap="square" lIns="0" tIns="0" rIns="0" bIns="0" rtlCol="0" anchor="t"/>
          <a:lstStyle/>
          <a:p>
            <a:pPr indent="0" marL="0">
              <a:buNone/>
            </a:pPr>
            <a:r>
              <a:rPr lang="en-US" sz="1250" dirty="0">
                <a:solidFill>
                  <a:srgbClr val="D8E0EF"/>
                </a:solidFill>
                <a:latin typeface="Consolas" pitchFamily="34" charset="0"/>
                <a:ea typeface="Consolas" pitchFamily="34" charset="-122"/>
                <a:cs typeface="Consolas" pitchFamily="34" charset="-120"/>
              </a:rPr>
              <a:t>nn.init.normal_(layer.weight, mean=0, std=1.0)   # Experiment 3</a:t>
            </a:r>
            <a:endParaRPr lang="en-US" sz="1250" dirty="0"/>
          </a:p>
        </p:txBody>
      </p:sp>
      <p:sp>
        <p:nvSpPr>
          <p:cNvPr id="6" name="Text 4"/>
          <p:cNvSpPr txBox="1"/>
          <p:nvPr/>
        </p:nvSpPr>
        <p:spPr>
          <a:xfrm>
            <a:off x="640080" y="2606040"/>
            <a:ext cx="3454298" cy="768096"/>
          </a:xfrm>
          <a:prstGeom prst="rect">
            <a:avLst/>
          </a:prstGeom>
          <a:noFill/>
          <a:ln/>
        </p:spPr>
        <p:txBody>
          <a:bodyPr wrap="square" lIns="0" tIns="0" rIns="0" bIns="0" rtlCol="0" anchor="b"/>
          <a:lstStyle/>
          <a:p>
            <a:pPr algn="ctr" indent="0" marL="0">
              <a:buNone/>
            </a:pPr>
            <a:r>
              <a:rPr lang="en-US" sz="3000" b="1" dirty="0">
                <a:solidFill>
                  <a:srgbClr val="7D3C98"/>
                </a:solidFill>
                <a:latin typeface="Cambria" pitchFamily="34" charset="0"/>
                <a:ea typeface="Cambria" pitchFamily="34" charset="-122"/>
                <a:cs typeface="Cambria" pitchFamily="34" charset="-120"/>
              </a:rPr>
              <a:t>1.87e+7</a:t>
            </a:r>
            <a:endParaRPr lang="en-US" sz="3000" dirty="0"/>
          </a:p>
        </p:txBody>
      </p:sp>
      <p:sp>
        <p:nvSpPr>
          <p:cNvPr id="7" name="Text 5"/>
          <p:cNvSpPr txBox="1"/>
          <p:nvPr/>
        </p:nvSpPr>
        <p:spPr>
          <a:xfrm>
            <a:off x="640080" y="337413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Gradient RMS lớp 1 (khởi tạo) — bùng nổ</a:t>
            </a:r>
            <a:endParaRPr lang="en-US" sz="1100" dirty="0"/>
          </a:p>
        </p:txBody>
      </p:sp>
      <p:sp>
        <p:nvSpPr>
          <p:cNvPr id="8" name="Text 6"/>
          <p:cNvSpPr txBox="1"/>
          <p:nvPr/>
        </p:nvSpPr>
        <p:spPr>
          <a:xfrm>
            <a:off x="4368698" y="2606040"/>
            <a:ext cx="3454298" cy="768096"/>
          </a:xfrm>
          <a:prstGeom prst="rect">
            <a:avLst/>
          </a:prstGeom>
          <a:noFill/>
          <a:ln/>
        </p:spPr>
        <p:txBody>
          <a:bodyPr wrap="square" lIns="0" tIns="0" rIns="0" bIns="0" rtlCol="0" anchor="b"/>
          <a:lstStyle/>
          <a:p>
            <a:pPr algn="ctr" indent="0" marL="0">
              <a:buNone/>
            </a:pPr>
            <a:r>
              <a:rPr lang="en-US" sz="3000" b="1" dirty="0">
                <a:solidFill>
                  <a:srgbClr val="7D3C98"/>
                </a:solidFill>
                <a:latin typeface="Cambria" pitchFamily="34" charset="0"/>
                <a:ea typeface="Cambria" pitchFamily="34" charset="-122"/>
                <a:cs typeface="Cambria" pitchFamily="34" charset="-120"/>
              </a:rPr>
              <a:t>NaN</a:t>
            </a:r>
            <a:endParaRPr lang="en-US" sz="3000" dirty="0"/>
          </a:p>
        </p:txBody>
      </p:sp>
      <p:sp>
        <p:nvSpPr>
          <p:cNvPr id="9" name="Text 7"/>
          <p:cNvSpPr txBox="1"/>
          <p:nvPr/>
        </p:nvSpPr>
        <p:spPr>
          <a:xfrm>
            <a:off x="4368698" y="337413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Train loss ngay từ epoch 1 — huấn luyện PHÂN KỲ</a:t>
            </a:r>
            <a:endParaRPr lang="en-US" sz="1100" dirty="0"/>
          </a:p>
        </p:txBody>
      </p:sp>
      <p:sp>
        <p:nvSpPr>
          <p:cNvPr id="10" name="Text 8"/>
          <p:cNvSpPr txBox="1"/>
          <p:nvPr/>
        </p:nvSpPr>
        <p:spPr>
          <a:xfrm>
            <a:off x="8097317" y="2606040"/>
            <a:ext cx="3454298" cy="768096"/>
          </a:xfrm>
          <a:prstGeom prst="rect">
            <a:avLst/>
          </a:prstGeom>
          <a:noFill/>
          <a:ln/>
        </p:spPr>
        <p:txBody>
          <a:bodyPr wrap="square" lIns="0" tIns="0" rIns="0" bIns="0" rtlCol="0" anchor="b"/>
          <a:lstStyle/>
          <a:p>
            <a:pPr algn="ctr" indent="0" marL="0">
              <a:buNone/>
            </a:pPr>
            <a:r>
              <a:rPr lang="en-US" sz="3000" b="1" dirty="0">
                <a:solidFill>
                  <a:srgbClr val="5B6478"/>
                </a:solidFill>
                <a:latin typeface="Cambria" pitchFamily="34" charset="0"/>
                <a:ea typeface="Cambria" pitchFamily="34" charset="-122"/>
                <a:cs typeface="Cambria" pitchFamily="34" charset="-120"/>
              </a:rPr>
              <a:t>10.0%</a:t>
            </a:r>
            <a:endParaRPr lang="en-US" sz="3000" dirty="0"/>
          </a:p>
        </p:txBody>
      </p:sp>
      <p:sp>
        <p:nvSpPr>
          <p:cNvPr id="11" name="Text 9"/>
          <p:cNvSpPr txBox="1"/>
          <p:nvPr/>
        </p:nvSpPr>
        <p:spPr>
          <a:xfrm>
            <a:off x="8097317" y="337413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Test accuracy cuối cùng (không học được gì)</a:t>
            </a:r>
            <a:endParaRPr lang="en-US" sz="1100" dirty="0"/>
          </a:p>
        </p:txBody>
      </p:sp>
      <p:sp>
        <p:nvSpPr>
          <p:cNvPr id="12" name="Shape 10"/>
          <p:cNvSpPr/>
          <p:nvPr/>
        </p:nvSpPr>
        <p:spPr>
          <a:xfrm>
            <a:off x="640080" y="4160520"/>
            <a:ext cx="10911535" cy="777240"/>
          </a:xfrm>
          <a:prstGeom prst="roundRect">
            <a:avLst>
              <a:gd name="adj" fmla="val 7059"/>
            </a:avLst>
          </a:prstGeom>
          <a:solidFill>
            <a:srgbClr val="FBEEEC"/>
          </a:solidFill>
          <a:ln w="9525">
            <a:solidFill>
              <a:srgbClr val="7D3C98"/>
            </a:solidFill>
            <a:prstDash val="solid"/>
          </a:ln>
        </p:spPr>
      </p:sp>
      <p:sp>
        <p:nvSpPr>
          <p:cNvPr id="13" name="Text 11"/>
          <p:cNvSpPr txBox="1"/>
          <p:nvPr/>
        </p:nvSpPr>
        <p:spPr>
          <a:xfrm>
            <a:off x="914400" y="4160520"/>
            <a:ext cx="10362895" cy="777240"/>
          </a:xfrm>
          <a:prstGeom prst="rect">
            <a:avLst/>
          </a:prstGeom>
          <a:noFill/>
          <a:ln/>
        </p:spPr>
        <p:txBody>
          <a:bodyPr wrap="square" lIns="0" tIns="0" rIns="0" bIns="0" rtlCol="0" anchor="ctr"/>
          <a:lstStyle/>
          <a:p>
            <a:pPr indent="0" marL="0">
              <a:buNone/>
            </a:pPr>
            <a:r>
              <a:rPr lang="en-US" sz="1450" b="1" dirty="0">
                <a:solidFill>
                  <a:srgbClr val="7D3C98"/>
                </a:solidFill>
                <a:latin typeface="Calibri" pitchFamily="34" charset="0"/>
                <a:ea typeface="Calibri" pitchFamily="34" charset="-122"/>
                <a:cs typeface="Calibri" pitchFamily="34" charset="-120"/>
              </a:rPr>
              <a:t>Bằng chứng thực nghiệm trực tiếp cho hiện tượng mô tả ở slide "Exploding Gradient": std quá lớn (1.0) trên 10 lớp khiến gradient RMS bùng nổ tới 1.9e+7 ngay bước đầu, loss thành NaN và không phục hồi trong suốt 15 epoch.</a:t>
            </a:r>
            <a:endParaRPr lang="en-US" sz="1450" dirty="0"/>
          </a:p>
        </p:txBody>
      </p:sp>
      <p:sp>
        <p:nvSpPr>
          <p:cNvPr id="14" name="Text 12"/>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21/29</a:t>
            </a:r>
            <a:endParaRPr lang="en-US" sz="900" dirty="0"/>
          </a:p>
        </p:txBody>
      </p:sp>
      <p:sp>
        <p:nvSpPr>
          <p:cNvPr id="15" name="Shape 13"/>
          <p:cNvSpPr/>
          <p:nvPr/>
        </p:nvSpPr>
        <p:spPr>
          <a:xfrm>
            <a:off x="610362" y="6473952"/>
            <a:ext cx="59436" cy="59436"/>
          </a:xfrm>
          <a:prstGeom prst="ellipse">
            <a:avLst/>
          </a:prstGeom>
          <a:solidFill>
            <a:srgbClr val="D9DEE8"/>
          </a:solidFill>
          <a:ln/>
        </p:spPr>
      </p:sp>
      <p:sp>
        <p:nvSpPr>
          <p:cNvPr id="16" name="Shape 14"/>
          <p:cNvSpPr/>
          <p:nvPr/>
        </p:nvSpPr>
        <p:spPr>
          <a:xfrm>
            <a:off x="829818" y="6473952"/>
            <a:ext cx="59436" cy="59436"/>
          </a:xfrm>
          <a:prstGeom prst="ellipse">
            <a:avLst/>
          </a:prstGeom>
          <a:solidFill>
            <a:srgbClr val="D9DEE8"/>
          </a:solidFill>
          <a:ln/>
        </p:spPr>
      </p:sp>
      <p:sp>
        <p:nvSpPr>
          <p:cNvPr id="17" name="Shape 15"/>
          <p:cNvSpPr/>
          <p:nvPr/>
        </p:nvSpPr>
        <p:spPr>
          <a:xfrm>
            <a:off x="1034415" y="6459093"/>
            <a:ext cx="89154" cy="89154"/>
          </a:xfrm>
          <a:prstGeom prst="ellipse">
            <a:avLst/>
          </a:prstGeom>
          <a:solidFill>
            <a:srgbClr val="285AB4"/>
          </a:solidFill>
          <a:ln/>
        </p:spPr>
      </p:sp>
      <p:sp>
        <p:nvSpPr>
          <p:cNvPr id="18" name="Shape 16"/>
          <p:cNvSpPr/>
          <p:nvPr/>
        </p:nvSpPr>
        <p:spPr>
          <a:xfrm>
            <a:off x="1268730" y="6473952"/>
            <a:ext cx="59436" cy="59436"/>
          </a:xfrm>
          <a:prstGeom prst="ellipse">
            <a:avLst/>
          </a:prstGeom>
          <a:solidFill>
            <a:srgbClr val="D9DEE8"/>
          </a:solidFill>
          <a:ln/>
        </p:spPr>
      </p:sp>
      <p:sp>
        <p:nvSpPr>
          <p:cNvPr id="19" name="Text 17"/>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EXPERIMENT 4 &amp; 5 (5 SEEDS MỖI SCHEME)</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400" b="1" dirty="0">
                <a:solidFill>
                  <a:srgbClr val="1A2238"/>
                </a:solidFill>
                <a:latin typeface="Cambria" pitchFamily="34" charset="0"/>
                <a:ea typeface="Cambria" pitchFamily="34" charset="-122"/>
                <a:cs typeface="Cambria" pitchFamily="34" charset="-120"/>
              </a:rPr>
              <a:t>Xavier vs. He — cả hai học được, chênh lệch KHÔNG đủ ý nghĩa</a:t>
            </a:r>
            <a:endParaRPr lang="en-US" sz="2400" dirty="0"/>
          </a:p>
        </p:txBody>
      </p:sp>
      <p:sp>
        <p:nvSpPr>
          <p:cNvPr id="4" name="Shape 2"/>
          <p:cNvSpPr/>
          <p:nvPr/>
        </p:nvSpPr>
        <p:spPr>
          <a:xfrm>
            <a:off x="640080" y="1691640"/>
            <a:ext cx="10911535" cy="1234440"/>
          </a:xfrm>
          <a:prstGeom prst="roundRect">
            <a:avLst>
              <a:gd name="adj" fmla="val 3704"/>
            </a:avLst>
          </a:prstGeom>
          <a:solidFill>
            <a:srgbClr val="1E2A44"/>
          </a:solidFill>
          <a:ln/>
        </p:spPr>
      </p:sp>
      <p:sp>
        <p:nvSpPr>
          <p:cNvPr id="5" name="Text 3"/>
          <p:cNvSpPr txBox="1"/>
          <p:nvPr/>
        </p:nvSpPr>
        <p:spPr>
          <a:xfrm>
            <a:off x="868680" y="1801368"/>
            <a:ext cx="10454335" cy="1051560"/>
          </a:xfrm>
          <a:prstGeom prst="rect">
            <a:avLst/>
          </a:prstGeom>
          <a:noFill/>
          <a:ln/>
        </p:spPr>
        <p:txBody>
          <a:bodyPr wrap="square" lIns="0" tIns="0" rIns="0" bIns="0" rtlCol="0" anchor="t"/>
          <a:lstStyle/>
          <a:p>
            <a:pPr indent="0" marL="0">
              <a:buNone/>
            </a:pPr>
            <a:r>
              <a:rPr lang="en-US" sz="1250" dirty="0">
                <a:solidFill>
                  <a:srgbClr val="D8E0EF"/>
                </a:solidFill>
                <a:latin typeface="Consolas" pitchFamily="34" charset="0"/>
                <a:ea typeface="Consolas" pitchFamily="34" charset="-122"/>
                <a:cs typeface="Consolas" pitchFamily="34" charset="-120"/>
              </a:rPr>
              <a:t>nn.init.xavier_normal_(layer.weight)                                       # Experiment 4</a:t>
            </a:r>
            <a:endParaRPr lang="en-US" sz="1250" dirty="0"/>
          </a:p>
          <a:p>
            <a:pPr indent="0" marL="0">
              <a:buNone/>
            </a:pPr>
            <a:r>
              <a:rPr lang="en-US" sz="1250" dirty="0">
                <a:solidFill>
                  <a:srgbClr val="D8E0EF"/>
                </a:solidFill>
                <a:latin typeface="Consolas" pitchFamily="34" charset="0"/>
                <a:ea typeface="Consolas" pitchFamily="34" charset="-122"/>
                <a:cs typeface="Consolas" pitchFamily="34" charset="-120"/>
              </a:rPr>
              <a:t>nn.init.kaiming_normal_(layer.weight, mode='fan_in', nonlinearity='relu')  # Experiment 5</a:t>
            </a:r>
            <a:endParaRPr lang="en-US" sz="1250" dirty="0"/>
          </a:p>
          <a:p>
            <a:pPr indent="0" marL="0">
              <a:buNone/>
            </a:pPr>
            <a:r>
              <a:rPr lang="en-US" sz="1250" dirty="0">
                <a:solidFill>
                  <a:srgbClr val="D8E0EF"/>
                </a:solidFill>
                <a:latin typeface="Consolas" pitchFamily="34" charset="0"/>
                <a:ea typeface="Consolas" pitchFamily="34" charset="-122"/>
                <a:cs typeface="Consolas" pitchFamily="34" charset="-120"/>
              </a:rPr>
              <a:t># chạy độc lập với 5 seed {42..46}, báo cáo mean ± std</a:t>
            </a:r>
            <a:endParaRPr lang="en-US" sz="1250" dirty="0"/>
          </a:p>
        </p:txBody>
      </p:sp>
      <p:sp>
        <p:nvSpPr>
          <p:cNvPr id="6" name="Text 4"/>
          <p:cNvSpPr txBox="1"/>
          <p:nvPr/>
        </p:nvSpPr>
        <p:spPr>
          <a:xfrm>
            <a:off x="640080" y="3246120"/>
            <a:ext cx="3454298" cy="768096"/>
          </a:xfrm>
          <a:prstGeom prst="rect">
            <a:avLst/>
          </a:prstGeom>
          <a:noFill/>
          <a:ln/>
        </p:spPr>
        <p:txBody>
          <a:bodyPr wrap="square" lIns="0" tIns="0" rIns="0" bIns="0" rtlCol="0" anchor="b"/>
          <a:lstStyle/>
          <a:p>
            <a:pPr algn="ctr" indent="0" marL="0">
              <a:buNone/>
            </a:pPr>
            <a:r>
              <a:rPr lang="en-US" sz="3000" b="1" dirty="0">
                <a:solidFill>
                  <a:srgbClr val="2E7D5B"/>
                </a:solidFill>
                <a:latin typeface="Cambria" pitchFamily="34" charset="0"/>
                <a:ea typeface="Cambria" pitchFamily="34" charset="-122"/>
                <a:cs typeface="Cambria" pitchFamily="34" charset="-120"/>
              </a:rPr>
              <a:t>69.1% ± 4.7pp</a:t>
            </a:r>
            <a:endParaRPr lang="en-US" sz="3000" dirty="0"/>
          </a:p>
        </p:txBody>
      </p:sp>
      <p:sp>
        <p:nvSpPr>
          <p:cNvPr id="7" name="Text 5"/>
          <p:cNvSpPr txBox="1"/>
          <p:nvPr/>
        </p:nvSpPr>
        <p:spPr>
          <a:xfrm>
            <a:off x="640080" y="401421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Xavier — test accuracy, mean ± std (n=5 seeds)</a:t>
            </a:r>
            <a:endParaRPr lang="en-US" sz="1100" dirty="0"/>
          </a:p>
        </p:txBody>
      </p:sp>
      <p:sp>
        <p:nvSpPr>
          <p:cNvPr id="8" name="Text 6"/>
          <p:cNvSpPr txBox="1"/>
          <p:nvPr/>
        </p:nvSpPr>
        <p:spPr>
          <a:xfrm>
            <a:off x="4368698" y="3246120"/>
            <a:ext cx="3454298" cy="768096"/>
          </a:xfrm>
          <a:prstGeom prst="rect">
            <a:avLst/>
          </a:prstGeom>
          <a:noFill/>
          <a:ln/>
        </p:spPr>
        <p:txBody>
          <a:bodyPr wrap="square" lIns="0" tIns="0" rIns="0" bIns="0" rtlCol="0" anchor="b"/>
          <a:lstStyle/>
          <a:p>
            <a:pPr algn="ctr" indent="0" marL="0">
              <a:buNone/>
            </a:pPr>
            <a:r>
              <a:rPr lang="en-US" sz="3000" b="1" dirty="0">
                <a:solidFill>
                  <a:srgbClr val="2E7D5B"/>
                </a:solidFill>
                <a:latin typeface="Cambria" pitchFamily="34" charset="0"/>
                <a:ea typeface="Cambria" pitchFamily="34" charset="-122"/>
                <a:cs typeface="Cambria" pitchFamily="34" charset="-120"/>
              </a:rPr>
              <a:t>70.5% ± 5.7pp</a:t>
            </a:r>
            <a:endParaRPr lang="en-US" sz="3000" dirty="0"/>
          </a:p>
        </p:txBody>
      </p:sp>
      <p:sp>
        <p:nvSpPr>
          <p:cNvPr id="9" name="Text 7"/>
          <p:cNvSpPr txBox="1"/>
          <p:nvPr/>
        </p:nvSpPr>
        <p:spPr>
          <a:xfrm>
            <a:off x="4368698" y="401421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He — test accuracy, mean ± std (n=5 seeds)</a:t>
            </a:r>
            <a:endParaRPr lang="en-US" sz="1100" dirty="0"/>
          </a:p>
        </p:txBody>
      </p:sp>
      <p:sp>
        <p:nvSpPr>
          <p:cNvPr id="10" name="Text 8"/>
          <p:cNvSpPr txBox="1"/>
          <p:nvPr/>
        </p:nvSpPr>
        <p:spPr>
          <a:xfrm>
            <a:off x="8097317" y="3246120"/>
            <a:ext cx="3454298" cy="768096"/>
          </a:xfrm>
          <a:prstGeom prst="rect">
            <a:avLst/>
          </a:prstGeom>
          <a:noFill/>
          <a:ln/>
        </p:spPr>
        <p:txBody>
          <a:bodyPr wrap="square" lIns="0" tIns="0" rIns="0" bIns="0" rtlCol="0" anchor="b"/>
          <a:lstStyle/>
          <a:p>
            <a:pPr algn="ctr" indent="0" marL="0">
              <a:buNone/>
            </a:pPr>
            <a:r>
              <a:rPr lang="en-US" sz="3000" b="1" dirty="0">
                <a:solidFill>
                  <a:srgbClr val="2E7D5B"/>
                </a:solidFill>
                <a:latin typeface="Cambria" pitchFamily="34" charset="0"/>
                <a:ea typeface="Cambria" pitchFamily="34" charset="-122"/>
                <a:cs typeface="Cambria" pitchFamily="34" charset="-120"/>
              </a:rPr>
              <a:t>1.5e-2 vs 4.2e-4</a:t>
            </a:r>
            <a:endParaRPr lang="en-US" sz="3000" dirty="0"/>
          </a:p>
        </p:txBody>
      </p:sp>
      <p:sp>
        <p:nvSpPr>
          <p:cNvPr id="11" name="Text 9"/>
          <p:cNvSpPr txBox="1"/>
          <p:nvPr/>
        </p:nvSpPr>
        <p:spPr>
          <a:xfrm>
            <a:off x="8097317" y="4014216"/>
            <a:ext cx="3454298" cy="512064"/>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Gradient RMS lớp 1, mean — He vs. Xavier (chênh lệch ~35×, ổn định qua seed)</a:t>
            </a:r>
            <a:endParaRPr lang="en-US" sz="1100" dirty="0"/>
          </a:p>
        </p:txBody>
      </p:sp>
      <p:sp>
        <p:nvSpPr>
          <p:cNvPr id="12" name="Shape 10"/>
          <p:cNvSpPr/>
          <p:nvPr/>
        </p:nvSpPr>
        <p:spPr>
          <a:xfrm>
            <a:off x="640080" y="4800600"/>
            <a:ext cx="10911535" cy="777240"/>
          </a:xfrm>
          <a:prstGeom prst="roundRect">
            <a:avLst>
              <a:gd name="adj" fmla="val 7059"/>
            </a:avLst>
          </a:prstGeom>
          <a:solidFill>
            <a:srgbClr val="EAF3EE"/>
          </a:solidFill>
          <a:ln w="9525">
            <a:solidFill>
              <a:srgbClr val="2E7D5B"/>
            </a:solidFill>
            <a:prstDash val="solid"/>
          </a:ln>
        </p:spPr>
      </p:sp>
      <p:sp>
        <p:nvSpPr>
          <p:cNvPr id="13" name="Text 11"/>
          <p:cNvSpPr txBox="1"/>
          <p:nvPr/>
        </p:nvSpPr>
        <p:spPr>
          <a:xfrm>
            <a:off x="914400" y="4800600"/>
            <a:ext cx="10362895" cy="777240"/>
          </a:xfrm>
          <a:prstGeom prst="rect">
            <a:avLst/>
          </a:prstGeom>
          <a:noFill/>
          <a:ln/>
        </p:spPr>
        <p:txBody>
          <a:bodyPr wrap="square" lIns="0" tIns="0" rIns="0" bIns="0" rtlCol="0" anchor="ctr"/>
          <a:lstStyle/>
          <a:p>
            <a:pPr indent="0" marL="0">
              <a:buNone/>
            </a:pPr>
            <a:r>
              <a:rPr lang="en-US" sz="1450" b="1" dirty="0">
                <a:solidFill>
                  <a:srgbClr val="2E7D5B"/>
                </a:solidFill>
                <a:latin typeface="Calibri" pitchFamily="34" charset="0"/>
                <a:ea typeface="Calibri" pitchFamily="34" charset="-122"/>
                <a:cs typeface="Calibri" pitchFamily="34" charset="-120"/>
              </a:rPr>
              <a:t>Accuracy: Xavier 69.1%±4.7pp vs. He 70.5%±5.7pp — khoảng std CHỒNG LẤN nhau, không đủ cơ sở kết luận scheme nào vượt trội cho ReLU trong setup này. Khác biệt rõ ràng và nhất quán hơn nằm ở gradient RMS (He &gt; Xavier ở mọi seed).</a:t>
            </a:r>
            <a:endParaRPr lang="en-US" sz="1450" dirty="0"/>
          </a:p>
        </p:txBody>
      </p:sp>
      <p:sp>
        <p:nvSpPr>
          <p:cNvPr id="14" name="Text 12"/>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22/29</a:t>
            </a:r>
            <a:endParaRPr lang="en-US" sz="900" dirty="0"/>
          </a:p>
        </p:txBody>
      </p:sp>
      <p:sp>
        <p:nvSpPr>
          <p:cNvPr id="15" name="Shape 13"/>
          <p:cNvSpPr/>
          <p:nvPr/>
        </p:nvSpPr>
        <p:spPr>
          <a:xfrm>
            <a:off x="610362" y="6473952"/>
            <a:ext cx="59436" cy="59436"/>
          </a:xfrm>
          <a:prstGeom prst="ellipse">
            <a:avLst/>
          </a:prstGeom>
          <a:solidFill>
            <a:srgbClr val="D9DEE8"/>
          </a:solidFill>
          <a:ln/>
        </p:spPr>
      </p:sp>
      <p:sp>
        <p:nvSpPr>
          <p:cNvPr id="16" name="Shape 14"/>
          <p:cNvSpPr/>
          <p:nvPr/>
        </p:nvSpPr>
        <p:spPr>
          <a:xfrm>
            <a:off x="829818" y="6473952"/>
            <a:ext cx="59436" cy="59436"/>
          </a:xfrm>
          <a:prstGeom prst="ellipse">
            <a:avLst/>
          </a:prstGeom>
          <a:solidFill>
            <a:srgbClr val="D9DEE8"/>
          </a:solidFill>
          <a:ln/>
        </p:spPr>
      </p:sp>
      <p:sp>
        <p:nvSpPr>
          <p:cNvPr id="17" name="Shape 15"/>
          <p:cNvSpPr/>
          <p:nvPr/>
        </p:nvSpPr>
        <p:spPr>
          <a:xfrm>
            <a:off x="1034415" y="6459093"/>
            <a:ext cx="89154" cy="89154"/>
          </a:xfrm>
          <a:prstGeom prst="ellipse">
            <a:avLst/>
          </a:prstGeom>
          <a:solidFill>
            <a:srgbClr val="285AB4"/>
          </a:solidFill>
          <a:ln/>
        </p:spPr>
      </p:sp>
      <p:sp>
        <p:nvSpPr>
          <p:cNvPr id="18" name="Shape 16"/>
          <p:cNvSpPr/>
          <p:nvPr/>
        </p:nvSpPr>
        <p:spPr>
          <a:xfrm>
            <a:off x="1268730" y="6473952"/>
            <a:ext cx="59436" cy="59436"/>
          </a:xfrm>
          <a:prstGeom prst="ellipse">
            <a:avLst/>
          </a:prstGeom>
          <a:solidFill>
            <a:srgbClr val="D9DEE8"/>
          </a:solidFill>
          <a:ln/>
        </p:spPr>
      </p:sp>
      <p:sp>
        <p:nvSpPr>
          <p:cNvPr id="19" name="Text 17"/>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KẾT QUẢ TỔNG HỢP</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500" b="1" dirty="0">
                <a:solidFill>
                  <a:srgbClr val="1A2238"/>
                </a:solidFill>
                <a:latin typeface="Cambria" pitchFamily="34" charset="0"/>
                <a:ea typeface="Cambria" pitchFamily="34" charset="-122"/>
                <a:cs typeface="Cambria" pitchFamily="34" charset="-120"/>
              </a:rPr>
              <a:t>5 thí nghiệm, 1 kiến trúc, 1 biểu đồ</a:t>
            </a:r>
            <a:endParaRPr lang="en-US" sz="2500" dirty="0"/>
          </a:p>
        </p:txBody>
      </p:sp>
      <p:pic>
        <p:nvPicPr>
          <p:cNvPr id="4" name="Image 0" descr="..\results\figures\deep_demo_accuracy_slide.png">    </p:cNvPr>
          <p:cNvPicPr>
            <a:picLocks noChangeAspect="1"/>
          </p:cNvPicPr>
          <p:nvPr/>
        </p:nvPicPr>
        <p:blipFill>
          <a:blip r:embed="rId1"/>
          <a:stretch>
            <a:fillRect/>
          </a:stretch>
        </p:blipFill>
        <p:spPr>
          <a:xfrm>
            <a:off x="3306928" y="1554480"/>
            <a:ext cx="5577840" cy="3842512"/>
          </a:xfrm>
          <a:prstGeom prst="rect">
            <a:avLst/>
          </a:prstGeom>
        </p:spPr>
      </p:pic>
      <p:sp>
        <p:nvSpPr>
          <p:cNvPr id="5" name="Text 2"/>
          <p:cNvSpPr txBox="1"/>
          <p:nvPr/>
        </p:nvSpPr>
        <p:spPr>
          <a:xfrm>
            <a:off x="640080" y="5534152"/>
            <a:ext cx="10911535" cy="100584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1A2238"/>
                </a:solidFill>
                <a:latin typeface="Calibri" pitchFamily="34" charset="0"/>
                <a:ea typeface="Calibri" pitchFamily="34" charset="-122"/>
                <a:cs typeface="Calibri" pitchFamily="34" charset="-120"/>
              </a:rPr>
              <a:t>Zero &amp; Random nhỏ: đường phẳng ngang mức 10% — không học được gì</a:t>
            </a:r>
            <a:endParaRPr lang="en-US" sz="1350" dirty="0"/>
          </a:p>
          <a:p>
            <a:pPr marL="228600" indent="-228600">
              <a:spcAft>
                <a:spcPts val="500"/>
              </a:spcAft>
              <a:buSzPct val="100000"/>
              <a:buChar char="▪"/>
            </a:pPr>
            <a:r>
              <a:rPr lang="en-US" sz="1350" dirty="0">
                <a:solidFill>
                  <a:srgbClr val="1A2238"/>
                </a:solidFill>
                <a:latin typeface="Calibri" pitchFamily="34" charset="0"/>
                <a:ea typeface="Calibri" pitchFamily="34" charset="-122"/>
                <a:cs typeface="Calibri" pitchFamily="34" charset="-120"/>
              </a:rPr>
              <a:t>Random lớn: không xuất hiện trên biểu đồ (loss = NaN ngay từ epoch 1)</a:t>
            </a:r>
            <a:endParaRPr lang="en-US" sz="1350" dirty="0"/>
          </a:p>
          <a:p>
            <a:pPr marL="228600" indent="-228600">
              <a:spcAft>
                <a:spcPts val="500"/>
              </a:spcAft>
              <a:buSzPct val="100000"/>
              <a:buChar char="▪"/>
            </a:pPr>
            <a:r>
              <a:rPr lang="en-US" sz="1350" dirty="0">
                <a:solidFill>
                  <a:srgbClr val="1A2238"/>
                </a:solidFill>
                <a:latin typeface="Calibri" pitchFamily="34" charset="0"/>
                <a:ea typeface="Calibri" pitchFamily="34" charset="-122"/>
                <a:cs typeface="Calibri" pitchFamily="34" charset="-120"/>
              </a:rPr>
              <a:t>Xavier &amp; He: hội tụ rõ ràng, đạt ~67–68% dù kiến trúc sâu tới 10 lớp</a:t>
            </a:r>
            <a:endParaRPr lang="en-US" sz="1350" dirty="0"/>
          </a:p>
        </p:txBody>
      </p:sp>
      <p:sp>
        <p:nvSpPr>
          <p:cNvPr id="6" name="Text 3"/>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23/29</a:t>
            </a:r>
            <a:endParaRPr lang="en-US" sz="900" dirty="0"/>
          </a:p>
        </p:txBody>
      </p:sp>
      <p:sp>
        <p:nvSpPr>
          <p:cNvPr id="7" name="Shape 4"/>
          <p:cNvSpPr/>
          <p:nvPr/>
        </p:nvSpPr>
        <p:spPr>
          <a:xfrm>
            <a:off x="610362" y="6473952"/>
            <a:ext cx="59436" cy="59436"/>
          </a:xfrm>
          <a:prstGeom prst="ellipse">
            <a:avLst/>
          </a:prstGeom>
          <a:solidFill>
            <a:srgbClr val="D9DEE8"/>
          </a:solidFill>
          <a:ln/>
        </p:spPr>
      </p:sp>
      <p:sp>
        <p:nvSpPr>
          <p:cNvPr id="8" name="Shape 5"/>
          <p:cNvSpPr/>
          <p:nvPr/>
        </p:nvSpPr>
        <p:spPr>
          <a:xfrm>
            <a:off x="829818" y="6473952"/>
            <a:ext cx="59436" cy="59436"/>
          </a:xfrm>
          <a:prstGeom prst="ellipse">
            <a:avLst/>
          </a:prstGeom>
          <a:solidFill>
            <a:srgbClr val="D9DEE8"/>
          </a:solidFill>
          <a:ln/>
        </p:spPr>
      </p:sp>
      <p:sp>
        <p:nvSpPr>
          <p:cNvPr id="9" name="Shape 6"/>
          <p:cNvSpPr/>
          <p:nvPr/>
        </p:nvSpPr>
        <p:spPr>
          <a:xfrm>
            <a:off x="1034415" y="6459093"/>
            <a:ext cx="89154" cy="89154"/>
          </a:xfrm>
          <a:prstGeom prst="ellipse">
            <a:avLst/>
          </a:prstGeom>
          <a:solidFill>
            <a:srgbClr val="285AB4"/>
          </a:solidFill>
          <a:ln/>
        </p:spPr>
      </p:sp>
      <p:sp>
        <p:nvSpPr>
          <p:cNvPr id="10" name="Shape 7"/>
          <p:cNvSpPr/>
          <p:nvPr/>
        </p:nvSpPr>
        <p:spPr>
          <a:xfrm>
            <a:off x="1268730" y="6473952"/>
            <a:ext cx="59436" cy="59436"/>
          </a:xfrm>
          <a:prstGeom prst="ellipse">
            <a:avLst/>
          </a:prstGeom>
          <a:solidFill>
            <a:srgbClr val="D9DEE8"/>
          </a:solidFill>
          <a:ln/>
        </p:spPr>
      </p:sp>
      <p:sp>
        <p:nvSpPr>
          <p:cNvPr id="11" name="Text 8"/>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VISUALIZATION QUAN TRỌNG NHẤT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300" b="1" dirty="0">
                <a:solidFill>
                  <a:srgbClr val="1A2238"/>
                </a:solidFill>
                <a:latin typeface="Cambria" pitchFamily="34" charset="0"/>
                <a:ea typeface="Cambria" pitchFamily="34" charset="-122"/>
                <a:cs typeface="Cambria" pitchFamily="34" charset="-120"/>
              </a:rPr>
              <a:t>Gradient RMS Heatmap — layer × initialization</a:t>
            </a:r>
            <a:endParaRPr lang="en-US" sz="2300" dirty="0"/>
          </a:p>
        </p:txBody>
      </p:sp>
      <p:pic>
        <p:nvPicPr>
          <p:cNvPr id="4" name="Image 0" descr="..\results\figures\gradient_heatmap_slide.png">    </p:cNvPr>
          <p:cNvPicPr>
            <a:picLocks noChangeAspect="1"/>
          </p:cNvPicPr>
          <p:nvPr/>
        </p:nvPicPr>
        <p:blipFill>
          <a:blip r:embed="rId1"/>
          <a:stretch>
            <a:fillRect/>
          </a:stretch>
        </p:blipFill>
        <p:spPr>
          <a:xfrm>
            <a:off x="1798168" y="1600200"/>
            <a:ext cx="8595360" cy="4063261"/>
          </a:xfrm>
          <a:prstGeom prst="rect">
            <a:avLst/>
          </a:prstGeom>
        </p:spPr>
      </p:pic>
      <p:sp>
        <p:nvSpPr>
          <p:cNvPr id="5" name="Text 2"/>
          <p:cNvSpPr txBox="1"/>
          <p:nvPr/>
        </p:nvSpPr>
        <p:spPr>
          <a:xfrm>
            <a:off x="640080" y="5754901"/>
            <a:ext cx="10911535" cy="54864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log₁₀(RMS gradient) đo thật tại bước khởi tạo, 10 hidden layer, activation ReLU — xanh dương = quá nhỏ (vanish), đỏ = quá lớn (explode), cam nhạt/vàng = vùng ổn định.</a:t>
            </a:r>
            <a:endParaRPr lang="en-US" sz="1250" dirty="0"/>
          </a:p>
        </p:txBody>
      </p:sp>
      <p:sp>
        <p:nvSpPr>
          <p:cNvPr id="6" name="Text 3"/>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24/29</a:t>
            </a:r>
            <a:endParaRPr lang="en-US" sz="900" dirty="0"/>
          </a:p>
        </p:txBody>
      </p:sp>
      <p:sp>
        <p:nvSpPr>
          <p:cNvPr id="7" name="Shape 4"/>
          <p:cNvSpPr/>
          <p:nvPr/>
        </p:nvSpPr>
        <p:spPr>
          <a:xfrm>
            <a:off x="610362" y="6473952"/>
            <a:ext cx="59436" cy="59436"/>
          </a:xfrm>
          <a:prstGeom prst="ellipse">
            <a:avLst/>
          </a:prstGeom>
          <a:solidFill>
            <a:srgbClr val="D9DEE8"/>
          </a:solidFill>
          <a:ln/>
        </p:spPr>
      </p:sp>
      <p:sp>
        <p:nvSpPr>
          <p:cNvPr id="8" name="Shape 5"/>
          <p:cNvSpPr/>
          <p:nvPr/>
        </p:nvSpPr>
        <p:spPr>
          <a:xfrm>
            <a:off x="829818" y="6473952"/>
            <a:ext cx="59436" cy="59436"/>
          </a:xfrm>
          <a:prstGeom prst="ellipse">
            <a:avLst/>
          </a:prstGeom>
          <a:solidFill>
            <a:srgbClr val="D9DEE8"/>
          </a:solidFill>
          <a:ln/>
        </p:spPr>
      </p:sp>
      <p:sp>
        <p:nvSpPr>
          <p:cNvPr id="9" name="Shape 6"/>
          <p:cNvSpPr/>
          <p:nvPr/>
        </p:nvSpPr>
        <p:spPr>
          <a:xfrm>
            <a:off x="1034415" y="6459093"/>
            <a:ext cx="89154" cy="89154"/>
          </a:xfrm>
          <a:prstGeom prst="ellipse">
            <a:avLst/>
          </a:prstGeom>
          <a:solidFill>
            <a:srgbClr val="285AB4"/>
          </a:solidFill>
          <a:ln/>
        </p:spPr>
      </p:sp>
      <p:sp>
        <p:nvSpPr>
          <p:cNvPr id="10" name="Shape 7"/>
          <p:cNvSpPr/>
          <p:nvPr/>
        </p:nvSpPr>
        <p:spPr>
          <a:xfrm>
            <a:off x="1268730" y="6473952"/>
            <a:ext cx="59436" cy="59436"/>
          </a:xfrm>
          <a:prstGeom prst="ellipse">
            <a:avLst/>
          </a:prstGeom>
          <a:solidFill>
            <a:srgbClr val="D9DEE8"/>
          </a:solidFill>
          <a:ln/>
        </p:spPr>
      </p:sp>
      <p:sp>
        <p:nvSpPr>
          <p:cNvPr id="11" name="Text 8"/>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DEMO — DEPTH EXPERIMENT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200" b="1" dirty="0">
                <a:solidFill>
                  <a:srgbClr val="1A2238"/>
                </a:solidFill>
                <a:latin typeface="Cambria" pitchFamily="34" charset="0"/>
                <a:ea typeface="Cambria" pitchFamily="34" charset="-122"/>
                <a:cs typeface="Cambria" pitchFamily="34" charset="-120"/>
              </a:rPr>
              <a:t>Random vs. Xavier vs. He — theo độ sâu (2→50 lớp)</a:t>
            </a:r>
            <a:endParaRPr lang="en-US" sz="2200" dirty="0"/>
          </a:p>
        </p:txBody>
      </p:sp>
      <p:pic>
        <p:nvPicPr>
          <p:cNvPr id="4" name="Image 0" descr="..\results\figures\depth_comparison_v2_slide.png">    </p:cNvPr>
          <p:cNvPicPr>
            <a:picLocks noChangeAspect="1"/>
          </p:cNvPicPr>
          <p:nvPr/>
        </p:nvPicPr>
        <p:blipFill>
          <a:blip r:embed="rId1"/>
          <a:stretch>
            <a:fillRect/>
          </a:stretch>
        </p:blipFill>
        <p:spPr>
          <a:xfrm>
            <a:off x="640080" y="1737360"/>
            <a:ext cx="6035040" cy="4157472"/>
          </a:xfrm>
          <a:prstGeom prst="rect">
            <a:avLst/>
          </a:prstGeom>
        </p:spPr>
      </p:pic>
      <p:sp>
        <p:nvSpPr>
          <p:cNvPr id="5" name="Text 2"/>
          <p:cNvSpPr txBox="1"/>
          <p:nvPr/>
        </p:nvSpPr>
        <p:spPr>
          <a:xfrm>
            <a:off x="7040880" y="1828800"/>
            <a:ext cx="4510735" cy="4206240"/>
          </a:xfrm>
          <a:prstGeom prst="rect">
            <a:avLst/>
          </a:prstGeom>
          <a:noFill/>
          <a:ln/>
        </p:spPr>
        <p:txBody>
          <a:bodyPr wrap="square" lIns="0" tIns="0" rIns="0" bIns="0" rtlCol="0" anchor="t"/>
          <a:lstStyle/>
          <a:p>
            <a:pPr marL="228600" indent="-228600">
              <a:spcAft>
                <a:spcPts val="900"/>
              </a:spcAft>
              <a:buSzPct val="100000"/>
              <a:buChar char="▪"/>
            </a:pPr>
            <a:r>
              <a:rPr lang="en-US" sz="1250" dirty="0">
                <a:solidFill>
                  <a:srgbClr val="1A2238"/>
                </a:solidFill>
                <a:latin typeface="Calibri" pitchFamily="34" charset="0"/>
                <a:ea typeface="Calibri" pitchFamily="34" charset="-122"/>
                <a:cs typeface="Calibri" pitchFamily="34" charset="-120"/>
              </a:rPr>
              <a:t>Random (naive): trong thiết lập này, gradient RMS về xấp xỉ 0 từ độ sâu 20 trở lên</a:t>
            </a:r>
            <a:endParaRPr lang="en-US" sz="1250" dirty="0"/>
          </a:p>
          <a:p>
            <a:pPr marL="228600" indent="-228600">
              <a:spcAft>
                <a:spcPts val="900"/>
              </a:spcAft>
              <a:buSzPct val="100000"/>
              <a:buChar char="▪"/>
            </a:pPr>
            <a:r>
              <a:rPr lang="en-US" sz="1250" dirty="0">
                <a:solidFill>
                  <a:srgbClr val="1A2238"/>
                </a:solidFill>
                <a:latin typeface="Calibri" pitchFamily="34" charset="0"/>
                <a:ea typeface="Calibri" pitchFamily="34" charset="-122"/>
                <a:cs typeface="Calibri" pitchFamily="34" charset="-120"/>
              </a:rPr>
              <a:t>Xavier: suy giảm dần đều — cho gradient RMS rất nhỏ tại depth=50 (≈3×10⁻¹⁰)</a:t>
            </a:r>
            <a:endParaRPr lang="en-US" sz="1250" dirty="0"/>
          </a:p>
          <a:p>
            <a:pPr marL="228600" indent="-228600">
              <a:spcAft>
                <a:spcPts val="900"/>
              </a:spcAft>
              <a:buSzPct val="100000"/>
              <a:buChar char="▪"/>
            </a:pPr>
            <a:r>
              <a:rPr lang="en-US" sz="1250" dirty="0">
                <a:solidFill>
                  <a:srgbClr val="1A2238"/>
                </a:solidFill>
                <a:latin typeface="Calibri" pitchFamily="34" charset="0"/>
                <a:ea typeface="Calibri" pitchFamily="34" charset="-122"/>
                <a:cs typeface="Calibri" pitchFamily="34" charset="-120"/>
              </a:rPr>
              <a:t>He: duy trì gradient RMS cùng order of magnitude (~10⁻²) đến depth=50, trong architecture và training setup đang xét</a:t>
            </a:r>
            <a:endParaRPr lang="en-US" sz="1250" dirty="0"/>
          </a:p>
          <a:p>
            <a:pPr marL="228600" indent="-228600">
              <a:spcAft>
                <a:spcPts val="900"/>
              </a:spcAft>
              <a:buSzPct val="100000"/>
              <a:buChar char="▪"/>
            </a:pPr>
            <a:r>
              <a:rPr lang="en-US" sz="1250" dirty="0">
                <a:solidFill>
                  <a:srgbClr val="1A2238"/>
                </a:solidFill>
                <a:latin typeface="Calibri" pitchFamily="34" charset="0"/>
                <a:ea typeface="Calibri" pitchFamily="34" charset="-122"/>
                <a:cs typeface="Calibri" pitchFamily="34" charset="-120"/>
              </a:rPr>
              <a:t>Nhưng gradient ổn định KHÔNG đồng nghĩa học tốt: He@L=12 test acc chỉ 32.6% (overfitting quan sát được, không phải vanishing — khớp phát hiện của báo cáo chính)</a:t>
            </a:r>
            <a:endParaRPr lang="en-US" sz="1250" dirty="0"/>
          </a:p>
        </p:txBody>
      </p:sp>
      <p:sp>
        <p:nvSpPr>
          <p:cNvPr id="6" name="Text 3"/>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25/29</a:t>
            </a:r>
            <a:endParaRPr lang="en-US" sz="900" dirty="0"/>
          </a:p>
        </p:txBody>
      </p:sp>
      <p:sp>
        <p:nvSpPr>
          <p:cNvPr id="7" name="Shape 4"/>
          <p:cNvSpPr/>
          <p:nvPr/>
        </p:nvSpPr>
        <p:spPr>
          <a:xfrm>
            <a:off x="610362" y="6473952"/>
            <a:ext cx="59436" cy="59436"/>
          </a:xfrm>
          <a:prstGeom prst="ellipse">
            <a:avLst/>
          </a:prstGeom>
          <a:solidFill>
            <a:srgbClr val="D9DEE8"/>
          </a:solidFill>
          <a:ln/>
        </p:spPr>
      </p:sp>
      <p:sp>
        <p:nvSpPr>
          <p:cNvPr id="8" name="Shape 5"/>
          <p:cNvSpPr/>
          <p:nvPr/>
        </p:nvSpPr>
        <p:spPr>
          <a:xfrm>
            <a:off x="829818" y="6473952"/>
            <a:ext cx="59436" cy="59436"/>
          </a:xfrm>
          <a:prstGeom prst="ellipse">
            <a:avLst/>
          </a:prstGeom>
          <a:solidFill>
            <a:srgbClr val="D9DEE8"/>
          </a:solidFill>
          <a:ln/>
        </p:spPr>
      </p:sp>
      <p:sp>
        <p:nvSpPr>
          <p:cNvPr id="9" name="Shape 6"/>
          <p:cNvSpPr/>
          <p:nvPr/>
        </p:nvSpPr>
        <p:spPr>
          <a:xfrm>
            <a:off x="1034415" y="6459093"/>
            <a:ext cx="89154" cy="89154"/>
          </a:xfrm>
          <a:prstGeom prst="ellipse">
            <a:avLst/>
          </a:prstGeom>
          <a:solidFill>
            <a:srgbClr val="285AB4"/>
          </a:solidFill>
          <a:ln/>
        </p:spPr>
      </p:sp>
      <p:sp>
        <p:nvSpPr>
          <p:cNvPr id="10" name="Shape 7"/>
          <p:cNvSpPr/>
          <p:nvPr/>
        </p:nvSpPr>
        <p:spPr>
          <a:xfrm>
            <a:off x="1268730" y="6473952"/>
            <a:ext cx="59436" cy="59436"/>
          </a:xfrm>
          <a:prstGeom prst="ellipse">
            <a:avLst/>
          </a:prstGeom>
          <a:solidFill>
            <a:srgbClr val="D9DEE8"/>
          </a:solidFill>
          <a:ln/>
        </p:spPr>
      </p:sp>
      <p:sp>
        <p:nvSpPr>
          <p:cNvPr id="11" name="Text 8"/>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KẾT QUẢ</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400" b="1" dirty="0">
                <a:solidFill>
                  <a:srgbClr val="1A2238"/>
                </a:solidFill>
                <a:latin typeface="Cambria" pitchFamily="34" charset="0"/>
                <a:ea typeface="Cambria" pitchFamily="34" charset="-122"/>
                <a:cs typeface="Cambria" pitchFamily="34" charset="-120"/>
              </a:rPr>
              <a:t>Bảng tổng hợp — 5 thí nghiệm, số liệu thật</a:t>
            </a:r>
            <a:endParaRPr lang="en-US" sz="2400" dirty="0"/>
          </a:p>
        </p:txBody>
      </p:sp>
      <p:sp>
        <p:nvSpPr>
          <p:cNvPr id="4" name="Text 2"/>
          <p:cNvSpPr txBox="1"/>
          <p:nvPr/>
        </p:nvSpPr>
        <p:spPr>
          <a:xfrm>
            <a:off x="640080" y="1572768"/>
            <a:ext cx="10911535" cy="32004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Thứ tự đọc kết quả (từ trực tiếp nhất): Gradient RMS → Training Loss → Test Accuracy</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2743200"/>
        </p:xfrm>
        <a:graphic>
          <a:graphicData uri="http://schemas.openxmlformats.org/drawingml/2006/table">
            <a:tbl>
              <a:tblPr/>
              <a:tblGrid>
                <a:gridCol w="2130552"/>
                <a:gridCol w="2130552"/>
                <a:gridCol w="2130552"/>
                <a:gridCol w="2130552"/>
                <a:gridCol w="2450592"/>
              </a:tblGrid>
              <a:tr h="457200">
                <a:tc>
                  <a:txBody>
                    <a:bodyPr/>
                    <a:lstStyle/>
                    <a:p>
                      <a:pPr indent="0" marL="0">
                        <a:buNone/>
                      </a:pPr>
                      <a:r>
                        <a:rPr lang="en-US" sz="1300" b="1" dirty="0">
                          <a:solidFill>
                            <a:srgbClr val="FFFFFF"/>
                          </a:solidFill>
                        </a:rPr>
                        <a:t>Init</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rPr>
                        <a:t>Grad RMS (L1)</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rPr>
                        <a:t>Final Loss</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rPr>
                        <a:t>Accuracy</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rPr>
                        <a:t>Gradient behavior</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r>
              <a:tr h="457200">
                <a:tc>
                  <a:txBody>
                    <a:bodyPr/>
                    <a:lstStyle/>
                    <a:p>
                      <a:pPr algn="l" indent="0" marL="0">
                        <a:buNone/>
                      </a:pPr>
                      <a:r>
                        <a:rPr lang="en-US" sz="1300" b="1" dirty="0">
                          <a:solidFill>
                            <a:srgbClr val="1A2238"/>
                          </a:solidFill>
                        </a:rPr>
                        <a:t>Zero</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0.0e+0</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2.303</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10.0%</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b="1" dirty="0">
                          <a:solidFill>
                            <a:srgbClr val="BE3C32"/>
                          </a:solidFill>
                        </a:rPr>
                        <a:t>Vanishing</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r>
              <a:tr h="457200">
                <a:tc>
                  <a:txBody>
                    <a:bodyPr/>
                    <a:lstStyle/>
                    <a:p>
                      <a:pPr algn="l" indent="0" marL="0">
                        <a:buNone/>
                      </a:pPr>
                      <a:r>
                        <a:rPr lang="en-US" sz="1300" b="1" dirty="0">
                          <a:solidFill>
                            <a:srgbClr val="1A2238"/>
                          </a:solidFill>
                        </a:rPr>
                        <a:t>Random (small)</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238"/>
                          </a:solidFill>
                        </a:rPr>
                        <a:t>1.1e-13</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238"/>
                          </a:solidFill>
                        </a:rPr>
                        <a:t>2.303</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238"/>
                          </a:solidFill>
                        </a:rPr>
                        <a:t>10.0%</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E3C32"/>
                          </a:solidFill>
                        </a:rPr>
                        <a:t>Vanishing</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A2238"/>
                          </a:solidFill>
                        </a:rPr>
                        <a:t>Random (large)</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1.9e+7</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NaN</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10.0%</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b="1" dirty="0">
                          <a:solidFill>
                            <a:srgbClr val="7D3C98"/>
                          </a:solidFill>
                        </a:rPr>
                        <a:t>Exploding (NaN)</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r>
              <a:tr h="457200">
                <a:tc>
                  <a:txBody>
                    <a:bodyPr/>
                    <a:lstStyle/>
                    <a:p>
                      <a:pPr algn="l" indent="0" marL="0">
                        <a:buNone/>
                      </a:pPr>
                      <a:r>
                        <a:rPr lang="en-US" sz="1300" b="1" dirty="0">
                          <a:solidFill>
                            <a:srgbClr val="1A2238"/>
                          </a:solidFill>
                        </a:rPr>
                        <a:t>Xavier</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238"/>
                          </a:solidFill>
                        </a:rPr>
                        <a:t>4.4e-4</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238"/>
                          </a:solidFill>
                        </a:rPr>
                        <a:t>0.474</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238"/>
                          </a:solidFill>
                        </a:rPr>
                        <a:t>68.2%</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5B"/>
                          </a:solidFill>
                        </a:rPr>
                        <a:t>Ổn định</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A2238"/>
                          </a:solidFill>
                        </a:rPr>
                        <a:t>He</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1.1e-2</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0.365</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dirty="0">
                          <a:solidFill>
                            <a:srgbClr val="1A2238"/>
                          </a:solidFill>
                        </a:rPr>
                        <a:t>67.4%</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algn="ctr" indent="0" marL="0">
                        <a:buNone/>
                      </a:pPr>
                      <a:r>
                        <a:rPr lang="en-US" sz="1300" b="1" dirty="0">
                          <a:solidFill>
                            <a:srgbClr val="2E7D5B"/>
                          </a:solidFill>
                        </a:rPr>
                        <a:t>Ổn định</a:t>
                      </a:r>
                      <a:endParaRPr lang="en-US" sz="1300" dirty="0"/>
                    </a:p>
                  </a:txBody>
                  <a:tcPr marL="91440" marR="91440" marT="45720" marB="45720">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r>
            </a:tbl>
          </a:graphicData>
        </a:graphic>
      </p:graphicFrame>
      <p:sp>
        <p:nvSpPr>
          <p:cNvPr id="6" name="Text 3"/>
          <p:cNvSpPr txBox="1"/>
          <p:nvPr/>
        </p:nvSpPr>
        <p:spPr>
          <a:xfrm>
            <a:off x="640080" y="4892040"/>
            <a:ext cx="10911535" cy="548640"/>
          </a:xfrm>
          <a:prstGeom prst="rect">
            <a:avLst/>
          </a:prstGeom>
          <a:noFill/>
          <a:ln/>
        </p:spPr>
        <p:txBody>
          <a:bodyPr wrap="square" lIns="0" tIns="0" rIns="0" bIns="0"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Số liệu lấy nguyên văn từ results/tables/deep_demo_summary.csv — không làm tròn để "đẹp bảng", không có kết quả nào bị bỏ sót. Xem thêm Activation Variance trong log JSON của từng cấu hình (results/logs/deep_demo_*.json).</a:t>
            </a:r>
            <a:endParaRPr lang="en-US" sz="1150" dirty="0"/>
          </a:p>
        </p:txBody>
      </p:sp>
      <p:sp>
        <p:nvSpPr>
          <p:cNvPr id="7" name="Text 4"/>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26/29</a:t>
            </a:r>
            <a:endParaRPr lang="en-US" sz="900" dirty="0"/>
          </a:p>
        </p:txBody>
      </p:sp>
      <p:sp>
        <p:nvSpPr>
          <p:cNvPr id="8" name="Shape 5"/>
          <p:cNvSpPr/>
          <p:nvPr/>
        </p:nvSpPr>
        <p:spPr>
          <a:xfrm>
            <a:off x="610362" y="6473952"/>
            <a:ext cx="59436" cy="59436"/>
          </a:xfrm>
          <a:prstGeom prst="ellipse">
            <a:avLst/>
          </a:prstGeom>
          <a:solidFill>
            <a:srgbClr val="D9DEE8"/>
          </a:solidFill>
          <a:ln/>
        </p:spPr>
      </p:sp>
      <p:sp>
        <p:nvSpPr>
          <p:cNvPr id="9" name="Shape 6"/>
          <p:cNvSpPr/>
          <p:nvPr/>
        </p:nvSpPr>
        <p:spPr>
          <a:xfrm>
            <a:off x="829818" y="6473952"/>
            <a:ext cx="59436" cy="59436"/>
          </a:xfrm>
          <a:prstGeom prst="ellipse">
            <a:avLst/>
          </a:prstGeom>
          <a:solidFill>
            <a:srgbClr val="D9DEE8"/>
          </a:solidFill>
          <a:ln/>
        </p:spPr>
      </p:sp>
      <p:sp>
        <p:nvSpPr>
          <p:cNvPr id="10" name="Shape 7"/>
          <p:cNvSpPr/>
          <p:nvPr/>
        </p:nvSpPr>
        <p:spPr>
          <a:xfrm>
            <a:off x="1034415" y="6459093"/>
            <a:ext cx="89154" cy="89154"/>
          </a:xfrm>
          <a:prstGeom prst="ellipse">
            <a:avLst/>
          </a:prstGeom>
          <a:solidFill>
            <a:srgbClr val="285AB4"/>
          </a:solidFill>
          <a:ln/>
        </p:spPr>
      </p:sp>
      <p:sp>
        <p:nvSpPr>
          <p:cNvPr id="11" name="Shape 8"/>
          <p:cNvSpPr/>
          <p:nvPr/>
        </p:nvSpPr>
        <p:spPr>
          <a:xfrm>
            <a:off x="1268730" y="6473952"/>
            <a:ext cx="59436" cy="59436"/>
          </a:xfrm>
          <a:prstGeom prst="ellipse">
            <a:avLst/>
          </a:prstGeom>
          <a:solidFill>
            <a:srgbClr val="D9DEE8"/>
          </a:solidFill>
          <a:ln/>
        </p:spPr>
      </p:sp>
      <p:sp>
        <p:nvSpPr>
          <p:cNvPr id="12" name="Text 9"/>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8FA3C9"/>
                </a:solidFill>
                <a:latin typeface="Calibri" pitchFamily="34" charset="0"/>
                <a:ea typeface="Calibri" pitchFamily="34" charset="-122"/>
                <a:cs typeface="Calibri" pitchFamily="34" charset="-120"/>
              </a:rPr>
              <a:t>KẾT LUẬN</a:t>
            </a:r>
            <a:endParaRPr lang="en-US" sz="1300" dirty="0"/>
          </a:p>
        </p:txBody>
      </p:sp>
      <p:sp>
        <p:nvSpPr>
          <p:cNvPr id="3" name="Text 1"/>
          <p:cNvSpPr txBox="1"/>
          <p:nvPr/>
        </p:nvSpPr>
        <p:spPr>
          <a:xfrm>
            <a:off x="640080" y="868680"/>
            <a:ext cx="10911535" cy="347472"/>
          </a:xfrm>
          <a:prstGeom prst="rect">
            <a:avLst/>
          </a:prstGeom>
          <a:noFill/>
          <a:ln/>
        </p:spPr>
        <p:txBody>
          <a:bodyPr wrap="square" lIns="0" tIns="0" rIns="0" bIns="0" rtlCol="0" anchor="ctr"/>
          <a:lstStyle/>
          <a:p>
            <a:pPr algn="ctr" indent="0" marL="0">
              <a:buNone/>
            </a:pPr>
            <a:r>
              <a:rPr lang="en-US" sz="1550" dirty="0">
                <a:solidFill>
                  <a:srgbClr val="E7ECF6"/>
                </a:solidFill>
                <a:latin typeface="Cambria" pitchFamily="34" charset="0"/>
                <a:ea typeface="Cambria" pitchFamily="34" charset="-122"/>
                <a:cs typeface="Cambria" pitchFamily="34" charset="-120"/>
              </a:rPr>
              <a:t>Derivative</a:t>
            </a:r>
            <a:endParaRPr lang="en-US" sz="1550" dirty="0"/>
          </a:p>
        </p:txBody>
      </p:sp>
      <p:sp>
        <p:nvSpPr>
          <p:cNvPr id="4" name="Text 2"/>
          <p:cNvSpPr txBox="1"/>
          <p:nvPr/>
        </p:nvSpPr>
        <p:spPr>
          <a:xfrm>
            <a:off x="640080" y="1197864"/>
            <a:ext cx="10911535" cy="201168"/>
          </a:xfrm>
          <a:prstGeom prst="rect">
            <a:avLst/>
          </a:prstGeom>
          <a:noFill/>
          <a:ln/>
        </p:spPr>
        <p:txBody>
          <a:bodyPr wrap="square" lIns="0" tIns="0" rIns="0" bIns="0" rtlCol="0" anchor="ctr"/>
          <a:lstStyle/>
          <a:p>
            <a:pPr algn="ctr" indent="0" marL="0">
              <a:buNone/>
            </a:pPr>
            <a:r>
              <a:rPr lang="en-US" sz="1300" dirty="0">
                <a:solidFill>
                  <a:srgbClr val="6FA3E0"/>
                </a:solidFill>
              </a:rPr>
              <a:t>↓</a:t>
            </a:r>
            <a:endParaRPr lang="en-US" sz="1300" dirty="0"/>
          </a:p>
        </p:txBody>
      </p:sp>
      <p:sp>
        <p:nvSpPr>
          <p:cNvPr id="5" name="Text 3"/>
          <p:cNvSpPr txBox="1"/>
          <p:nvPr/>
        </p:nvSpPr>
        <p:spPr>
          <a:xfrm>
            <a:off x="640080" y="1417320"/>
            <a:ext cx="10911535" cy="347472"/>
          </a:xfrm>
          <a:prstGeom prst="rect">
            <a:avLst/>
          </a:prstGeom>
          <a:noFill/>
          <a:ln/>
        </p:spPr>
        <p:txBody>
          <a:bodyPr wrap="square" lIns="0" tIns="0" rIns="0" bIns="0" rtlCol="0" anchor="ctr"/>
          <a:lstStyle/>
          <a:p>
            <a:pPr algn="ctr" indent="0" marL="0">
              <a:buNone/>
            </a:pPr>
            <a:r>
              <a:rPr lang="en-US" sz="1550" dirty="0">
                <a:solidFill>
                  <a:srgbClr val="E7ECF6"/>
                </a:solidFill>
                <a:latin typeface="Cambria" pitchFamily="34" charset="0"/>
                <a:ea typeface="Cambria" pitchFamily="34" charset="-122"/>
                <a:cs typeface="Cambria" pitchFamily="34" charset="-120"/>
              </a:rPr>
              <a:t>Chain Rule</a:t>
            </a:r>
            <a:endParaRPr lang="en-US" sz="1550" dirty="0"/>
          </a:p>
        </p:txBody>
      </p:sp>
      <p:sp>
        <p:nvSpPr>
          <p:cNvPr id="6" name="Text 4"/>
          <p:cNvSpPr txBox="1"/>
          <p:nvPr/>
        </p:nvSpPr>
        <p:spPr>
          <a:xfrm>
            <a:off x="640080" y="1746504"/>
            <a:ext cx="10911535" cy="201168"/>
          </a:xfrm>
          <a:prstGeom prst="rect">
            <a:avLst/>
          </a:prstGeom>
          <a:noFill/>
          <a:ln/>
        </p:spPr>
        <p:txBody>
          <a:bodyPr wrap="square" lIns="0" tIns="0" rIns="0" bIns="0" rtlCol="0" anchor="ctr"/>
          <a:lstStyle/>
          <a:p>
            <a:pPr algn="ctr" indent="0" marL="0">
              <a:buNone/>
            </a:pPr>
            <a:r>
              <a:rPr lang="en-US" sz="1300" dirty="0">
                <a:solidFill>
                  <a:srgbClr val="6FA3E0"/>
                </a:solidFill>
              </a:rPr>
              <a:t>↓</a:t>
            </a:r>
            <a:endParaRPr lang="en-US" sz="1300" dirty="0"/>
          </a:p>
        </p:txBody>
      </p:sp>
      <p:sp>
        <p:nvSpPr>
          <p:cNvPr id="7" name="Text 5"/>
          <p:cNvSpPr txBox="1"/>
          <p:nvPr/>
        </p:nvSpPr>
        <p:spPr>
          <a:xfrm>
            <a:off x="640080" y="1965960"/>
            <a:ext cx="10911535" cy="347472"/>
          </a:xfrm>
          <a:prstGeom prst="rect">
            <a:avLst/>
          </a:prstGeom>
          <a:noFill/>
          <a:ln/>
        </p:spPr>
        <p:txBody>
          <a:bodyPr wrap="square" lIns="0" tIns="0" rIns="0" bIns="0" rtlCol="0" anchor="ctr"/>
          <a:lstStyle/>
          <a:p>
            <a:pPr algn="ctr" indent="0" marL="0">
              <a:buNone/>
            </a:pPr>
            <a:r>
              <a:rPr lang="en-US" sz="1550" dirty="0">
                <a:solidFill>
                  <a:srgbClr val="E7ECF6"/>
                </a:solidFill>
                <a:latin typeface="Cambria" pitchFamily="34" charset="0"/>
                <a:ea typeface="Cambria" pitchFamily="34" charset="-122"/>
                <a:cs typeface="Cambria" pitchFamily="34" charset="-120"/>
              </a:rPr>
              <a:t>Backpropagation</a:t>
            </a:r>
            <a:endParaRPr lang="en-US" sz="1550" dirty="0"/>
          </a:p>
        </p:txBody>
      </p:sp>
      <p:sp>
        <p:nvSpPr>
          <p:cNvPr id="8" name="Text 6"/>
          <p:cNvSpPr txBox="1"/>
          <p:nvPr/>
        </p:nvSpPr>
        <p:spPr>
          <a:xfrm>
            <a:off x="640080" y="2295144"/>
            <a:ext cx="10911535" cy="201168"/>
          </a:xfrm>
          <a:prstGeom prst="rect">
            <a:avLst/>
          </a:prstGeom>
          <a:noFill/>
          <a:ln/>
        </p:spPr>
        <p:txBody>
          <a:bodyPr wrap="square" lIns="0" tIns="0" rIns="0" bIns="0" rtlCol="0" anchor="ctr"/>
          <a:lstStyle/>
          <a:p>
            <a:pPr algn="ctr" indent="0" marL="0">
              <a:buNone/>
            </a:pPr>
            <a:r>
              <a:rPr lang="en-US" sz="1300" dirty="0">
                <a:solidFill>
                  <a:srgbClr val="6FA3E0"/>
                </a:solidFill>
              </a:rPr>
              <a:t>↓</a:t>
            </a:r>
            <a:endParaRPr lang="en-US" sz="1300" dirty="0"/>
          </a:p>
        </p:txBody>
      </p:sp>
      <p:sp>
        <p:nvSpPr>
          <p:cNvPr id="9" name="Text 7"/>
          <p:cNvSpPr txBox="1"/>
          <p:nvPr/>
        </p:nvSpPr>
        <p:spPr>
          <a:xfrm>
            <a:off x="640080" y="2514600"/>
            <a:ext cx="10911535" cy="347472"/>
          </a:xfrm>
          <a:prstGeom prst="rect">
            <a:avLst/>
          </a:prstGeom>
          <a:noFill/>
          <a:ln/>
        </p:spPr>
        <p:txBody>
          <a:bodyPr wrap="square" lIns="0" tIns="0" rIns="0" bIns="0" rtlCol="0" anchor="ctr"/>
          <a:lstStyle/>
          <a:p>
            <a:pPr algn="ctr" indent="0" marL="0">
              <a:buNone/>
            </a:pPr>
            <a:r>
              <a:rPr lang="en-US" sz="1550" dirty="0">
                <a:solidFill>
                  <a:srgbClr val="E7ECF6"/>
                </a:solidFill>
                <a:latin typeface="Cambria" pitchFamily="34" charset="0"/>
                <a:ea typeface="Cambria" pitchFamily="34" charset="-122"/>
                <a:cs typeface="Cambria" pitchFamily="34" charset="-120"/>
              </a:rPr>
              <a:t>Gradient Flow</a:t>
            </a:r>
            <a:endParaRPr lang="en-US" sz="1550" dirty="0"/>
          </a:p>
        </p:txBody>
      </p:sp>
      <p:sp>
        <p:nvSpPr>
          <p:cNvPr id="10" name="Text 8"/>
          <p:cNvSpPr txBox="1"/>
          <p:nvPr/>
        </p:nvSpPr>
        <p:spPr>
          <a:xfrm>
            <a:off x="640080" y="2843784"/>
            <a:ext cx="10911535" cy="201168"/>
          </a:xfrm>
          <a:prstGeom prst="rect">
            <a:avLst/>
          </a:prstGeom>
          <a:noFill/>
          <a:ln/>
        </p:spPr>
        <p:txBody>
          <a:bodyPr wrap="square" lIns="0" tIns="0" rIns="0" bIns="0" rtlCol="0" anchor="ctr"/>
          <a:lstStyle/>
          <a:p>
            <a:pPr algn="ctr" indent="0" marL="0">
              <a:buNone/>
            </a:pPr>
            <a:r>
              <a:rPr lang="en-US" sz="1300" dirty="0">
                <a:solidFill>
                  <a:srgbClr val="6FA3E0"/>
                </a:solidFill>
              </a:rPr>
              <a:t>↓</a:t>
            </a:r>
            <a:endParaRPr lang="en-US" sz="1300" dirty="0"/>
          </a:p>
        </p:txBody>
      </p:sp>
      <p:sp>
        <p:nvSpPr>
          <p:cNvPr id="11" name="Text 9"/>
          <p:cNvSpPr txBox="1"/>
          <p:nvPr/>
        </p:nvSpPr>
        <p:spPr>
          <a:xfrm>
            <a:off x="640080" y="3063240"/>
            <a:ext cx="10911535" cy="347472"/>
          </a:xfrm>
          <a:prstGeom prst="rect">
            <a:avLst/>
          </a:prstGeom>
          <a:noFill/>
          <a:ln/>
        </p:spPr>
        <p:txBody>
          <a:bodyPr wrap="square" lIns="0" tIns="0" rIns="0" bIns="0" rtlCol="0" anchor="ctr"/>
          <a:lstStyle/>
          <a:p>
            <a:pPr algn="ctr" indent="0" marL="0">
              <a:buNone/>
            </a:pPr>
            <a:r>
              <a:rPr lang="en-US" sz="1550" dirty="0">
                <a:solidFill>
                  <a:srgbClr val="E7ECF6"/>
                </a:solidFill>
                <a:latin typeface="Cambria" pitchFamily="34" charset="0"/>
                <a:ea typeface="Cambria" pitchFamily="34" charset="-122"/>
                <a:cs typeface="Cambria" pitchFamily="34" charset="-120"/>
              </a:rPr>
              <a:t>Vanishing / Exploding Gradient</a:t>
            </a:r>
            <a:endParaRPr lang="en-US" sz="1550" dirty="0"/>
          </a:p>
        </p:txBody>
      </p:sp>
      <p:sp>
        <p:nvSpPr>
          <p:cNvPr id="12" name="Text 10"/>
          <p:cNvSpPr txBox="1"/>
          <p:nvPr/>
        </p:nvSpPr>
        <p:spPr>
          <a:xfrm>
            <a:off x="640080" y="3392424"/>
            <a:ext cx="10911535" cy="201168"/>
          </a:xfrm>
          <a:prstGeom prst="rect">
            <a:avLst/>
          </a:prstGeom>
          <a:noFill/>
          <a:ln/>
        </p:spPr>
        <p:txBody>
          <a:bodyPr wrap="square" lIns="0" tIns="0" rIns="0" bIns="0" rtlCol="0" anchor="ctr"/>
          <a:lstStyle/>
          <a:p>
            <a:pPr algn="ctr" indent="0" marL="0">
              <a:buNone/>
            </a:pPr>
            <a:r>
              <a:rPr lang="en-US" sz="1300" dirty="0">
                <a:solidFill>
                  <a:srgbClr val="6FA3E0"/>
                </a:solidFill>
              </a:rPr>
              <a:t>↓</a:t>
            </a:r>
            <a:endParaRPr lang="en-US" sz="1300" dirty="0"/>
          </a:p>
        </p:txBody>
      </p:sp>
      <p:sp>
        <p:nvSpPr>
          <p:cNvPr id="13" name="Text 11"/>
          <p:cNvSpPr txBox="1"/>
          <p:nvPr/>
        </p:nvSpPr>
        <p:spPr>
          <a:xfrm>
            <a:off x="640080" y="3611880"/>
            <a:ext cx="10911535" cy="347472"/>
          </a:xfrm>
          <a:prstGeom prst="rect">
            <a:avLst/>
          </a:prstGeom>
          <a:noFill/>
          <a:ln/>
        </p:spPr>
        <p:txBody>
          <a:bodyPr wrap="square" lIns="0" tIns="0" rIns="0" bIns="0" rtlCol="0" anchor="ctr"/>
          <a:lstStyle/>
          <a:p>
            <a:pPr algn="ctr" indent="0" marL="0">
              <a:buNone/>
            </a:pPr>
            <a:r>
              <a:rPr lang="en-US" sz="1550" dirty="0">
                <a:solidFill>
                  <a:srgbClr val="E7ECF6"/>
                </a:solidFill>
                <a:latin typeface="Cambria" pitchFamily="34" charset="0"/>
                <a:ea typeface="Cambria" pitchFamily="34" charset="-122"/>
                <a:cs typeface="Cambria" pitchFamily="34" charset="-120"/>
              </a:rPr>
              <a:t>Parameter Initialization</a:t>
            </a:r>
            <a:endParaRPr lang="en-US" sz="1550" dirty="0"/>
          </a:p>
        </p:txBody>
      </p:sp>
      <p:sp>
        <p:nvSpPr>
          <p:cNvPr id="14" name="Text 12"/>
          <p:cNvSpPr txBox="1"/>
          <p:nvPr/>
        </p:nvSpPr>
        <p:spPr>
          <a:xfrm>
            <a:off x="640080" y="3941064"/>
            <a:ext cx="10911535" cy="201168"/>
          </a:xfrm>
          <a:prstGeom prst="rect">
            <a:avLst/>
          </a:prstGeom>
          <a:noFill/>
          <a:ln/>
        </p:spPr>
        <p:txBody>
          <a:bodyPr wrap="square" lIns="0" tIns="0" rIns="0" bIns="0" rtlCol="0" anchor="ctr"/>
          <a:lstStyle/>
          <a:p>
            <a:pPr algn="ctr" indent="0" marL="0">
              <a:buNone/>
            </a:pPr>
            <a:r>
              <a:rPr lang="en-US" sz="1300" dirty="0">
                <a:solidFill>
                  <a:srgbClr val="6FA3E0"/>
                </a:solidFill>
              </a:rPr>
              <a:t>↓</a:t>
            </a:r>
            <a:endParaRPr lang="en-US" sz="1300" dirty="0"/>
          </a:p>
        </p:txBody>
      </p:sp>
      <p:sp>
        <p:nvSpPr>
          <p:cNvPr id="15" name="Text 13"/>
          <p:cNvSpPr txBox="1"/>
          <p:nvPr/>
        </p:nvSpPr>
        <p:spPr>
          <a:xfrm>
            <a:off x="640080" y="4160520"/>
            <a:ext cx="10911535" cy="347472"/>
          </a:xfrm>
          <a:prstGeom prst="rect">
            <a:avLst/>
          </a:prstGeom>
          <a:noFill/>
          <a:ln/>
        </p:spPr>
        <p:txBody>
          <a:bodyPr wrap="square" lIns="0" tIns="0" rIns="0" bIns="0" rtlCol="0" anchor="ctr"/>
          <a:lstStyle/>
          <a:p>
            <a:pPr algn="ctr" indent="0" marL="0">
              <a:buNone/>
            </a:pPr>
            <a:r>
              <a:rPr lang="en-US" sz="1550" b="1" dirty="0">
                <a:solidFill>
                  <a:srgbClr val="6FA3E0"/>
                </a:solidFill>
                <a:latin typeface="Cambria" pitchFamily="34" charset="0"/>
                <a:ea typeface="Cambria" pitchFamily="34" charset="-122"/>
                <a:cs typeface="Cambria" pitchFamily="34" charset="-120"/>
              </a:rPr>
              <a:t>Stable Training</a:t>
            </a:r>
            <a:endParaRPr lang="en-US" sz="1550" dirty="0"/>
          </a:p>
        </p:txBody>
      </p:sp>
      <p:sp>
        <p:nvSpPr>
          <p:cNvPr id="16" name="Text 14"/>
          <p:cNvSpPr txBox="1"/>
          <p:nvPr/>
        </p:nvSpPr>
        <p:spPr>
          <a:xfrm>
            <a:off x="640080" y="4800600"/>
            <a:ext cx="10911535" cy="1371600"/>
          </a:xfrm>
          <a:prstGeom prst="rect">
            <a:avLst/>
          </a:prstGeom>
          <a:noFill/>
          <a:ln/>
        </p:spPr>
        <p:txBody>
          <a:bodyPr wrap="square" lIns="0" tIns="0" rIns="0" bIns="0" rtlCol="0" anchor="t"/>
          <a:lstStyle/>
          <a:p>
            <a:pPr indent="0" marL="0">
              <a:spcAft>
                <a:spcPts val="500"/>
              </a:spcAft>
              <a:buNone/>
            </a:pPr>
            <a:r>
              <a:rPr lang="en-US" sz="1150" dirty="0">
                <a:solidFill>
                  <a:srgbClr val="CADCFC"/>
                </a:solidFill>
                <a:latin typeface="Calibri" pitchFamily="34" charset="0"/>
                <a:ea typeface="Calibri" pitchFamily="34" charset="-122"/>
                <a:cs typeface="Calibri" pitchFamily="34" charset="-120"/>
              </a:rPr>
              <a:t>1. Backpropagation là cách tính gradient hiệu quả bằng cách áp dụng chain rule ngược qua computational graph.</a:t>
            </a:r>
            <a:endParaRPr lang="en-US" sz="1150" dirty="0"/>
          </a:p>
          <a:p>
            <a:pPr indent="0" marL="0">
              <a:spcAft>
                <a:spcPts val="500"/>
              </a:spcAft>
              <a:buNone/>
            </a:pPr>
            <a:r>
              <a:rPr lang="en-US" sz="1150" dirty="0">
                <a:solidFill>
                  <a:srgbClr val="CADCFC"/>
                </a:solidFill>
                <a:latin typeface="Calibri" pitchFamily="34" charset="0"/>
                <a:ea typeface="Calibri" pitchFamily="34" charset="-122"/>
                <a:cs typeface="Calibri" pitchFamily="34" charset="-120"/>
              </a:rPr>
              <a:t>2. Trong mạng sâu, gradient phụ thuộc vào tích của nhiều Jacobian/weight transformation — scale của gradient có thể vanish hoặc explode.</a:t>
            </a:r>
            <a:endParaRPr lang="en-US" sz="1150" dirty="0"/>
          </a:p>
          <a:p>
            <a:pPr indent="0" marL="0">
              <a:spcAft>
                <a:spcPts val="500"/>
              </a:spcAft>
              <a:buNone/>
            </a:pPr>
            <a:r>
              <a:rPr lang="en-US" sz="1150" dirty="0">
                <a:solidFill>
                  <a:srgbClr val="CADCFC"/>
                </a:solidFill>
                <a:latin typeface="Calibri" pitchFamily="34" charset="0"/>
                <a:ea typeface="Calibri" pitchFamily="34" charset="-122"/>
                <a:cs typeface="Calibri" pitchFamily="34" charset="-120"/>
              </a:rPr>
              <a:t>3. Xavier và He chọn scale of initial weights dựa trên fan-in/fan-out để giữ activation và gradient trong phạm vi hợp lý, dưới các giả định nhất định.</a:t>
            </a:r>
            <a:endParaRPr lang="en-US" sz="1150" dirty="0"/>
          </a:p>
          <a:p>
            <a:pPr indent="0" marL="0">
              <a:spcAft>
                <a:spcPts val="500"/>
              </a:spcAft>
              <a:buNone/>
            </a:pPr>
            <a:r>
              <a:rPr lang="en-US" sz="1150" dirty="0">
                <a:solidFill>
                  <a:srgbClr val="CADCFC"/>
                </a:solidFill>
                <a:latin typeface="Calibri" pitchFamily="34" charset="0"/>
                <a:ea typeface="Calibri" pitchFamily="34" charset="-122"/>
                <a:cs typeface="Calibri" pitchFamily="34" charset="-120"/>
              </a:rPr>
              <a:t>4. Good initialization cải thiện optimization và gradient flow, nhưng không đảm bảo generalization tốt.</a:t>
            </a:r>
            <a:endParaRPr lang="en-US" sz="1150" dirty="0"/>
          </a:p>
        </p:txBody>
      </p:sp>
      <p:sp>
        <p:nvSpPr>
          <p:cNvPr id="17" name="Shape 15"/>
          <p:cNvSpPr/>
          <p:nvPr/>
        </p:nvSpPr>
        <p:spPr>
          <a:xfrm>
            <a:off x="610362" y="6473952"/>
            <a:ext cx="59436" cy="59436"/>
          </a:xfrm>
          <a:prstGeom prst="ellipse">
            <a:avLst/>
          </a:prstGeom>
          <a:solidFill>
            <a:srgbClr val="3A4A70"/>
          </a:solidFill>
          <a:ln/>
        </p:spPr>
      </p:sp>
      <p:sp>
        <p:nvSpPr>
          <p:cNvPr id="18" name="Shape 16"/>
          <p:cNvSpPr/>
          <p:nvPr/>
        </p:nvSpPr>
        <p:spPr>
          <a:xfrm>
            <a:off x="829818" y="6473952"/>
            <a:ext cx="59436" cy="59436"/>
          </a:xfrm>
          <a:prstGeom prst="ellipse">
            <a:avLst/>
          </a:prstGeom>
          <a:solidFill>
            <a:srgbClr val="3A4A70"/>
          </a:solidFill>
          <a:ln/>
        </p:spPr>
      </p:sp>
      <p:sp>
        <p:nvSpPr>
          <p:cNvPr id="19" name="Shape 17"/>
          <p:cNvSpPr/>
          <p:nvPr/>
        </p:nvSpPr>
        <p:spPr>
          <a:xfrm>
            <a:off x="1049274" y="6473952"/>
            <a:ext cx="59436" cy="59436"/>
          </a:xfrm>
          <a:prstGeom prst="ellipse">
            <a:avLst/>
          </a:prstGeom>
          <a:solidFill>
            <a:srgbClr val="3A4A70"/>
          </a:solidFill>
          <a:ln/>
        </p:spPr>
      </p:sp>
      <p:sp>
        <p:nvSpPr>
          <p:cNvPr id="20" name="Shape 18"/>
          <p:cNvSpPr/>
          <p:nvPr/>
        </p:nvSpPr>
        <p:spPr>
          <a:xfrm>
            <a:off x="1253871" y="6459093"/>
            <a:ext cx="89154" cy="89154"/>
          </a:xfrm>
          <a:prstGeom prst="ellipse">
            <a:avLst/>
          </a:prstGeom>
          <a:solidFill>
            <a:srgbClr val="6FA3E0"/>
          </a:solidFill>
          <a:ln/>
        </p:spPr>
      </p:sp>
      <p:sp>
        <p:nvSpPr>
          <p:cNvPr id="21" name="Text 19"/>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6FA3E0"/>
                </a:solidFill>
                <a:latin typeface="Calibri" pitchFamily="34" charset="0"/>
                <a:ea typeface="Calibri" pitchFamily="34" charset="-122"/>
                <a:cs typeface="Calibri" pitchFamily="34" charset="-120"/>
              </a:rPr>
              <a:t>CONCLUSION</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300" b="1" spc="100" kern="0" dirty="0">
                <a:solidFill>
                  <a:srgbClr val="285AB4"/>
                </a:solidFill>
                <a:latin typeface="Calibri" pitchFamily="34" charset="0"/>
                <a:ea typeface="Calibri" pitchFamily="34" charset="-122"/>
                <a:cs typeface="Calibri" pitchFamily="34" charset="-120"/>
              </a:rPr>
              <a:t>MỞ RỘNG (THAM KHẢO)</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400" b="1" dirty="0">
                <a:solidFill>
                  <a:srgbClr val="1A2238"/>
                </a:solidFill>
                <a:latin typeface="Cambria" pitchFamily="34" charset="0"/>
                <a:ea typeface="Cambria" pitchFamily="34" charset="-122"/>
                <a:cs typeface="Cambria" pitchFamily="34" charset="-120"/>
              </a:rPr>
              <a:t>Từ Initialization tới mạng hiện đại</a:t>
            </a:r>
            <a:endParaRPr lang="en-US" sz="2400" dirty="0"/>
          </a:p>
        </p:txBody>
      </p:sp>
      <p:sp>
        <p:nvSpPr>
          <p:cNvPr id="4" name="Shape 2"/>
          <p:cNvSpPr/>
          <p:nvPr/>
        </p:nvSpPr>
        <p:spPr>
          <a:xfrm>
            <a:off x="4541368" y="1828800"/>
            <a:ext cx="3108960" cy="502920"/>
          </a:xfrm>
          <a:prstGeom prst="roundRect">
            <a:avLst>
              <a:gd name="adj" fmla="val 10909"/>
            </a:avLst>
          </a:prstGeom>
          <a:solidFill>
            <a:srgbClr val="EAF0FB"/>
          </a:solidFill>
          <a:ln w="15875">
            <a:solidFill>
              <a:srgbClr val="285AB4"/>
            </a:solidFill>
            <a:prstDash val="solid"/>
          </a:ln>
        </p:spPr>
      </p:sp>
      <p:sp>
        <p:nvSpPr>
          <p:cNvPr id="5" name="Text 3"/>
          <p:cNvSpPr txBox="1"/>
          <p:nvPr/>
        </p:nvSpPr>
        <p:spPr>
          <a:xfrm>
            <a:off x="4541368" y="1828800"/>
            <a:ext cx="3108960" cy="502920"/>
          </a:xfrm>
          <a:prstGeom prst="rect">
            <a:avLst/>
          </a:prstGeom>
          <a:noFill/>
          <a:ln/>
        </p:spPr>
        <p:txBody>
          <a:bodyPr wrap="square" lIns="0" tIns="0" rIns="0" bIns="0" rtlCol="0" anchor="ctr"/>
          <a:lstStyle/>
          <a:p>
            <a:pPr algn="ctr" indent="0" marL="0">
              <a:buNone/>
            </a:pPr>
            <a:r>
              <a:rPr lang="en-US" sz="1400" dirty="0">
                <a:solidFill>
                  <a:srgbClr val="1A2238"/>
                </a:solidFill>
                <a:latin typeface="Cambria Math" pitchFamily="34" charset="0"/>
                <a:ea typeface="Cambria Math" pitchFamily="34" charset="-122"/>
                <a:cs typeface="Cambria Math" pitchFamily="34" charset="-120"/>
              </a:rPr>
              <a:t>Initialization</a:t>
            </a:r>
            <a:endParaRPr lang="en-US" sz="1400" dirty="0"/>
          </a:p>
        </p:txBody>
      </p:sp>
      <p:sp>
        <p:nvSpPr>
          <p:cNvPr id="6" name="Shape 4"/>
          <p:cNvSpPr/>
          <p:nvPr/>
        </p:nvSpPr>
        <p:spPr>
          <a:xfrm>
            <a:off x="6095848" y="2331720"/>
            <a:ext cx="0" cy="320040"/>
          </a:xfrm>
          <a:prstGeom prst="line">
            <a:avLst/>
          </a:prstGeom>
          <a:noFill/>
          <a:ln w="25400">
            <a:solidFill>
              <a:srgbClr val="285AB4"/>
            </a:solidFill>
            <a:prstDash val="solid"/>
            <a:tailEnd type="triangle"/>
          </a:ln>
        </p:spPr>
      </p:sp>
      <p:sp>
        <p:nvSpPr>
          <p:cNvPr id="7" name="Shape 5"/>
          <p:cNvSpPr/>
          <p:nvPr/>
        </p:nvSpPr>
        <p:spPr>
          <a:xfrm>
            <a:off x="4541368" y="2651760"/>
            <a:ext cx="3108960" cy="502920"/>
          </a:xfrm>
          <a:prstGeom prst="roundRect">
            <a:avLst>
              <a:gd name="adj" fmla="val 10909"/>
            </a:avLst>
          </a:prstGeom>
          <a:solidFill>
            <a:srgbClr val="F1F4F9"/>
          </a:solidFill>
          <a:ln w="15875">
            <a:solidFill>
              <a:srgbClr val="D9DEE8"/>
            </a:solidFill>
            <a:prstDash val="solid"/>
          </a:ln>
        </p:spPr>
      </p:sp>
      <p:sp>
        <p:nvSpPr>
          <p:cNvPr id="8" name="Text 6"/>
          <p:cNvSpPr txBox="1"/>
          <p:nvPr/>
        </p:nvSpPr>
        <p:spPr>
          <a:xfrm>
            <a:off x="4541368" y="2651760"/>
            <a:ext cx="3108960" cy="502920"/>
          </a:xfrm>
          <a:prstGeom prst="rect">
            <a:avLst/>
          </a:prstGeom>
          <a:noFill/>
          <a:ln/>
        </p:spPr>
        <p:txBody>
          <a:bodyPr wrap="square" lIns="0" tIns="0" rIns="0" bIns="0" rtlCol="0" anchor="ctr"/>
          <a:lstStyle/>
          <a:p>
            <a:pPr algn="ctr" indent="0" marL="0">
              <a:buNone/>
            </a:pPr>
            <a:r>
              <a:rPr lang="en-US" sz="1400" dirty="0">
                <a:solidFill>
                  <a:srgbClr val="1A2238"/>
                </a:solidFill>
                <a:latin typeface="Cambria Math" pitchFamily="34" charset="0"/>
                <a:ea typeface="Cambria Math" pitchFamily="34" charset="-122"/>
                <a:cs typeface="Cambria Math" pitchFamily="34" charset="-120"/>
              </a:rPr>
              <a:t>+ Normalization</a:t>
            </a:r>
            <a:endParaRPr lang="en-US" sz="1400" dirty="0"/>
          </a:p>
        </p:txBody>
      </p:sp>
      <p:sp>
        <p:nvSpPr>
          <p:cNvPr id="9" name="Shape 7"/>
          <p:cNvSpPr/>
          <p:nvPr/>
        </p:nvSpPr>
        <p:spPr>
          <a:xfrm>
            <a:off x="6095848" y="3154680"/>
            <a:ext cx="0" cy="320040"/>
          </a:xfrm>
          <a:prstGeom prst="line">
            <a:avLst/>
          </a:prstGeom>
          <a:noFill/>
          <a:ln w="25400">
            <a:solidFill>
              <a:srgbClr val="285AB4"/>
            </a:solidFill>
            <a:prstDash val="solid"/>
            <a:tailEnd type="triangle"/>
          </a:ln>
        </p:spPr>
      </p:sp>
      <p:sp>
        <p:nvSpPr>
          <p:cNvPr id="10" name="Shape 8"/>
          <p:cNvSpPr/>
          <p:nvPr/>
        </p:nvSpPr>
        <p:spPr>
          <a:xfrm>
            <a:off x="4541368" y="3474720"/>
            <a:ext cx="3108960" cy="502920"/>
          </a:xfrm>
          <a:prstGeom prst="roundRect">
            <a:avLst>
              <a:gd name="adj" fmla="val 10909"/>
            </a:avLst>
          </a:prstGeom>
          <a:solidFill>
            <a:srgbClr val="F1F4F9"/>
          </a:solidFill>
          <a:ln w="15875">
            <a:solidFill>
              <a:srgbClr val="D9DEE8"/>
            </a:solidFill>
            <a:prstDash val="solid"/>
          </a:ln>
        </p:spPr>
      </p:sp>
      <p:sp>
        <p:nvSpPr>
          <p:cNvPr id="11" name="Text 9"/>
          <p:cNvSpPr txBox="1"/>
          <p:nvPr/>
        </p:nvSpPr>
        <p:spPr>
          <a:xfrm>
            <a:off x="4541368" y="3474720"/>
            <a:ext cx="3108960" cy="502920"/>
          </a:xfrm>
          <a:prstGeom prst="rect">
            <a:avLst/>
          </a:prstGeom>
          <a:noFill/>
          <a:ln/>
        </p:spPr>
        <p:txBody>
          <a:bodyPr wrap="square" lIns="0" tIns="0" rIns="0" bIns="0" rtlCol="0" anchor="ctr"/>
          <a:lstStyle/>
          <a:p>
            <a:pPr algn="ctr" indent="0" marL="0">
              <a:buNone/>
            </a:pPr>
            <a:r>
              <a:rPr lang="en-US" sz="1400" dirty="0">
                <a:solidFill>
                  <a:srgbClr val="1A2238"/>
                </a:solidFill>
                <a:latin typeface="Cambria Math" pitchFamily="34" charset="0"/>
                <a:ea typeface="Cambria Math" pitchFamily="34" charset="-122"/>
                <a:cs typeface="Cambria Math" pitchFamily="34" charset="-120"/>
              </a:rPr>
              <a:t>+ Residual Connections</a:t>
            </a:r>
            <a:endParaRPr lang="en-US" sz="1400" dirty="0"/>
          </a:p>
        </p:txBody>
      </p:sp>
      <p:sp>
        <p:nvSpPr>
          <p:cNvPr id="12" name="Shape 10"/>
          <p:cNvSpPr/>
          <p:nvPr/>
        </p:nvSpPr>
        <p:spPr>
          <a:xfrm>
            <a:off x="4541368" y="4297680"/>
            <a:ext cx="3108960" cy="502920"/>
          </a:xfrm>
          <a:prstGeom prst="roundRect">
            <a:avLst>
              <a:gd name="adj" fmla="val 10909"/>
            </a:avLst>
          </a:prstGeom>
          <a:solidFill>
            <a:srgbClr val="FBEEEC"/>
          </a:solidFill>
          <a:ln w="15875">
            <a:solidFill>
              <a:srgbClr val="BE3C32"/>
            </a:solidFill>
            <a:prstDash val="solid"/>
          </a:ln>
        </p:spPr>
      </p:sp>
      <p:sp>
        <p:nvSpPr>
          <p:cNvPr id="13" name="Text 11"/>
          <p:cNvSpPr txBox="1"/>
          <p:nvPr/>
        </p:nvSpPr>
        <p:spPr>
          <a:xfrm>
            <a:off x="4541368" y="4297680"/>
            <a:ext cx="3108960" cy="502920"/>
          </a:xfrm>
          <a:prstGeom prst="rect">
            <a:avLst/>
          </a:prstGeom>
          <a:noFill/>
          <a:ln/>
        </p:spPr>
        <p:txBody>
          <a:bodyPr wrap="square" lIns="0" tIns="0" rIns="0" bIns="0" rtlCol="0" anchor="ctr"/>
          <a:lstStyle/>
          <a:p>
            <a:pPr algn="ctr" indent="0" marL="0">
              <a:buNone/>
            </a:pPr>
            <a:r>
              <a:rPr lang="en-US" sz="1400" dirty="0">
                <a:solidFill>
                  <a:srgbClr val="1A2238"/>
                </a:solidFill>
                <a:latin typeface="Cambria Math" pitchFamily="34" charset="0"/>
                <a:ea typeface="Cambria Math" pitchFamily="34" charset="-122"/>
                <a:cs typeface="Cambria Math" pitchFamily="34" charset="-120"/>
              </a:rPr>
              <a:t>Modern Deep Networks</a:t>
            </a:r>
            <a:endParaRPr lang="en-US" sz="1400" dirty="0"/>
          </a:p>
        </p:txBody>
      </p:sp>
      <p:sp>
        <p:nvSpPr>
          <p:cNvPr id="14" name="Shape 12"/>
          <p:cNvSpPr/>
          <p:nvPr/>
        </p:nvSpPr>
        <p:spPr>
          <a:xfrm>
            <a:off x="6095848" y="3977640"/>
            <a:ext cx="0" cy="320040"/>
          </a:xfrm>
          <a:prstGeom prst="line">
            <a:avLst/>
          </a:prstGeom>
          <a:noFill/>
          <a:ln w="25400">
            <a:solidFill>
              <a:srgbClr val="285AB4"/>
            </a:solidFill>
            <a:prstDash val="solid"/>
            <a:tailEnd type="triangle"/>
          </a:ln>
        </p:spPr>
      </p:sp>
      <p:sp>
        <p:nvSpPr>
          <p:cNvPr id="15" name="Text 13"/>
          <p:cNvSpPr txBox="1"/>
          <p:nvPr/>
        </p:nvSpPr>
        <p:spPr>
          <a:xfrm>
            <a:off x="640080" y="5212080"/>
            <a:ext cx="10911535" cy="1828800"/>
          </a:xfrm>
          <a:prstGeom prst="rect">
            <a:avLst/>
          </a:prstGeom>
          <a:noFill/>
          <a:ln/>
        </p:spPr>
        <p:txBody>
          <a:bodyPr wrap="square" lIns="0" tIns="0" rIns="0" bIns="0" rtlCol="0" anchor="t"/>
          <a:lstStyle/>
          <a:p>
            <a:pPr marL="228600" indent="-228600">
              <a:spcAft>
                <a:spcPts val="800"/>
              </a:spcAft>
              <a:buSzPct val="100000"/>
              <a:buChar char="▪"/>
            </a:pPr>
            <a:r>
              <a:rPr lang="en-US" sz="1350" dirty="0">
                <a:solidFill>
                  <a:srgbClr val="1A2238"/>
                </a:solidFill>
                <a:latin typeface="Calibri" pitchFamily="34" charset="0"/>
                <a:ea typeface="Calibri" pitchFamily="34" charset="-122"/>
                <a:cs typeface="Calibri" pitchFamily="34" charset="-120"/>
              </a:rPr>
              <a:t>Batch Normalization / Layer Normalization — chuẩn hoá lại tín hiệu MỖI lớp, không chỉ dựa vào 1 lần khởi tạo</a:t>
            </a:r>
            <a:endParaRPr lang="en-US" sz="1350" dirty="0"/>
          </a:p>
          <a:p>
            <a:pPr marL="228600" indent="-228600">
              <a:spcAft>
                <a:spcPts val="800"/>
              </a:spcAft>
              <a:buSzPct val="100000"/>
              <a:buChar char="▪"/>
            </a:pPr>
            <a:r>
              <a:rPr lang="en-US" sz="1350" dirty="0">
                <a:solidFill>
                  <a:srgbClr val="1A2238"/>
                </a:solidFill>
                <a:latin typeface="Calibri" pitchFamily="34" charset="0"/>
                <a:ea typeface="Calibri" pitchFamily="34" charset="-122"/>
                <a:cs typeface="Calibri" pitchFamily="34" charset="-120"/>
              </a:rPr>
              <a:t>Residual Networks — cho gradient một 'đường tắt' (skip connection) bỏ qua tích luỹ nhiều lớp</a:t>
            </a:r>
            <a:endParaRPr lang="en-US" sz="1350" dirty="0"/>
          </a:p>
          <a:p>
            <a:pPr marL="228600" indent="-228600">
              <a:spcAft>
                <a:spcPts val="800"/>
              </a:spcAft>
              <a:buSzPct val="100000"/>
              <a:buChar char="▪"/>
            </a:pPr>
            <a:r>
              <a:rPr lang="en-US" sz="1350" dirty="0">
                <a:solidFill>
                  <a:srgbClr val="1A2238"/>
                </a:solidFill>
                <a:latin typeface="Calibri" pitchFamily="34" charset="0"/>
                <a:ea typeface="Calibri" pitchFamily="34" charset="-122"/>
                <a:cs typeface="Calibri" pitchFamily="34" charset="-120"/>
              </a:rPr>
              <a:t>Gradient Clipping — chặn cứng exploding gradient bất kể nguyên nhân</a:t>
            </a:r>
            <a:endParaRPr lang="en-US" sz="1350" dirty="0"/>
          </a:p>
        </p:txBody>
      </p:sp>
      <p:sp>
        <p:nvSpPr>
          <p:cNvPr id="16" name="Text 14"/>
          <p:cNvSpPr txBox="1"/>
          <p:nvPr/>
        </p:nvSpPr>
        <p:spPr>
          <a:xfrm>
            <a:off x="11185855" y="6446520"/>
            <a:ext cx="7315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28/29</a:t>
            </a:r>
            <a:endParaRPr lang="en-US" sz="900" dirty="0"/>
          </a:p>
        </p:txBody>
      </p:sp>
      <p:sp>
        <p:nvSpPr>
          <p:cNvPr id="17" name="Shape 15"/>
          <p:cNvSpPr/>
          <p:nvPr/>
        </p:nvSpPr>
        <p:spPr>
          <a:xfrm>
            <a:off x="610362" y="6473952"/>
            <a:ext cx="59436" cy="59436"/>
          </a:xfrm>
          <a:prstGeom prst="ellipse">
            <a:avLst/>
          </a:prstGeom>
          <a:solidFill>
            <a:srgbClr val="D9DEE8"/>
          </a:solidFill>
          <a:ln/>
        </p:spPr>
      </p:sp>
      <p:sp>
        <p:nvSpPr>
          <p:cNvPr id="18" name="Shape 16"/>
          <p:cNvSpPr/>
          <p:nvPr/>
        </p:nvSpPr>
        <p:spPr>
          <a:xfrm>
            <a:off x="829818" y="6473952"/>
            <a:ext cx="59436" cy="59436"/>
          </a:xfrm>
          <a:prstGeom prst="ellipse">
            <a:avLst/>
          </a:prstGeom>
          <a:solidFill>
            <a:srgbClr val="D9DEE8"/>
          </a:solidFill>
          <a:ln/>
        </p:spPr>
      </p:sp>
      <p:sp>
        <p:nvSpPr>
          <p:cNvPr id="19" name="Shape 17"/>
          <p:cNvSpPr/>
          <p:nvPr/>
        </p:nvSpPr>
        <p:spPr>
          <a:xfrm>
            <a:off x="1049274" y="6473952"/>
            <a:ext cx="59436" cy="59436"/>
          </a:xfrm>
          <a:prstGeom prst="ellipse">
            <a:avLst/>
          </a:prstGeom>
          <a:solidFill>
            <a:srgbClr val="D9DEE8"/>
          </a:solidFill>
          <a:ln/>
        </p:spPr>
      </p:sp>
      <p:sp>
        <p:nvSpPr>
          <p:cNvPr id="20" name="Shape 18"/>
          <p:cNvSpPr/>
          <p:nvPr/>
        </p:nvSpPr>
        <p:spPr>
          <a:xfrm>
            <a:off x="1253871" y="6459093"/>
            <a:ext cx="89154" cy="89154"/>
          </a:xfrm>
          <a:prstGeom prst="ellipse">
            <a:avLst/>
          </a:prstGeom>
          <a:solidFill>
            <a:srgbClr val="285AB4"/>
          </a:solidFill>
          <a:ln/>
        </p:spPr>
      </p:sp>
      <p:sp>
        <p:nvSpPr>
          <p:cNvPr id="21" name="Text 19"/>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5B6478"/>
                </a:solidFill>
                <a:latin typeface="Calibri" pitchFamily="34" charset="0"/>
                <a:ea typeface="Calibri" pitchFamily="34" charset="-122"/>
                <a:cs typeface="Calibri" pitchFamily="34" charset="-120"/>
              </a:rPr>
              <a:t>CONCLUSION</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640080" y="502920"/>
            <a:ext cx="9144000" cy="320040"/>
          </a:xfrm>
          <a:prstGeom prst="rect">
            <a:avLst/>
          </a:prstGeom>
          <a:noFill/>
          <a:ln/>
        </p:spPr>
        <p:txBody>
          <a:bodyPr wrap="square" lIns="0" tIns="0" rIns="0" bIns="0" rtlCol="0" anchor="ctr"/>
          <a:lstStyle/>
          <a:p>
            <a:pPr indent="0" marL="0">
              <a:buNone/>
            </a:pPr>
            <a:r>
              <a:rPr lang="en-US" sz="1300" b="1" spc="100" kern="0" dirty="0">
                <a:solidFill>
                  <a:srgbClr val="8FA3C9"/>
                </a:solidFill>
                <a:latin typeface="Calibri" pitchFamily="34" charset="0"/>
                <a:ea typeface="Calibri" pitchFamily="34" charset="-122"/>
                <a:cs typeface="Calibri" pitchFamily="34" charset="-120"/>
              </a:rPr>
              <a:t>TÀI LIỆU THAM KHẢO</a:t>
            </a:r>
            <a:endParaRPr lang="en-US" sz="1300" dirty="0"/>
          </a:p>
        </p:txBody>
      </p:sp>
      <p:sp>
        <p:nvSpPr>
          <p:cNvPr id="3" name="Text 1"/>
          <p:cNvSpPr txBox="1"/>
          <p:nvPr/>
        </p:nvSpPr>
        <p:spPr>
          <a:xfrm>
            <a:off x="640080" y="914400"/>
            <a:ext cx="10911535" cy="82296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640080" y="1691640"/>
            <a:ext cx="10911535" cy="4709160"/>
          </a:xfrm>
          <a:prstGeom prst="rect">
            <a:avLst/>
          </a:prstGeom>
          <a:noFill/>
          <a:ln/>
        </p:spPr>
        <p:txBody>
          <a:bodyPr wrap="square" lIns="0" tIns="0" rIns="0" bIns="0" rtlCol="0" anchor="t"/>
          <a:lstStyle/>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[1] Rumelhart, Hinton &amp; Williams (1986). Learning representations by back-propagating errors. Nature, 323(6088):533–536.</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[2] LeCun, Bottou, Orr &amp; Müller (1998/2012). Efficient BackProp. Neural Networks: Tricks of the Trade.</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[3] Glorot &amp; Bengio (2010). Understanding the difficulty of training deep feedforward neural networks. AISTATS.</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[4] He, Zhang, Ren &amp; Sun (2015). Delving Deep into Rectifiers. ICCV. arXiv:1502.01852.</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[5] Bishop (2006). Pattern Recognition and Machine Learning. Springer.</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[6] Goodfellow, Bengio &amp; Courville (2016). Deep Learning. MIT Press.</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[7] Kingma &amp; Ba (2015). Adam: A Method for Stochastic Optimization. ICLR. arXiv:1412.6980.</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[8] Clevert, Unterthiner &amp; Hochreiter (2016). Fast and Accurate Deep Network Learning by ELUs. ICLR. arXiv:1511.07289.</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[9] Klambauer, Unterthiner, Mayr &amp; Hochreiter (2017). Self-Normalizing Neural Networks. NeurIPS. arXiv:1706.02515.</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[10] Xiao, Rasul &amp; Vollgraf (2017). Fashion-MNIST. arXiv:1708.07747.</a:t>
            </a:r>
            <a:endParaRPr lang="en-US" sz="1100" dirty="0"/>
          </a:p>
          <a:p>
            <a:pPr indent="0" marL="0">
              <a:spcAft>
                <a:spcPts val="650"/>
              </a:spcAft>
              <a:buNone/>
            </a:pPr>
            <a:r>
              <a:rPr lang="en-US" sz="1100" dirty="0">
                <a:solidFill>
                  <a:srgbClr val="D8E0EF"/>
                </a:solidFill>
                <a:latin typeface="Calibri" pitchFamily="34" charset="0"/>
                <a:ea typeface="Calibri" pitchFamily="34" charset="-122"/>
                <a:cs typeface="Calibri" pitchFamily="34" charset="-120"/>
              </a:rPr>
              <a:t>[11] Paszke et al. (2019). PyTorch: An Imperative Style, High-Performance Deep Learning Library. NeurIPS.</a:t>
            </a:r>
            <a:endParaRPr lang="en-US" sz="1100" dirty="0"/>
          </a:p>
        </p:txBody>
      </p:sp>
      <p:sp>
        <p:nvSpPr>
          <p:cNvPr id="5" name="Shape 3"/>
          <p:cNvSpPr/>
          <p:nvPr/>
        </p:nvSpPr>
        <p:spPr>
          <a:xfrm>
            <a:off x="610362" y="6473952"/>
            <a:ext cx="59436" cy="59436"/>
          </a:xfrm>
          <a:prstGeom prst="ellipse">
            <a:avLst/>
          </a:prstGeom>
          <a:solidFill>
            <a:srgbClr val="3A4A70"/>
          </a:solidFill>
          <a:ln/>
        </p:spPr>
      </p:sp>
      <p:sp>
        <p:nvSpPr>
          <p:cNvPr id="6" name="Shape 4"/>
          <p:cNvSpPr/>
          <p:nvPr/>
        </p:nvSpPr>
        <p:spPr>
          <a:xfrm>
            <a:off x="829818" y="6473952"/>
            <a:ext cx="59436" cy="59436"/>
          </a:xfrm>
          <a:prstGeom prst="ellipse">
            <a:avLst/>
          </a:prstGeom>
          <a:solidFill>
            <a:srgbClr val="3A4A70"/>
          </a:solidFill>
          <a:ln/>
        </p:spPr>
      </p:sp>
      <p:sp>
        <p:nvSpPr>
          <p:cNvPr id="7" name="Shape 5"/>
          <p:cNvSpPr/>
          <p:nvPr/>
        </p:nvSpPr>
        <p:spPr>
          <a:xfrm>
            <a:off x="1049274" y="6473952"/>
            <a:ext cx="59436" cy="59436"/>
          </a:xfrm>
          <a:prstGeom prst="ellipse">
            <a:avLst/>
          </a:prstGeom>
          <a:solidFill>
            <a:srgbClr val="3A4A70"/>
          </a:solidFill>
          <a:ln/>
        </p:spPr>
      </p:sp>
      <p:sp>
        <p:nvSpPr>
          <p:cNvPr id="8" name="Shape 6"/>
          <p:cNvSpPr/>
          <p:nvPr/>
        </p:nvSpPr>
        <p:spPr>
          <a:xfrm>
            <a:off x="1253871" y="6459093"/>
            <a:ext cx="89154" cy="89154"/>
          </a:xfrm>
          <a:prstGeom prst="ellipse">
            <a:avLst/>
          </a:prstGeom>
          <a:solidFill>
            <a:srgbClr val="6FA3E0"/>
          </a:solidFill>
          <a:ln/>
        </p:spPr>
      </p:sp>
      <p:sp>
        <p:nvSpPr>
          <p:cNvPr id="9" name="Text 7"/>
          <p:cNvSpPr txBox="1"/>
          <p:nvPr/>
        </p:nvSpPr>
        <p:spPr>
          <a:xfrm>
            <a:off x="1563624" y="6391656"/>
            <a:ext cx="3291840" cy="274320"/>
          </a:xfrm>
          <a:prstGeom prst="rect">
            <a:avLst/>
          </a:prstGeom>
          <a:noFill/>
          <a:ln/>
        </p:spPr>
        <p:txBody>
          <a:bodyPr wrap="square" lIns="0" tIns="0" rIns="0" bIns="0" rtlCol="0" anchor="ctr"/>
          <a:lstStyle/>
          <a:p>
            <a:pPr indent="0" marL="0">
              <a:buNone/>
            </a:pPr>
            <a:r>
              <a:rPr lang="en-US" sz="850" spc="50" kern="0" dirty="0">
                <a:solidFill>
                  <a:srgbClr val="6FA3E0"/>
                </a:solidFill>
                <a:latin typeface="Calibri" pitchFamily="34" charset="0"/>
                <a:ea typeface="Calibri" pitchFamily="34" charset="-122"/>
                <a:cs typeface="Calibri" pitchFamily="34" charset="-120"/>
              </a:rPr>
              <a:t>CONCLUSION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2026-09-20T13:46:13Z</dcterms:created>
  <dcterms:modified xsi:type="dcterms:W3CDTF">2026-09-20T13:46:13Z</dcterms:modified>
</cp:coreProperties>
</file>
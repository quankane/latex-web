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tên nhóm, chủ đề, và nói 1 câu định hướng: báo cáo trả lời 2 câu hỏi — tính gradient thế nào (Backpropagation) và bắt đầu từ đâu (Initialization).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 đây không phải 2 chủ đề tách rời — cả hai đều nói về việc tín hiệu học (gradient) di chuyển trong mạng.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nhanh 5 mục tiêu — đây cũng chính là dàn ý của toàn bộ bài trình bày.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hình tiếp tuyến để minh hoạ. Nếu bị hỏi 'đạo hàm âm nghĩa là gì' — tăng w thì loss giảm, nên optimizer sẽ TĂNG w (đi ngược dấu gradient).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viên gạch nền tảng của toàn bộ Backpropagation. Ẩn dụ dây chuyền/truyền tin đồn giúp sinh viên nhớ trực giác chain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Vẽ lại hình này trên bảng nếu được hỏi thêm. Nhấn: mỗi nút chỉ cần biết đạo hàm CỦA CHÍNH NÓ — đó là điều làm computational graph mạnh mẽ.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pass là bước 'đi xuôi', cần cho cả training lẫn inference; backward chỉ cần khi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Ẩn dụ dây chuyền sản xuất bị lỗi, truy ngược công đoạn nào gây lỗi nhiều nhất — tương ứng với việc backprop hỏi từng lớp 'anh khuếch đại lỗi bao nhiêu?'.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ví dụ CHỦ ĐẠO xuyên suốt bài — nhắc lại số liệu ở slide 20 (manual backprop) và slide 21 (gradient check) dùng ĐÚNG ví dụ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Nếu bị hỏi 'vì sao chuyển vị ở đây' → kiểm tra kích thước ma trận là cách tự-debug đáng tin cậy nhất khi tự viết code backprop.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câu hỏi hay bị hỏi phản biện nhất — trả lời dứt khoát: Backprop trả lời CÁI GÌ (gradient), Gradient Descent trả lời NÊN LÀM GÌ với cái đó (cập nhật).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Cầu nối sang phần 2 của báo cáo — từ 'cách tính gradient' sang 'điểm khởi đầu để gradient đó có ích'.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 '0 tuyệt đối' không phải 'rất nhỏ' — đây là điểm khác Random init, và được xác nhận đúng bằng số liệu thực nghiệm thật ở Mục 9 của báo cáo.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Cầu nối: phá đối xứng chỉ là bước đầu. Điều này dẫn tới các scheme 'khoa học' hơn ở các slide tiếp theo.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Nếu hỏi 'vì sao trung bình n_in, n_out' → 2 điều kiện (giữ Var(z) và Var(gradient)) chỉ khớp khi n_in=n_out; Glorot chọn điểm dung hoà 2/(n_in+n_out).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Cơ hội thể hiện tư duy phản biện nếu bị hỏi: không phải mọi dự đoán lý thuyết đều được xác nhận rõ ràng ở thực nghiệm nhỏ — đây là điểm trung thực, không phải điểm yếu.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bảng 'hệ số g^L theo L' rất trực quan để trình bày — đọc thẳng từ báo cáo Mục 6. Thanh đỏ co lại minh hoạ trực quan độ lớn gradient.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Nhấn: đây là 'hai mặt của cùng một đồng xu' với slide trước — không phải hiện tượng riêng biệt, chỉ khác g&lt;1 hay g&gt;1.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 'fair experiment' — chỉ đổi đúng 1-2 biến khi so sánh, mọi thứ khác giữ nguyên.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Part A của project — chứng minh Backprop = Chain Rule bằng code thật, không chỉ lý thuyết suông.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Nếu hỏi 'sao không dùng finite-diff luôn cho training' → vì nó cần O(P) forward pass, quá chậm cho mạng triệu tham số (xem Slide 10 / Mục 4.4 báo cáo).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bảng theo hàng rồi theo cột — hàng cho thấy Zero/Random luôn thất bại, cột Sigmoid cho thấy ngay cả initialization tốt cũng thất bại ở độ sâu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bằng chứng thực nghiệm trực tiếp nhất cho lý thuyết vanishing gradient Mục 6 / Slide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'big picture' — dùng để tổng kết trước khi sang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phần thể hiện tư duy phản biện — không chỉ báo cáo số mà GIẢI THÍCH cơ chế. He vs Xavier cho ReLU: chênh lệch nằm trong nhiễu 1-seed, không kết luận dứt khoát được.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'cheat sheet' thực dụng — hữu ích khi làm project khác. Có thể đọc nhanh 4 dòng này khi được hỏi 'vậy nên dùng gì?'.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giới hạn — không giấu, đây là điểm cộng học thuật khi trả lời câu hỏi phản biện.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Tóm tắt bằng câu chốt ở cuối slide, chuẩn bị cho phần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Sẵn sàng nêu nguồn cụ thể nếu giảng viên hỏi 'câu này lấy từ đâu' — 9 nguồn, đều đã verify qua tìm kiếm thực tế, không có nguồn bịa.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786384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2532888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786384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86384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7863840" y="3099816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86384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786384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786384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3666744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786384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86384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86384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786384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233672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98280" y="1965960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9828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9828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9828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98280" y="1965960"/>
            <a:ext cx="1234440" cy="283464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09828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98280" y="2532888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9828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9828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9828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9828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909828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909828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98280" y="3099816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9828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9828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09828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09828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909828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909828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098280" y="3666744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9828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09828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909828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909828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909828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98280" y="4233672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09828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98280" y="1965960"/>
            <a:ext cx="1234440" cy="283464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909828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909828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909828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909828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098280" y="4800600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332720" y="1965960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32720" y="1965960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332720" y="1965960"/>
            <a:ext cx="1234440" cy="198424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332720" y="2532888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332720" y="2532888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332720" y="2532888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332720" y="2816352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332720" y="3099816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32720" y="3099816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0332720" y="2816352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10332720" y="3383280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32720" y="3666744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10332720" y="2816352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10332720" y="3383280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10332720" y="3950208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0332720" y="2816352"/>
            <a:ext cx="1234440" cy="198424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0332720" y="3383280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0332720" y="3950208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79526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9526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9526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9526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9700" y="189738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2970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02970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02970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02970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029700" y="473202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264140" y="189738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26414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6414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6414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26414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64140" y="473202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498580" y="274777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498580" y="331470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498580" y="388162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ĐẠO HÀM &amp; KHỞI TẠO TRONG DEEP LEARNING</a:t>
            </a:r>
            <a:endParaRPr lang="en-US" sz="360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" y="32004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và Parameter Initialization</a:t>
            </a:r>
            <a:endParaRPr lang="en-US" sz="2000" dirty="0"/>
          </a:p>
        </p:txBody>
      </p:sp>
      <p:sp>
        <p:nvSpPr>
          <p:cNvPr id="101" name="Text 99"/>
          <p:cNvSpPr txBox="1"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Derivatives &amp; Initialization in Deep Learning: Backpropagation and Parameter Initialization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272888" y="4389120"/>
            <a:ext cx="164592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sinh viên · Học phần Deep Learning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 mạng nơ-ron = một bài toán tối ưu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675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tìm bộ tham số θ (W, b) để hàm mất mát L(θ) nhỏ nhất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1 — TÍNH gradient hiệu quả thế nào? (Backpropagation)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2 — BẮT ĐẦU từ giá trị tham số nào? (Initialization)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một trong hai → mạng không học được, bất kể kiến trúc “hay” đến đâu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920240"/>
            <a:ext cx="3749040" cy="3749040"/>
          </a:xfrm>
          <a:prstGeom prst="roundRect">
            <a:avLst>
              <a:gd name="adj" fmla="val 1951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mặt của một câu hỏi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26517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sao tín hiệu học (gradient) đi xuyên suốt một mạng nhiều lớp mà không biến mất hay bùng nổ?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4572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 tính dòng chảy đó · Initialization quyết định dòng chảy đó có sống sót qua nhiều lớp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1" name="Shape 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BÀI TRÌNH BÀY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điều nhóm sẽ chứng minh được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2024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= Chain Rule có hệ thống, KHÁC Gradient Descent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65176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 ra công thức gradient — dạng vô hướng và dạng ma trận — cho một MLP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38328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W=0 khiến mạng không học được; Xavier/He giải quyết vấn đề gì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1480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chế toán học của vanishing / exploding gradient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457200" cy="457200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84632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chứng toàn bộ bằng thực nghiệm thật trên Fashion-MNIST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3/29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1" name="Shape 1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3" name="Shape 2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TOÁN HỌC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Đạo hàm = độ nhạy cục bộ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Đạo hàm trả lời: nhích x một chút, y=f(x) đổi bao nhiêu?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y = x²  ⇒  dy/dx = 2x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Deep Learning: ∂L/∂w = “nên chỉnh w theo hướng nào?”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đạo hàm → optimizer không biết hướng nào để đi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65960"/>
            <a:ext cx="4663440" cy="3657600"/>
          </a:xfrm>
          <a:prstGeom prst="roundRect">
            <a:avLst>
              <a:gd name="adj" fmla="val 1500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0" y="5120640"/>
            <a:ext cx="393192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89720" y="2240280"/>
            <a:ext cx="0" cy="288036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1075" y="2340864"/>
            <a:ext cx="97932" cy="27102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29007" y="2611892"/>
            <a:ext cx="97932" cy="25712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26940" y="2869021"/>
            <a:ext cx="97932" cy="243230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24872" y="3112252"/>
            <a:ext cx="97932" cy="229332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2804" y="3341583"/>
            <a:ext cx="97932" cy="215433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736" y="3557016"/>
            <a:ext cx="97932" cy="201534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18669" y="3758550"/>
            <a:ext cx="97932" cy="187635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16601" y="3946185"/>
            <a:ext cx="97932" cy="173736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4533" y="4119921"/>
            <a:ext cx="97932" cy="159837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2465" y="4279758"/>
            <a:ext cx="97932" cy="14593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0398" y="4425696"/>
            <a:ext cx="97932" cy="13203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8330" y="4557735"/>
            <a:ext cx="97932" cy="118140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06262" y="4675876"/>
            <a:ext cx="97932" cy="104242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04194" y="4780117"/>
            <a:ext cx="97932" cy="90343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02127" y="4870460"/>
            <a:ext cx="97932" cy="76444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00059" y="4946904"/>
            <a:ext cx="97932" cy="62545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7991" y="5009449"/>
            <a:ext cx="97932" cy="48646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95923" y="5058095"/>
            <a:ext cx="97932" cy="34747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93856" y="5092842"/>
            <a:ext cx="97932" cy="2084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91788" y="5113691"/>
            <a:ext cx="97932" cy="694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189720" y="5113691"/>
            <a:ext cx="97932" cy="694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287652" y="5092842"/>
            <a:ext cx="97932" cy="2084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9385584" y="5058095"/>
            <a:ext cx="97932" cy="34747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483517" y="5009449"/>
            <a:ext cx="97932" cy="48646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581449" y="4946904"/>
            <a:ext cx="97932" cy="62545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679381" y="4870460"/>
            <a:ext cx="97932" cy="76444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9777313" y="4780117"/>
            <a:ext cx="97932" cy="90343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9875246" y="4675876"/>
            <a:ext cx="97932" cy="104242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973178" y="4557735"/>
            <a:ext cx="97932" cy="118140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0071110" y="4425696"/>
            <a:ext cx="97932" cy="13203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69042" y="4279758"/>
            <a:ext cx="97932" cy="14593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266975" y="4119921"/>
            <a:ext cx="97932" cy="159837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0364907" y="3946185"/>
            <a:ext cx="97932" cy="173736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0462839" y="3758550"/>
            <a:ext cx="97932" cy="187635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560771" y="3557016"/>
            <a:ext cx="97932" cy="201534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658704" y="3341583"/>
            <a:ext cx="97932" cy="215433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756636" y="3112252"/>
            <a:ext cx="97932" cy="229332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854568" y="2869021"/>
            <a:ext cx="97932" cy="243230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952500" y="2611892"/>
            <a:ext cx="97932" cy="257129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1050433" y="2340864"/>
            <a:ext cx="97932" cy="271028"/>
          </a:xfrm>
          <a:prstGeom prst="line">
            <a:avLst/>
          </a:prstGeom>
          <a:noFill/>
          <a:ln w="31750">
            <a:solidFill>
              <a:srgbClr val="285AB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03840" y="3502152"/>
            <a:ext cx="109728" cy="109728"/>
          </a:xfrm>
          <a:prstGeom prst="ellipse">
            <a:avLst/>
          </a:prstGeom>
          <a:solidFill>
            <a:srgbClr val="BE3C3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058400" y="2194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5AB4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x²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7178040" y="52120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 x=1,5: dy/dx = 3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53" name="Shape 51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55" name="Shape 53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TOÁN HỌC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tắc chuỗi (Chain Rule)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f(g(x))      ⇒      dy/dx = (dy/dg)·(dg/dx)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biến đổi x thành đại lượng trung gian; f biến đổi đại lượng đó thành y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nhạy tổng = độ nhạy từng bước, nhân dồn lại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Ẩn dụ: truyền tin đồn qua một chuỗi người — sai lệch cuối cùng phụ thuộc mức khuếch đại ở MỖI khâu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26768" y="493776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26768" y="4937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21328" y="493776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21328" y="4937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z=wx+b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15888" y="493776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4937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a=σ(z)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10448" y="493776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0448" y="4937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581248" y="5234940"/>
            <a:ext cx="64008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75808" y="5234940"/>
            <a:ext cx="64008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70368" y="5234940"/>
            <a:ext cx="64008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576072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∂L/∂w = (∂L/∂a)·(∂a/∂z)·(∂z/∂w)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2" name="Shape 20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TOÁN HỌC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Computational Graph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nút = 1 phép toán; forward tính giá trị, backward nhân đạo hàm cục bộ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z=wx+b → a=ReLU(z) → L=½(a−y)²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x=2, w=0,5, b=−0,3, y=1  ⇒  L=0,045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∂L/∂w = −0,6  (khớp PyTorch autograd &amp; finite-difference tuyệt đối)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461108" y="3749040"/>
            <a:ext cx="1234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1108" y="37490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72788" y="3749040"/>
            <a:ext cx="1234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72788" y="37490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84468" y="3749040"/>
            <a:ext cx="1234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84468" y="37490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96148" y="3749040"/>
            <a:ext cx="1234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96148" y="37490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95548" y="4069080"/>
            <a:ext cx="77724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078328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z=wx+b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07228" y="4069080"/>
            <a:ext cx="77724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090008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a=ReLU(z)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18908" y="4069080"/>
            <a:ext cx="777240" cy="0"/>
          </a:xfrm>
          <a:prstGeom prst="line">
            <a:avLst/>
          </a:prstGeom>
          <a:noFill/>
          <a:ln w="2857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101688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L=½(a−y)²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18908" y="4892040"/>
            <a:ext cx="777240" cy="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5707228" y="4892040"/>
            <a:ext cx="777240" cy="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3695548" y="4892040"/>
            <a:ext cx="777240" cy="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078328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∂L/∂z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90008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∂L/∂a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1688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∂L/∂L=1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mũi tên xanh = forward   ·   mũi tên đỏ đứt = backward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6/29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8" name="Shape 2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TOÁN HỌC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 truyền tiến (Forward Propagation)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z⁽ˡ⁾ = W⁽ˡ⁾a⁽ˡ⁻¹⁾ + b⁽ˡ⁾        a⁽ˡ⁾ = f(z⁽ˡ⁾)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Lặp lại “nhân ma trận → cộng bias → activation” qua từng lớp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 cuối (classification) thường KHÔNG qua activation phi tuyến — giữ logits thô để Cross-Entropy tự áp dụng softmax bên trong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KHÔNG liên quan gradient — chỉ tính và LƯU LẠI giá trị trung gian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autograd giữ đúng các giá trị này trong một computational graph ngầm suốt forward pass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9" name="Shape 7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Trực giác: không phải thuật toán thần kỳ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6035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 = Chain Rule áp dụng CÓ HỆ THỐNG trên một computational graph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 ngược từ Loss, hỏi ở mỗi bước: “bước này khuếch đại hay giảm lỗi bao nhiêu?”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Tận dụng giá trị forward đã lưu (cache) — không tính lại từ đầu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Phổ biến rộng rãi bởi Rumelhart, Hinton &amp; Williams (1986)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1965960"/>
            <a:ext cx="4480560" cy="3657600"/>
          </a:xfrm>
          <a:prstGeom prst="roundRect">
            <a:avLst>
              <a:gd name="adj" fmla="val 2000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194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Ẩn dụ dây chuyền sản xuất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69748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Sản phẩm cuối bị lỗi. Muốn biết công đoạn nào “chịu trách nhiệm” bao nhiêu, ta đi NGƯỢC từ cuối dây chuyền về đầu, hỏi từng công đoạn — rồi nhân dồn các mức khuếch đại lại.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8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Suy ra gradient: mạng 2 lớp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83080" y="192024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783080" y="192024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W₁,b₁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1920240"/>
            <a:ext cx="10515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9202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ReLU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92040" y="192024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92024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W₂,b₂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29400" y="19202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9202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0" y="19202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19202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463040" y="2203704"/>
            <a:ext cx="3200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0" y="2203704"/>
            <a:ext cx="3200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0" y="2203704"/>
            <a:ext cx="3200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09360" y="2203704"/>
            <a:ext cx="3200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52360" y="2203704"/>
            <a:ext cx="3200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600700" y="2990088"/>
            <a:ext cx="2583180" cy="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2491740" y="2990088"/>
            <a:ext cx="3108960" cy="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594860" y="3063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δ₂ = ∂L/∂z₂  (cập nhật W₂,b₂)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485900" y="3063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δ₁ = ∂L/∂z₁  (cập nhật W₁,b₁)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977640"/>
            <a:ext cx="109115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δ₂ = ŷ − y  (output activation = identity)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∂L/∂W₂ = a₁δ₂ᵀ ,  ∂L/∂a₁ = W₂δ₂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δ₁ = (∂L/∂a₁) ⊙ ReLU′(z₁)  →  ∂L/∂W₁ = xδ₁ᵀ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liệu: neuron 2 “chết” (z₁[2]&lt;0) → cột 2 của CẢ HAI gradient = 0 — minh hoạ dead ReLU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9/29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8" name="Shape 2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Dạng ma trận (khớp code NumPy/PyTorch)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Z⁽ˡ⁾ = A⁽ˡ⁻¹⁾W⁽ˡ⁾ + b⁽ˡ⁾          (hàng = 1 mẫu, khớp batch code)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∂L/∂W⁽ˡ⁾ = (A⁽ˡ⁻¹⁾)ᵀ · (∂L/∂Z⁽ˡ⁾)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∂L/∂b⁽ˡ⁾ = tổng theo trục batch (hệ quả của broadcasting bias)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∂L/∂A⁽ˡ⁻¹⁾ = (∂L/∂Z⁽ˡ⁾) · (W⁽ˡ⁾)ᵀ   — tiếp tục lan truyền ngược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10911535" cy="1234440"/>
          </a:xfrm>
          <a:prstGeom prst="roundRect">
            <a:avLst>
              <a:gd name="adj" fmla="val 4444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5029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Kiểm tra kích thước (cách tự-debug khi code):  (nₗ₋₁×N)(N×nₗ) = nₗ₋₁×nₗ  khớp W⁽ˡ⁾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44068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(N×nₗ)(nₗ×nₗ₋₁) = N×nₗ₋₁  khớp A⁽ˡ⁻¹⁾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2" name="Shape 10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Backpropagation ≠ Gradient Descent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EAF0FB"/>
          </a:solidFill>
          <a:ln w="12700">
            <a:solidFill>
              <a:srgbClr val="285AB4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5A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Backpropagation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TÍNH ∇θL hiệu quả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Chain Rule + computational graph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ra: vector gradient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thể thay bằng finite-difference (chậm, O(P) forward)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30975" y="196596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BEEEC"/>
          </a:solidFill>
          <a:ln w="12700">
            <a:solidFill>
              <a:srgbClr val="BE3C32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705295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Descent / Optimizer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705295" y="26974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CẬP NHẬT tham số: θ ← θ − η∇θL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gradient đã có (từ bất kỳ nguồn nào)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ra: tham số mới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thể: SGD, Momentum, Adam, Newton's method…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2" name="Shape 10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 HỌC &amp; BACKPROP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Initialization quan trọng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Descent chỉ di chuyển CỤC BỘ quanh điểm xuất phát θ₀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θ₀ sai → mạng đứng yên mãi mãi (Zero-init), hoặc gradient nổ / biến mất trước khi kịp học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…bất kể optimizer tốt đến đâu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0" y="2011680"/>
            <a:ext cx="3749040" cy="3840480"/>
          </a:xfrm>
          <a:prstGeom prst="roundRect">
            <a:avLst>
              <a:gd name="adj" fmla="val 1951"/>
            </a:avLst>
          </a:prstGeom>
          <a:solidFill>
            <a:srgbClr val="16213E"/>
          </a:solidFill>
          <a:ln/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θ₀ quyết định điều gì?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27889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có “sống sót” đủ lớn để đi xuyên suốt một mạng nhiều lớp hay không — chủ đề của toàn bộ phần này.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Initialization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giống nhau (kể cả 0) → mọi neuron cùng z, cùng a, cùng gradient — MÃI MÃI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“Mất khả năng phá vỡ đối xứng” (symmetry breaking) — lớp n neuron chỉ có sức mạnh như 1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W=0 ở MỌI lớp: gradient lớp ẩn = ĐÚNG BẰNG 0, không chỉ “rất nhỏ”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2377440"/>
            <a:ext cx="3931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E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33649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đo được tại MỌI lớp ẩn (thực nghiệm, Mục 9)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4206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Zero-init không phải “rất nhỏ” — mà là CHẶN ĐỨNG tuyệt đối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Initialization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 đối xứng: mỗi neuron xuất phát khác nhau → học đặc trưng khác nhau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Nhưng nếu σ không scale theo n_in → mạng SÂU vẫn có thể vanish/explode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nghiệm: gradient lớp 1 (Sigmoid, 6 lớp) chỉ ≈ 3×10⁻¹¹ — gần như 0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911535" cy="109728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457200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 đối xứng là ĐIỀU KIỆN CẦN — chưa ĐỦ để đảm bảo gradient chảy tốt qua mạng sâu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7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Xavier / Glorot Initialization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Var(W) = 2 / (n_in + n_out)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 hoà 2 điều kiện: giữ Var(z) khi forward VÀ giữ Var(gradient) khi backward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Tanh/Sigmoid — activation đối xứng quanh 0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nghiệm: Tanh + Xavier đạt 69,2% test accuracy (cao nhất trong lưới 20 cấu hình)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85A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69,2%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50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+ Xavier — test accuracy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49377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n_in ≠ n_out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5650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điều kiện chỉ trùng khi bằng nhau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9377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5650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Glorot &amp; Bengio, AISTATS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15/29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/ Kaiming Initialization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Var(W) = 2 / n_in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109115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Gấp đôi Xavier — bù việc ReLU triệt tiêu khoảng một nửa variance (phần z&lt;0 → 0)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ReLU / Leaky ReLU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nghiệm: ReLU+Xavier 67,4% vs. ReLU+He 66,7% — chênh lệch nằm TRONG biên độ nhiễu của 1 seed/15 epoch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BEEEC"/>
          </a:solidFill>
          <a:ln w="9525">
            <a:solidFill>
              <a:srgbClr val="BE3C32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502920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thực khoa học: dự đoán lý thuyết “He &gt; Xavier cho ReLU” KHÔNG được xác nhận rõ ràng ở quy mô thực nghiệm nhỏ này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/ EXPLODING GRADIENT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Vanishing Gradient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035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= tích nhiều đạo hàm cục bộ qua L lớp  ≈  gᴸ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&lt; 1  ⇒  suy giảm theo HÀM MŨ khi L tăng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g=0,5, L=50  ⇒  hệ số ≈ 8,9×10⁻¹⁶ (gần bằng 0)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 kép: activation bão hoà (σ′≤0,25) + weight scale sai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103120"/>
            <a:ext cx="4023360" cy="457200"/>
          </a:xfrm>
          <a:prstGeom prst="roundRect">
            <a:avLst>
              <a:gd name="adj" fmla="val 8000"/>
            </a:avLst>
          </a:prstGeom>
          <a:solidFill>
            <a:srgbClr val="BE3C3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173968" y="2103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L=1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040880" y="2816352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BE3C3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345168" y="28163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40880" y="3529584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BE3C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56448" y="35295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L=10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4242816"/>
            <a:ext cx="365760" cy="457200"/>
          </a:xfrm>
          <a:prstGeom prst="roundRect">
            <a:avLst>
              <a:gd name="adj" fmla="val 10000"/>
            </a:avLst>
          </a:prstGeom>
          <a:solidFill>
            <a:srgbClr val="BE3C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6368" y="42428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L=20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40880" y="4956048"/>
            <a:ext cx="109728" cy="457200"/>
          </a:xfrm>
          <a:prstGeom prst="roundRect">
            <a:avLst>
              <a:gd name="adj" fmla="val 33333"/>
            </a:avLst>
          </a:prstGeom>
          <a:solidFill>
            <a:srgbClr val="BE3C3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60336" y="4956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L=50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7190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0,5 — độ lớn gradient co lại theo độ sâu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/ EXPLODING GRADIENT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Exploding Gradient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035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&gt; 1  ⇒  tăng theo HÀM MŨ khi L tăng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g=2, L=50  ⇒  hệ số ≈ 1,1×10¹⁵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quả: loss dao động mạnh hoặc NaN, huấn luyện phân kỳ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nguyên nhân với vanishing — chỉ khác dấu của (g−1)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103120"/>
            <a:ext cx="137160" cy="457200"/>
          </a:xfrm>
          <a:prstGeom prst="roundRect">
            <a:avLst>
              <a:gd name="adj" fmla="val 26667"/>
            </a:avLst>
          </a:prstGeom>
          <a:solidFill>
            <a:srgbClr val="285AB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7768" y="2103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L=1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040880" y="281635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5AB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07808" y="28163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40880" y="3529584"/>
            <a:ext cx="1188720" cy="457200"/>
          </a:xfrm>
          <a:prstGeom prst="roundRect">
            <a:avLst>
              <a:gd name="adj" fmla="val 8000"/>
            </a:avLst>
          </a:prstGeom>
          <a:solidFill>
            <a:srgbClr val="285AB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9328" y="35295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L=10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4242816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285AB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28048" y="42428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L=20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40880" y="4956048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285AB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356848" y="4956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L=50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7190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2 — độ lớn gradient tăng theo độ sâu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kế thực nghiệm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784→128×6→10, KHÔNG BatchNorm/Dropout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Fashion-MNIST subset: 5.000 train / 1.000 val / 2.000 test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thuần, lr=0,05, batch=128, 15 epoch, seed=42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Lưới đầy đủ: 5 initialization × 4 activation = 20 cấu hình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949440" y="1920240"/>
            <a:ext cx="4572000" cy="3749040"/>
          </a:xfrm>
          <a:prstGeom prst="roundRect">
            <a:avLst>
              <a:gd name="adj" fmla="val 1951"/>
            </a:avLst>
          </a:prstGeom>
          <a:solidFill>
            <a:srgbClr val="16213E"/>
          </a:solidFill>
          <a:ln/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“Fair experiment”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697480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initialization và activation thay đổi — kiến trúc, optimizer, learning rate, batch size, epoch, seed, cách chia dữ liệu GIỐNG HỆT NHAU giữa 20 lần chạy.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5166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thời gian chạy: ≈1 phút CPU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 — IMPLEMENTATION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A: Manual Backpropagation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1153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viết forward + backward bằng NumPy thuần — KHÔNG dùng autograd (src/manual_nn.py)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đúng ví dụ 2 lớp ở Slide 9 (x=1,1 → L=0,25205)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PyTorch autograd: sai số tuyệt đối = 0,00e+00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Backprop = Chain Rule bằng CODE THẬT, không chỉ lý thuyết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8463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85A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0,25205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559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— khớp tuyệt đối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48463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0,00e+00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5559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số vs. PyTorch autograd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48463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5559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tự viết, không autograd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5" name="Shape 13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 — IMPLEMENTATION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Checking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(f(w+h) − f(w−h)) / 2h        h = 10⁻⁶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cách tính độc lập: manual (NumPy) · PyTorch autograd · finite-difference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số tối đa giữa 3 cách: ≈10⁻⁹ (mức làm tròn số thực, KHÔNG phải sai số thuật toán)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quả: PASS (ngưỡng chấp nhận 10⁻⁴)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846320"/>
            <a:ext cx="10911535" cy="1188720"/>
          </a:xfrm>
          <a:prstGeom prst="roundRect">
            <a:avLst>
              <a:gd name="adj" fmla="val 6154"/>
            </a:avLst>
          </a:prstGeom>
          <a:solidFill>
            <a:srgbClr val="EAF6EF"/>
          </a:solidFill>
          <a:ln w="9525">
            <a:solidFill>
              <a:srgbClr val="2E7D5B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484632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checking CÔ LẬP LỖI: nếu manual sai (sai chiều ma trận, quên chia batch, sai dấu…) trong khi autograd và finite-diff vẫn khớp nhau → biết ngay lỗi nằm ở khâu tính gradient thủ công.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THỰC NGHIỆM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Accuracy — toàn bộ lưới 20 cấu hình</a:t>
            </a:r>
            <a:endParaRPr lang="en-US" sz="2900" dirty="0"/>
          </a:p>
        </p:txBody>
      </p:sp>
      <p:pic>
        <p:nvPicPr>
          <p:cNvPr id="4" name="Image 0" descr="..\results\figures\initialization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1128" y="1783080"/>
            <a:ext cx="6949440" cy="32749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286628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Zero/Random: LUÔN ở mức ngẫu nhiên (10%), với MỌI activation</a:t>
            </a:r>
            <a:endParaRPr lang="en-US" sz="1450" dirty="0"/>
          </a:p>
          <a:p>
            <a:pPr marL="228600" indent="-2286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Sigmoid: LUÔN ~10% dù initialization nào — kể cả He/Xavier</a:t>
            </a:r>
            <a:endParaRPr lang="en-US" sz="1450" dirty="0"/>
          </a:p>
          <a:p>
            <a:pPr marL="228600" indent="-2286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LeCun/Xavier/He: 64–69% với Tanh/ReLU/Leaky ReLU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THỰC NGHIỆM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Norm theo Layer (Sigmoid)</a:t>
            </a:r>
            <a:endParaRPr lang="en-US" sz="2900" dirty="0"/>
          </a:p>
        </p:txBody>
      </p:sp>
      <p:pic>
        <p:nvPicPr>
          <p:cNvPr id="4" name="Image 0" descr="..\results\figures\gradient_n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339547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45387" y="1920240"/>
            <a:ext cx="520622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(naive): suy giảm ≈9 bậc độ lớn, output → input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LeCun/Xavier/He: suy giảm nhẹ hơn nhiều (2–3 bậc)…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…nhưng VẪN suy giảm — vì σ′(z)≤0,25 bất kể weight scale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là bằng chứng thực nghiệm trực tiếp nhất cho lý thuyết vanishing gradient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THỰC NGHIỆM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Bức tranh tổng thể</a:t>
            </a:r>
            <a:endParaRPr lang="en-US" sz="2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2468880"/>
        </p:xfrm>
        <a:graphic>
          <a:graphicData uri="http://schemas.openxmlformats.org/drawingml/2006/table">
            <a:tbl>
              <a:tblPr/>
              <a:tblGrid>
                <a:gridCol w="2133295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Sigmoid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Tanh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ReLU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Leaky ReLU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8"/>
                          </a:solidFill>
                        </a:rPr>
                        <a:t>Zero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8"/>
                          </a:solidFill>
                        </a:rPr>
                        <a:t>Random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8"/>
                          </a:solidFill>
                        </a:rPr>
                        <a:t>LeCun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0,689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0,648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8"/>
                          </a:solidFill>
                        </a:rPr>
                        <a:t>Xavier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0,692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0,674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0,682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8"/>
                          </a:solidFill>
                        </a:rPr>
                        <a:t>He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0,694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0,667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238"/>
                          </a:solidFill>
                        </a:rPr>
                        <a:t>0,634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Zero/Random: luôn ở mức ngẫu nhiên, MỌI activation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+ init có scale: tốt nhất tổng thể (~69%)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ReLU/Leaky ReLU: LeCun/Xavier/He tương đương nhau (64–68%)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NGHIỆM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THẢO LUẬN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Sigmoid thất bại dù He/Xavier “đúng lý thuyết”?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σ′(z) ≤ 0,25 LUÔN LUÔN đúng — không liên quan tới weight scale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lớp ⇒ hệ số suy giảm trần do riêng activation: 0,25⁶ ≈ 2,4×10⁻⁴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lớp 1 (Sigmoid+He) ≈ 1,6×10⁻⁵ — khác 0 nhưng quá nhỏ để cập nhật đáng kể ở lr=0,05/15 epoch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Initialization tốt là ĐIỀU KIỆN CẦN, không phải ĐIỀU KIỆN ĐỦ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7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6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7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THẢO LUẬN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Khuyến nghị thực dụng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/ Leaky ReLU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201168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He/Kaiming initialization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29718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/ Sigmoid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297180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Xavier/Glorot initialization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39319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bao giờ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93192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Zero-init cho WEIGHT (chỉ dùng 0 cho bias)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" y="4892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 rất sâu + activation bão hoà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89204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cân nhắc Batch/Layer Normalization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của thực nghiệm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115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nhỏ (5.000/1.000/2.000), 15 epoch, 1 seed duy nhất — không đại diện quy mô lớn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thuần, không tinh chỉnh learning rate riêng cho từng cấu hình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BatchNorm/Dropout/LR schedule (cố ý, để cô lập biến initialization)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dao động mạnh do tập val chỉ 1.000 mẫu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7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6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7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câu hỏi, một cơ chế chung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11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= Chain Rule có hệ thống, KHÁC Gradient Descent</a:t>
            </a:r>
            <a:endParaRPr lang="en-US" sz="1800" dirty="0"/>
          </a:p>
          <a:p>
            <a:pPr marL="228600" indent="-228600"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 quyết định gradient có “sống sót” qua nhiều lớp hay không</a:t>
            </a:r>
            <a:endParaRPr lang="en-US" sz="1800" dirty="0"/>
          </a:p>
          <a:p>
            <a:pPr marL="228600" indent="-228600"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cùng trả lời một câu hỏi: tín hiệu học di chuyển thế nào trong mạng sâu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10911535" cy="0"/>
          </a:xfrm>
          <a:prstGeom prst="line">
            <a:avLst/>
          </a:prstGeom>
          <a:noFill/>
          <a:ln w="12700">
            <a:solidFill>
              <a:srgbClr val="3A4A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9834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 tính dòng chảy gradient. Initialization quyết định dòng chảy đó có sống sót qua nhiều lớp hay không.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8" name="Shape 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9" name="Shape 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10" name="Shape 8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6FA3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Rumelhart, Hinton &amp; Williams (1986). Learning representations by back-propagating errors. Nature, 323:533–536.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Glorot &amp; Bengio (2010). Understanding the difficulty of training deep feedforward neural networks. AISTATS.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He, Zhang, Ren &amp; Sun (2015). Delving Deep into Rectifiers. ICCV. arXiv:1502.01852.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LeCun, Bottou, Orr &amp; Müller (1998/2012). Efficient BackProp. Neural Networks: Tricks of the Trade.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Bengio &amp; Courville (2016). Deep Learning. MIT Press.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Bishop (2006). Pattern Recognition and Machine Learning. Springer.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Kingma &amp; Ba (2015). Adam: A Method for Stochastic Optimization. ICLR. arXiv:1412.6980.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Xiao, Rasul &amp; Vollgraf (2017). Fashion-MNIST. arXiv:1708.07747.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Paszke et al. (2019). PyTorch: An Imperative Style, High-Performance Deep Learning Library. NeurIPS.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6" name="Shape 4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7" name="Shape 5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8" name="Shape 6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6FA3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63624" y="6391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2026-09-14T17:17:02Z</dcterms:created>
  <dcterms:modified xsi:type="dcterms:W3CDTF">2026-09-14T17:17:02Z</dcterms:modified>
</cp:coreProperties>
</file>